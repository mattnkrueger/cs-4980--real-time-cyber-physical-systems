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71"/>
  </p:notesMasterIdLst>
  <p:handoutMasterIdLst>
    <p:handoutMasterId r:id="rId72"/>
  </p:handoutMasterIdLst>
  <p:sldIdLst>
    <p:sldId id="258" r:id="rId5"/>
    <p:sldId id="378" r:id="rId6"/>
    <p:sldId id="289" r:id="rId7"/>
    <p:sldId id="394" r:id="rId8"/>
    <p:sldId id="376" r:id="rId9"/>
    <p:sldId id="347" r:id="rId10"/>
    <p:sldId id="377" r:id="rId11"/>
    <p:sldId id="348" r:id="rId12"/>
    <p:sldId id="299" r:id="rId13"/>
    <p:sldId id="286" r:id="rId14"/>
    <p:sldId id="349" r:id="rId15"/>
    <p:sldId id="350" r:id="rId16"/>
    <p:sldId id="381" r:id="rId17"/>
    <p:sldId id="352" r:id="rId18"/>
    <p:sldId id="385" r:id="rId19"/>
    <p:sldId id="387" r:id="rId20"/>
    <p:sldId id="388" r:id="rId21"/>
    <p:sldId id="383" r:id="rId22"/>
    <p:sldId id="384" r:id="rId23"/>
    <p:sldId id="389" r:id="rId24"/>
    <p:sldId id="393" r:id="rId25"/>
    <p:sldId id="420" r:id="rId26"/>
    <p:sldId id="344" r:id="rId27"/>
    <p:sldId id="337" r:id="rId28"/>
    <p:sldId id="354" r:id="rId29"/>
    <p:sldId id="396" r:id="rId30"/>
    <p:sldId id="355" r:id="rId31"/>
    <p:sldId id="397" r:id="rId32"/>
    <p:sldId id="357" r:id="rId33"/>
    <p:sldId id="398" r:id="rId34"/>
    <p:sldId id="353" r:id="rId35"/>
    <p:sldId id="415" r:id="rId36"/>
    <p:sldId id="417" r:id="rId37"/>
    <p:sldId id="419" r:id="rId38"/>
    <p:sldId id="401" r:id="rId39"/>
    <p:sldId id="338" r:id="rId40"/>
    <p:sldId id="402" r:id="rId41"/>
    <p:sldId id="403" r:id="rId42"/>
    <p:sldId id="404" r:id="rId43"/>
    <p:sldId id="423" r:id="rId44"/>
    <p:sldId id="405" r:id="rId45"/>
    <p:sldId id="407" r:id="rId46"/>
    <p:sldId id="409" r:id="rId47"/>
    <p:sldId id="422" r:id="rId48"/>
    <p:sldId id="410" r:id="rId49"/>
    <p:sldId id="411" r:id="rId50"/>
    <p:sldId id="372" r:id="rId51"/>
    <p:sldId id="373" r:id="rId52"/>
    <p:sldId id="418" r:id="rId53"/>
    <p:sldId id="364" r:id="rId54"/>
    <p:sldId id="365" r:id="rId55"/>
    <p:sldId id="366" r:id="rId56"/>
    <p:sldId id="363" r:id="rId57"/>
    <p:sldId id="369" r:id="rId58"/>
    <p:sldId id="421" r:id="rId59"/>
    <p:sldId id="370" r:id="rId60"/>
    <p:sldId id="371" r:id="rId61"/>
    <p:sldId id="379" r:id="rId62"/>
    <p:sldId id="380" r:id="rId63"/>
    <p:sldId id="391" r:id="rId64"/>
    <p:sldId id="390" r:id="rId65"/>
    <p:sldId id="413" r:id="rId66"/>
    <p:sldId id="330" r:id="rId67"/>
    <p:sldId id="345" r:id="rId68"/>
    <p:sldId id="374" r:id="rId69"/>
    <p:sldId id="368" r:id="rId7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4" autoAdjust="0"/>
    <p:restoredTop sz="85056" autoAdjust="0"/>
  </p:normalViewPr>
  <p:slideViewPr>
    <p:cSldViewPr snapToGrid="0" snapToObjects="1">
      <p:cViewPr varScale="1">
        <p:scale>
          <a:sx n="132" d="100"/>
          <a:sy n="132" d="100"/>
        </p:scale>
        <p:origin x="2016" y="176"/>
      </p:cViewPr>
      <p:guideLst/>
    </p:cSldViewPr>
  </p:slideViewPr>
  <p:outlineViewPr>
    <p:cViewPr>
      <p:scale>
        <a:sx n="33" d="100"/>
        <a:sy n="33" d="100"/>
      </p:scale>
      <p:origin x="0" y="-74896"/>
    </p:cViewPr>
  </p:outlineViewPr>
  <p:notesTextViewPr>
    <p:cViewPr>
      <p:scale>
        <a:sx n="1" d="1"/>
        <a:sy n="1" d="1"/>
      </p:scale>
      <p:origin x="0" y="0"/>
    </p:cViewPr>
  </p:notesTextViewPr>
  <p:notesViewPr>
    <p:cSldViewPr snapToGrid="0" snapToObjects="1">
      <p:cViewPr varScale="1">
        <p:scale>
          <a:sx n="102" d="100"/>
          <a:sy n="102" d="100"/>
        </p:scale>
        <p:origin x="1512" y="19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viewProps" Target="view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handoutMaster" Target="handoutMasters/handout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tableStyles" Target="tableStyles.xml"/><Relationship Id="rId7" Type="http://schemas.openxmlformats.org/officeDocument/2006/relationships/slide" Target="slides/slide3.xml"/><Relationship Id="rId7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F77051E-B811-D949-830F-55D35BA79CE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72EC375-152E-3F4A-8C1A-308E3DFABC4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830E4C-56B7-2443-B370-610F8D1BCD9C}" type="datetimeFigureOut">
              <a:rPr lang="en-US" smtClean="0"/>
              <a:t>12/18/25</a:t>
            </a:fld>
            <a:endParaRPr lang="en-US"/>
          </a:p>
        </p:txBody>
      </p:sp>
      <p:sp>
        <p:nvSpPr>
          <p:cNvPr id="4" name="Footer Placeholder 3">
            <a:extLst>
              <a:ext uri="{FF2B5EF4-FFF2-40B4-BE49-F238E27FC236}">
                <a16:creationId xmlns:a16="http://schemas.microsoft.com/office/drawing/2014/main" id="{3DAD90D4-C48B-C647-BA8A-B43CFA99A43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B40E78B-91EF-F148-8F7B-2AEC532510C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57D0152-5968-C24B-9EC0-2DFF74304A89}" type="slidenum">
              <a:rPr lang="en-US" smtClean="0"/>
              <a:t>‹#›</a:t>
            </a:fld>
            <a:endParaRPr lang="en-US"/>
          </a:p>
        </p:txBody>
      </p:sp>
    </p:spTree>
    <p:extLst>
      <p:ext uri="{BB962C8B-B14F-4D97-AF65-F5344CB8AC3E}">
        <p14:creationId xmlns:p14="http://schemas.microsoft.com/office/powerpoint/2010/main" val="158024884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3T04:23:08.310"/>
    </inkml:context>
    <inkml:brush xml:id="br0">
      <inkml:brushProperty name="width" value="0.35" units="cm"/>
      <inkml:brushProperty name="height" value="0.35" units="cm"/>
      <inkml:brushProperty name="color" value="#FFFFFF"/>
    </inkml:brush>
  </inkml:definitions>
  <inkml:trace contextRef="#ctx0" brushRef="#br0">1191 166 24446,'-12'12'0,"2"-2"0,6-7 0,1-2 0,-5 2 0,3-1 64,-9 2-64,10-2 22,-4 0-22,2 0 10,2 0-10,-8 5 0,7-4 33,-4 4-33,-2-5 0,5 0 0,-22 3 0,-4 3 0,4-3-492,-12 3 0,2-2-492,14-4 0,-35 5 0,-2 0 0,33-5 492,-23 1 0,1 0-492,28-3 698,-23 1 0,3 0 1269,27 0 0,-41 3 0,48-3 0,-15 1 0,17-2 0,-1-2-138,18-6-1125,-7 5 280,9-6 0,8 3 0,-15 4 0,27-9 0,-26 10 0,21-8 0,-19 8 0,6-2 0,4 1 0,-12 1 0,19-2 0,-22 1 0,13-1 0,-15 0 0,5 3 0,-1-4 0,-2 4 0,8-4 0,-5 4 983,1-2-969,3-1-14,-5 2 0,9-5 0,-10 6 0,7-5 0,-8 4 0,2-3 0,0 1 0,-1 2 0,0-4 0,-18 3 0,9 0-884,-15 0 884,15 2 0,-5 0 0,3 0 0,20-4 0,-5 2 0,18-2 0,18-6-984,-26 6 0,25-4 0,7-4 0,-29 9 492,22-5 0,4 1-492,-16 1 492,31-7 0,1-2-492,-27 7 656,8-3 0,10-1 0,-14 3-656,-17 3 492,32-3 0,-1 0-492,-32 2 492,13 2 0,1 1-187,-14 0 1662,2 3 0,-17 1 0,-11 1-898,-15 5-85,14-1 983,-14 2 0,11-1 0,2-3 0,-18 6-378,16-7-605,-27 14 0,24-13 0,-30 10 0,27-7 0,-19 1 0,-3 1 0,17-2 0,-24 1 0,-17 0 0,12-2-984,11 0 793,-13-3 0,-20 2 0,0-1 0,15 0 191,-2 4 0,1-5 0,-19-2 0,0 1 0,18 1 0,-1 5 0,9-7 0,-13 0 0,1 0 0,12 0 0,-3 3 0,5-2 0,-8-2 0,12 1 0,15 0 0,-24 0 0,46 0 0,1 0 0,25-7 0,-12 6 0,19-8 0,-12 5 0,-6 0 0,37-2 0,-32 2 0,18 2 0,1 0 0,-19 0-984,42-3 0,-44 4 0,35-8 0,-37 8 0,32-8 0,-35 7 181,32-5 803,-31 4 0,31-4 0,-31 6 983,47-9 0,-43 9-516,32-6-467,-39 6 0,3-1 0,-28 4 0,10 0 0,-15 1 0,7 0 0,11-3 983,-7 2 0,4-2-817,2 0-166,-3 0 983,-12 2 0,-11 0 0,5 0-201,-2 0-1766,13-1 278,11 0-278,-21 1 0,20-2 0,-23 0 0,23 0 1967,-20 0 0,11 0-597,-1 0 597,4 0-252,11-2 252,-3 1 0,-4-4 0,4 2 0,-4-1 0,5 1 0,0 2 0,-4-2 0,4 1-344,-2-1-639,-1 3 0,1 1 0,-1 2 0,1 0 0,-2-1 0,1 1 0,-13 1 0,11-1 0,-24 3 0,23-4 0,-11 1 0,0 0 0,-2 2 0,1-1 0,4 1 0,11-3 0,2 2 0,-8 0 0,8-2 0,-6 2 0,6-4 0,23 0 0,-14 0 0,17-2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CD2FD1-B169-9B41-A890-0ECD81C3476C}" type="datetimeFigureOut">
              <a:rPr lang="en-US" smtClean="0"/>
              <a:t>12/18/25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9943EA-69D9-7E49-97CD-A49926F617C9}" type="slidenum">
              <a:rPr lang="en-US" smtClean="0"/>
              <a:t>‹#›</a:t>
            </a:fld>
            <a:endParaRPr lang="en-US" dirty="0"/>
          </a:p>
        </p:txBody>
      </p:sp>
    </p:spTree>
    <p:extLst>
      <p:ext uri="{BB962C8B-B14F-4D97-AF65-F5344CB8AC3E}">
        <p14:creationId xmlns:p14="http://schemas.microsoft.com/office/powerpoint/2010/main" val="17351276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brand.uiowa.edu/graphic-elements" TargetMode="External"/><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9943EA-69D9-7E49-97CD-A49926F617C9}" type="slidenum">
              <a:rPr lang="en-US" smtClean="0"/>
              <a:t>1</a:t>
            </a:fld>
            <a:endParaRPr lang="en-US" dirty="0"/>
          </a:p>
        </p:txBody>
      </p:sp>
    </p:spTree>
    <p:extLst>
      <p:ext uri="{BB962C8B-B14F-4D97-AF65-F5344CB8AC3E}">
        <p14:creationId xmlns:p14="http://schemas.microsoft.com/office/powerpoint/2010/main" val="7195502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9943EA-69D9-7E49-97CD-A49926F617C9}" type="slidenum">
              <a:rPr lang="en-US" smtClean="0"/>
              <a:t>7</a:t>
            </a:fld>
            <a:endParaRPr lang="en-US" dirty="0"/>
          </a:p>
        </p:txBody>
      </p:sp>
    </p:spTree>
    <p:extLst>
      <p:ext uri="{BB962C8B-B14F-4D97-AF65-F5344CB8AC3E}">
        <p14:creationId xmlns:p14="http://schemas.microsoft.com/office/powerpoint/2010/main" val="18200699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9943EA-69D9-7E49-97CD-A49926F617C9}" type="slidenum">
              <a:rPr lang="en-US" smtClean="0"/>
              <a:t>30</a:t>
            </a:fld>
            <a:endParaRPr lang="en-US" dirty="0"/>
          </a:p>
        </p:txBody>
      </p:sp>
    </p:spTree>
    <p:extLst>
      <p:ext uri="{BB962C8B-B14F-4D97-AF65-F5344CB8AC3E}">
        <p14:creationId xmlns:p14="http://schemas.microsoft.com/office/powerpoint/2010/main" val="31090564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0A612-736C-DF79-3D16-8F23039788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69B62A-89E1-E3EB-9D10-F563362DDB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A55C97-2B52-E7C2-35BF-6C01D0797A4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Download the full brand icon set at </a:t>
            </a:r>
            <a:r>
              <a:rPr lang="en-US" sz="1200" dirty="0">
                <a:hlinkClick r:id="rId3"/>
              </a:rPr>
              <a:t>brand.uiowa.edu/graphic-elements</a:t>
            </a:r>
            <a:endParaRPr lang="en-US" sz="1200" dirty="0"/>
          </a:p>
          <a:p>
            <a:endParaRPr lang="en-US" dirty="0"/>
          </a:p>
        </p:txBody>
      </p:sp>
      <p:sp>
        <p:nvSpPr>
          <p:cNvPr id="4" name="Slide Number Placeholder 3">
            <a:extLst>
              <a:ext uri="{FF2B5EF4-FFF2-40B4-BE49-F238E27FC236}">
                <a16:creationId xmlns:a16="http://schemas.microsoft.com/office/drawing/2014/main" id="{80505780-3235-5870-A931-E83245E63A52}"/>
              </a:ext>
            </a:extLst>
          </p:cNvPr>
          <p:cNvSpPr>
            <a:spLocks noGrp="1"/>
          </p:cNvSpPr>
          <p:nvPr>
            <p:ph type="sldNum" sz="quarter" idx="5"/>
          </p:nvPr>
        </p:nvSpPr>
        <p:spPr/>
        <p:txBody>
          <a:bodyPr/>
          <a:lstStyle/>
          <a:p>
            <a:fld id="{769943EA-69D9-7E49-97CD-A49926F617C9}" type="slidenum">
              <a:rPr lang="en-US" smtClean="0"/>
              <a:t>53</a:t>
            </a:fld>
            <a:endParaRPr lang="en-US" dirty="0"/>
          </a:p>
        </p:txBody>
      </p:sp>
    </p:spTree>
    <p:extLst>
      <p:ext uri="{BB962C8B-B14F-4D97-AF65-F5344CB8AC3E}">
        <p14:creationId xmlns:p14="http://schemas.microsoft.com/office/powerpoint/2010/main" val="18080104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Solid Blac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BAE84-700B-054E-8730-2262E5327E60}"/>
              </a:ext>
            </a:extLst>
          </p:cNvPr>
          <p:cNvSpPr>
            <a:spLocks noGrp="1"/>
          </p:cNvSpPr>
          <p:nvPr>
            <p:ph type="ctrTitle" hasCustomPrompt="1"/>
          </p:nvPr>
        </p:nvSpPr>
        <p:spPr>
          <a:xfrm>
            <a:off x="974725" y="2677626"/>
            <a:ext cx="10354360" cy="1843238"/>
          </a:xfrm>
        </p:spPr>
        <p:txBody>
          <a:bodyPr lIns="0" tIns="0" rIns="0" bIns="0" anchor="t" anchorCtr="0">
            <a:normAutofit/>
          </a:bodyPr>
          <a:lstStyle>
            <a:lvl1pPr algn="l">
              <a:defRPr sz="6000" b="1">
                <a:solidFill>
                  <a:schemeClr val="bg1"/>
                </a:solidFill>
                <a:latin typeface="Roboto" panose="02000000000000000000" pitchFamily="2" charset="0"/>
                <a:ea typeface="Roboto" panose="02000000000000000000" pitchFamily="2" charset="0"/>
                <a:cs typeface="Arial" panose="020B0604020202020204" pitchFamily="34" charset="0"/>
              </a:defRPr>
            </a:lvl1pPr>
          </a:lstStyle>
          <a:p>
            <a:r>
              <a:rPr lang="en-US" dirty="0"/>
              <a:t>Presentation Title Goes </a:t>
            </a:r>
            <a:br>
              <a:rPr lang="en-US" dirty="0"/>
            </a:br>
            <a:r>
              <a:rPr lang="en-US" dirty="0"/>
              <a:t>Right Here</a:t>
            </a:r>
          </a:p>
        </p:txBody>
      </p:sp>
      <p:cxnSp>
        <p:nvCxnSpPr>
          <p:cNvPr id="8" name="Straight Connector 7">
            <a:extLst>
              <a:ext uri="{FF2B5EF4-FFF2-40B4-BE49-F238E27FC236}">
                <a16:creationId xmlns:a16="http://schemas.microsoft.com/office/drawing/2014/main" id="{C4E1A789-3A04-9240-BCEC-3DACF2B52870}"/>
              </a:ext>
            </a:extLst>
          </p:cNvPr>
          <p:cNvCxnSpPr>
            <a:cxnSpLocks/>
          </p:cNvCxnSpPr>
          <p:nvPr userDrawn="1"/>
        </p:nvCxnSpPr>
        <p:spPr>
          <a:xfrm>
            <a:off x="974126" y="2339665"/>
            <a:ext cx="768531" cy="0"/>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ubtitle 2">
            <a:extLst>
              <a:ext uri="{FF2B5EF4-FFF2-40B4-BE49-F238E27FC236}">
                <a16:creationId xmlns:a16="http://schemas.microsoft.com/office/drawing/2014/main" id="{7055E247-542B-D541-8F36-DBA97343BC92}"/>
              </a:ext>
            </a:extLst>
          </p:cNvPr>
          <p:cNvSpPr>
            <a:spLocks noGrp="1"/>
          </p:cNvSpPr>
          <p:nvPr>
            <p:ph type="subTitle" idx="1" hasCustomPrompt="1"/>
          </p:nvPr>
        </p:nvSpPr>
        <p:spPr>
          <a:xfrm>
            <a:off x="974725" y="4709626"/>
            <a:ext cx="10354360" cy="407460"/>
          </a:xfrm>
        </p:spPr>
        <p:txBody>
          <a:bodyPr lIns="0" tIns="0" rIns="0" bIns="0"/>
          <a:lstStyle>
            <a:lvl1pPr marL="0" indent="0" algn="l">
              <a:buNone/>
              <a:defRPr sz="2400" b="1">
                <a:solidFill>
                  <a:schemeClr val="accent1"/>
                </a:solidFill>
                <a:latin typeface="Roboto" panose="02000000000000000000" pitchFamily="2" charset="0"/>
                <a:ea typeface="Roboto" panose="020000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sp>
        <p:nvSpPr>
          <p:cNvPr id="6" name="Text Placeholder 15">
            <a:extLst>
              <a:ext uri="{FF2B5EF4-FFF2-40B4-BE49-F238E27FC236}">
                <a16:creationId xmlns:a16="http://schemas.microsoft.com/office/drawing/2014/main" id="{2BBC7A98-1B1E-8545-AABD-0F79723A230C}"/>
              </a:ext>
            </a:extLst>
          </p:cNvPr>
          <p:cNvSpPr>
            <a:spLocks noGrp="1"/>
          </p:cNvSpPr>
          <p:nvPr>
            <p:ph type="body" sz="quarter" idx="10" hasCustomPrompt="1"/>
          </p:nvPr>
        </p:nvSpPr>
        <p:spPr>
          <a:xfrm>
            <a:off x="974725" y="5148794"/>
            <a:ext cx="10354360" cy="463108"/>
          </a:xfrm>
        </p:spPr>
        <p:txBody>
          <a:bodyPr lIns="0" tIns="0" rIns="0" bIns="0">
            <a:normAutofit/>
          </a:bodyPr>
          <a:lstStyle>
            <a:lvl1pPr marL="0" indent="0">
              <a:buNone/>
              <a:defRPr sz="2400">
                <a:solidFill>
                  <a:schemeClr val="bg1"/>
                </a:solidFill>
                <a:latin typeface="Roboto" panose="02000000000000000000" pitchFamily="2" charset="0"/>
                <a:ea typeface="Roboto" panose="02000000000000000000"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Month XX, 2020</a:t>
            </a:r>
          </a:p>
        </p:txBody>
      </p:sp>
      <p:sp>
        <p:nvSpPr>
          <p:cNvPr id="7" name="Footer Placeholder 4">
            <a:extLst>
              <a:ext uri="{FF2B5EF4-FFF2-40B4-BE49-F238E27FC236}">
                <a16:creationId xmlns:a16="http://schemas.microsoft.com/office/drawing/2014/main" id="{AA810B86-CAB7-EA43-BC2F-6E66762DC8D3}"/>
              </a:ext>
            </a:extLst>
          </p:cNvPr>
          <p:cNvSpPr>
            <a:spLocks noGrp="1"/>
          </p:cNvSpPr>
          <p:nvPr>
            <p:ph type="ftr" sz="quarter" idx="3"/>
          </p:nvPr>
        </p:nvSpPr>
        <p:spPr>
          <a:xfrm>
            <a:off x="952500" y="1774216"/>
            <a:ext cx="10376585" cy="365125"/>
          </a:xfrm>
          <a:prstGeom prst="rect">
            <a:avLst/>
          </a:prstGeom>
          <a:noFill/>
        </p:spPr>
        <p:txBody>
          <a:bodyPr vert="horz" lIns="0" tIns="0" rIns="0" bIns="0" rtlCol="0" anchor="ctr"/>
          <a:lstStyle>
            <a:lvl1pPr algn="l">
              <a:defRPr sz="2200" b="0">
                <a:solidFill>
                  <a:schemeClr val="bg1"/>
                </a:solidFill>
                <a:latin typeface="Roboto" panose="02000000000000000000" pitchFamily="2" charset="0"/>
                <a:ea typeface="Roboto" panose="02000000000000000000" pitchFamily="2" charset="0"/>
              </a:defRPr>
            </a:lvl1pPr>
          </a:lstStyle>
          <a:p>
            <a:r>
              <a:rPr lang="en-US"/>
              <a:t>Final Project | Topics in Computer Science II | Fall 2025, University of Iowa</a:t>
            </a:r>
            <a:endParaRPr lang="en-US" dirty="0"/>
          </a:p>
        </p:txBody>
      </p:sp>
      <p:pic>
        <p:nvPicPr>
          <p:cNvPr id="12" name="Picture 11" descr="The University of Iowa">
            <a:extLst>
              <a:ext uri="{FF2B5EF4-FFF2-40B4-BE49-F238E27FC236}">
                <a16:creationId xmlns:a16="http://schemas.microsoft.com/office/drawing/2014/main" id="{A096FDD2-3609-3C49-9ED5-616F9E36DB07}"/>
              </a:ext>
            </a:extLst>
          </p:cNvPr>
          <p:cNvPicPr>
            <a:picLocks noChangeAspect="1"/>
          </p:cNvPicPr>
          <p:nvPr userDrawn="1"/>
        </p:nvPicPr>
        <p:blipFill>
          <a:blip r:embed="rId2"/>
          <a:stretch>
            <a:fillRect/>
          </a:stretch>
        </p:blipFill>
        <p:spPr>
          <a:xfrm>
            <a:off x="8625016" y="0"/>
            <a:ext cx="2693773" cy="1279542"/>
          </a:xfrm>
          <a:prstGeom prst="rect">
            <a:avLst/>
          </a:prstGeom>
        </p:spPr>
      </p:pic>
    </p:spTree>
    <p:extLst>
      <p:ext uri="{BB962C8B-B14F-4D97-AF65-F5344CB8AC3E}">
        <p14:creationId xmlns:p14="http://schemas.microsoft.com/office/powerpoint/2010/main" val="355990105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60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Solid Go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BAE84-700B-054E-8730-2262E5327E60}"/>
              </a:ext>
            </a:extLst>
          </p:cNvPr>
          <p:cNvSpPr>
            <a:spLocks noGrp="1"/>
          </p:cNvSpPr>
          <p:nvPr>
            <p:ph type="ctrTitle" hasCustomPrompt="1"/>
          </p:nvPr>
        </p:nvSpPr>
        <p:spPr>
          <a:xfrm>
            <a:off x="974725" y="2677626"/>
            <a:ext cx="9144000" cy="1843238"/>
          </a:xfrm>
        </p:spPr>
        <p:txBody>
          <a:bodyPr lIns="0" tIns="0" rIns="0" bIns="0" anchor="t" anchorCtr="0">
            <a:normAutofit/>
          </a:bodyPr>
          <a:lstStyle>
            <a:lvl1pPr algn="l">
              <a:defRPr sz="6000" b="1">
                <a:solidFill>
                  <a:schemeClr val="tx1"/>
                </a:solidFill>
                <a:latin typeface="Roboto" panose="02000000000000000000" pitchFamily="2" charset="0"/>
                <a:ea typeface="Roboto" panose="02000000000000000000" pitchFamily="2" charset="0"/>
                <a:cs typeface="Arial" panose="020B0604020202020204" pitchFamily="34" charset="0"/>
              </a:defRPr>
            </a:lvl1pPr>
          </a:lstStyle>
          <a:p>
            <a:r>
              <a:rPr lang="en-US" dirty="0"/>
              <a:t>Presentation Title Goes Right Here</a:t>
            </a:r>
          </a:p>
        </p:txBody>
      </p:sp>
      <p:cxnSp>
        <p:nvCxnSpPr>
          <p:cNvPr id="8" name="Straight Connector 7">
            <a:extLst>
              <a:ext uri="{FF2B5EF4-FFF2-40B4-BE49-F238E27FC236}">
                <a16:creationId xmlns:a16="http://schemas.microsoft.com/office/drawing/2014/main" id="{C4E1A789-3A04-9240-BCEC-3DACF2B52870}"/>
              </a:ext>
            </a:extLst>
          </p:cNvPr>
          <p:cNvCxnSpPr>
            <a:cxnSpLocks/>
          </p:cNvCxnSpPr>
          <p:nvPr userDrawn="1"/>
        </p:nvCxnSpPr>
        <p:spPr>
          <a:xfrm>
            <a:off x="974126" y="2339665"/>
            <a:ext cx="768531" cy="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Subtitle 2">
            <a:extLst>
              <a:ext uri="{FF2B5EF4-FFF2-40B4-BE49-F238E27FC236}">
                <a16:creationId xmlns:a16="http://schemas.microsoft.com/office/drawing/2014/main" id="{7055E247-542B-D541-8F36-DBA97343BC92}"/>
              </a:ext>
            </a:extLst>
          </p:cNvPr>
          <p:cNvSpPr>
            <a:spLocks noGrp="1"/>
          </p:cNvSpPr>
          <p:nvPr>
            <p:ph type="subTitle" idx="1" hasCustomPrompt="1"/>
          </p:nvPr>
        </p:nvSpPr>
        <p:spPr>
          <a:xfrm>
            <a:off x="974725" y="4709626"/>
            <a:ext cx="9144000" cy="407460"/>
          </a:xfrm>
        </p:spPr>
        <p:txBody>
          <a:bodyPr lIns="0" tIns="0" rIns="0" bIns="0"/>
          <a:lstStyle>
            <a:lvl1pPr marL="0" indent="0" algn="l">
              <a:buNone/>
              <a:defRPr sz="2400" b="1">
                <a:solidFill>
                  <a:schemeClr val="tx1"/>
                </a:solidFill>
                <a:latin typeface="Roboto" panose="02000000000000000000" pitchFamily="2" charset="0"/>
                <a:ea typeface="Roboto" panose="020000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sp>
        <p:nvSpPr>
          <p:cNvPr id="6" name="Text Placeholder 15">
            <a:extLst>
              <a:ext uri="{FF2B5EF4-FFF2-40B4-BE49-F238E27FC236}">
                <a16:creationId xmlns:a16="http://schemas.microsoft.com/office/drawing/2014/main" id="{2BBC7A98-1B1E-8545-AABD-0F79723A230C}"/>
              </a:ext>
            </a:extLst>
          </p:cNvPr>
          <p:cNvSpPr>
            <a:spLocks noGrp="1"/>
          </p:cNvSpPr>
          <p:nvPr>
            <p:ph type="body" sz="quarter" idx="10" hasCustomPrompt="1"/>
          </p:nvPr>
        </p:nvSpPr>
        <p:spPr>
          <a:xfrm>
            <a:off x="974725" y="5087150"/>
            <a:ext cx="9144000" cy="463108"/>
          </a:xfrm>
        </p:spPr>
        <p:txBody>
          <a:bodyPr lIns="0" tIns="0" rIns="0" bIns="0">
            <a:normAutofit/>
          </a:bodyPr>
          <a:lstStyle>
            <a:lvl1pPr marL="0" indent="0">
              <a:buNone/>
              <a:defRPr sz="2400">
                <a:solidFill>
                  <a:schemeClr val="tx1"/>
                </a:solidFill>
                <a:latin typeface="Roboto" panose="02000000000000000000" pitchFamily="2" charset="0"/>
                <a:ea typeface="Roboto" panose="02000000000000000000"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Month XX, 2020</a:t>
            </a:r>
          </a:p>
        </p:txBody>
      </p:sp>
      <p:sp>
        <p:nvSpPr>
          <p:cNvPr id="7" name="Footer Placeholder 4">
            <a:extLst>
              <a:ext uri="{FF2B5EF4-FFF2-40B4-BE49-F238E27FC236}">
                <a16:creationId xmlns:a16="http://schemas.microsoft.com/office/drawing/2014/main" id="{AA810B86-CAB7-EA43-BC2F-6E66762DC8D3}"/>
              </a:ext>
            </a:extLst>
          </p:cNvPr>
          <p:cNvSpPr>
            <a:spLocks noGrp="1"/>
          </p:cNvSpPr>
          <p:nvPr>
            <p:ph type="ftr" sz="quarter" idx="3"/>
          </p:nvPr>
        </p:nvSpPr>
        <p:spPr>
          <a:xfrm>
            <a:off x="952500" y="1774216"/>
            <a:ext cx="9166225" cy="365125"/>
          </a:xfrm>
          <a:prstGeom prst="rect">
            <a:avLst/>
          </a:prstGeom>
          <a:noFill/>
        </p:spPr>
        <p:txBody>
          <a:bodyPr vert="horz" lIns="0" tIns="0" rIns="0" bIns="0" rtlCol="0" anchor="ctr"/>
          <a:lstStyle>
            <a:lvl1pPr algn="l">
              <a:defRPr sz="2200" b="0">
                <a:solidFill>
                  <a:schemeClr val="tx1"/>
                </a:solidFill>
                <a:latin typeface="Roboto" panose="02000000000000000000" pitchFamily="2" charset="0"/>
                <a:ea typeface="Roboto" panose="02000000000000000000" pitchFamily="2" charset="0"/>
              </a:defRPr>
            </a:lvl1pPr>
          </a:lstStyle>
          <a:p>
            <a:r>
              <a:rPr lang="en-US"/>
              <a:t>Final Project | Topics in Computer Science II | Fall 2025, University of Iowa</a:t>
            </a:r>
            <a:endParaRPr lang="en-US" dirty="0"/>
          </a:p>
        </p:txBody>
      </p:sp>
      <p:pic>
        <p:nvPicPr>
          <p:cNvPr id="10" name="Picture 9">
            <a:extLst>
              <a:ext uri="{FF2B5EF4-FFF2-40B4-BE49-F238E27FC236}">
                <a16:creationId xmlns:a16="http://schemas.microsoft.com/office/drawing/2014/main" id="{4A685527-7A8C-3647-9D96-6D076FA7A7CE}"/>
              </a:ext>
            </a:extLst>
          </p:cNvPr>
          <p:cNvPicPr>
            <a:picLocks noChangeAspect="1"/>
          </p:cNvPicPr>
          <p:nvPr userDrawn="1"/>
        </p:nvPicPr>
        <p:blipFill>
          <a:blip r:embed="rId2"/>
          <a:srcRect/>
          <a:stretch/>
        </p:blipFill>
        <p:spPr>
          <a:xfrm>
            <a:off x="8628383" y="0"/>
            <a:ext cx="2687038" cy="1279542"/>
          </a:xfrm>
          <a:prstGeom prst="rect">
            <a:avLst/>
          </a:prstGeom>
        </p:spPr>
      </p:pic>
    </p:spTree>
    <p:extLst>
      <p:ext uri="{BB962C8B-B14F-4D97-AF65-F5344CB8AC3E}">
        <p14:creationId xmlns:p14="http://schemas.microsoft.com/office/powerpoint/2010/main" val="1297889237"/>
      </p:ext>
    </p:extLst>
  </p:cSld>
  <p:clrMapOvr>
    <a:masterClrMapping/>
  </p:clrMapOvr>
  <p:extLst>
    <p:ext uri="{DCECCB84-F9BA-43D5-87BE-67443E8EF086}">
      <p15:sldGuideLst xmlns:p15="http://schemas.microsoft.com/office/powerpoint/2012/main">
        <p15:guide id="1" orient="horz" pos="2160">
          <p15:clr>
            <a:srgbClr val="FBAE40"/>
          </p15:clr>
        </p15:guide>
        <p15:guide id="2" pos="60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with Image– Solid Blac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BAE84-700B-054E-8730-2262E5327E60}"/>
              </a:ext>
            </a:extLst>
          </p:cNvPr>
          <p:cNvSpPr>
            <a:spLocks noGrp="1"/>
          </p:cNvSpPr>
          <p:nvPr>
            <p:ph type="ctrTitle" hasCustomPrompt="1"/>
          </p:nvPr>
        </p:nvSpPr>
        <p:spPr>
          <a:xfrm>
            <a:off x="960097" y="2184901"/>
            <a:ext cx="6155725" cy="2431224"/>
          </a:xfrm>
        </p:spPr>
        <p:txBody>
          <a:bodyPr anchor="ctr" anchorCtr="0">
            <a:normAutofit/>
          </a:bodyPr>
          <a:lstStyle>
            <a:lvl1pPr algn="l">
              <a:defRPr sz="5500" b="1">
                <a:solidFill>
                  <a:schemeClr val="bg1"/>
                </a:solidFill>
                <a:latin typeface="Arial" panose="020B0604020202020204" pitchFamily="34" charset="0"/>
                <a:cs typeface="Arial" panose="020B0604020202020204" pitchFamily="34" charset="0"/>
              </a:defRPr>
            </a:lvl1pPr>
          </a:lstStyle>
          <a:p>
            <a:r>
              <a:rPr lang="en-US" dirty="0"/>
              <a:t>Example of the Presentation </a:t>
            </a:r>
            <a:br>
              <a:rPr lang="en-US" dirty="0"/>
            </a:br>
            <a:r>
              <a:rPr lang="en-US" dirty="0"/>
              <a:t>Title Slide</a:t>
            </a:r>
          </a:p>
        </p:txBody>
      </p:sp>
      <p:sp>
        <p:nvSpPr>
          <p:cNvPr id="12" name="Subtitle 2">
            <a:extLst>
              <a:ext uri="{FF2B5EF4-FFF2-40B4-BE49-F238E27FC236}">
                <a16:creationId xmlns:a16="http://schemas.microsoft.com/office/drawing/2014/main" id="{114C79AA-0B96-2A43-86A1-A71A1D4C8E7A}"/>
              </a:ext>
            </a:extLst>
          </p:cNvPr>
          <p:cNvSpPr>
            <a:spLocks noGrp="1"/>
          </p:cNvSpPr>
          <p:nvPr>
            <p:ph type="subTitle" idx="1" hasCustomPrompt="1"/>
          </p:nvPr>
        </p:nvSpPr>
        <p:spPr>
          <a:xfrm>
            <a:off x="960098" y="4676833"/>
            <a:ext cx="6155726" cy="494797"/>
          </a:xfrm>
        </p:spPr>
        <p:txBody>
          <a:bodyPr/>
          <a:lstStyle>
            <a:lvl1pPr marL="0" indent="0" algn="l">
              <a:buNone/>
              <a:defRPr sz="2400" b="1">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sp>
        <p:nvSpPr>
          <p:cNvPr id="14" name="Text Placeholder 15">
            <a:extLst>
              <a:ext uri="{FF2B5EF4-FFF2-40B4-BE49-F238E27FC236}">
                <a16:creationId xmlns:a16="http://schemas.microsoft.com/office/drawing/2014/main" id="{A7101AB8-54F7-4A4E-9611-F4F2ECFBD1D2}"/>
              </a:ext>
            </a:extLst>
          </p:cNvPr>
          <p:cNvSpPr>
            <a:spLocks noGrp="1"/>
          </p:cNvSpPr>
          <p:nvPr>
            <p:ph type="body" sz="quarter" idx="10" hasCustomPrompt="1"/>
          </p:nvPr>
        </p:nvSpPr>
        <p:spPr>
          <a:xfrm>
            <a:off x="960096" y="5139429"/>
            <a:ext cx="6155726" cy="495309"/>
          </a:xfrm>
        </p:spPr>
        <p:txBody>
          <a:bodyPr>
            <a:normAutofit/>
          </a:bodyPr>
          <a:lstStyle>
            <a:lvl1pPr marL="0" indent="0">
              <a:buNone/>
              <a:defRPr sz="24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Month XX, 2020</a:t>
            </a:r>
          </a:p>
        </p:txBody>
      </p:sp>
      <p:sp>
        <p:nvSpPr>
          <p:cNvPr id="9" name="Footer Placeholder 4">
            <a:extLst>
              <a:ext uri="{FF2B5EF4-FFF2-40B4-BE49-F238E27FC236}">
                <a16:creationId xmlns:a16="http://schemas.microsoft.com/office/drawing/2014/main" id="{3BDD4F96-5BFE-3049-B4E0-9CDD4F5C3615}"/>
              </a:ext>
            </a:extLst>
          </p:cNvPr>
          <p:cNvSpPr>
            <a:spLocks noGrp="1"/>
          </p:cNvSpPr>
          <p:nvPr>
            <p:ph type="ftr" sz="quarter" idx="3"/>
          </p:nvPr>
        </p:nvSpPr>
        <p:spPr>
          <a:xfrm>
            <a:off x="3929599" y="152400"/>
            <a:ext cx="3385601" cy="919069"/>
          </a:xfrm>
          <a:prstGeom prst="rect">
            <a:avLst/>
          </a:prstGeom>
          <a:noFill/>
        </p:spPr>
        <p:txBody>
          <a:bodyPr vert="horz" lIns="0" tIns="0" rIns="0" bIns="0" rtlCol="0" anchor="b" anchorCtr="0"/>
          <a:lstStyle>
            <a:lvl1pPr algn="l">
              <a:defRPr sz="2000" b="0">
                <a:solidFill>
                  <a:schemeClr val="bg1"/>
                </a:solidFill>
                <a:latin typeface="Roboto" panose="02000000000000000000" pitchFamily="2" charset="0"/>
                <a:ea typeface="Roboto" panose="02000000000000000000" pitchFamily="2" charset="0"/>
              </a:defRPr>
            </a:lvl1pPr>
          </a:lstStyle>
          <a:p>
            <a:r>
              <a:rPr lang="en-US"/>
              <a:t>Final Project | Topics in Computer Science II | Fall 2025, University of Iowa</a:t>
            </a:r>
            <a:endParaRPr lang="en-US" dirty="0">
              <a:solidFill>
                <a:schemeClr val="bg1"/>
              </a:solidFill>
            </a:endParaRPr>
          </a:p>
        </p:txBody>
      </p:sp>
      <p:pic>
        <p:nvPicPr>
          <p:cNvPr id="13" name="Picture 12">
            <a:extLst>
              <a:ext uri="{FF2B5EF4-FFF2-40B4-BE49-F238E27FC236}">
                <a16:creationId xmlns:a16="http://schemas.microsoft.com/office/drawing/2014/main" id="{F49CB936-90E7-D144-B9DC-7CF3F98E2FF4}"/>
              </a:ext>
            </a:extLst>
          </p:cNvPr>
          <p:cNvPicPr>
            <a:picLocks noChangeAspect="1"/>
          </p:cNvPicPr>
          <p:nvPr userDrawn="1"/>
        </p:nvPicPr>
        <p:blipFill>
          <a:blip r:embed="rId2"/>
          <a:srcRect/>
          <a:stretch/>
        </p:blipFill>
        <p:spPr>
          <a:xfrm>
            <a:off x="947738" y="1599"/>
            <a:ext cx="2687038" cy="1276343"/>
          </a:xfrm>
          <a:prstGeom prst="rect">
            <a:avLst/>
          </a:prstGeom>
        </p:spPr>
      </p:pic>
      <p:sp>
        <p:nvSpPr>
          <p:cNvPr id="18" name="Picture Placeholder 4">
            <a:extLst>
              <a:ext uri="{FF2B5EF4-FFF2-40B4-BE49-F238E27FC236}">
                <a16:creationId xmlns:a16="http://schemas.microsoft.com/office/drawing/2014/main" id="{2C35F063-23A9-F244-9022-8BBB7E277ACC}"/>
              </a:ext>
            </a:extLst>
          </p:cNvPr>
          <p:cNvSpPr>
            <a:spLocks noGrp="1"/>
          </p:cNvSpPr>
          <p:nvPr>
            <p:ph type="pic" sz="quarter" idx="11"/>
          </p:nvPr>
        </p:nvSpPr>
        <p:spPr>
          <a:xfrm>
            <a:off x="7624118" y="0"/>
            <a:ext cx="4567882" cy="6858000"/>
          </a:xfrm>
          <a:prstGeom prst="rect">
            <a:avLst/>
          </a:prstGeom>
        </p:spPr>
        <p:txBody>
          <a:bodyPr anchor="ctr" anchorCtr="0"/>
          <a:lstStyle>
            <a:lvl1pPr marL="0" indent="0" algn="ctr">
              <a:buNone/>
              <a:defRPr b="0" i="0">
                <a:solidFill>
                  <a:schemeClr val="bg1"/>
                </a:solidFill>
                <a:latin typeface="Arial" panose="020B0604020202020204" pitchFamily="34" charset="0"/>
              </a:defRPr>
            </a:lvl1pPr>
          </a:lstStyle>
          <a:p>
            <a:r>
              <a:rPr lang="en-US" dirty="0"/>
              <a:t>Click icon to add picture</a:t>
            </a:r>
          </a:p>
        </p:txBody>
      </p:sp>
    </p:spTree>
    <p:extLst>
      <p:ext uri="{BB962C8B-B14F-4D97-AF65-F5344CB8AC3E}">
        <p14:creationId xmlns:p14="http://schemas.microsoft.com/office/powerpoint/2010/main" val="1509413788"/>
      </p:ext>
    </p:extLst>
  </p:cSld>
  <p:clrMapOvr>
    <a:masterClrMapping/>
  </p:clrMapOvr>
  <p:extLst>
    <p:ext uri="{DCECCB84-F9BA-43D5-87BE-67443E8EF086}">
      <p15:sldGuideLst xmlns:p15="http://schemas.microsoft.com/office/powerpoint/2012/main">
        <p15:guide id="1" orient="horz" pos="2160">
          <p15:clr>
            <a:srgbClr val="FBAE40"/>
          </p15:clr>
        </p15:guide>
        <p15:guide id="2" pos="597">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with Image– Solid Go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BAE84-700B-054E-8730-2262E5327E60}"/>
              </a:ext>
            </a:extLst>
          </p:cNvPr>
          <p:cNvSpPr>
            <a:spLocks noGrp="1"/>
          </p:cNvSpPr>
          <p:nvPr>
            <p:ph type="ctrTitle" hasCustomPrompt="1"/>
          </p:nvPr>
        </p:nvSpPr>
        <p:spPr>
          <a:xfrm>
            <a:off x="960097" y="2184901"/>
            <a:ext cx="6155725" cy="2561760"/>
          </a:xfrm>
        </p:spPr>
        <p:txBody>
          <a:bodyPr anchor="ctr" anchorCtr="0">
            <a:normAutofit/>
          </a:bodyPr>
          <a:lstStyle>
            <a:lvl1pPr algn="l">
              <a:defRPr sz="5500" b="1">
                <a:solidFill>
                  <a:schemeClr val="tx1"/>
                </a:solidFill>
                <a:latin typeface="Arial" panose="020B0604020202020204" pitchFamily="34" charset="0"/>
                <a:cs typeface="Arial" panose="020B0604020202020204" pitchFamily="34" charset="0"/>
              </a:defRPr>
            </a:lvl1pPr>
          </a:lstStyle>
          <a:p>
            <a:r>
              <a:rPr lang="en-US" dirty="0"/>
              <a:t>Example of the Presentation </a:t>
            </a:r>
            <a:br>
              <a:rPr lang="en-US" dirty="0"/>
            </a:br>
            <a:r>
              <a:rPr lang="en-US" dirty="0"/>
              <a:t>Title Slide</a:t>
            </a:r>
          </a:p>
        </p:txBody>
      </p:sp>
      <p:sp>
        <p:nvSpPr>
          <p:cNvPr id="3" name="Subtitle 2">
            <a:extLst>
              <a:ext uri="{FF2B5EF4-FFF2-40B4-BE49-F238E27FC236}">
                <a16:creationId xmlns:a16="http://schemas.microsoft.com/office/drawing/2014/main" id="{95B3A797-13D4-A243-B1AE-4498B36D475C}"/>
              </a:ext>
            </a:extLst>
          </p:cNvPr>
          <p:cNvSpPr>
            <a:spLocks noGrp="1"/>
          </p:cNvSpPr>
          <p:nvPr>
            <p:ph type="subTitle" idx="1" hasCustomPrompt="1"/>
          </p:nvPr>
        </p:nvSpPr>
        <p:spPr>
          <a:xfrm>
            <a:off x="960098" y="4676833"/>
            <a:ext cx="6155726" cy="494797"/>
          </a:xfrm>
        </p:spPr>
        <p:txBody>
          <a:bodyPr/>
          <a:lstStyle>
            <a:lvl1pPr marL="0" indent="0" algn="l">
              <a:buNone/>
              <a:defRPr sz="2400" b="1">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sp>
        <p:nvSpPr>
          <p:cNvPr id="17" name="Text Placeholder 15">
            <a:extLst>
              <a:ext uri="{FF2B5EF4-FFF2-40B4-BE49-F238E27FC236}">
                <a16:creationId xmlns:a16="http://schemas.microsoft.com/office/drawing/2014/main" id="{884DA5E7-4B71-0543-8E46-EC2A81EAE3C1}"/>
              </a:ext>
            </a:extLst>
          </p:cNvPr>
          <p:cNvSpPr>
            <a:spLocks noGrp="1"/>
          </p:cNvSpPr>
          <p:nvPr>
            <p:ph type="body" sz="quarter" idx="10" hasCustomPrompt="1"/>
          </p:nvPr>
        </p:nvSpPr>
        <p:spPr>
          <a:xfrm>
            <a:off x="960096" y="5139429"/>
            <a:ext cx="6155726" cy="495309"/>
          </a:xfrm>
        </p:spPr>
        <p:txBody>
          <a:bodyPr>
            <a:normAutofit/>
          </a:bodyPr>
          <a:lstStyle>
            <a:lvl1pPr marL="0" indent="0">
              <a:buNone/>
              <a:defRPr sz="240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Month XX, 2020</a:t>
            </a:r>
          </a:p>
        </p:txBody>
      </p:sp>
      <p:sp>
        <p:nvSpPr>
          <p:cNvPr id="8" name="Footer Placeholder 4">
            <a:extLst>
              <a:ext uri="{FF2B5EF4-FFF2-40B4-BE49-F238E27FC236}">
                <a16:creationId xmlns:a16="http://schemas.microsoft.com/office/drawing/2014/main" id="{6EBCADCB-4DBB-9C43-A696-780C05775738}"/>
              </a:ext>
            </a:extLst>
          </p:cNvPr>
          <p:cNvSpPr>
            <a:spLocks noGrp="1"/>
          </p:cNvSpPr>
          <p:nvPr>
            <p:ph type="ftr" sz="quarter" idx="3"/>
          </p:nvPr>
        </p:nvSpPr>
        <p:spPr>
          <a:xfrm>
            <a:off x="3929599" y="152400"/>
            <a:ext cx="3385601" cy="919069"/>
          </a:xfrm>
          <a:prstGeom prst="rect">
            <a:avLst/>
          </a:prstGeom>
          <a:noFill/>
        </p:spPr>
        <p:txBody>
          <a:bodyPr vert="horz" lIns="0" tIns="0" rIns="0" bIns="0" rtlCol="0" anchor="b" anchorCtr="0"/>
          <a:lstStyle>
            <a:lvl1pPr algn="l">
              <a:defRPr sz="2000" b="0">
                <a:solidFill>
                  <a:schemeClr val="tx1"/>
                </a:solidFill>
                <a:latin typeface="Roboto" panose="02000000000000000000" pitchFamily="2" charset="0"/>
                <a:ea typeface="Roboto" panose="02000000000000000000" pitchFamily="2" charset="0"/>
              </a:defRPr>
            </a:lvl1pPr>
          </a:lstStyle>
          <a:p>
            <a:r>
              <a:rPr lang="en-US"/>
              <a:t>Final Project | Topics in Computer Science II | Fall 2025, University of Iowa</a:t>
            </a:r>
            <a:endParaRPr lang="en-US" dirty="0"/>
          </a:p>
        </p:txBody>
      </p:sp>
      <p:sp>
        <p:nvSpPr>
          <p:cNvPr id="18" name="Picture Placeholder 4">
            <a:extLst>
              <a:ext uri="{FF2B5EF4-FFF2-40B4-BE49-F238E27FC236}">
                <a16:creationId xmlns:a16="http://schemas.microsoft.com/office/drawing/2014/main" id="{2C35F063-23A9-F244-9022-8BBB7E277ACC}"/>
              </a:ext>
            </a:extLst>
          </p:cNvPr>
          <p:cNvSpPr>
            <a:spLocks noGrp="1"/>
          </p:cNvSpPr>
          <p:nvPr>
            <p:ph type="pic" sz="quarter" idx="11"/>
          </p:nvPr>
        </p:nvSpPr>
        <p:spPr>
          <a:xfrm>
            <a:off x="7624118" y="0"/>
            <a:ext cx="4567882" cy="6858000"/>
          </a:xfrm>
          <a:prstGeom prst="rect">
            <a:avLst/>
          </a:prstGeom>
        </p:spPr>
        <p:txBody>
          <a:bodyPr anchor="ctr" anchorCtr="0"/>
          <a:lstStyle>
            <a:lvl1pPr marL="0" indent="0" algn="ctr">
              <a:buNone/>
              <a:defRPr b="0" i="0">
                <a:solidFill>
                  <a:schemeClr val="accent3"/>
                </a:solidFill>
                <a:latin typeface="Arial" panose="020B0604020202020204" pitchFamily="34" charset="0"/>
              </a:defRPr>
            </a:lvl1pPr>
          </a:lstStyle>
          <a:p>
            <a:r>
              <a:rPr lang="en-US" dirty="0"/>
              <a:t>Click icon to add picture</a:t>
            </a:r>
          </a:p>
        </p:txBody>
      </p:sp>
      <p:pic>
        <p:nvPicPr>
          <p:cNvPr id="13" name="Picture 12">
            <a:extLst>
              <a:ext uri="{FF2B5EF4-FFF2-40B4-BE49-F238E27FC236}">
                <a16:creationId xmlns:a16="http://schemas.microsoft.com/office/drawing/2014/main" id="{D73F5E00-2329-6246-A2BB-7BCD46F83907}"/>
              </a:ext>
            </a:extLst>
          </p:cNvPr>
          <p:cNvPicPr>
            <a:picLocks noChangeAspect="1"/>
          </p:cNvPicPr>
          <p:nvPr userDrawn="1"/>
        </p:nvPicPr>
        <p:blipFill>
          <a:blip r:embed="rId2"/>
          <a:srcRect/>
          <a:stretch/>
        </p:blipFill>
        <p:spPr>
          <a:xfrm>
            <a:off x="947738" y="0"/>
            <a:ext cx="2687038" cy="1279542"/>
          </a:xfrm>
          <a:prstGeom prst="rect">
            <a:avLst/>
          </a:prstGeom>
        </p:spPr>
      </p:pic>
    </p:spTree>
    <p:extLst>
      <p:ext uri="{BB962C8B-B14F-4D97-AF65-F5344CB8AC3E}">
        <p14:creationId xmlns:p14="http://schemas.microsoft.com/office/powerpoint/2010/main" val="2339209882"/>
      </p:ext>
    </p:extLst>
  </p:cSld>
  <p:clrMapOvr>
    <a:masterClrMapping/>
  </p:clrMapOvr>
  <p:extLst>
    <p:ext uri="{DCECCB84-F9BA-43D5-87BE-67443E8EF086}">
      <p15:sldGuideLst xmlns:p15="http://schemas.microsoft.com/office/powerpoint/2012/main">
        <p15:guide id="1" orient="horz" pos="2160">
          <p15:clr>
            <a:srgbClr val="FBAE40"/>
          </p15:clr>
        </p15:guide>
        <p15:guide id="2" pos="597">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Slide – Solid Go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BAE84-700B-054E-8730-2262E5327E60}"/>
              </a:ext>
            </a:extLst>
          </p:cNvPr>
          <p:cNvSpPr>
            <a:spLocks noGrp="1"/>
          </p:cNvSpPr>
          <p:nvPr>
            <p:ph type="ctrTitle" hasCustomPrompt="1"/>
          </p:nvPr>
        </p:nvSpPr>
        <p:spPr>
          <a:xfrm>
            <a:off x="952500" y="2805221"/>
            <a:ext cx="10286999" cy="759906"/>
          </a:xfrm>
        </p:spPr>
        <p:txBody>
          <a:bodyPr lIns="0" tIns="0" rIns="0" bIns="0" anchor="t" anchorCtr="0">
            <a:normAutofit/>
          </a:bodyPr>
          <a:lstStyle>
            <a:lvl1pPr algn="l">
              <a:defRPr sz="6000" b="1">
                <a:solidFill>
                  <a:schemeClr val="tx1"/>
                </a:solidFill>
                <a:latin typeface="+mj-lt"/>
                <a:ea typeface="Roboto Black" panose="02000000000000000000" pitchFamily="2" charset="0"/>
                <a:cs typeface="Arial" panose="020B0604020202020204" pitchFamily="34" charset="0"/>
              </a:defRPr>
            </a:lvl1pPr>
          </a:lstStyle>
          <a:p>
            <a:r>
              <a:rPr lang="en-US" dirty="0"/>
              <a:t>Section Header</a:t>
            </a:r>
          </a:p>
        </p:txBody>
      </p:sp>
      <p:cxnSp>
        <p:nvCxnSpPr>
          <p:cNvPr id="8" name="Straight Connector 7">
            <a:extLst>
              <a:ext uri="{FF2B5EF4-FFF2-40B4-BE49-F238E27FC236}">
                <a16:creationId xmlns:a16="http://schemas.microsoft.com/office/drawing/2014/main" id="{C4E1A789-3A04-9240-BCEC-3DACF2B52870}"/>
              </a:ext>
            </a:extLst>
          </p:cNvPr>
          <p:cNvCxnSpPr>
            <a:cxnSpLocks/>
          </p:cNvCxnSpPr>
          <p:nvPr userDrawn="1"/>
        </p:nvCxnSpPr>
        <p:spPr>
          <a:xfrm>
            <a:off x="974126" y="2578471"/>
            <a:ext cx="768531" cy="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Subtitle 2">
            <a:extLst>
              <a:ext uri="{FF2B5EF4-FFF2-40B4-BE49-F238E27FC236}">
                <a16:creationId xmlns:a16="http://schemas.microsoft.com/office/drawing/2014/main" id="{7055E247-542B-D541-8F36-DBA97343BC92}"/>
              </a:ext>
            </a:extLst>
          </p:cNvPr>
          <p:cNvSpPr>
            <a:spLocks noGrp="1"/>
          </p:cNvSpPr>
          <p:nvPr>
            <p:ph type="subTitle" idx="1" hasCustomPrompt="1"/>
          </p:nvPr>
        </p:nvSpPr>
        <p:spPr>
          <a:xfrm>
            <a:off x="952500" y="3791876"/>
            <a:ext cx="10286999" cy="407460"/>
          </a:xfrm>
        </p:spPr>
        <p:txBody>
          <a:bodyPr lIns="0" tIns="0" rIns="0" bIns="0"/>
          <a:lstStyle>
            <a:lvl1pPr marL="0" indent="0" algn="l">
              <a:buNone/>
              <a:defRPr sz="2400" b="0">
                <a:solidFill>
                  <a:schemeClr val="tx1"/>
                </a:solidFill>
                <a:latin typeface="Roboto" panose="02000000000000000000" pitchFamily="2" charset="0"/>
                <a:ea typeface="Roboto" panose="020000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Section Subtitle</a:t>
            </a:r>
          </a:p>
        </p:txBody>
      </p:sp>
    </p:spTree>
    <p:extLst>
      <p:ext uri="{BB962C8B-B14F-4D97-AF65-F5344CB8AC3E}">
        <p14:creationId xmlns:p14="http://schemas.microsoft.com/office/powerpoint/2010/main" val="272127203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600" userDrawn="1">
          <p15:clr>
            <a:srgbClr val="FBAE40"/>
          </p15:clr>
        </p15:guide>
        <p15:guide id="4" pos="70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Slide – Solid Blac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BAE84-700B-054E-8730-2262E5327E60}"/>
              </a:ext>
            </a:extLst>
          </p:cNvPr>
          <p:cNvSpPr>
            <a:spLocks noGrp="1"/>
          </p:cNvSpPr>
          <p:nvPr>
            <p:ph type="ctrTitle" hasCustomPrompt="1"/>
          </p:nvPr>
        </p:nvSpPr>
        <p:spPr>
          <a:xfrm>
            <a:off x="952500" y="2805221"/>
            <a:ext cx="10286999" cy="759907"/>
          </a:xfrm>
        </p:spPr>
        <p:txBody>
          <a:bodyPr lIns="0" tIns="0" rIns="0" bIns="0" anchor="t" anchorCtr="0">
            <a:normAutofit/>
          </a:bodyPr>
          <a:lstStyle>
            <a:lvl1pPr algn="l">
              <a:defRPr sz="6000" b="1">
                <a:solidFill>
                  <a:schemeClr val="bg1"/>
                </a:solidFill>
                <a:latin typeface="+mj-lt"/>
                <a:ea typeface="Roboto Black" panose="02000000000000000000" pitchFamily="2" charset="0"/>
                <a:cs typeface="Arial" panose="020B0604020202020204" pitchFamily="34" charset="0"/>
              </a:defRPr>
            </a:lvl1pPr>
          </a:lstStyle>
          <a:p>
            <a:r>
              <a:rPr lang="en-US" noProof="0" dirty="0"/>
              <a:t>Section Header</a:t>
            </a:r>
          </a:p>
        </p:txBody>
      </p:sp>
      <p:cxnSp>
        <p:nvCxnSpPr>
          <p:cNvPr id="8" name="Straight Connector 7">
            <a:extLst>
              <a:ext uri="{FF2B5EF4-FFF2-40B4-BE49-F238E27FC236}">
                <a16:creationId xmlns:a16="http://schemas.microsoft.com/office/drawing/2014/main" id="{C4E1A789-3A04-9240-BCEC-3DACF2B52870}"/>
              </a:ext>
            </a:extLst>
          </p:cNvPr>
          <p:cNvCxnSpPr>
            <a:cxnSpLocks/>
          </p:cNvCxnSpPr>
          <p:nvPr userDrawn="1"/>
        </p:nvCxnSpPr>
        <p:spPr>
          <a:xfrm>
            <a:off x="974126" y="2578471"/>
            <a:ext cx="768531" cy="0"/>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Subtitle 2">
            <a:extLst>
              <a:ext uri="{FF2B5EF4-FFF2-40B4-BE49-F238E27FC236}">
                <a16:creationId xmlns:a16="http://schemas.microsoft.com/office/drawing/2014/main" id="{8FB54BE8-0526-614C-A06E-8C6258999B24}"/>
              </a:ext>
            </a:extLst>
          </p:cNvPr>
          <p:cNvSpPr>
            <a:spLocks noGrp="1"/>
          </p:cNvSpPr>
          <p:nvPr>
            <p:ph type="subTitle" idx="1" hasCustomPrompt="1"/>
          </p:nvPr>
        </p:nvSpPr>
        <p:spPr>
          <a:xfrm>
            <a:off x="952500" y="3791876"/>
            <a:ext cx="10286999" cy="407460"/>
          </a:xfrm>
        </p:spPr>
        <p:txBody>
          <a:bodyPr lIns="0" tIns="0" rIns="0" bIns="0"/>
          <a:lstStyle>
            <a:lvl1pPr marL="0" indent="0" algn="l">
              <a:buNone/>
              <a:defRPr sz="2400" b="0">
                <a:solidFill>
                  <a:schemeClr val="accent1"/>
                </a:solidFill>
                <a:latin typeface="Roboto" panose="02000000000000000000" pitchFamily="2" charset="0"/>
                <a:ea typeface="Roboto" panose="020000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Section Subtitle</a:t>
            </a:r>
          </a:p>
        </p:txBody>
      </p:sp>
    </p:spTree>
    <p:extLst>
      <p:ext uri="{BB962C8B-B14F-4D97-AF65-F5344CB8AC3E}">
        <p14:creationId xmlns:p14="http://schemas.microsoft.com/office/powerpoint/2010/main" val="5092828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600">
          <p15:clr>
            <a:srgbClr val="FBAE40"/>
          </p15:clr>
        </p15:guide>
        <p15:guide id="4" pos="70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Slide – Photo">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2C17923A-4119-CF48-9F2D-05B0A69EBAD5}"/>
              </a:ext>
            </a:extLst>
          </p:cNvPr>
          <p:cNvSpPr>
            <a:spLocks noGrp="1"/>
          </p:cNvSpPr>
          <p:nvPr>
            <p:ph type="pic" sz="quarter" idx="11"/>
          </p:nvPr>
        </p:nvSpPr>
        <p:spPr>
          <a:xfrm>
            <a:off x="0" y="0"/>
            <a:ext cx="12192000" cy="6858000"/>
          </a:xfrm>
        </p:spPr>
        <p:txBody>
          <a:bodyPr anchor="ctr" anchorCtr="0"/>
          <a:lstStyle>
            <a:lvl1pPr marL="0" indent="0" algn="ctr">
              <a:buNone/>
              <a:defRPr>
                <a:solidFill>
                  <a:schemeClr val="accent3"/>
                </a:solidFill>
              </a:defRPr>
            </a:lvl1pPr>
          </a:lstStyle>
          <a:p>
            <a:r>
              <a:rPr lang="en-US" dirty="0"/>
              <a:t>Click icon to add picture</a:t>
            </a:r>
          </a:p>
        </p:txBody>
      </p:sp>
      <p:sp>
        <p:nvSpPr>
          <p:cNvPr id="2" name="Title 1">
            <a:extLst>
              <a:ext uri="{FF2B5EF4-FFF2-40B4-BE49-F238E27FC236}">
                <a16:creationId xmlns:a16="http://schemas.microsoft.com/office/drawing/2014/main" id="{D8224488-0ADE-1843-91C1-1CA371373F2D}"/>
              </a:ext>
            </a:extLst>
          </p:cNvPr>
          <p:cNvSpPr>
            <a:spLocks noGrp="1"/>
          </p:cNvSpPr>
          <p:nvPr>
            <p:ph type="title" hasCustomPrompt="1"/>
          </p:nvPr>
        </p:nvSpPr>
        <p:spPr>
          <a:xfrm>
            <a:off x="1027661" y="2215171"/>
            <a:ext cx="4368798" cy="646331"/>
          </a:xfrm>
          <a:solidFill>
            <a:schemeClr val="accent1"/>
          </a:solidFill>
        </p:spPr>
        <p:txBody>
          <a:bodyPr wrap="square" lIns="91440" tIns="91440" bIns="0">
            <a:spAutoFit/>
          </a:bodyPr>
          <a:lstStyle/>
          <a:p>
            <a:r>
              <a:rPr lang="en-US" dirty="0"/>
              <a:t>SECTION HEADER</a:t>
            </a:r>
          </a:p>
        </p:txBody>
      </p:sp>
    </p:spTree>
    <p:extLst>
      <p:ext uri="{BB962C8B-B14F-4D97-AF65-F5344CB8AC3E}">
        <p14:creationId xmlns:p14="http://schemas.microsoft.com/office/powerpoint/2010/main" val="23880736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C070F21D-F194-034E-812B-69D1C6CDD0DE}"/>
              </a:ext>
            </a:extLst>
          </p:cNvPr>
          <p:cNvSpPr>
            <a:spLocks noGrp="1"/>
          </p:cNvSpPr>
          <p:nvPr>
            <p:ph type="title"/>
          </p:nvPr>
        </p:nvSpPr>
        <p:spPr>
          <a:xfrm>
            <a:off x="952499" y="526777"/>
            <a:ext cx="10287001" cy="869089"/>
          </a:xfrm>
        </p:spPr>
        <p:txBody>
          <a:bodyPr lIns="0" tIns="0" rIns="0" bIns="0"/>
          <a:lstStyle>
            <a:lvl1pPr>
              <a:defRPr>
                <a:latin typeface="Roboto" panose="02000000000000000000" pitchFamily="2" charset="0"/>
                <a:ea typeface="Roboto" panose="02000000000000000000" pitchFamily="2" charset="0"/>
              </a:defRPr>
            </a:lvl1pPr>
          </a:lstStyle>
          <a:p>
            <a:r>
              <a:rPr lang="en-US" dirty="0"/>
              <a:t>Click to edit Master title style</a:t>
            </a:r>
          </a:p>
        </p:txBody>
      </p:sp>
      <p:cxnSp>
        <p:nvCxnSpPr>
          <p:cNvPr id="24" name="Straight Connector 23">
            <a:extLst>
              <a:ext uri="{FF2B5EF4-FFF2-40B4-BE49-F238E27FC236}">
                <a16:creationId xmlns:a16="http://schemas.microsoft.com/office/drawing/2014/main" id="{9BA13FBC-A4AA-9B4F-8E9B-12CD6600150E}"/>
              </a:ext>
            </a:extLst>
          </p:cNvPr>
          <p:cNvCxnSpPr>
            <a:cxnSpLocks/>
          </p:cNvCxnSpPr>
          <p:nvPr userDrawn="1"/>
        </p:nvCxnSpPr>
        <p:spPr>
          <a:xfrm>
            <a:off x="952498" y="1363362"/>
            <a:ext cx="768531"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722C1D3A-9762-7F4D-AB5C-A3F0114B67B2}"/>
              </a:ext>
            </a:extLst>
          </p:cNvPr>
          <p:cNvSpPr/>
          <p:nvPr userDrawn="1"/>
        </p:nvSpPr>
        <p:spPr>
          <a:xfrm>
            <a:off x="0" y="6389511"/>
            <a:ext cx="12192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16" name="Picture 15" descr="The University of Iowa">
            <a:extLst>
              <a:ext uri="{FF2B5EF4-FFF2-40B4-BE49-F238E27FC236}">
                <a16:creationId xmlns:a16="http://schemas.microsoft.com/office/drawing/2014/main" id="{7148CCDA-64E4-6A4E-A6A7-D2AB55159A1A}"/>
              </a:ext>
            </a:extLst>
          </p:cNvPr>
          <p:cNvPicPr>
            <a:picLocks noChangeAspect="1"/>
          </p:cNvPicPr>
          <p:nvPr userDrawn="1"/>
        </p:nvPicPr>
        <p:blipFill>
          <a:blip r:embed="rId2"/>
          <a:stretch>
            <a:fillRect/>
          </a:stretch>
        </p:blipFill>
        <p:spPr>
          <a:xfrm>
            <a:off x="838200" y="6131555"/>
            <a:ext cx="1545021" cy="733885"/>
          </a:xfrm>
          <a:prstGeom prst="rect">
            <a:avLst/>
          </a:prstGeom>
        </p:spPr>
      </p:pic>
      <p:sp>
        <p:nvSpPr>
          <p:cNvPr id="15" name="Footer Placeholder 4">
            <a:extLst>
              <a:ext uri="{FF2B5EF4-FFF2-40B4-BE49-F238E27FC236}">
                <a16:creationId xmlns:a16="http://schemas.microsoft.com/office/drawing/2014/main" id="{EFAE079D-23CF-2543-B543-90A5EB0D2C26}"/>
              </a:ext>
            </a:extLst>
          </p:cNvPr>
          <p:cNvSpPr>
            <a:spLocks noGrp="1"/>
          </p:cNvSpPr>
          <p:nvPr>
            <p:ph type="ftr" sz="quarter" idx="3"/>
          </p:nvPr>
        </p:nvSpPr>
        <p:spPr>
          <a:xfrm>
            <a:off x="2519853" y="6441192"/>
            <a:ext cx="8684173" cy="365125"/>
          </a:xfrm>
          <a:prstGeom prst="rect">
            <a:avLst/>
          </a:prstGeom>
        </p:spPr>
        <p:txBody>
          <a:bodyPr vert="horz" lIns="91440" tIns="45720" rIns="91440" bIns="45720" rtlCol="0" anchor="ctr"/>
          <a:lstStyle>
            <a:lvl1pPr algn="l">
              <a:defRPr sz="1400" b="0">
                <a:solidFill>
                  <a:schemeClr val="bg1"/>
                </a:solidFill>
              </a:defRPr>
            </a:lvl1pPr>
          </a:lstStyle>
          <a:p>
            <a:r>
              <a:rPr lang="en-US"/>
              <a:t>Final Project | Topics in Computer Science II | Fall 2025, University of Iowa</a:t>
            </a:r>
            <a:endParaRPr lang="en-US" b="0" dirty="0"/>
          </a:p>
        </p:txBody>
      </p:sp>
    </p:spTree>
    <p:extLst>
      <p:ext uri="{BB962C8B-B14F-4D97-AF65-F5344CB8AC3E}">
        <p14:creationId xmlns:p14="http://schemas.microsoft.com/office/powerpoint/2010/main" val="177833841"/>
      </p:ext>
    </p:extLst>
  </p:cSld>
  <p:clrMapOvr>
    <a:masterClrMapping/>
  </p:clrMapOvr>
  <p:extLst>
    <p:ext uri="{DCECCB84-F9BA-43D5-87BE-67443E8EF086}">
      <p15:sldGuideLst xmlns:p15="http://schemas.microsoft.com/office/powerpoint/2012/main">
        <p15:guide id="1" orient="horz" pos="696">
          <p15:clr>
            <a:srgbClr val="FBAE40"/>
          </p15:clr>
        </p15:guide>
        <p15:guide id="2" pos="600">
          <p15:clr>
            <a:srgbClr val="FBAE40"/>
          </p15:clr>
        </p15:guide>
        <p15:guide id="3" pos="7080">
          <p15:clr>
            <a:srgbClr val="FBAE40"/>
          </p15:clr>
        </p15:guide>
        <p15:guide id="4" pos="3840">
          <p15:clr>
            <a:srgbClr val="FBAE40"/>
          </p15:clr>
        </p15:guide>
        <p15:guide id="5" orient="horz" pos="1056">
          <p15:clr>
            <a:srgbClr val="FBAE40"/>
          </p15:clr>
        </p15:guide>
        <p15:guide id="7" orient="horz" pos="2400" userDrawn="1">
          <p15:clr>
            <a:srgbClr val="FBAE40"/>
          </p15:clr>
        </p15:guide>
        <p15:guide id="8" orient="horz" pos="3744"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ullet Slide">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BE68DE55-0579-EC46-BD52-181870AFB63C}"/>
              </a:ext>
            </a:extLst>
          </p:cNvPr>
          <p:cNvSpPr>
            <a:spLocks noGrp="1"/>
          </p:cNvSpPr>
          <p:nvPr>
            <p:ph type="title"/>
          </p:nvPr>
        </p:nvSpPr>
        <p:spPr>
          <a:xfrm>
            <a:off x="952499" y="526777"/>
            <a:ext cx="10287001" cy="869089"/>
          </a:xfrm>
        </p:spPr>
        <p:txBody>
          <a:bodyPr lIns="0" tIns="0" rIns="0" bIns="0"/>
          <a:lstStyle>
            <a:lvl1pPr>
              <a:defRPr>
                <a:latin typeface="Roboto" panose="02000000000000000000" pitchFamily="2" charset="0"/>
                <a:ea typeface="Roboto" panose="02000000000000000000" pitchFamily="2" charset="0"/>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88200BB2-D6D1-6642-8F66-9B4F37EC8187}"/>
              </a:ext>
            </a:extLst>
          </p:cNvPr>
          <p:cNvCxnSpPr>
            <a:cxnSpLocks/>
          </p:cNvCxnSpPr>
          <p:nvPr userDrawn="1"/>
        </p:nvCxnSpPr>
        <p:spPr>
          <a:xfrm>
            <a:off x="952498" y="1363362"/>
            <a:ext cx="768531"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21" name="Content Placeholder 2">
            <a:extLst>
              <a:ext uri="{FF2B5EF4-FFF2-40B4-BE49-F238E27FC236}">
                <a16:creationId xmlns:a16="http://schemas.microsoft.com/office/drawing/2014/main" id="{F35C2BC9-7AF3-6D49-8036-36D81872E84B}"/>
              </a:ext>
            </a:extLst>
          </p:cNvPr>
          <p:cNvSpPr>
            <a:spLocks noGrp="1"/>
          </p:cNvSpPr>
          <p:nvPr>
            <p:ph idx="10"/>
          </p:nvPr>
        </p:nvSpPr>
        <p:spPr>
          <a:xfrm>
            <a:off x="952498" y="1686757"/>
            <a:ext cx="10251527" cy="4256843"/>
          </a:xfrm>
        </p:spPr>
        <p:txBody>
          <a:bodyPr lIns="0" tIns="0" rIns="0" bIns="0"/>
          <a:lstStyle>
            <a:lvl1pPr marL="228600" indent="-228600">
              <a:buClr>
                <a:schemeClr val="tx2"/>
              </a:buClr>
              <a:buSzPct val="95000"/>
              <a:buFont typeface="Arial" panose="020B0604020202020204" pitchFamily="34" charset="0"/>
              <a:buChar char="•"/>
              <a:defRPr>
                <a:latin typeface="Roboto" panose="02000000000000000000" pitchFamily="2" charset="0"/>
                <a:ea typeface="Roboto" panose="02000000000000000000" pitchFamily="2" charset="0"/>
              </a:defRPr>
            </a:lvl1pPr>
            <a:lvl2pPr marL="685800" indent="-228600">
              <a:buClr>
                <a:schemeClr val="tx2"/>
              </a:buClr>
              <a:buSzPct val="100000"/>
              <a:buFont typeface="Arial" panose="020B0604020202020204" pitchFamily="34" charset="0"/>
              <a:buChar char="‒"/>
              <a:defRPr>
                <a:latin typeface="Roboto" panose="02000000000000000000" pitchFamily="2" charset="0"/>
                <a:ea typeface="Roboto" panose="02000000000000000000" pitchFamily="2" charset="0"/>
              </a:defRPr>
            </a:lvl2pPr>
            <a:lvl3pPr marL="1143000" indent="-228600">
              <a:buClr>
                <a:schemeClr val="tx2"/>
              </a:buClr>
              <a:buSzPct val="100000"/>
              <a:buFont typeface="Roboto" panose="02000000000000000000" pitchFamily="2" charset="0"/>
              <a:buChar char="•"/>
              <a:defRPr>
                <a:latin typeface="Roboto" panose="02000000000000000000" pitchFamily="2" charset="0"/>
                <a:ea typeface="Roboto" panose="02000000000000000000" pitchFamily="2" charset="0"/>
              </a:defRPr>
            </a:lvl3pPr>
            <a:lvl4pPr marL="1600200" indent="-228600">
              <a:buClr>
                <a:schemeClr val="tx2"/>
              </a:buClr>
              <a:buSzPct val="100000"/>
              <a:buFont typeface="Roboto" panose="02000000000000000000" pitchFamily="2" charset="0"/>
              <a:buChar char="―"/>
              <a:defRPr>
                <a:latin typeface="Roboto" panose="02000000000000000000" pitchFamily="2" charset="0"/>
                <a:ea typeface="Roboto" panose="02000000000000000000" pitchFamily="2" charset="0"/>
              </a:defRPr>
            </a:lvl4pPr>
            <a:lvl5pPr marL="2057400" indent="-228600">
              <a:buClr>
                <a:schemeClr val="tx2"/>
              </a:buClr>
              <a:buSzPct val="100000"/>
              <a:buFont typeface="Arial" panose="020B0604020202020204" pitchFamily="34" charset="0"/>
              <a:buChar char="•"/>
              <a:defRPr>
                <a:latin typeface="Roboto" panose="02000000000000000000" pitchFamily="2" charset="0"/>
                <a:ea typeface="Roboto" panose="02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Rectangle 10">
            <a:extLst>
              <a:ext uri="{FF2B5EF4-FFF2-40B4-BE49-F238E27FC236}">
                <a16:creationId xmlns:a16="http://schemas.microsoft.com/office/drawing/2014/main" id="{80937044-371D-C149-9F72-3D8FBA4605CF}"/>
              </a:ext>
            </a:extLst>
          </p:cNvPr>
          <p:cNvSpPr/>
          <p:nvPr userDrawn="1"/>
        </p:nvSpPr>
        <p:spPr>
          <a:xfrm>
            <a:off x="0" y="6389511"/>
            <a:ext cx="12192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14" name="Picture 13" descr="The University of Iowa">
            <a:extLst>
              <a:ext uri="{FF2B5EF4-FFF2-40B4-BE49-F238E27FC236}">
                <a16:creationId xmlns:a16="http://schemas.microsoft.com/office/drawing/2014/main" id="{DC5F3A3D-928C-F445-ACB3-2C38F21F6DAC}"/>
              </a:ext>
            </a:extLst>
          </p:cNvPr>
          <p:cNvPicPr>
            <a:picLocks noChangeAspect="1"/>
          </p:cNvPicPr>
          <p:nvPr userDrawn="1"/>
        </p:nvPicPr>
        <p:blipFill>
          <a:blip r:embed="rId2"/>
          <a:stretch>
            <a:fillRect/>
          </a:stretch>
        </p:blipFill>
        <p:spPr>
          <a:xfrm>
            <a:off x="838200" y="6131555"/>
            <a:ext cx="1545021" cy="733885"/>
          </a:xfrm>
          <a:prstGeom prst="rect">
            <a:avLst/>
          </a:prstGeom>
        </p:spPr>
      </p:pic>
      <p:sp>
        <p:nvSpPr>
          <p:cNvPr id="13" name="Footer Placeholder 4">
            <a:extLst>
              <a:ext uri="{FF2B5EF4-FFF2-40B4-BE49-F238E27FC236}">
                <a16:creationId xmlns:a16="http://schemas.microsoft.com/office/drawing/2014/main" id="{52F140A7-DF6E-3245-BC22-1F0E9CFEE8E1}"/>
              </a:ext>
            </a:extLst>
          </p:cNvPr>
          <p:cNvSpPr>
            <a:spLocks noGrp="1"/>
          </p:cNvSpPr>
          <p:nvPr>
            <p:ph type="ftr" sz="quarter" idx="3"/>
          </p:nvPr>
        </p:nvSpPr>
        <p:spPr>
          <a:xfrm>
            <a:off x="2519853" y="6441192"/>
            <a:ext cx="8684173" cy="365125"/>
          </a:xfrm>
          <a:prstGeom prst="rect">
            <a:avLst/>
          </a:prstGeom>
        </p:spPr>
        <p:txBody>
          <a:bodyPr vert="horz" lIns="91440" tIns="45720" rIns="91440" bIns="45720" rtlCol="0" anchor="ctr"/>
          <a:lstStyle>
            <a:lvl1pPr algn="l">
              <a:defRPr sz="1400" b="0">
                <a:solidFill>
                  <a:schemeClr val="bg1"/>
                </a:solidFill>
              </a:defRPr>
            </a:lvl1pPr>
          </a:lstStyle>
          <a:p>
            <a:r>
              <a:rPr lang="en-US"/>
              <a:t>Final Project | Topics in Computer Science II | Fall 2025, University of Iowa</a:t>
            </a:r>
            <a:endParaRPr lang="en-US" b="0" dirty="0"/>
          </a:p>
        </p:txBody>
      </p:sp>
    </p:spTree>
    <p:extLst>
      <p:ext uri="{BB962C8B-B14F-4D97-AF65-F5344CB8AC3E}">
        <p14:creationId xmlns:p14="http://schemas.microsoft.com/office/powerpoint/2010/main" val="691165391"/>
      </p:ext>
    </p:extLst>
  </p:cSld>
  <p:clrMapOvr>
    <a:masterClrMapping/>
  </p:clrMapOvr>
  <p:extLst>
    <p:ext uri="{DCECCB84-F9BA-43D5-87BE-67443E8EF086}">
      <p15:sldGuideLst xmlns:p15="http://schemas.microsoft.com/office/powerpoint/2012/main">
        <p15:guide id="1" orient="horz" pos="696" userDrawn="1">
          <p15:clr>
            <a:srgbClr val="FBAE40"/>
          </p15:clr>
        </p15:guide>
        <p15:guide id="2" pos="600" userDrawn="1">
          <p15:clr>
            <a:srgbClr val="FBAE40"/>
          </p15:clr>
        </p15:guide>
        <p15:guide id="3" pos="7080" userDrawn="1">
          <p15:clr>
            <a:srgbClr val="FBAE40"/>
          </p15:clr>
        </p15:guide>
        <p15:guide id="4" pos="3840" userDrawn="1">
          <p15:clr>
            <a:srgbClr val="FBAE40"/>
          </p15:clr>
        </p15:guide>
        <p15:guide id="5" orient="horz" pos="1056" userDrawn="1">
          <p15:clr>
            <a:srgbClr val="FBAE40"/>
          </p15:clr>
        </p15:guide>
        <p15:guide id="7" orient="horz" pos="3744" userDrawn="1">
          <p15:clr>
            <a:srgbClr val="FBAE40"/>
          </p15:clr>
        </p15:guide>
        <p15:guide id="8" orient="horz" pos="240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Bullet Slide - 2 Line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AAEF4-B950-814D-A811-CD17BDDF049C}"/>
              </a:ext>
            </a:extLst>
          </p:cNvPr>
          <p:cNvSpPr>
            <a:spLocks noGrp="1"/>
          </p:cNvSpPr>
          <p:nvPr>
            <p:ph type="title" hasCustomPrompt="1"/>
          </p:nvPr>
        </p:nvSpPr>
        <p:spPr>
          <a:xfrm>
            <a:off x="952500" y="389509"/>
            <a:ext cx="10287000" cy="1331865"/>
          </a:xfrm>
        </p:spPr>
        <p:txBody>
          <a:bodyPr lIns="0" tIns="0" rIns="0" bIns="0"/>
          <a:lstStyle>
            <a:lvl1pPr>
              <a:defRPr>
                <a:latin typeface="Roboto" panose="02000000000000000000" pitchFamily="2" charset="0"/>
                <a:ea typeface="Roboto" panose="02000000000000000000" pitchFamily="2" charset="0"/>
              </a:defRPr>
            </a:lvl1pPr>
          </a:lstStyle>
          <a:p>
            <a:r>
              <a:rPr lang="en-US" dirty="0"/>
              <a:t>Click to edit Master title style </a:t>
            </a:r>
            <a:br>
              <a:rPr lang="en-US" dirty="0"/>
            </a:br>
            <a:r>
              <a:rPr lang="en-US" dirty="0"/>
              <a:t>that runs to two lines</a:t>
            </a:r>
          </a:p>
        </p:txBody>
      </p:sp>
      <p:cxnSp>
        <p:nvCxnSpPr>
          <p:cNvPr id="8" name="Straight Connector 7">
            <a:extLst>
              <a:ext uri="{FF2B5EF4-FFF2-40B4-BE49-F238E27FC236}">
                <a16:creationId xmlns:a16="http://schemas.microsoft.com/office/drawing/2014/main" id="{CBB5BDD8-8221-F040-8AE0-3F33C4E24CA0}"/>
              </a:ext>
            </a:extLst>
          </p:cNvPr>
          <p:cNvCxnSpPr>
            <a:cxnSpLocks/>
          </p:cNvCxnSpPr>
          <p:nvPr userDrawn="1"/>
        </p:nvCxnSpPr>
        <p:spPr>
          <a:xfrm>
            <a:off x="952500" y="1734062"/>
            <a:ext cx="768531"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FACD2525-98F9-924C-B8E5-083B38E28238}"/>
              </a:ext>
            </a:extLst>
          </p:cNvPr>
          <p:cNvSpPr>
            <a:spLocks noGrp="1"/>
          </p:cNvSpPr>
          <p:nvPr>
            <p:ph idx="1"/>
          </p:nvPr>
        </p:nvSpPr>
        <p:spPr>
          <a:xfrm>
            <a:off x="952500" y="2050741"/>
            <a:ext cx="10287000" cy="3892859"/>
          </a:xfrm>
        </p:spPr>
        <p:txBody>
          <a:bodyPr lIns="0" tIns="0" rIns="0" bIns="0"/>
          <a:lstStyle>
            <a:lvl1pPr marL="228600" indent="-228600">
              <a:buClr>
                <a:schemeClr val="tx2"/>
              </a:buClr>
              <a:buSzPct val="95000"/>
              <a:buFont typeface="Arial" panose="020B0604020202020204" pitchFamily="34" charset="0"/>
              <a:buChar char="•"/>
              <a:defRPr>
                <a:latin typeface="Roboto" panose="02000000000000000000" pitchFamily="2" charset="0"/>
                <a:ea typeface="Roboto" panose="02000000000000000000" pitchFamily="2" charset="0"/>
              </a:defRPr>
            </a:lvl1pPr>
            <a:lvl2pPr marL="685800" indent="-228600">
              <a:buClr>
                <a:schemeClr val="tx2"/>
              </a:buClr>
              <a:buSzPct val="100000"/>
              <a:buFont typeface="Roboto" panose="02000000000000000000" pitchFamily="2" charset="0"/>
              <a:buChar char="–"/>
              <a:defRPr>
                <a:latin typeface="Roboto" panose="02000000000000000000" pitchFamily="2" charset="0"/>
                <a:ea typeface="Roboto" panose="02000000000000000000" pitchFamily="2" charset="0"/>
              </a:defRPr>
            </a:lvl2pPr>
            <a:lvl3pPr marL="1143000" indent="-228600">
              <a:buClr>
                <a:schemeClr val="tx2"/>
              </a:buClr>
              <a:buSzPct val="100000"/>
              <a:buFont typeface="Arial" panose="020B0604020202020204" pitchFamily="34" charset="0"/>
              <a:buChar char="•"/>
              <a:defRPr>
                <a:latin typeface="Roboto" panose="02000000000000000000" pitchFamily="2" charset="0"/>
                <a:ea typeface="Roboto" panose="02000000000000000000" pitchFamily="2" charset="0"/>
              </a:defRPr>
            </a:lvl3pPr>
            <a:lvl4pPr marL="1600200" indent="-228600">
              <a:buClr>
                <a:schemeClr val="tx2"/>
              </a:buClr>
              <a:buSzPct val="100000"/>
              <a:buFont typeface="Arial" panose="020B0604020202020204" pitchFamily="34" charset="0"/>
              <a:buChar char="‒"/>
              <a:defRPr>
                <a:latin typeface="Roboto" panose="02000000000000000000" pitchFamily="2" charset="0"/>
                <a:ea typeface="Roboto" panose="02000000000000000000" pitchFamily="2" charset="0"/>
              </a:defRPr>
            </a:lvl4pPr>
            <a:lvl5pPr marL="2057400" indent="-228600">
              <a:buClr>
                <a:schemeClr val="tx2"/>
              </a:buClr>
              <a:buSzPct val="100000"/>
              <a:buFont typeface="Arial" panose="020B0604020202020204" pitchFamily="34" charset="0"/>
              <a:buChar char="•"/>
              <a:defRPr>
                <a:latin typeface="Roboto" panose="02000000000000000000" pitchFamily="2" charset="0"/>
                <a:ea typeface="Roboto" panose="02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Rectangle 10">
            <a:extLst>
              <a:ext uri="{FF2B5EF4-FFF2-40B4-BE49-F238E27FC236}">
                <a16:creationId xmlns:a16="http://schemas.microsoft.com/office/drawing/2014/main" id="{7995AAAF-3BA6-4445-BF32-091644479611}"/>
              </a:ext>
            </a:extLst>
          </p:cNvPr>
          <p:cNvSpPr/>
          <p:nvPr userDrawn="1"/>
        </p:nvSpPr>
        <p:spPr>
          <a:xfrm>
            <a:off x="0" y="6389511"/>
            <a:ext cx="12192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14" name="Picture 13" descr="The University of Iowa">
            <a:extLst>
              <a:ext uri="{FF2B5EF4-FFF2-40B4-BE49-F238E27FC236}">
                <a16:creationId xmlns:a16="http://schemas.microsoft.com/office/drawing/2014/main" id="{0AA5F87C-9826-7441-9CF2-6F364BF7D9CA}"/>
              </a:ext>
            </a:extLst>
          </p:cNvPr>
          <p:cNvPicPr>
            <a:picLocks noChangeAspect="1"/>
          </p:cNvPicPr>
          <p:nvPr userDrawn="1"/>
        </p:nvPicPr>
        <p:blipFill>
          <a:blip r:embed="rId2"/>
          <a:stretch>
            <a:fillRect/>
          </a:stretch>
        </p:blipFill>
        <p:spPr>
          <a:xfrm>
            <a:off x="838200" y="6131555"/>
            <a:ext cx="1545021" cy="733885"/>
          </a:xfrm>
          <a:prstGeom prst="rect">
            <a:avLst/>
          </a:prstGeom>
        </p:spPr>
      </p:pic>
      <p:sp>
        <p:nvSpPr>
          <p:cNvPr id="13" name="Footer Placeholder 4">
            <a:extLst>
              <a:ext uri="{FF2B5EF4-FFF2-40B4-BE49-F238E27FC236}">
                <a16:creationId xmlns:a16="http://schemas.microsoft.com/office/drawing/2014/main" id="{8678EF36-A6E8-DB4E-8C3A-B3624ECEE498}"/>
              </a:ext>
            </a:extLst>
          </p:cNvPr>
          <p:cNvSpPr>
            <a:spLocks noGrp="1"/>
          </p:cNvSpPr>
          <p:nvPr>
            <p:ph type="ftr" sz="quarter" idx="3"/>
          </p:nvPr>
        </p:nvSpPr>
        <p:spPr>
          <a:xfrm>
            <a:off x="2519853" y="6441192"/>
            <a:ext cx="8684173" cy="365125"/>
          </a:xfrm>
          <a:prstGeom prst="rect">
            <a:avLst/>
          </a:prstGeom>
        </p:spPr>
        <p:txBody>
          <a:bodyPr vert="horz" lIns="91440" tIns="45720" rIns="91440" bIns="45720" rtlCol="0" anchor="ctr"/>
          <a:lstStyle>
            <a:lvl1pPr algn="l">
              <a:defRPr sz="1400" b="0">
                <a:solidFill>
                  <a:schemeClr val="bg1"/>
                </a:solidFill>
              </a:defRPr>
            </a:lvl1pPr>
          </a:lstStyle>
          <a:p>
            <a:r>
              <a:rPr lang="en-US"/>
              <a:t>Final Project | Topics in Computer Science II | Fall 2025, University of Iowa</a:t>
            </a:r>
            <a:endParaRPr lang="en-US" b="0" dirty="0"/>
          </a:p>
        </p:txBody>
      </p:sp>
    </p:spTree>
    <p:extLst>
      <p:ext uri="{BB962C8B-B14F-4D97-AF65-F5344CB8AC3E}">
        <p14:creationId xmlns:p14="http://schemas.microsoft.com/office/powerpoint/2010/main" val="2897963369"/>
      </p:ext>
    </p:extLst>
  </p:cSld>
  <p:clrMapOvr>
    <a:masterClrMapping/>
  </p:clrMapOvr>
  <p:extLst>
    <p:ext uri="{DCECCB84-F9BA-43D5-87BE-67443E8EF086}">
      <p15:sldGuideLst xmlns:p15="http://schemas.microsoft.com/office/powerpoint/2012/main">
        <p15:guide id="1" orient="horz" pos="2400" userDrawn="1">
          <p15:clr>
            <a:srgbClr val="FBAE40"/>
          </p15:clr>
        </p15:guide>
        <p15:guide id="2" pos="3840" userDrawn="1">
          <p15:clr>
            <a:srgbClr val="FBAE40"/>
          </p15:clr>
        </p15:guide>
        <p15:guide id="3" pos="600" userDrawn="1">
          <p15:clr>
            <a:srgbClr val="FBAE40"/>
          </p15:clr>
        </p15:guide>
        <p15:guide id="4" pos="7080" userDrawn="1">
          <p15:clr>
            <a:srgbClr val="FBAE40"/>
          </p15:clr>
        </p15:guide>
        <p15:guide id="8" orient="horz" pos="3744"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Text Layout">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62D2F673-8F81-4982-AA66-35312BF3859C}"/>
              </a:ext>
            </a:extLst>
          </p:cNvPr>
          <p:cNvSpPr>
            <a:spLocks noGrp="1"/>
          </p:cNvSpPr>
          <p:nvPr>
            <p:ph type="title"/>
          </p:nvPr>
        </p:nvSpPr>
        <p:spPr>
          <a:xfrm>
            <a:off x="952499" y="526777"/>
            <a:ext cx="10287001" cy="869089"/>
          </a:xfrm>
        </p:spPr>
        <p:txBody>
          <a:bodyPr lIns="0" tIns="0" rIns="0" bIns="0"/>
          <a:lstStyle>
            <a:lvl1pPr>
              <a:defRPr>
                <a:latin typeface="Roboto" panose="02000000000000000000" pitchFamily="2" charset="0"/>
                <a:ea typeface="Roboto" panose="02000000000000000000" pitchFamily="2" charset="0"/>
              </a:defRPr>
            </a:lvl1pPr>
          </a:lstStyle>
          <a:p>
            <a:r>
              <a:rPr lang="en-US" dirty="0"/>
              <a:t>Click to edit Master title style</a:t>
            </a:r>
          </a:p>
        </p:txBody>
      </p:sp>
      <p:cxnSp>
        <p:nvCxnSpPr>
          <p:cNvPr id="7" name="Straight Connector 6">
            <a:extLst>
              <a:ext uri="{FF2B5EF4-FFF2-40B4-BE49-F238E27FC236}">
                <a16:creationId xmlns:a16="http://schemas.microsoft.com/office/drawing/2014/main" id="{E7D57D41-E534-4387-8837-F27E5C2408BD}"/>
              </a:ext>
            </a:extLst>
          </p:cNvPr>
          <p:cNvCxnSpPr>
            <a:cxnSpLocks/>
          </p:cNvCxnSpPr>
          <p:nvPr userDrawn="1"/>
        </p:nvCxnSpPr>
        <p:spPr>
          <a:xfrm>
            <a:off x="952498" y="1363362"/>
            <a:ext cx="768531"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94F85108-BDC9-43A2-BEF1-240E666F4E03}"/>
              </a:ext>
            </a:extLst>
          </p:cNvPr>
          <p:cNvSpPr>
            <a:spLocks noGrp="1"/>
          </p:cNvSpPr>
          <p:nvPr>
            <p:ph idx="1" hasCustomPrompt="1"/>
          </p:nvPr>
        </p:nvSpPr>
        <p:spPr>
          <a:xfrm>
            <a:off x="952500" y="1686758"/>
            <a:ext cx="4800224" cy="754602"/>
          </a:xfrm>
        </p:spPr>
        <p:txBody>
          <a:bodyPr lIns="0" tIns="0" rIns="0" bIns="0" anchor="b" anchorCtr="0">
            <a:norm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14" name="Content Placeholder 2">
            <a:extLst>
              <a:ext uri="{FF2B5EF4-FFF2-40B4-BE49-F238E27FC236}">
                <a16:creationId xmlns:a16="http://schemas.microsoft.com/office/drawing/2014/main" id="{968A6427-DC92-4AE6-82DE-34A0B3A972EE}"/>
              </a:ext>
            </a:extLst>
          </p:cNvPr>
          <p:cNvSpPr>
            <a:spLocks noGrp="1"/>
          </p:cNvSpPr>
          <p:nvPr>
            <p:ph idx="10" hasCustomPrompt="1"/>
          </p:nvPr>
        </p:nvSpPr>
        <p:spPr>
          <a:xfrm>
            <a:off x="952501" y="2674398"/>
            <a:ext cx="4800219" cy="3279254"/>
          </a:xfrm>
        </p:spPr>
        <p:txBody>
          <a:bodyPr lIns="0" tIns="0" rIns="0" bIns="0">
            <a:normAutofit/>
          </a:bodyPr>
          <a:lstStyle>
            <a:lvl1pPr marL="0" indent="0">
              <a:buSzPct val="95000"/>
              <a:buFont typeface="Arial" panose="020B0604020202020204" pitchFamily="34" charset="0"/>
              <a:buNone/>
              <a:defRPr sz="18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sp>
        <p:nvSpPr>
          <p:cNvPr id="19" name="Content Placeholder 2">
            <a:extLst>
              <a:ext uri="{FF2B5EF4-FFF2-40B4-BE49-F238E27FC236}">
                <a16:creationId xmlns:a16="http://schemas.microsoft.com/office/drawing/2014/main" id="{A07502CC-5B90-4BCF-B63B-36D026C9AE96}"/>
              </a:ext>
            </a:extLst>
          </p:cNvPr>
          <p:cNvSpPr>
            <a:spLocks noGrp="1"/>
          </p:cNvSpPr>
          <p:nvPr>
            <p:ph idx="15" hasCustomPrompt="1"/>
          </p:nvPr>
        </p:nvSpPr>
        <p:spPr>
          <a:xfrm>
            <a:off x="6433724" y="1676706"/>
            <a:ext cx="4800224" cy="754602"/>
          </a:xfrm>
        </p:spPr>
        <p:txBody>
          <a:bodyPr lIns="0" tIns="0" rIns="0" bIns="0" anchor="b" anchorCtr="0">
            <a:norm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20" name="Content Placeholder 2">
            <a:extLst>
              <a:ext uri="{FF2B5EF4-FFF2-40B4-BE49-F238E27FC236}">
                <a16:creationId xmlns:a16="http://schemas.microsoft.com/office/drawing/2014/main" id="{F169EF16-BA54-4279-A087-A65E4F26675F}"/>
              </a:ext>
            </a:extLst>
          </p:cNvPr>
          <p:cNvSpPr>
            <a:spLocks noGrp="1"/>
          </p:cNvSpPr>
          <p:nvPr>
            <p:ph idx="16" hasCustomPrompt="1"/>
          </p:nvPr>
        </p:nvSpPr>
        <p:spPr>
          <a:xfrm>
            <a:off x="6433725" y="2664346"/>
            <a:ext cx="4800224" cy="3279254"/>
          </a:xfrm>
        </p:spPr>
        <p:txBody>
          <a:bodyPr lIns="0" tIns="0" rIns="0" bIns="0">
            <a:normAutofit/>
          </a:bodyPr>
          <a:lstStyle>
            <a:lvl1pPr marL="0" indent="0">
              <a:buSzPct val="95000"/>
              <a:buFont typeface="Arial" panose="020B0604020202020204" pitchFamily="34" charset="0"/>
              <a:buNone/>
              <a:defRPr sz="18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cxnSp>
        <p:nvCxnSpPr>
          <p:cNvPr id="22" name="Straight Connector 21">
            <a:extLst>
              <a:ext uri="{FF2B5EF4-FFF2-40B4-BE49-F238E27FC236}">
                <a16:creationId xmlns:a16="http://schemas.microsoft.com/office/drawing/2014/main" id="{CEF932C4-F1C3-47F2-84B8-FEC885C1843C}"/>
              </a:ext>
            </a:extLst>
          </p:cNvPr>
          <p:cNvCxnSpPr>
            <a:cxnSpLocks/>
          </p:cNvCxnSpPr>
          <p:nvPr userDrawn="1"/>
        </p:nvCxnSpPr>
        <p:spPr>
          <a:xfrm>
            <a:off x="6096000" y="1686758"/>
            <a:ext cx="0" cy="4256842"/>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C8B99253-B000-1442-A7D2-EB536C15CBCB}"/>
              </a:ext>
            </a:extLst>
          </p:cNvPr>
          <p:cNvSpPr/>
          <p:nvPr userDrawn="1"/>
        </p:nvSpPr>
        <p:spPr>
          <a:xfrm>
            <a:off x="0" y="6389511"/>
            <a:ext cx="12192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18" name="Picture 17" descr="The University of Iowa">
            <a:extLst>
              <a:ext uri="{FF2B5EF4-FFF2-40B4-BE49-F238E27FC236}">
                <a16:creationId xmlns:a16="http://schemas.microsoft.com/office/drawing/2014/main" id="{A96F9427-B9C2-6F44-ADD6-28635EDF4B29}"/>
              </a:ext>
            </a:extLst>
          </p:cNvPr>
          <p:cNvPicPr>
            <a:picLocks noChangeAspect="1"/>
          </p:cNvPicPr>
          <p:nvPr userDrawn="1"/>
        </p:nvPicPr>
        <p:blipFill>
          <a:blip r:embed="rId2"/>
          <a:stretch>
            <a:fillRect/>
          </a:stretch>
        </p:blipFill>
        <p:spPr>
          <a:xfrm>
            <a:off x="838200" y="6131555"/>
            <a:ext cx="1545021" cy="733885"/>
          </a:xfrm>
          <a:prstGeom prst="rect">
            <a:avLst/>
          </a:prstGeom>
        </p:spPr>
      </p:pic>
      <p:sp>
        <p:nvSpPr>
          <p:cNvPr id="16" name="Footer Placeholder 4">
            <a:extLst>
              <a:ext uri="{FF2B5EF4-FFF2-40B4-BE49-F238E27FC236}">
                <a16:creationId xmlns:a16="http://schemas.microsoft.com/office/drawing/2014/main" id="{45D918E3-A228-4F47-B892-288E22CD6CB2}"/>
              </a:ext>
            </a:extLst>
          </p:cNvPr>
          <p:cNvSpPr>
            <a:spLocks noGrp="1"/>
          </p:cNvSpPr>
          <p:nvPr>
            <p:ph type="ftr" sz="quarter" idx="3"/>
          </p:nvPr>
        </p:nvSpPr>
        <p:spPr>
          <a:xfrm>
            <a:off x="2519853" y="6441192"/>
            <a:ext cx="8684173" cy="365125"/>
          </a:xfrm>
          <a:prstGeom prst="rect">
            <a:avLst/>
          </a:prstGeom>
        </p:spPr>
        <p:txBody>
          <a:bodyPr vert="horz" lIns="91440" tIns="45720" rIns="91440" bIns="45720" rtlCol="0" anchor="ctr"/>
          <a:lstStyle>
            <a:lvl1pPr algn="l">
              <a:defRPr sz="1400" b="0">
                <a:solidFill>
                  <a:schemeClr val="bg1"/>
                </a:solidFill>
              </a:defRPr>
            </a:lvl1pPr>
          </a:lstStyle>
          <a:p>
            <a:r>
              <a:rPr lang="en-US"/>
              <a:t>Final Project | Topics in Computer Science II | Fall 2025, University of Iowa</a:t>
            </a:r>
            <a:endParaRPr lang="en-US" b="0" dirty="0"/>
          </a:p>
        </p:txBody>
      </p:sp>
    </p:spTree>
    <p:extLst>
      <p:ext uri="{BB962C8B-B14F-4D97-AF65-F5344CB8AC3E}">
        <p14:creationId xmlns:p14="http://schemas.microsoft.com/office/powerpoint/2010/main" val="2899422758"/>
      </p:ext>
    </p:extLst>
  </p:cSld>
  <p:clrMapOvr>
    <a:masterClrMapping/>
  </p:clrMapOvr>
  <p:extLst>
    <p:ext uri="{DCECCB84-F9BA-43D5-87BE-67443E8EF086}">
      <p15:sldGuideLst xmlns:p15="http://schemas.microsoft.com/office/powerpoint/2012/main">
        <p15:guide id="1" orient="horz" pos="3744" userDrawn="1">
          <p15:clr>
            <a:srgbClr val="FBAE40"/>
          </p15:clr>
        </p15:guide>
        <p15:guide id="2" pos="598">
          <p15:clr>
            <a:srgbClr val="FBAE40"/>
          </p15:clr>
        </p15:guide>
        <p15:guide id="3" pos="7080">
          <p15:clr>
            <a:srgbClr val="FBAE40"/>
          </p15:clr>
        </p15:guide>
        <p15:guide id="4" pos="3840">
          <p15:clr>
            <a:srgbClr val="FBAE40"/>
          </p15:clr>
        </p15:guide>
        <p15:guide id="5" orient="horz" pos="1054" userDrawn="1">
          <p15:clr>
            <a:srgbClr val="FBAE40"/>
          </p15:clr>
        </p15:guide>
        <p15:guide id="6" orient="horz" pos="697" userDrawn="1">
          <p15:clr>
            <a:srgbClr val="FBAE40"/>
          </p15:clr>
        </p15:guide>
        <p15:guide id="7" orient="horz" pos="240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ree Column Text Layout">
    <p:spTree>
      <p:nvGrpSpPr>
        <p:cNvPr id="1" name=""/>
        <p:cNvGrpSpPr/>
        <p:nvPr/>
      </p:nvGrpSpPr>
      <p:grpSpPr>
        <a:xfrm>
          <a:off x="0" y="0"/>
          <a:ext cx="0" cy="0"/>
          <a:chOff x="0" y="0"/>
          <a:chExt cx="0" cy="0"/>
        </a:xfrm>
      </p:grpSpPr>
      <p:sp>
        <p:nvSpPr>
          <p:cNvPr id="24" name="Title 1">
            <a:extLst>
              <a:ext uri="{FF2B5EF4-FFF2-40B4-BE49-F238E27FC236}">
                <a16:creationId xmlns:a16="http://schemas.microsoft.com/office/drawing/2014/main" id="{B103BAF8-AE0C-4C2A-AFFE-5EFC74007B1B}"/>
              </a:ext>
            </a:extLst>
          </p:cNvPr>
          <p:cNvSpPr>
            <a:spLocks noGrp="1"/>
          </p:cNvSpPr>
          <p:nvPr>
            <p:ph type="title"/>
          </p:nvPr>
        </p:nvSpPr>
        <p:spPr>
          <a:xfrm>
            <a:off x="952499" y="526777"/>
            <a:ext cx="10287001" cy="869089"/>
          </a:xfrm>
        </p:spPr>
        <p:txBody>
          <a:bodyPr lIns="0" tIns="0" rIns="0" bIns="0"/>
          <a:lstStyle>
            <a:lvl1pPr>
              <a:defRPr>
                <a:latin typeface="Roboto" panose="02000000000000000000" pitchFamily="2" charset="0"/>
                <a:ea typeface="Roboto" panose="02000000000000000000" pitchFamily="2" charset="0"/>
              </a:defRPr>
            </a:lvl1pPr>
          </a:lstStyle>
          <a:p>
            <a:r>
              <a:rPr lang="en-US" dirty="0"/>
              <a:t>Click to edit Master title style</a:t>
            </a:r>
          </a:p>
        </p:txBody>
      </p:sp>
      <p:cxnSp>
        <p:nvCxnSpPr>
          <p:cNvPr id="7" name="Straight Connector 6">
            <a:extLst>
              <a:ext uri="{FF2B5EF4-FFF2-40B4-BE49-F238E27FC236}">
                <a16:creationId xmlns:a16="http://schemas.microsoft.com/office/drawing/2014/main" id="{E7D57D41-E534-4387-8837-F27E5C2408BD}"/>
              </a:ext>
            </a:extLst>
          </p:cNvPr>
          <p:cNvCxnSpPr>
            <a:cxnSpLocks/>
          </p:cNvCxnSpPr>
          <p:nvPr userDrawn="1"/>
        </p:nvCxnSpPr>
        <p:spPr>
          <a:xfrm>
            <a:off x="952498" y="1363362"/>
            <a:ext cx="768531"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94F85108-BDC9-43A2-BEF1-240E666F4E03}"/>
              </a:ext>
            </a:extLst>
          </p:cNvPr>
          <p:cNvSpPr>
            <a:spLocks noGrp="1"/>
          </p:cNvSpPr>
          <p:nvPr>
            <p:ph idx="1" hasCustomPrompt="1"/>
          </p:nvPr>
        </p:nvSpPr>
        <p:spPr>
          <a:xfrm>
            <a:off x="952500" y="1686758"/>
            <a:ext cx="3166740" cy="754602"/>
          </a:xfrm>
        </p:spPr>
        <p:txBody>
          <a:bodyPr lIns="0" tIns="0" rIns="0" bIns="0">
            <a:norm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14" name="Content Placeholder 2">
            <a:extLst>
              <a:ext uri="{FF2B5EF4-FFF2-40B4-BE49-F238E27FC236}">
                <a16:creationId xmlns:a16="http://schemas.microsoft.com/office/drawing/2014/main" id="{968A6427-DC92-4AE6-82DE-34A0B3A972EE}"/>
              </a:ext>
            </a:extLst>
          </p:cNvPr>
          <p:cNvSpPr>
            <a:spLocks noGrp="1"/>
          </p:cNvSpPr>
          <p:nvPr>
            <p:ph idx="10" hasCustomPrompt="1"/>
          </p:nvPr>
        </p:nvSpPr>
        <p:spPr>
          <a:xfrm>
            <a:off x="952501" y="2674398"/>
            <a:ext cx="3166740" cy="3269204"/>
          </a:xfrm>
        </p:spPr>
        <p:txBody>
          <a:bodyPr lIns="0" tIns="0" rIns="0" bIns="0">
            <a:normAutofit/>
          </a:bodyPr>
          <a:lstStyle>
            <a:lvl1pPr marL="0" indent="0">
              <a:buSzPct val="95000"/>
              <a:buFont typeface="Arial" panose="020B0604020202020204" pitchFamily="34" charset="0"/>
              <a:buNone/>
              <a:defRPr sz="18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sp>
        <p:nvSpPr>
          <p:cNvPr id="15" name="Content Placeholder 2">
            <a:extLst>
              <a:ext uri="{FF2B5EF4-FFF2-40B4-BE49-F238E27FC236}">
                <a16:creationId xmlns:a16="http://schemas.microsoft.com/office/drawing/2014/main" id="{700A296A-0A06-4FFB-B935-517187294F6B}"/>
              </a:ext>
            </a:extLst>
          </p:cNvPr>
          <p:cNvSpPr>
            <a:spLocks noGrp="1"/>
          </p:cNvSpPr>
          <p:nvPr>
            <p:ph idx="11" hasCustomPrompt="1"/>
          </p:nvPr>
        </p:nvSpPr>
        <p:spPr>
          <a:xfrm>
            <a:off x="4616385" y="1686756"/>
            <a:ext cx="2973372" cy="754602"/>
          </a:xfrm>
        </p:spPr>
        <p:txBody>
          <a:bodyPr lIns="0" tIns="0" rIns="0" bIns="0">
            <a:norm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16" name="Content Placeholder 2">
            <a:extLst>
              <a:ext uri="{FF2B5EF4-FFF2-40B4-BE49-F238E27FC236}">
                <a16:creationId xmlns:a16="http://schemas.microsoft.com/office/drawing/2014/main" id="{4DA600F9-1950-41BD-ACB3-21F2B5AE9494}"/>
              </a:ext>
            </a:extLst>
          </p:cNvPr>
          <p:cNvSpPr>
            <a:spLocks noGrp="1"/>
          </p:cNvSpPr>
          <p:nvPr>
            <p:ph idx="12" hasCustomPrompt="1"/>
          </p:nvPr>
        </p:nvSpPr>
        <p:spPr>
          <a:xfrm>
            <a:off x="4616386" y="2674396"/>
            <a:ext cx="2973372" cy="3269204"/>
          </a:xfrm>
        </p:spPr>
        <p:txBody>
          <a:bodyPr lIns="0" tIns="0" rIns="0" bIns="0">
            <a:normAutofit/>
          </a:bodyPr>
          <a:lstStyle>
            <a:lvl1pPr marL="0" indent="0">
              <a:buSzPct val="95000"/>
              <a:buFont typeface="Arial" panose="020B0604020202020204" pitchFamily="34" charset="0"/>
              <a:buNone/>
              <a:defRPr sz="18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sp>
        <p:nvSpPr>
          <p:cNvPr id="17" name="Content Placeholder 2">
            <a:extLst>
              <a:ext uri="{FF2B5EF4-FFF2-40B4-BE49-F238E27FC236}">
                <a16:creationId xmlns:a16="http://schemas.microsoft.com/office/drawing/2014/main" id="{D4DB30FF-E82C-424F-A06C-EFC3CFC45E36}"/>
              </a:ext>
            </a:extLst>
          </p:cNvPr>
          <p:cNvSpPr>
            <a:spLocks noGrp="1"/>
          </p:cNvSpPr>
          <p:nvPr>
            <p:ph idx="13" hasCustomPrompt="1"/>
          </p:nvPr>
        </p:nvSpPr>
        <p:spPr>
          <a:xfrm>
            <a:off x="8063514" y="1686756"/>
            <a:ext cx="3166740" cy="754602"/>
          </a:xfrm>
        </p:spPr>
        <p:txBody>
          <a:bodyPr lIns="0" tIns="0" rIns="0" bIns="0">
            <a:norm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18" name="Content Placeholder 2">
            <a:extLst>
              <a:ext uri="{FF2B5EF4-FFF2-40B4-BE49-F238E27FC236}">
                <a16:creationId xmlns:a16="http://schemas.microsoft.com/office/drawing/2014/main" id="{36DC4408-89C4-4D74-957E-B2A4D59F76AE}"/>
              </a:ext>
            </a:extLst>
          </p:cNvPr>
          <p:cNvSpPr>
            <a:spLocks noGrp="1"/>
          </p:cNvSpPr>
          <p:nvPr>
            <p:ph idx="14" hasCustomPrompt="1"/>
          </p:nvPr>
        </p:nvSpPr>
        <p:spPr>
          <a:xfrm>
            <a:off x="8063515" y="2674396"/>
            <a:ext cx="3166740" cy="3269204"/>
          </a:xfrm>
        </p:spPr>
        <p:txBody>
          <a:bodyPr lIns="0" tIns="0" rIns="0" bIns="0">
            <a:normAutofit/>
          </a:bodyPr>
          <a:lstStyle>
            <a:lvl1pPr marL="0" indent="0">
              <a:buSzPct val="95000"/>
              <a:buFont typeface="Arial" panose="020B0604020202020204" pitchFamily="34" charset="0"/>
              <a:buNone/>
              <a:defRPr sz="18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cxnSp>
        <p:nvCxnSpPr>
          <p:cNvPr id="12" name="Straight Connector 11">
            <a:extLst>
              <a:ext uri="{FF2B5EF4-FFF2-40B4-BE49-F238E27FC236}">
                <a16:creationId xmlns:a16="http://schemas.microsoft.com/office/drawing/2014/main" id="{3CA77083-F133-420F-93AD-77761878E852}"/>
              </a:ext>
            </a:extLst>
          </p:cNvPr>
          <p:cNvCxnSpPr/>
          <p:nvPr userDrawn="1"/>
        </p:nvCxnSpPr>
        <p:spPr>
          <a:xfrm>
            <a:off x="7806430" y="1679383"/>
            <a:ext cx="0" cy="4264218"/>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336E4CD-9037-4D69-A3E3-6380D9131A19}"/>
              </a:ext>
            </a:extLst>
          </p:cNvPr>
          <p:cNvCxnSpPr/>
          <p:nvPr userDrawn="1"/>
        </p:nvCxnSpPr>
        <p:spPr>
          <a:xfrm>
            <a:off x="4376691" y="1679383"/>
            <a:ext cx="0" cy="4264218"/>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2944143A-0CC6-6041-BD38-4C994DA8E0B2}"/>
              </a:ext>
            </a:extLst>
          </p:cNvPr>
          <p:cNvSpPr/>
          <p:nvPr userDrawn="1"/>
        </p:nvSpPr>
        <p:spPr>
          <a:xfrm>
            <a:off x="0" y="6389511"/>
            <a:ext cx="12192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23" name="Picture 22" descr="The University of Iowa">
            <a:extLst>
              <a:ext uri="{FF2B5EF4-FFF2-40B4-BE49-F238E27FC236}">
                <a16:creationId xmlns:a16="http://schemas.microsoft.com/office/drawing/2014/main" id="{529638AC-0ED3-DE46-BC83-28B1D845EE0F}"/>
              </a:ext>
            </a:extLst>
          </p:cNvPr>
          <p:cNvPicPr>
            <a:picLocks noChangeAspect="1"/>
          </p:cNvPicPr>
          <p:nvPr userDrawn="1"/>
        </p:nvPicPr>
        <p:blipFill>
          <a:blip r:embed="rId2"/>
          <a:stretch>
            <a:fillRect/>
          </a:stretch>
        </p:blipFill>
        <p:spPr>
          <a:xfrm>
            <a:off x="838200" y="6131555"/>
            <a:ext cx="1545021" cy="733885"/>
          </a:xfrm>
          <a:prstGeom prst="rect">
            <a:avLst/>
          </a:prstGeom>
        </p:spPr>
      </p:pic>
      <p:sp>
        <p:nvSpPr>
          <p:cNvPr id="21" name="Footer Placeholder 4">
            <a:extLst>
              <a:ext uri="{FF2B5EF4-FFF2-40B4-BE49-F238E27FC236}">
                <a16:creationId xmlns:a16="http://schemas.microsoft.com/office/drawing/2014/main" id="{642FB62D-41EB-7A41-B0D2-60C8BB6A3166}"/>
              </a:ext>
            </a:extLst>
          </p:cNvPr>
          <p:cNvSpPr>
            <a:spLocks noGrp="1"/>
          </p:cNvSpPr>
          <p:nvPr>
            <p:ph type="ftr" sz="quarter" idx="3"/>
          </p:nvPr>
        </p:nvSpPr>
        <p:spPr>
          <a:xfrm>
            <a:off x="2519853" y="6441192"/>
            <a:ext cx="8684173" cy="365125"/>
          </a:xfrm>
          <a:prstGeom prst="rect">
            <a:avLst/>
          </a:prstGeom>
        </p:spPr>
        <p:txBody>
          <a:bodyPr vert="horz" lIns="91440" tIns="45720" rIns="91440" bIns="45720" rtlCol="0" anchor="ctr"/>
          <a:lstStyle>
            <a:lvl1pPr algn="l">
              <a:defRPr sz="1400" b="0">
                <a:solidFill>
                  <a:schemeClr val="bg1"/>
                </a:solidFill>
              </a:defRPr>
            </a:lvl1pPr>
          </a:lstStyle>
          <a:p>
            <a:r>
              <a:rPr lang="en-US"/>
              <a:t>Final Project | Topics in Computer Science II | Fall 2025, University of Iowa</a:t>
            </a:r>
            <a:endParaRPr lang="en-US" b="0" dirty="0"/>
          </a:p>
        </p:txBody>
      </p:sp>
    </p:spTree>
    <p:extLst>
      <p:ext uri="{BB962C8B-B14F-4D97-AF65-F5344CB8AC3E}">
        <p14:creationId xmlns:p14="http://schemas.microsoft.com/office/powerpoint/2010/main" val="2851774748"/>
      </p:ext>
    </p:extLst>
  </p:cSld>
  <p:clrMapOvr>
    <a:masterClrMapping/>
  </p:clrMapOvr>
  <p:extLst>
    <p:ext uri="{DCECCB84-F9BA-43D5-87BE-67443E8EF086}">
      <p15:sldGuideLst xmlns:p15="http://schemas.microsoft.com/office/powerpoint/2012/main">
        <p15:guide id="2" pos="598" userDrawn="1">
          <p15:clr>
            <a:srgbClr val="FBAE40"/>
          </p15:clr>
        </p15:guide>
        <p15:guide id="3" pos="7080" userDrawn="1">
          <p15:clr>
            <a:srgbClr val="FBAE40"/>
          </p15:clr>
        </p15:guide>
        <p15:guide id="4" pos="3840" userDrawn="1">
          <p15:clr>
            <a:srgbClr val="FBAE40"/>
          </p15:clr>
        </p15:guide>
        <p15:guide id="5" orient="horz" pos="1054" userDrawn="1">
          <p15:clr>
            <a:srgbClr val="FBAE40"/>
          </p15:clr>
        </p15:guide>
        <p15:guide id="7" orient="horz" pos="3744" userDrawn="1">
          <p15:clr>
            <a:srgbClr val="FBAE40"/>
          </p15:clr>
        </p15:guide>
        <p15:guide id="8" orient="horz" pos="697" userDrawn="1">
          <p15:clr>
            <a:srgbClr val="FBAE40"/>
          </p15:clr>
        </p15:guide>
        <p15:guide id="9" orient="horz" pos="240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our Column Text Layout">
    <p:spTree>
      <p:nvGrpSpPr>
        <p:cNvPr id="1" name=""/>
        <p:cNvGrpSpPr/>
        <p:nvPr/>
      </p:nvGrpSpPr>
      <p:grpSpPr>
        <a:xfrm>
          <a:off x="0" y="0"/>
          <a:ext cx="0" cy="0"/>
          <a:chOff x="0" y="0"/>
          <a:chExt cx="0" cy="0"/>
        </a:xfrm>
      </p:grpSpPr>
      <p:sp>
        <p:nvSpPr>
          <p:cNvPr id="27" name="Title 1">
            <a:extLst>
              <a:ext uri="{FF2B5EF4-FFF2-40B4-BE49-F238E27FC236}">
                <a16:creationId xmlns:a16="http://schemas.microsoft.com/office/drawing/2014/main" id="{D42FEC1B-FCF8-4508-B227-27323879AC52}"/>
              </a:ext>
            </a:extLst>
          </p:cNvPr>
          <p:cNvSpPr>
            <a:spLocks noGrp="1"/>
          </p:cNvSpPr>
          <p:nvPr>
            <p:ph type="title"/>
          </p:nvPr>
        </p:nvSpPr>
        <p:spPr>
          <a:xfrm>
            <a:off x="952499" y="526777"/>
            <a:ext cx="10287001" cy="869089"/>
          </a:xfrm>
        </p:spPr>
        <p:txBody>
          <a:bodyPr lIns="0" tIns="0" rIns="0" bIns="0"/>
          <a:lstStyle>
            <a:lvl1pPr>
              <a:defRPr>
                <a:latin typeface="Roboto" panose="02000000000000000000" pitchFamily="2" charset="0"/>
                <a:ea typeface="Roboto" panose="02000000000000000000" pitchFamily="2" charset="0"/>
              </a:defRPr>
            </a:lvl1pPr>
          </a:lstStyle>
          <a:p>
            <a:r>
              <a:rPr lang="en-US" dirty="0"/>
              <a:t>Click to edit Master title style</a:t>
            </a:r>
          </a:p>
        </p:txBody>
      </p:sp>
      <p:cxnSp>
        <p:nvCxnSpPr>
          <p:cNvPr id="7" name="Straight Connector 6">
            <a:extLst>
              <a:ext uri="{FF2B5EF4-FFF2-40B4-BE49-F238E27FC236}">
                <a16:creationId xmlns:a16="http://schemas.microsoft.com/office/drawing/2014/main" id="{E7D57D41-E534-4387-8837-F27E5C2408BD}"/>
              </a:ext>
            </a:extLst>
          </p:cNvPr>
          <p:cNvCxnSpPr>
            <a:cxnSpLocks/>
          </p:cNvCxnSpPr>
          <p:nvPr userDrawn="1"/>
        </p:nvCxnSpPr>
        <p:spPr>
          <a:xfrm>
            <a:off x="952498" y="1363362"/>
            <a:ext cx="768531"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94F85108-BDC9-43A2-BEF1-240E666F4E03}"/>
              </a:ext>
            </a:extLst>
          </p:cNvPr>
          <p:cNvSpPr>
            <a:spLocks noGrp="1"/>
          </p:cNvSpPr>
          <p:nvPr>
            <p:ph idx="1" hasCustomPrompt="1"/>
          </p:nvPr>
        </p:nvSpPr>
        <p:spPr>
          <a:xfrm>
            <a:off x="952500" y="1686758"/>
            <a:ext cx="2358867" cy="754602"/>
          </a:xfrm>
        </p:spPr>
        <p:txBody>
          <a:bodyPr lIns="0" tIns="0" rIns="0" bIns="0">
            <a:norm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14" name="Content Placeholder 2">
            <a:extLst>
              <a:ext uri="{FF2B5EF4-FFF2-40B4-BE49-F238E27FC236}">
                <a16:creationId xmlns:a16="http://schemas.microsoft.com/office/drawing/2014/main" id="{968A6427-DC92-4AE6-82DE-34A0B3A972EE}"/>
              </a:ext>
            </a:extLst>
          </p:cNvPr>
          <p:cNvSpPr>
            <a:spLocks noGrp="1"/>
          </p:cNvSpPr>
          <p:nvPr>
            <p:ph idx="10" hasCustomPrompt="1"/>
          </p:nvPr>
        </p:nvSpPr>
        <p:spPr>
          <a:xfrm>
            <a:off x="952501" y="2674398"/>
            <a:ext cx="2358867" cy="3269204"/>
          </a:xfrm>
        </p:spPr>
        <p:txBody>
          <a:bodyPr lIns="0" tIns="0" rIns="0" bIns="0">
            <a:normAutofit/>
          </a:bodyPr>
          <a:lstStyle>
            <a:lvl1pPr marL="0" indent="0">
              <a:buSzPct val="95000"/>
              <a:buFont typeface="Arial" panose="020B0604020202020204" pitchFamily="34" charset="0"/>
              <a:buNone/>
              <a:defRPr sz="18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cxnSp>
        <p:nvCxnSpPr>
          <p:cNvPr id="11" name="Straight Connector 10">
            <a:extLst>
              <a:ext uri="{FF2B5EF4-FFF2-40B4-BE49-F238E27FC236}">
                <a16:creationId xmlns:a16="http://schemas.microsoft.com/office/drawing/2014/main" id="{7336E4CD-9037-4D69-A3E3-6380D9131A19}"/>
              </a:ext>
            </a:extLst>
          </p:cNvPr>
          <p:cNvCxnSpPr/>
          <p:nvPr userDrawn="1"/>
        </p:nvCxnSpPr>
        <p:spPr>
          <a:xfrm>
            <a:off x="3524250" y="1686757"/>
            <a:ext cx="0" cy="4256844"/>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5" name="Content Placeholder 2">
            <a:extLst>
              <a:ext uri="{FF2B5EF4-FFF2-40B4-BE49-F238E27FC236}">
                <a16:creationId xmlns:a16="http://schemas.microsoft.com/office/drawing/2014/main" id="{700A296A-0A06-4FFB-B935-517187294F6B}"/>
              </a:ext>
            </a:extLst>
          </p:cNvPr>
          <p:cNvSpPr>
            <a:spLocks noGrp="1"/>
          </p:cNvSpPr>
          <p:nvPr>
            <p:ph idx="11" hasCustomPrompt="1"/>
          </p:nvPr>
        </p:nvSpPr>
        <p:spPr>
          <a:xfrm>
            <a:off x="3737133" y="1686756"/>
            <a:ext cx="2148760" cy="754602"/>
          </a:xfrm>
        </p:spPr>
        <p:txBody>
          <a:bodyPr lIns="0" tIns="0" rIns="0" bIns="0">
            <a:norm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16" name="Content Placeholder 2">
            <a:extLst>
              <a:ext uri="{FF2B5EF4-FFF2-40B4-BE49-F238E27FC236}">
                <a16:creationId xmlns:a16="http://schemas.microsoft.com/office/drawing/2014/main" id="{4DA600F9-1950-41BD-ACB3-21F2B5AE9494}"/>
              </a:ext>
            </a:extLst>
          </p:cNvPr>
          <p:cNvSpPr>
            <a:spLocks noGrp="1"/>
          </p:cNvSpPr>
          <p:nvPr>
            <p:ph idx="12" hasCustomPrompt="1"/>
          </p:nvPr>
        </p:nvSpPr>
        <p:spPr>
          <a:xfrm>
            <a:off x="3737134" y="2674396"/>
            <a:ext cx="2148760" cy="3269204"/>
          </a:xfrm>
        </p:spPr>
        <p:txBody>
          <a:bodyPr lIns="0" tIns="0" rIns="0" bIns="0">
            <a:normAutofit/>
          </a:bodyPr>
          <a:lstStyle>
            <a:lvl1pPr marL="0" indent="0">
              <a:buSzPct val="95000"/>
              <a:buFont typeface="Arial" panose="020B0604020202020204" pitchFamily="34" charset="0"/>
              <a:buNone/>
              <a:defRPr sz="18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cxnSp>
        <p:nvCxnSpPr>
          <p:cNvPr id="22" name="Straight Connector 21">
            <a:extLst>
              <a:ext uri="{FF2B5EF4-FFF2-40B4-BE49-F238E27FC236}">
                <a16:creationId xmlns:a16="http://schemas.microsoft.com/office/drawing/2014/main" id="{CEF932C4-F1C3-47F2-84B8-FEC885C1843C}"/>
              </a:ext>
            </a:extLst>
          </p:cNvPr>
          <p:cNvCxnSpPr/>
          <p:nvPr userDrawn="1"/>
        </p:nvCxnSpPr>
        <p:spPr>
          <a:xfrm>
            <a:off x="6096000" y="1686758"/>
            <a:ext cx="0" cy="4293629"/>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7" name="Content Placeholder 2">
            <a:extLst>
              <a:ext uri="{FF2B5EF4-FFF2-40B4-BE49-F238E27FC236}">
                <a16:creationId xmlns:a16="http://schemas.microsoft.com/office/drawing/2014/main" id="{D4DB30FF-E82C-424F-A06C-EFC3CFC45E36}"/>
              </a:ext>
            </a:extLst>
          </p:cNvPr>
          <p:cNvSpPr>
            <a:spLocks noGrp="1"/>
          </p:cNvSpPr>
          <p:nvPr>
            <p:ph idx="13" hasCustomPrompt="1"/>
          </p:nvPr>
        </p:nvSpPr>
        <p:spPr>
          <a:xfrm>
            <a:off x="6306107" y="1686756"/>
            <a:ext cx="2148760" cy="754602"/>
          </a:xfrm>
        </p:spPr>
        <p:txBody>
          <a:bodyPr lIns="0" tIns="0" rIns="0" bIns="0">
            <a:norm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18" name="Content Placeholder 2">
            <a:extLst>
              <a:ext uri="{FF2B5EF4-FFF2-40B4-BE49-F238E27FC236}">
                <a16:creationId xmlns:a16="http://schemas.microsoft.com/office/drawing/2014/main" id="{36DC4408-89C4-4D74-957E-B2A4D59F76AE}"/>
              </a:ext>
            </a:extLst>
          </p:cNvPr>
          <p:cNvSpPr>
            <a:spLocks noGrp="1"/>
          </p:cNvSpPr>
          <p:nvPr>
            <p:ph idx="14" hasCustomPrompt="1"/>
          </p:nvPr>
        </p:nvSpPr>
        <p:spPr>
          <a:xfrm>
            <a:off x="6306108" y="2674396"/>
            <a:ext cx="2148760" cy="3269204"/>
          </a:xfrm>
        </p:spPr>
        <p:txBody>
          <a:bodyPr lIns="0" tIns="0" rIns="0" bIns="0">
            <a:normAutofit/>
          </a:bodyPr>
          <a:lstStyle>
            <a:lvl1pPr marL="0" indent="0">
              <a:buSzPct val="95000"/>
              <a:buFont typeface="Arial" panose="020B0604020202020204" pitchFamily="34" charset="0"/>
              <a:buNone/>
              <a:defRPr sz="18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cxnSp>
        <p:nvCxnSpPr>
          <p:cNvPr id="12" name="Straight Connector 11">
            <a:extLst>
              <a:ext uri="{FF2B5EF4-FFF2-40B4-BE49-F238E27FC236}">
                <a16:creationId xmlns:a16="http://schemas.microsoft.com/office/drawing/2014/main" id="{3CA77083-F133-420F-93AD-77761878E852}"/>
              </a:ext>
            </a:extLst>
          </p:cNvPr>
          <p:cNvCxnSpPr/>
          <p:nvPr userDrawn="1"/>
        </p:nvCxnSpPr>
        <p:spPr>
          <a:xfrm>
            <a:off x="8674100" y="1686757"/>
            <a:ext cx="0" cy="4256844"/>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9" name="Content Placeholder 2">
            <a:extLst>
              <a:ext uri="{FF2B5EF4-FFF2-40B4-BE49-F238E27FC236}">
                <a16:creationId xmlns:a16="http://schemas.microsoft.com/office/drawing/2014/main" id="{A07502CC-5B90-4BCF-B63B-36D026C9AE96}"/>
              </a:ext>
            </a:extLst>
          </p:cNvPr>
          <p:cNvSpPr>
            <a:spLocks noGrp="1"/>
          </p:cNvSpPr>
          <p:nvPr>
            <p:ph idx="15" hasCustomPrompt="1"/>
          </p:nvPr>
        </p:nvSpPr>
        <p:spPr>
          <a:xfrm>
            <a:off x="8875080" y="1676706"/>
            <a:ext cx="2358867" cy="754602"/>
          </a:xfrm>
        </p:spPr>
        <p:txBody>
          <a:bodyPr lIns="0" tIns="0" rIns="0" bIns="0">
            <a:norm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20" name="Content Placeholder 2">
            <a:extLst>
              <a:ext uri="{FF2B5EF4-FFF2-40B4-BE49-F238E27FC236}">
                <a16:creationId xmlns:a16="http://schemas.microsoft.com/office/drawing/2014/main" id="{F169EF16-BA54-4279-A087-A65E4F26675F}"/>
              </a:ext>
            </a:extLst>
          </p:cNvPr>
          <p:cNvSpPr>
            <a:spLocks noGrp="1"/>
          </p:cNvSpPr>
          <p:nvPr>
            <p:ph idx="16" hasCustomPrompt="1"/>
          </p:nvPr>
        </p:nvSpPr>
        <p:spPr>
          <a:xfrm>
            <a:off x="8875081" y="2664346"/>
            <a:ext cx="2358867" cy="3269204"/>
          </a:xfrm>
        </p:spPr>
        <p:txBody>
          <a:bodyPr lIns="0" tIns="0" rIns="0" bIns="0">
            <a:normAutofit/>
          </a:bodyPr>
          <a:lstStyle>
            <a:lvl1pPr marL="0" indent="0">
              <a:buSzPct val="95000"/>
              <a:buFont typeface="Arial" panose="020B0604020202020204" pitchFamily="34" charset="0"/>
              <a:buNone/>
              <a:defRPr sz="18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sp>
        <p:nvSpPr>
          <p:cNvPr id="21" name="Rectangle 20">
            <a:extLst>
              <a:ext uri="{FF2B5EF4-FFF2-40B4-BE49-F238E27FC236}">
                <a16:creationId xmlns:a16="http://schemas.microsoft.com/office/drawing/2014/main" id="{55DF11BA-BD6E-E14D-A115-587308DBF4A7}"/>
              </a:ext>
            </a:extLst>
          </p:cNvPr>
          <p:cNvSpPr/>
          <p:nvPr userDrawn="1"/>
        </p:nvSpPr>
        <p:spPr>
          <a:xfrm>
            <a:off x="0" y="6389511"/>
            <a:ext cx="12192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26" name="Picture 25" descr="The University of Iowa">
            <a:extLst>
              <a:ext uri="{FF2B5EF4-FFF2-40B4-BE49-F238E27FC236}">
                <a16:creationId xmlns:a16="http://schemas.microsoft.com/office/drawing/2014/main" id="{178B6A3E-B578-0F40-9695-2E975D126F8E}"/>
              </a:ext>
            </a:extLst>
          </p:cNvPr>
          <p:cNvPicPr>
            <a:picLocks noChangeAspect="1"/>
          </p:cNvPicPr>
          <p:nvPr userDrawn="1"/>
        </p:nvPicPr>
        <p:blipFill>
          <a:blip r:embed="rId2"/>
          <a:stretch>
            <a:fillRect/>
          </a:stretch>
        </p:blipFill>
        <p:spPr>
          <a:xfrm>
            <a:off x="838200" y="6131555"/>
            <a:ext cx="1545021" cy="733885"/>
          </a:xfrm>
          <a:prstGeom prst="rect">
            <a:avLst/>
          </a:prstGeom>
        </p:spPr>
      </p:pic>
      <p:sp>
        <p:nvSpPr>
          <p:cNvPr id="23" name="Footer Placeholder 4">
            <a:extLst>
              <a:ext uri="{FF2B5EF4-FFF2-40B4-BE49-F238E27FC236}">
                <a16:creationId xmlns:a16="http://schemas.microsoft.com/office/drawing/2014/main" id="{9253C989-F49D-8D4D-BFD5-ECCB6E59B78D}"/>
              </a:ext>
            </a:extLst>
          </p:cNvPr>
          <p:cNvSpPr>
            <a:spLocks noGrp="1"/>
          </p:cNvSpPr>
          <p:nvPr>
            <p:ph type="ftr" sz="quarter" idx="3"/>
          </p:nvPr>
        </p:nvSpPr>
        <p:spPr>
          <a:xfrm>
            <a:off x="2519853" y="6441192"/>
            <a:ext cx="8684173" cy="365125"/>
          </a:xfrm>
          <a:prstGeom prst="rect">
            <a:avLst/>
          </a:prstGeom>
        </p:spPr>
        <p:txBody>
          <a:bodyPr vert="horz" lIns="91440" tIns="45720" rIns="91440" bIns="45720" rtlCol="0" anchor="ctr"/>
          <a:lstStyle>
            <a:lvl1pPr algn="l">
              <a:defRPr sz="1400" b="0">
                <a:solidFill>
                  <a:schemeClr val="bg1"/>
                </a:solidFill>
              </a:defRPr>
            </a:lvl1pPr>
          </a:lstStyle>
          <a:p>
            <a:r>
              <a:rPr lang="en-US"/>
              <a:t>Final Project | Topics in Computer Science II | Fall 2025, University of Iowa</a:t>
            </a:r>
            <a:endParaRPr lang="en-US" b="0" dirty="0"/>
          </a:p>
        </p:txBody>
      </p:sp>
    </p:spTree>
    <p:extLst>
      <p:ext uri="{BB962C8B-B14F-4D97-AF65-F5344CB8AC3E}">
        <p14:creationId xmlns:p14="http://schemas.microsoft.com/office/powerpoint/2010/main" val="1772614730"/>
      </p:ext>
    </p:extLst>
  </p:cSld>
  <p:clrMapOvr>
    <a:masterClrMapping/>
  </p:clrMapOvr>
  <p:extLst>
    <p:ext uri="{DCECCB84-F9BA-43D5-87BE-67443E8EF086}">
      <p15:sldGuideLst xmlns:p15="http://schemas.microsoft.com/office/powerpoint/2012/main">
        <p15:guide id="1" orient="horz" pos="2400" userDrawn="1">
          <p15:clr>
            <a:srgbClr val="FBAE40"/>
          </p15:clr>
        </p15:guide>
        <p15:guide id="2" pos="598">
          <p15:clr>
            <a:srgbClr val="FBAE40"/>
          </p15:clr>
        </p15:guide>
        <p15:guide id="3" pos="7080">
          <p15:clr>
            <a:srgbClr val="FBAE40"/>
          </p15:clr>
        </p15:guide>
        <p15:guide id="4" pos="3840">
          <p15:clr>
            <a:srgbClr val="FBAE40"/>
          </p15:clr>
        </p15:guide>
        <p15:guide id="5" orient="horz" pos="1054" userDrawn="1">
          <p15:clr>
            <a:srgbClr val="FBAE40"/>
          </p15:clr>
        </p15:guide>
        <p15:guide id="6" orient="horz" pos="3744" userDrawn="1">
          <p15:clr>
            <a:srgbClr val="FBAE40"/>
          </p15:clr>
        </p15:guide>
        <p15:guide id="7" orient="horz" pos="697"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ive Column Text Layout">
    <p:spTree>
      <p:nvGrpSpPr>
        <p:cNvPr id="1" name=""/>
        <p:cNvGrpSpPr/>
        <p:nvPr/>
      </p:nvGrpSpPr>
      <p:grpSpPr>
        <a:xfrm>
          <a:off x="0" y="0"/>
          <a:ext cx="0" cy="0"/>
          <a:chOff x="0" y="0"/>
          <a:chExt cx="0" cy="0"/>
        </a:xfrm>
      </p:grpSpPr>
      <p:sp>
        <p:nvSpPr>
          <p:cNvPr id="37" name="Title 1">
            <a:extLst>
              <a:ext uri="{FF2B5EF4-FFF2-40B4-BE49-F238E27FC236}">
                <a16:creationId xmlns:a16="http://schemas.microsoft.com/office/drawing/2014/main" id="{8F3E476F-E407-4406-BB4F-38E54533153E}"/>
              </a:ext>
            </a:extLst>
          </p:cNvPr>
          <p:cNvSpPr>
            <a:spLocks noGrp="1"/>
          </p:cNvSpPr>
          <p:nvPr>
            <p:ph type="title"/>
          </p:nvPr>
        </p:nvSpPr>
        <p:spPr>
          <a:xfrm>
            <a:off x="952499" y="526777"/>
            <a:ext cx="10287001" cy="869089"/>
          </a:xfrm>
        </p:spPr>
        <p:txBody>
          <a:bodyPr lIns="0" tIns="0" rIns="0" bIns="0"/>
          <a:lstStyle>
            <a:lvl1pPr>
              <a:defRPr>
                <a:latin typeface="Roboto" panose="02000000000000000000" pitchFamily="2" charset="0"/>
                <a:ea typeface="Roboto" panose="02000000000000000000" pitchFamily="2" charset="0"/>
              </a:defRPr>
            </a:lvl1pPr>
          </a:lstStyle>
          <a:p>
            <a:r>
              <a:rPr lang="en-US" dirty="0"/>
              <a:t>Click to edit Master title style</a:t>
            </a:r>
          </a:p>
        </p:txBody>
      </p:sp>
      <p:cxnSp>
        <p:nvCxnSpPr>
          <p:cNvPr id="7" name="Straight Connector 6">
            <a:extLst>
              <a:ext uri="{FF2B5EF4-FFF2-40B4-BE49-F238E27FC236}">
                <a16:creationId xmlns:a16="http://schemas.microsoft.com/office/drawing/2014/main" id="{E7D57D41-E534-4387-8837-F27E5C2408BD}"/>
              </a:ext>
            </a:extLst>
          </p:cNvPr>
          <p:cNvCxnSpPr>
            <a:cxnSpLocks/>
          </p:cNvCxnSpPr>
          <p:nvPr userDrawn="1"/>
        </p:nvCxnSpPr>
        <p:spPr>
          <a:xfrm>
            <a:off x="952498" y="1363362"/>
            <a:ext cx="768531"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94F85108-BDC9-43A2-BEF1-240E666F4E03}"/>
              </a:ext>
            </a:extLst>
          </p:cNvPr>
          <p:cNvSpPr>
            <a:spLocks noGrp="1"/>
          </p:cNvSpPr>
          <p:nvPr>
            <p:ph idx="1" hasCustomPrompt="1"/>
          </p:nvPr>
        </p:nvSpPr>
        <p:spPr>
          <a:xfrm>
            <a:off x="952501" y="1686758"/>
            <a:ext cx="1835088" cy="754602"/>
          </a:xfrm>
        </p:spPr>
        <p:txBody>
          <a:bodyPr lIns="0" tIns="0" rIns="0" bIns="0">
            <a:norm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14" name="Content Placeholder 2">
            <a:extLst>
              <a:ext uri="{FF2B5EF4-FFF2-40B4-BE49-F238E27FC236}">
                <a16:creationId xmlns:a16="http://schemas.microsoft.com/office/drawing/2014/main" id="{968A6427-DC92-4AE6-82DE-34A0B3A972EE}"/>
              </a:ext>
            </a:extLst>
          </p:cNvPr>
          <p:cNvSpPr>
            <a:spLocks noGrp="1"/>
          </p:cNvSpPr>
          <p:nvPr userDrawn="1">
            <p:ph idx="10" hasCustomPrompt="1"/>
          </p:nvPr>
        </p:nvSpPr>
        <p:spPr>
          <a:xfrm>
            <a:off x="952502" y="2850484"/>
            <a:ext cx="1835088" cy="3093116"/>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cxnSp>
        <p:nvCxnSpPr>
          <p:cNvPr id="11" name="Straight Connector 10">
            <a:extLst>
              <a:ext uri="{FF2B5EF4-FFF2-40B4-BE49-F238E27FC236}">
                <a16:creationId xmlns:a16="http://schemas.microsoft.com/office/drawing/2014/main" id="{7336E4CD-9037-4D69-A3E3-6380D9131A19}"/>
              </a:ext>
            </a:extLst>
          </p:cNvPr>
          <p:cNvCxnSpPr>
            <a:cxnSpLocks/>
          </p:cNvCxnSpPr>
          <p:nvPr userDrawn="1"/>
        </p:nvCxnSpPr>
        <p:spPr>
          <a:xfrm>
            <a:off x="3011869" y="1686759"/>
            <a:ext cx="0" cy="4256841"/>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4" name="Content Placeholder 2">
            <a:extLst>
              <a:ext uri="{FF2B5EF4-FFF2-40B4-BE49-F238E27FC236}">
                <a16:creationId xmlns:a16="http://schemas.microsoft.com/office/drawing/2014/main" id="{ACA73044-ABA5-4A68-81D4-75723F104CFB}"/>
              </a:ext>
            </a:extLst>
          </p:cNvPr>
          <p:cNvSpPr>
            <a:spLocks noGrp="1"/>
          </p:cNvSpPr>
          <p:nvPr>
            <p:ph idx="11" hasCustomPrompt="1"/>
          </p:nvPr>
        </p:nvSpPr>
        <p:spPr>
          <a:xfrm>
            <a:off x="3229003" y="1686758"/>
            <a:ext cx="1624302" cy="754602"/>
          </a:xfrm>
        </p:spPr>
        <p:txBody>
          <a:bodyPr lIns="0" tIns="0" rIns="0" bIns="0">
            <a:norm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25" name="Content Placeholder 2">
            <a:extLst>
              <a:ext uri="{FF2B5EF4-FFF2-40B4-BE49-F238E27FC236}">
                <a16:creationId xmlns:a16="http://schemas.microsoft.com/office/drawing/2014/main" id="{D69FEDBA-37CD-4D7E-A729-6821E598E67D}"/>
              </a:ext>
            </a:extLst>
          </p:cNvPr>
          <p:cNvSpPr>
            <a:spLocks noGrp="1"/>
          </p:cNvSpPr>
          <p:nvPr>
            <p:ph idx="12" hasCustomPrompt="1"/>
          </p:nvPr>
        </p:nvSpPr>
        <p:spPr>
          <a:xfrm>
            <a:off x="3229004" y="2850484"/>
            <a:ext cx="1617953" cy="3093116"/>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cxnSp>
        <p:nvCxnSpPr>
          <p:cNvPr id="22" name="Straight Connector 21">
            <a:extLst>
              <a:ext uri="{FF2B5EF4-FFF2-40B4-BE49-F238E27FC236}">
                <a16:creationId xmlns:a16="http://schemas.microsoft.com/office/drawing/2014/main" id="{CEF932C4-F1C3-47F2-84B8-FEC885C1843C}"/>
              </a:ext>
            </a:extLst>
          </p:cNvPr>
          <p:cNvCxnSpPr>
            <a:cxnSpLocks/>
          </p:cNvCxnSpPr>
          <p:nvPr userDrawn="1"/>
        </p:nvCxnSpPr>
        <p:spPr>
          <a:xfrm>
            <a:off x="5066192" y="1686759"/>
            <a:ext cx="0" cy="4256842"/>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6" name="Content Placeholder 2">
            <a:extLst>
              <a:ext uri="{FF2B5EF4-FFF2-40B4-BE49-F238E27FC236}">
                <a16:creationId xmlns:a16="http://schemas.microsoft.com/office/drawing/2014/main" id="{B96DFA0C-E450-4893-8C79-6243F5697984}"/>
              </a:ext>
            </a:extLst>
          </p:cNvPr>
          <p:cNvSpPr>
            <a:spLocks noGrp="1"/>
          </p:cNvSpPr>
          <p:nvPr>
            <p:ph idx="13" hasCustomPrompt="1"/>
          </p:nvPr>
        </p:nvSpPr>
        <p:spPr>
          <a:xfrm>
            <a:off x="5281223" y="1686758"/>
            <a:ext cx="1617953" cy="754602"/>
          </a:xfrm>
        </p:spPr>
        <p:txBody>
          <a:bodyPr lIns="0" tIns="0" rIns="0" bIns="0">
            <a:norm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27" name="Content Placeholder 2">
            <a:extLst>
              <a:ext uri="{FF2B5EF4-FFF2-40B4-BE49-F238E27FC236}">
                <a16:creationId xmlns:a16="http://schemas.microsoft.com/office/drawing/2014/main" id="{E9D9C274-DDDD-4725-8A7B-113147DD7832}"/>
              </a:ext>
            </a:extLst>
          </p:cNvPr>
          <p:cNvSpPr>
            <a:spLocks noGrp="1"/>
          </p:cNvSpPr>
          <p:nvPr>
            <p:ph idx="14" hasCustomPrompt="1"/>
          </p:nvPr>
        </p:nvSpPr>
        <p:spPr>
          <a:xfrm>
            <a:off x="5281224" y="2850484"/>
            <a:ext cx="1617953" cy="3093116"/>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cxnSp>
        <p:nvCxnSpPr>
          <p:cNvPr id="12" name="Straight Connector 11">
            <a:extLst>
              <a:ext uri="{FF2B5EF4-FFF2-40B4-BE49-F238E27FC236}">
                <a16:creationId xmlns:a16="http://schemas.microsoft.com/office/drawing/2014/main" id="{3CA77083-F133-420F-93AD-77761878E852}"/>
              </a:ext>
            </a:extLst>
          </p:cNvPr>
          <p:cNvCxnSpPr>
            <a:cxnSpLocks/>
          </p:cNvCxnSpPr>
          <p:nvPr userDrawn="1"/>
        </p:nvCxnSpPr>
        <p:spPr>
          <a:xfrm>
            <a:off x="7131909" y="1686759"/>
            <a:ext cx="0" cy="4256841"/>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8" name="Content Placeholder 2">
            <a:extLst>
              <a:ext uri="{FF2B5EF4-FFF2-40B4-BE49-F238E27FC236}">
                <a16:creationId xmlns:a16="http://schemas.microsoft.com/office/drawing/2014/main" id="{F93742B6-D009-4AB4-BBDC-24522E901BB5}"/>
              </a:ext>
            </a:extLst>
          </p:cNvPr>
          <p:cNvSpPr>
            <a:spLocks noGrp="1"/>
          </p:cNvSpPr>
          <p:nvPr>
            <p:ph idx="15" hasCustomPrompt="1"/>
          </p:nvPr>
        </p:nvSpPr>
        <p:spPr>
          <a:xfrm>
            <a:off x="7349043" y="1686758"/>
            <a:ext cx="1617953" cy="754602"/>
          </a:xfrm>
        </p:spPr>
        <p:txBody>
          <a:bodyPr lIns="0" tIns="0" rIns="0" bIns="0">
            <a:norm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29" name="Content Placeholder 2">
            <a:extLst>
              <a:ext uri="{FF2B5EF4-FFF2-40B4-BE49-F238E27FC236}">
                <a16:creationId xmlns:a16="http://schemas.microsoft.com/office/drawing/2014/main" id="{90357619-5F6A-4C63-90C3-32B37CE73C91}"/>
              </a:ext>
            </a:extLst>
          </p:cNvPr>
          <p:cNvSpPr>
            <a:spLocks noGrp="1"/>
          </p:cNvSpPr>
          <p:nvPr>
            <p:ph idx="16" hasCustomPrompt="1"/>
          </p:nvPr>
        </p:nvSpPr>
        <p:spPr>
          <a:xfrm>
            <a:off x="7349044" y="2850484"/>
            <a:ext cx="1617953" cy="3093116"/>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cxnSp>
        <p:nvCxnSpPr>
          <p:cNvPr id="23" name="Straight Connector 22">
            <a:extLst>
              <a:ext uri="{FF2B5EF4-FFF2-40B4-BE49-F238E27FC236}">
                <a16:creationId xmlns:a16="http://schemas.microsoft.com/office/drawing/2014/main" id="{55F5ADDF-F780-4384-87F4-30070C81BB29}"/>
              </a:ext>
            </a:extLst>
          </p:cNvPr>
          <p:cNvCxnSpPr>
            <a:cxnSpLocks/>
          </p:cNvCxnSpPr>
          <p:nvPr userDrawn="1"/>
        </p:nvCxnSpPr>
        <p:spPr>
          <a:xfrm>
            <a:off x="9184131" y="1686759"/>
            <a:ext cx="0" cy="4256841"/>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30" name="Content Placeholder 2">
            <a:extLst>
              <a:ext uri="{FF2B5EF4-FFF2-40B4-BE49-F238E27FC236}">
                <a16:creationId xmlns:a16="http://schemas.microsoft.com/office/drawing/2014/main" id="{035F8812-D495-478D-828C-D8CF0753EEB5}"/>
              </a:ext>
            </a:extLst>
          </p:cNvPr>
          <p:cNvSpPr>
            <a:spLocks noGrp="1"/>
          </p:cNvSpPr>
          <p:nvPr>
            <p:ph idx="17" hasCustomPrompt="1"/>
          </p:nvPr>
        </p:nvSpPr>
        <p:spPr>
          <a:xfrm>
            <a:off x="9401266" y="1686758"/>
            <a:ext cx="1835087" cy="754602"/>
          </a:xfrm>
        </p:spPr>
        <p:txBody>
          <a:bodyPr lIns="0" tIns="0" rIns="0" bIns="0">
            <a:norm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31" name="Content Placeholder 2">
            <a:extLst>
              <a:ext uri="{FF2B5EF4-FFF2-40B4-BE49-F238E27FC236}">
                <a16:creationId xmlns:a16="http://schemas.microsoft.com/office/drawing/2014/main" id="{338FA747-D085-4909-A6FE-575A5C652420}"/>
              </a:ext>
            </a:extLst>
          </p:cNvPr>
          <p:cNvSpPr>
            <a:spLocks noGrp="1"/>
          </p:cNvSpPr>
          <p:nvPr>
            <p:ph idx="18" hasCustomPrompt="1"/>
          </p:nvPr>
        </p:nvSpPr>
        <p:spPr>
          <a:xfrm>
            <a:off x="9401267" y="2850484"/>
            <a:ext cx="1838233" cy="3093116"/>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sp>
        <p:nvSpPr>
          <p:cNvPr id="32" name="Rectangle 31">
            <a:extLst>
              <a:ext uri="{FF2B5EF4-FFF2-40B4-BE49-F238E27FC236}">
                <a16:creationId xmlns:a16="http://schemas.microsoft.com/office/drawing/2014/main" id="{8A4AB6F8-D05F-8E40-A637-083D1274FB35}"/>
              </a:ext>
            </a:extLst>
          </p:cNvPr>
          <p:cNvSpPr/>
          <p:nvPr userDrawn="1"/>
        </p:nvSpPr>
        <p:spPr>
          <a:xfrm>
            <a:off x="0" y="6389511"/>
            <a:ext cx="12192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38" name="Picture 37" descr="The University of Iowa">
            <a:extLst>
              <a:ext uri="{FF2B5EF4-FFF2-40B4-BE49-F238E27FC236}">
                <a16:creationId xmlns:a16="http://schemas.microsoft.com/office/drawing/2014/main" id="{03F28A08-B979-7F4D-A857-AE155CAB0EE7}"/>
              </a:ext>
            </a:extLst>
          </p:cNvPr>
          <p:cNvPicPr>
            <a:picLocks noChangeAspect="1"/>
          </p:cNvPicPr>
          <p:nvPr userDrawn="1"/>
        </p:nvPicPr>
        <p:blipFill>
          <a:blip r:embed="rId2"/>
          <a:stretch>
            <a:fillRect/>
          </a:stretch>
        </p:blipFill>
        <p:spPr>
          <a:xfrm>
            <a:off x="838200" y="6131555"/>
            <a:ext cx="1545021" cy="733885"/>
          </a:xfrm>
          <a:prstGeom prst="rect">
            <a:avLst/>
          </a:prstGeom>
        </p:spPr>
      </p:pic>
      <p:sp>
        <p:nvSpPr>
          <p:cNvPr id="36" name="Footer Placeholder 4">
            <a:extLst>
              <a:ext uri="{FF2B5EF4-FFF2-40B4-BE49-F238E27FC236}">
                <a16:creationId xmlns:a16="http://schemas.microsoft.com/office/drawing/2014/main" id="{48092FCE-E544-874D-A440-7B68904C34DF}"/>
              </a:ext>
            </a:extLst>
          </p:cNvPr>
          <p:cNvSpPr>
            <a:spLocks noGrp="1"/>
          </p:cNvSpPr>
          <p:nvPr>
            <p:ph type="ftr" sz="quarter" idx="3"/>
          </p:nvPr>
        </p:nvSpPr>
        <p:spPr>
          <a:xfrm>
            <a:off x="2519853" y="6441192"/>
            <a:ext cx="8684173" cy="365125"/>
          </a:xfrm>
          <a:prstGeom prst="rect">
            <a:avLst/>
          </a:prstGeom>
        </p:spPr>
        <p:txBody>
          <a:bodyPr vert="horz" lIns="91440" tIns="45720" rIns="91440" bIns="45720" rtlCol="0" anchor="ctr"/>
          <a:lstStyle>
            <a:lvl1pPr algn="l">
              <a:defRPr sz="1400" b="0">
                <a:solidFill>
                  <a:schemeClr val="bg1"/>
                </a:solidFill>
              </a:defRPr>
            </a:lvl1pPr>
          </a:lstStyle>
          <a:p>
            <a:r>
              <a:rPr lang="en-US"/>
              <a:t>Final Project | Topics in Computer Science II | Fall 2025, University of Iowa</a:t>
            </a:r>
            <a:endParaRPr lang="en-US" b="0" dirty="0"/>
          </a:p>
        </p:txBody>
      </p:sp>
    </p:spTree>
    <p:extLst>
      <p:ext uri="{BB962C8B-B14F-4D97-AF65-F5344CB8AC3E}">
        <p14:creationId xmlns:p14="http://schemas.microsoft.com/office/powerpoint/2010/main" val="439371316"/>
      </p:ext>
    </p:extLst>
  </p:cSld>
  <p:clrMapOvr>
    <a:masterClrMapping/>
  </p:clrMapOvr>
  <p:extLst>
    <p:ext uri="{DCECCB84-F9BA-43D5-87BE-67443E8EF086}">
      <p15:sldGuideLst xmlns:p15="http://schemas.microsoft.com/office/powerpoint/2012/main">
        <p15:guide id="1" orient="horz" pos="2400" userDrawn="1">
          <p15:clr>
            <a:srgbClr val="FBAE40"/>
          </p15:clr>
        </p15:guide>
        <p15:guide id="2" pos="598">
          <p15:clr>
            <a:srgbClr val="FBAE40"/>
          </p15:clr>
        </p15:guide>
        <p15:guide id="3" pos="7080">
          <p15:clr>
            <a:srgbClr val="FBAE40"/>
          </p15:clr>
        </p15:guide>
        <p15:guide id="4" pos="3840">
          <p15:clr>
            <a:srgbClr val="FBAE40"/>
          </p15:clr>
        </p15:guide>
        <p15:guide id="5" orient="horz" pos="1054" userDrawn="1">
          <p15:clr>
            <a:srgbClr val="FBAE40"/>
          </p15:clr>
        </p15:guide>
        <p15:guide id="6" orient="horz" pos="3744">
          <p15:clr>
            <a:srgbClr val="FBAE40"/>
          </p15:clr>
        </p15:guide>
        <p15:guide id="7" orient="horz" pos="697"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x1 Grid Layout">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F83F529D-C880-45A0-81D8-FD2CC04E07D8}"/>
              </a:ext>
            </a:extLst>
          </p:cNvPr>
          <p:cNvSpPr>
            <a:spLocks noGrp="1"/>
          </p:cNvSpPr>
          <p:nvPr>
            <p:ph type="title"/>
          </p:nvPr>
        </p:nvSpPr>
        <p:spPr>
          <a:xfrm>
            <a:off x="952499" y="526777"/>
            <a:ext cx="10287001" cy="869089"/>
          </a:xfrm>
        </p:spPr>
        <p:txBody>
          <a:bodyPr lIns="0" tIns="0" rIns="0" bIns="0"/>
          <a:lstStyle>
            <a:lvl1pPr>
              <a:defRPr>
                <a:latin typeface="Roboto" panose="02000000000000000000" pitchFamily="2" charset="0"/>
                <a:ea typeface="Roboto" panose="02000000000000000000" pitchFamily="2" charset="0"/>
              </a:defRPr>
            </a:lvl1pPr>
          </a:lstStyle>
          <a:p>
            <a:r>
              <a:rPr lang="en-US" dirty="0"/>
              <a:t>Click to edit Master title style</a:t>
            </a:r>
          </a:p>
        </p:txBody>
      </p:sp>
      <p:cxnSp>
        <p:nvCxnSpPr>
          <p:cNvPr id="7" name="Straight Connector 6">
            <a:extLst>
              <a:ext uri="{FF2B5EF4-FFF2-40B4-BE49-F238E27FC236}">
                <a16:creationId xmlns:a16="http://schemas.microsoft.com/office/drawing/2014/main" id="{E7D57D41-E534-4387-8837-F27E5C2408BD}"/>
              </a:ext>
            </a:extLst>
          </p:cNvPr>
          <p:cNvCxnSpPr>
            <a:cxnSpLocks/>
          </p:cNvCxnSpPr>
          <p:nvPr userDrawn="1"/>
        </p:nvCxnSpPr>
        <p:spPr>
          <a:xfrm>
            <a:off x="952498" y="1363362"/>
            <a:ext cx="768531"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94F85108-BDC9-43A2-BEF1-240E666F4E03}"/>
              </a:ext>
            </a:extLst>
          </p:cNvPr>
          <p:cNvSpPr>
            <a:spLocks noGrp="1"/>
          </p:cNvSpPr>
          <p:nvPr>
            <p:ph idx="1" hasCustomPrompt="1"/>
          </p:nvPr>
        </p:nvSpPr>
        <p:spPr>
          <a:xfrm>
            <a:off x="952500" y="1686758"/>
            <a:ext cx="10288587" cy="319591"/>
          </a:xfrm>
        </p:spPr>
        <p:txBody>
          <a:bodyPr lIns="0" tIns="0" rIns="0" bIns="0">
            <a:no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header</a:t>
            </a:r>
          </a:p>
        </p:txBody>
      </p:sp>
      <p:sp>
        <p:nvSpPr>
          <p:cNvPr id="14" name="Content Placeholder 2">
            <a:extLst>
              <a:ext uri="{FF2B5EF4-FFF2-40B4-BE49-F238E27FC236}">
                <a16:creationId xmlns:a16="http://schemas.microsoft.com/office/drawing/2014/main" id="{968A6427-DC92-4AE6-82DE-34A0B3A972EE}"/>
              </a:ext>
            </a:extLst>
          </p:cNvPr>
          <p:cNvSpPr>
            <a:spLocks noGrp="1"/>
          </p:cNvSpPr>
          <p:nvPr userDrawn="1">
            <p:ph idx="10" hasCustomPrompt="1"/>
          </p:nvPr>
        </p:nvSpPr>
        <p:spPr>
          <a:xfrm>
            <a:off x="952502" y="2120010"/>
            <a:ext cx="10288586" cy="754602"/>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text</a:t>
            </a:r>
          </a:p>
        </p:txBody>
      </p:sp>
      <p:cxnSp>
        <p:nvCxnSpPr>
          <p:cNvPr id="9" name="Straight Connector 8">
            <a:extLst>
              <a:ext uri="{FF2B5EF4-FFF2-40B4-BE49-F238E27FC236}">
                <a16:creationId xmlns:a16="http://schemas.microsoft.com/office/drawing/2014/main" id="{6FCD7C05-8E7C-4679-B83F-CDDB1BDA2031}"/>
              </a:ext>
            </a:extLst>
          </p:cNvPr>
          <p:cNvCxnSpPr/>
          <p:nvPr userDrawn="1"/>
        </p:nvCxnSpPr>
        <p:spPr>
          <a:xfrm>
            <a:off x="949325" y="3098307"/>
            <a:ext cx="10290176"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33" name="Content Placeholder 2">
            <a:extLst>
              <a:ext uri="{FF2B5EF4-FFF2-40B4-BE49-F238E27FC236}">
                <a16:creationId xmlns:a16="http://schemas.microsoft.com/office/drawing/2014/main" id="{6BC08D86-557A-4EB7-B2A4-0782689B99D1}"/>
              </a:ext>
            </a:extLst>
          </p:cNvPr>
          <p:cNvSpPr>
            <a:spLocks noGrp="1"/>
          </p:cNvSpPr>
          <p:nvPr>
            <p:ph idx="11" hasCustomPrompt="1"/>
          </p:nvPr>
        </p:nvSpPr>
        <p:spPr>
          <a:xfrm>
            <a:off x="952502" y="3291760"/>
            <a:ext cx="10288587" cy="328016"/>
          </a:xfrm>
        </p:spPr>
        <p:txBody>
          <a:bodyPr lIns="0" tIns="0" rIns="0" bIns="0">
            <a:no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header</a:t>
            </a:r>
          </a:p>
        </p:txBody>
      </p:sp>
      <p:sp>
        <p:nvSpPr>
          <p:cNvPr id="35" name="Content Placeholder 2">
            <a:extLst>
              <a:ext uri="{FF2B5EF4-FFF2-40B4-BE49-F238E27FC236}">
                <a16:creationId xmlns:a16="http://schemas.microsoft.com/office/drawing/2014/main" id="{123E50C5-092D-4191-9A0B-F3C51561D562}"/>
              </a:ext>
            </a:extLst>
          </p:cNvPr>
          <p:cNvSpPr>
            <a:spLocks noGrp="1"/>
          </p:cNvSpPr>
          <p:nvPr>
            <p:ph idx="12" hasCustomPrompt="1"/>
          </p:nvPr>
        </p:nvSpPr>
        <p:spPr>
          <a:xfrm>
            <a:off x="952504" y="3725012"/>
            <a:ext cx="10288586" cy="644563"/>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text</a:t>
            </a:r>
          </a:p>
        </p:txBody>
      </p:sp>
      <p:cxnSp>
        <p:nvCxnSpPr>
          <p:cNvPr id="32" name="Straight Connector 31">
            <a:extLst>
              <a:ext uri="{FF2B5EF4-FFF2-40B4-BE49-F238E27FC236}">
                <a16:creationId xmlns:a16="http://schemas.microsoft.com/office/drawing/2014/main" id="{3C85CAC7-8545-4ED7-8312-FBC92F7F9DA5}"/>
              </a:ext>
            </a:extLst>
          </p:cNvPr>
          <p:cNvCxnSpPr/>
          <p:nvPr userDrawn="1"/>
        </p:nvCxnSpPr>
        <p:spPr>
          <a:xfrm>
            <a:off x="950912" y="4520213"/>
            <a:ext cx="10290176"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36" name="Content Placeholder 2">
            <a:extLst>
              <a:ext uri="{FF2B5EF4-FFF2-40B4-BE49-F238E27FC236}">
                <a16:creationId xmlns:a16="http://schemas.microsoft.com/office/drawing/2014/main" id="{3E524A13-F71C-45F7-92E6-985C4CB9E331}"/>
              </a:ext>
            </a:extLst>
          </p:cNvPr>
          <p:cNvSpPr>
            <a:spLocks noGrp="1"/>
          </p:cNvSpPr>
          <p:nvPr>
            <p:ph idx="13" hasCustomPrompt="1"/>
          </p:nvPr>
        </p:nvSpPr>
        <p:spPr>
          <a:xfrm>
            <a:off x="952504" y="4753992"/>
            <a:ext cx="10288587" cy="319591"/>
          </a:xfrm>
        </p:spPr>
        <p:txBody>
          <a:bodyPr lIns="0" tIns="0" rIns="0" bIns="0">
            <a:no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header</a:t>
            </a:r>
          </a:p>
        </p:txBody>
      </p:sp>
      <p:sp>
        <p:nvSpPr>
          <p:cNvPr id="37" name="Content Placeholder 2">
            <a:extLst>
              <a:ext uri="{FF2B5EF4-FFF2-40B4-BE49-F238E27FC236}">
                <a16:creationId xmlns:a16="http://schemas.microsoft.com/office/drawing/2014/main" id="{7CA7FF6D-951D-4682-9C40-A6BB36ABEA84}"/>
              </a:ext>
            </a:extLst>
          </p:cNvPr>
          <p:cNvSpPr>
            <a:spLocks noGrp="1"/>
          </p:cNvSpPr>
          <p:nvPr>
            <p:ph idx="14" hasCustomPrompt="1"/>
          </p:nvPr>
        </p:nvSpPr>
        <p:spPr>
          <a:xfrm>
            <a:off x="952506" y="5187244"/>
            <a:ext cx="10288586" cy="754602"/>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text</a:t>
            </a:r>
          </a:p>
        </p:txBody>
      </p:sp>
      <p:sp>
        <p:nvSpPr>
          <p:cNvPr id="15" name="Rectangle 14">
            <a:extLst>
              <a:ext uri="{FF2B5EF4-FFF2-40B4-BE49-F238E27FC236}">
                <a16:creationId xmlns:a16="http://schemas.microsoft.com/office/drawing/2014/main" id="{55E76717-4761-EC4B-BDB1-C130638E59C3}"/>
              </a:ext>
            </a:extLst>
          </p:cNvPr>
          <p:cNvSpPr/>
          <p:nvPr userDrawn="1"/>
        </p:nvSpPr>
        <p:spPr>
          <a:xfrm>
            <a:off x="0" y="6389511"/>
            <a:ext cx="12192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20" name="Picture 19" descr="The University of Iowa">
            <a:extLst>
              <a:ext uri="{FF2B5EF4-FFF2-40B4-BE49-F238E27FC236}">
                <a16:creationId xmlns:a16="http://schemas.microsoft.com/office/drawing/2014/main" id="{40242CE7-09BD-8143-AE27-4BF193790A81}"/>
              </a:ext>
            </a:extLst>
          </p:cNvPr>
          <p:cNvPicPr>
            <a:picLocks noChangeAspect="1"/>
          </p:cNvPicPr>
          <p:nvPr userDrawn="1"/>
        </p:nvPicPr>
        <p:blipFill>
          <a:blip r:embed="rId2"/>
          <a:stretch>
            <a:fillRect/>
          </a:stretch>
        </p:blipFill>
        <p:spPr>
          <a:xfrm>
            <a:off x="838200" y="6131555"/>
            <a:ext cx="1545021" cy="733885"/>
          </a:xfrm>
          <a:prstGeom prst="rect">
            <a:avLst/>
          </a:prstGeom>
        </p:spPr>
      </p:pic>
      <p:sp>
        <p:nvSpPr>
          <p:cNvPr id="16" name="Footer Placeholder 4">
            <a:extLst>
              <a:ext uri="{FF2B5EF4-FFF2-40B4-BE49-F238E27FC236}">
                <a16:creationId xmlns:a16="http://schemas.microsoft.com/office/drawing/2014/main" id="{AF415A2A-5C4A-BE45-8CAF-820EC97BED1D}"/>
              </a:ext>
            </a:extLst>
          </p:cNvPr>
          <p:cNvSpPr>
            <a:spLocks noGrp="1"/>
          </p:cNvSpPr>
          <p:nvPr>
            <p:ph type="ftr" sz="quarter" idx="3"/>
          </p:nvPr>
        </p:nvSpPr>
        <p:spPr>
          <a:xfrm>
            <a:off x="2519853" y="6441192"/>
            <a:ext cx="8684173" cy="365125"/>
          </a:xfrm>
          <a:prstGeom prst="rect">
            <a:avLst/>
          </a:prstGeom>
        </p:spPr>
        <p:txBody>
          <a:bodyPr vert="horz" lIns="91440" tIns="45720" rIns="91440" bIns="45720" rtlCol="0" anchor="ctr"/>
          <a:lstStyle>
            <a:lvl1pPr algn="l">
              <a:defRPr sz="1400" b="0">
                <a:solidFill>
                  <a:schemeClr val="bg1"/>
                </a:solidFill>
              </a:defRPr>
            </a:lvl1pPr>
          </a:lstStyle>
          <a:p>
            <a:r>
              <a:rPr lang="en-US"/>
              <a:t>Final Project | Topics in Computer Science II | Fall 2025, University of Iowa</a:t>
            </a:r>
            <a:endParaRPr lang="en-US" b="0" dirty="0"/>
          </a:p>
        </p:txBody>
      </p:sp>
    </p:spTree>
    <p:extLst>
      <p:ext uri="{BB962C8B-B14F-4D97-AF65-F5344CB8AC3E}">
        <p14:creationId xmlns:p14="http://schemas.microsoft.com/office/powerpoint/2010/main" val="840878860"/>
      </p:ext>
    </p:extLst>
  </p:cSld>
  <p:clrMapOvr>
    <a:masterClrMapping/>
  </p:clrMapOvr>
  <p:extLst>
    <p:ext uri="{DCECCB84-F9BA-43D5-87BE-67443E8EF086}">
      <p15:sldGuideLst xmlns:p15="http://schemas.microsoft.com/office/powerpoint/2012/main">
        <p15:guide id="2" pos="598">
          <p15:clr>
            <a:srgbClr val="FBAE40"/>
          </p15:clr>
        </p15:guide>
        <p15:guide id="3" pos="7080">
          <p15:clr>
            <a:srgbClr val="FBAE40"/>
          </p15:clr>
        </p15:guide>
        <p15:guide id="4" pos="3840">
          <p15:clr>
            <a:srgbClr val="FBAE40"/>
          </p15:clr>
        </p15:guide>
        <p15:guide id="5" orient="horz" pos="1054" userDrawn="1">
          <p15:clr>
            <a:srgbClr val="FBAE40"/>
          </p15:clr>
        </p15:guide>
        <p15:guide id="6" orient="horz" pos="3744">
          <p15:clr>
            <a:srgbClr val="FBAE40"/>
          </p15:clr>
        </p15:guide>
        <p15:guide id="7" orient="horz" pos="697" userDrawn="1">
          <p15:clr>
            <a:srgbClr val="FBAE40"/>
          </p15:clr>
        </p15:guide>
        <p15:guide id="8" orient="horz" pos="240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x2 Grid Layout">
    <p:spTree>
      <p:nvGrpSpPr>
        <p:cNvPr id="1" name=""/>
        <p:cNvGrpSpPr/>
        <p:nvPr/>
      </p:nvGrpSpPr>
      <p:grpSpPr>
        <a:xfrm>
          <a:off x="0" y="0"/>
          <a:ext cx="0" cy="0"/>
          <a:chOff x="0" y="0"/>
          <a:chExt cx="0" cy="0"/>
        </a:xfrm>
      </p:grpSpPr>
      <p:sp>
        <p:nvSpPr>
          <p:cNvPr id="38" name="Title 1">
            <a:extLst>
              <a:ext uri="{FF2B5EF4-FFF2-40B4-BE49-F238E27FC236}">
                <a16:creationId xmlns:a16="http://schemas.microsoft.com/office/drawing/2014/main" id="{3A9A771B-4FFF-4EBF-A07A-0D6292AC2FE3}"/>
              </a:ext>
            </a:extLst>
          </p:cNvPr>
          <p:cNvSpPr>
            <a:spLocks noGrp="1"/>
          </p:cNvSpPr>
          <p:nvPr>
            <p:ph type="title"/>
          </p:nvPr>
        </p:nvSpPr>
        <p:spPr>
          <a:xfrm>
            <a:off x="952499" y="526777"/>
            <a:ext cx="10287001" cy="869089"/>
          </a:xfrm>
        </p:spPr>
        <p:txBody>
          <a:bodyPr lIns="0" tIns="0" rIns="0" bIns="0"/>
          <a:lstStyle>
            <a:lvl1pPr>
              <a:defRPr>
                <a:latin typeface="Roboto" panose="02000000000000000000" pitchFamily="2" charset="0"/>
                <a:ea typeface="Roboto" panose="02000000000000000000" pitchFamily="2" charset="0"/>
              </a:defRPr>
            </a:lvl1pPr>
          </a:lstStyle>
          <a:p>
            <a:r>
              <a:rPr lang="en-US" dirty="0"/>
              <a:t>Click to edit Master title style</a:t>
            </a:r>
          </a:p>
        </p:txBody>
      </p:sp>
      <p:cxnSp>
        <p:nvCxnSpPr>
          <p:cNvPr id="7" name="Straight Connector 6">
            <a:extLst>
              <a:ext uri="{FF2B5EF4-FFF2-40B4-BE49-F238E27FC236}">
                <a16:creationId xmlns:a16="http://schemas.microsoft.com/office/drawing/2014/main" id="{E7D57D41-E534-4387-8837-F27E5C2408BD}"/>
              </a:ext>
            </a:extLst>
          </p:cNvPr>
          <p:cNvCxnSpPr>
            <a:cxnSpLocks/>
          </p:cNvCxnSpPr>
          <p:nvPr userDrawn="1"/>
        </p:nvCxnSpPr>
        <p:spPr>
          <a:xfrm>
            <a:off x="952498" y="1363362"/>
            <a:ext cx="768531"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94F85108-BDC9-43A2-BEF1-240E666F4E03}"/>
              </a:ext>
            </a:extLst>
          </p:cNvPr>
          <p:cNvSpPr>
            <a:spLocks noGrp="1"/>
          </p:cNvSpPr>
          <p:nvPr>
            <p:ph idx="1" hasCustomPrompt="1"/>
          </p:nvPr>
        </p:nvSpPr>
        <p:spPr>
          <a:xfrm>
            <a:off x="952501" y="1686758"/>
            <a:ext cx="4755838" cy="319591"/>
          </a:xfrm>
        </p:spPr>
        <p:txBody>
          <a:bodyPr lIns="0" tIns="0" rIns="0" bIns="0">
            <a:no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header</a:t>
            </a:r>
          </a:p>
        </p:txBody>
      </p:sp>
      <p:sp>
        <p:nvSpPr>
          <p:cNvPr id="14" name="Content Placeholder 2">
            <a:extLst>
              <a:ext uri="{FF2B5EF4-FFF2-40B4-BE49-F238E27FC236}">
                <a16:creationId xmlns:a16="http://schemas.microsoft.com/office/drawing/2014/main" id="{968A6427-DC92-4AE6-82DE-34A0B3A972EE}"/>
              </a:ext>
            </a:extLst>
          </p:cNvPr>
          <p:cNvSpPr>
            <a:spLocks noGrp="1"/>
          </p:cNvSpPr>
          <p:nvPr userDrawn="1">
            <p:ph idx="10" hasCustomPrompt="1"/>
          </p:nvPr>
        </p:nvSpPr>
        <p:spPr>
          <a:xfrm>
            <a:off x="952502" y="2120010"/>
            <a:ext cx="4755838" cy="754602"/>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text</a:t>
            </a:r>
          </a:p>
        </p:txBody>
      </p:sp>
      <p:cxnSp>
        <p:nvCxnSpPr>
          <p:cNvPr id="9" name="Straight Connector 8">
            <a:extLst>
              <a:ext uri="{FF2B5EF4-FFF2-40B4-BE49-F238E27FC236}">
                <a16:creationId xmlns:a16="http://schemas.microsoft.com/office/drawing/2014/main" id="{6FCD7C05-8E7C-4679-B83F-CDDB1BDA2031}"/>
              </a:ext>
            </a:extLst>
          </p:cNvPr>
          <p:cNvCxnSpPr/>
          <p:nvPr userDrawn="1"/>
        </p:nvCxnSpPr>
        <p:spPr>
          <a:xfrm>
            <a:off x="949325" y="3098307"/>
            <a:ext cx="10290176"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33" name="Content Placeholder 2">
            <a:extLst>
              <a:ext uri="{FF2B5EF4-FFF2-40B4-BE49-F238E27FC236}">
                <a16:creationId xmlns:a16="http://schemas.microsoft.com/office/drawing/2014/main" id="{6BC08D86-557A-4EB7-B2A4-0782689B99D1}"/>
              </a:ext>
            </a:extLst>
          </p:cNvPr>
          <p:cNvSpPr>
            <a:spLocks noGrp="1"/>
          </p:cNvSpPr>
          <p:nvPr>
            <p:ph idx="11" hasCustomPrompt="1"/>
          </p:nvPr>
        </p:nvSpPr>
        <p:spPr>
          <a:xfrm>
            <a:off x="952503" y="3291760"/>
            <a:ext cx="4755838" cy="328016"/>
          </a:xfrm>
        </p:spPr>
        <p:txBody>
          <a:bodyPr lIns="0" tIns="0" rIns="0" bIns="0">
            <a:no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header</a:t>
            </a:r>
          </a:p>
        </p:txBody>
      </p:sp>
      <p:sp>
        <p:nvSpPr>
          <p:cNvPr id="35" name="Content Placeholder 2">
            <a:extLst>
              <a:ext uri="{FF2B5EF4-FFF2-40B4-BE49-F238E27FC236}">
                <a16:creationId xmlns:a16="http://schemas.microsoft.com/office/drawing/2014/main" id="{123E50C5-092D-4191-9A0B-F3C51561D562}"/>
              </a:ext>
            </a:extLst>
          </p:cNvPr>
          <p:cNvSpPr>
            <a:spLocks noGrp="1"/>
          </p:cNvSpPr>
          <p:nvPr>
            <p:ph idx="12" hasCustomPrompt="1"/>
          </p:nvPr>
        </p:nvSpPr>
        <p:spPr>
          <a:xfrm>
            <a:off x="952504" y="3725012"/>
            <a:ext cx="4755838" cy="644563"/>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text</a:t>
            </a:r>
          </a:p>
        </p:txBody>
      </p:sp>
      <p:cxnSp>
        <p:nvCxnSpPr>
          <p:cNvPr id="32" name="Straight Connector 31">
            <a:extLst>
              <a:ext uri="{FF2B5EF4-FFF2-40B4-BE49-F238E27FC236}">
                <a16:creationId xmlns:a16="http://schemas.microsoft.com/office/drawing/2014/main" id="{3C85CAC7-8545-4ED7-8312-FBC92F7F9DA5}"/>
              </a:ext>
            </a:extLst>
          </p:cNvPr>
          <p:cNvCxnSpPr/>
          <p:nvPr userDrawn="1"/>
        </p:nvCxnSpPr>
        <p:spPr>
          <a:xfrm>
            <a:off x="950912" y="4520213"/>
            <a:ext cx="10290176"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36" name="Content Placeholder 2">
            <a:extLst>
              <a:ext uri="{FF2B5EF4-FFF2-40B4-BE49-F238E27FC236}">
                <a16:creationId xmlns:a16="http://schemas.microsoft.com/office/drawing/2014/main" id="{3E524A13-F71C-45F7-92E6-985C4CB9E331}"/>
              </a:ext>
            </a:extLst>
          </p:cNvPr>
          <p:cNvSpPr>
            <a:spLocks noGrp="1"/>
          </p:cNvSpPr>
          <p:nvPr>
            <p:ph idx="13" hasCustomPrompt="1"/>
          </p:nvPr>
        </p:nvSpPr>
        <p:spPr>
          <a:xfrm>
            <a:off x="952505" y="4753992"/>
            <a:ext cx="4755838" cy="319591"/>
          </a:xfrm>
        </p:spPr>
        <p:txBody>
          <a:bodyPr lIns="0" tIns="0" rIns="0" bIns="0">
            <a:no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header</a:t>
            </a:r>
          </a:p>
        </p:txBody>
      </p:sp>
      <p:sp>
        <p:nvSpPr>
          <p:cNvPr id="37" name="Content Placeholder 2">
            <a:extLst>
              <a:ext uri="{FF2B5EF4-FFF2-40B4-BE49-F238E27FC236}">
                <a16:creationId xmlns:a16="http://schemas.microsoft.com/office/drawing/2014/main" id="{7CA7FF6D-951D-4682-9C40-A6BB36ABEA84}"/>
              </a:ext>
            </a:extLst>
          </p:cNvPr>
          <p:cNvSpPr>
            <a:spLocks noGrp="1"/>
          </p:cNvSpPr>
          <p:nvPr>
            <p:ph idx="14" hasCustomPrompt="1"/>
          </p:nvPr>
        </p:nvSpPr>
        <p:spPr>
          <a:xfrm>
            <a:off x="952506" y="5187244"/>
            <a:ext cx="4755838" cy="754602"/>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text</a:t>
            </a:r>
          </a:p>
        </p:txBody>
      </p:sp>
      <p:cxnSp>
        <p:nvCxnSpPr>
          <p:cNvPr id="28" name="Straight Connector 27">
            <a:extLst>
              <a:ext uri="{FF2B5EF4-FFF2-40B4-BE49-F238E27FC236}">
                <a16:creationId xmlns:a16="http://schemas.microsoft.com/office/drawing/2014/main" id="{AA23041F-D604-4688-B75A-90D37AFDDB0E}"/>
              </a:ext>
            </a:extLst>
          </p:cNvPr>
          <p:cNvCxnSpPr/>
          <p:nvPr userDrawn="1"/>
        </p:nvCxnSpPr>
        <p:spPr>
          <a:xfrm>
            <a:off x="6096000" y="1686758"/>
            <a:ext cx="0" cy="4293629"/>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2" name="Content Placeholder 2">
            <a:extLst>
              <a:ext uri="{FF2B5EF4-FFF2-40B4-BE49-F238E27FC236}">
                <a16:creationId xmlns:a16="http://schemas.microsoft.com/office/drawing/2014/main" id="{F7B91F83-8428-4E5A-9C88-17829B687B77}"/>
              </a:ext>
            </a:extLst>
          </p:cNvPr>
          <p:cNvSpPr>
            <a:spLocks noGrp="1"/>
          </p:cNvSpPr>
          <p:nvPr>
            <p:ph idx="15" hasCustomPrompt="1"/>
          </p:nvPr>
        </p:nvSpPr>
        <p:spPr>
          <a:xfrm>
            <a:off x="6483696" y="1688512"/>
            <a:ext cx="4755838" cy="319591"/>
          </a:xfrm>
        </p:spPr>
        <p:txBody>
          <a:bodyPr lIns="0" tIns="0" rIns="0" bIns="0">
            <a:no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header</a:t>
            </a:r>
          </a:p>
        </p:txBody>
      </p:sp>
      <p:sp>
        <p:nvSpPr>
          <p:cNvPr id="23" name="Content Placeholder 2">
            <a:extLst>
              <a:ext uri="{FF2B5EF4-FFF2-40B4-BE49-F238E27FC236}">
                <a16:creationId xmlns:a16="http://schemas.microsoft.com/office/drawing/2014/main" id="{ADB1D581-6D4C-4716-AE96-DBB4F953B95C}"/>
              </a:ext>
            </a:extLst>
          </p:cNvPr>
          <p:cNvSpPr>
            <a:spLocks noGrp="1"/>
          </p:cNvSpPr>
          <p:nvPr>
            <p:ph idx="16" hasCustomPrompt="1"/>
          </p:nvPr>
        </p:nvSpPr>
        <p:spPr>
          <a:xfrm>
            <a:off x="6483697" y="2121764"/>
            <a:ext cx="4755838" cy="754602"/>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text</a:t>
            </a:r>
          </a:p>
        </p:txBody>
      </p:sp>
      <p:sp>
        <p:nvSpPr>
          <p:cNvPr id="24" name="Content Placeholder 2">
            <a:extLst>
              <a:ext uri="{FF2B5EF4-FFF2-40B4-BE49-F238E27FC236}">
                <a16:creationId xmlns:a16="http://schemas.microsoft.com/office/drawing/2014/main" id="{279BA4B0-A083-4A1F-9D3B-A041B59E7C22}"/>
              </a:ext>
            </a:extLst>
          </p:cNvPr>
          <p:cNvSpPr>
            <a:spLocks noGrp="1"/>
          </p:cNvSpPr>
          <p:nvPr>
            <p:ph idx="17" hasCustomPrompt="1"/>
          </p:nvPr>
        </p:nvSpPr>
        <p:spPr>
          <a:xfrm>
            <a:off x="6483698" y="3293514"/>
            <a:ext cx="4755838" cy="328016"/>
          </a:xfrm>
        </p:spPr>
        <p:txBody>
          <a:bodyPr lIns="0" tIns="0" rIns="0" bIns="0">
            <a:no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header</a:t>
            </a:r>
          </a:p>
        </p:txBody>
      </p:sp>
      <p:sp>
        <p:nvSpPr>
          <p:cNvPr id="25" name="Content Placeholder 2">
            <a:extLst>
              <a:ext uri="{FF2B5EF4-FFF2-40B4-BE49-F238E27FC236}">
                <a16:creationId xmlns:a16="http://schemas.microsoft.com/office/drawing/2014/main" id="{8FDD4A4D-E1FC-4E83-A8AA-A324B6B0E441}"/>
              </a:ext>
            </a:extLst>
          </p:cNvPr>
          <p:cNvSpPr>
            <a:spLocks noGrp="1"/>
          </p:cNvSpPr>
          <p:nvPr>
            <p:ph idx="18" hasCustomPrompt="1"/>
          </p:nvPr>
        </p:nvSpPr>
        <p:spPr>
          <a:xfrm>
            <a:off x="6483699" y="3726766"/>
            <a:ext cx="4755838" cy="644563"/>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text</a:t>
            </a:r>
          </a:p>
        </p:txBody>
      </p:sp>
      <p:sp>
        <p:nvSpPr>
          <p:cNvPr id="26" name="Content Placeholder 2">
            <a:extLst>
              <a:ext uri="{FF2B5EF4-FFF2-40B4-BE49-F238E27FC236}">
                <a16:creationId xmlns:a16="http://schemas.microsoft.com/office/drawing/2014/main" id="{DE8E7D5C-ACCB-47E6-A3F5-6F3F51A0F37F}"/>
              </a:ext>
            </a:extLst>
          </p:cNvPr>
          <p:cNvSpPr>
            <a:spLocks noGrp="1"/>
          </p:cNvSpPr>
          <p:nvPr>
            <p:ph idx="19" hasCustomPrompt="1"/>
          </p:nvPr>
        </p:nvSpPr>
        <p:spPr>
          <a:xfrm>
            <a:off x="6483700" y="4755746"/>
            <a:ext cx="4755838" cy="319591"/>
          </a:xfrm>
        </p:spPr>
        <p:txBody>
          <a:bodyPr lIns="0" tIns="0" rIns="0" bIns="0">
            <a:no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header</a:t>
            </a:r>
          </a:p>
        </p:txBody>
      </p:sp>
      <p:sp>
        <p:nvSpPr>
          <p:cNvPr id="27" name="Content Placeholder 2">
            <a:extLst>
              <a:ext uri="{FF2B5EF4-FFF2-40B4-BE49-F238E27FC236}">
                <a16:creationId xmlns:a16="http://schemas.microsoft.com/office/drawing/2014/main" id="{659D9DC4-BB53-4441-9B74-84922B369948}"/>
              </a:ext>
            </a:extLst>
          </p:cNvPr>
          <p:cNvSpPr>
            <a:spLocks noGrp="1"/>
          </p:cNvSpPr>
          <p:nvPr>
            <p:ph idx="20" hasCustomPrompt="1"/>
          </p:nvPr>
        </p:nvSpPr>
        <p:spPr>
          <a:xfrm>
            <a:off x="6483701" y="5188998"/>
            <a:ext cx="4755838" cy="754602"/>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text</a:t>
            </a:r>
          </a:p>
        </p:txBody>
      </p:sp>
      <p:sp>
        <p:nvSpPr>
          <p:cNvPr id="29" name="Rectangle 28">
            <a:extLst>
              <a:ext uri="{FF2B5EF4-FFF2-40B4-BE49-F238E27FC236}">
                <a16:creationId xmlns:a16="http://schemas.microsoft.com/office/drawing/2014/main" id="{A774845D-2BF0-2740-9880-8D2B0EBB22B7}"/>
              </a:ext>
            </a:extLst>
          </p:cNvPr>
          <p:cNvSpPr/>
          <p:nvPr userDrawn="1"/>
        </p:nvSpPr>
        <p:spPr>
          <a:xfrm>
            <a:off x="0" y="6389511"/>
            <a:ext cx="12192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39" name="Picture 38" descr="The University of Iowa">
            <a:extLst>
              <a:ext uri="{FF2B5EF4-FFF2-40B4-BE49-F238E27FC236}">
                <a16:creationId xmlns:a16="http://schemas.microsoft.com/office/drawing/2014/main" id="{0BB6734F-670C-234F-9B83-4953BF83CF18}"/>
              </a:ext>
            </a:extLst>
          </p:cNvPr>
          <p:cNvPicPr>
            <a:picLocks noChangeAspect="1"/>
          </p:cNvPicPr>
          <p:nvPr userDrawn="1"/>
        </p:nvPicPr>
        <p:blipFill>
          <a:blip r:embed="rId2"/>
          <a:stretch>
            <a:fillRect/>
          </a:stretch>
        </p:blipFill>
        <p:spPr>
          <a:xfrm>
            <a:off x="838200" y="6131555"/>
            <a:ext cx="1545021" cy="733885"/>
          </a:xfrm>
          <a:prstGeom prst="rect">
            <a:avLst/>
          </a:prstGeom>
        </p:spPr>
      </p:pic>
      <p:sp>
        <p:nvSpPr>
          <p:cNvPr id="34" name="Footer Placeholder 4">
            <a:extLst>
              <a:ext uri="{FF2B5EF4-FFF2-40B4-BE49-F238E27FC236}">
                <a16:creationId xmlns:a16="http://schemas.microsoft.com/office/drawing/2014/main" id="{7695749F-B8A1-694A-8E96-E3DE4B0E92E9}"/>
              </a:ext>
            </a:extLst>
          </p:cNvPr>
          <p:cNvSpPr>
            <a:spLocks noGrp="1"/>
          </p:cNvSpPr>
          <p:nvPr>
            <p:ph type="ftr" sz="quarter" idx="3"/>
          </p:nvPr>
        </p:nvSpPr>
        <p:spPr>
          <a:xfrm>
            <a:off x="2519853" y="6441192"/>
            <a:ext cx="8684173" cy="365125"/>
          </a:xfrm>
          <a:prstGeom prst="rect">
            <a:avLst/>
          </a:prstGeom>
        </p:spPr>
        <p:txBody>
          <a:bodyPr vert="horz" lIns="91440" tIns="45720" rIns="91440" bIns="45720" rtlCol="0" anchor="ctr"/>
          <a:lstStyle>
            <a:lvl1pPr algn="l">
              <a:defRPr sz="1400" b="0">
                <a:solidFill>
                  <a:schemeClr val="bg1"/>
                </a:solidFill>
              </a:defRPr>
            </a:lvl1pPr>
          </a:lstStyle>
          <a:p>
            <a:r>
              <a:rPr lang="en-US"/>
              <a:t>Final Project | Topics in Computer Science II | Fall 2025, University of Iowa</a:t>
            </a:r>
            <a:endParaRPr lang="en-US" b="0" dirty="0"/>
          </a:p>
        </p:txBody>
      </p:sp>
    </p:spTree>
    <p:extLst>
      <p:ext uri="{BB962C8B-B14F-4D97-AF65-F5344CB8AC3E}">
        <p14:creationId xmlns:p14="http://schemas.microsoft.com/office/powerpoint/2010/main" val="3435829950"/>
      </p:ext>
    </p:extLst>
  </p:cSld>
  <p:clrMapOvr>
    <a:masterClrMapping/>
  </p:clrMapOvr>
  <p:extLst>
    <p:ext uri="{DCECCB84-F9BA-43D5-87BE-67443E8EF086}">
      <p15:sldGuideLst xmlns:p15="http://schemas.microsoft.com/office/powerpoint/2012/main">
        <p15:guide id="2" pos="598">
          <p15:clr>
            <a:srgbClr val="FBAE40"/>
          </p15:clr>
        </p15:guide>
        <p15:guide id="3" pos="7080">
          <p15:clr>
            <a:srgbClr val="FBAE40"/>
          </p15:clr>
        </p15:guide>
        <p15:guide id="4" pos="3840">
          <p15:clr>
            <a:srgbClr val="FBAE40"/>
          </p15:clr>
        </p15:guide>
        <p15:guide id="5" orient="horz" pos="1054" userDrawn="1">
          <p15:clr>
            <a:srgbClr val="FBAE40"/>
          </p15:clr>
        </p15:guide>
        <p15:guide id="6" orient="horz" pos="3744">
          <p15:clr>
            <a:srgbClr val="FBAE40"/>
          </p15:clr>
        </p15:guide>
        <p15:guide id="7" orient="horz" pos="697" userDrawn="1">
          <p15:clr>
            <a:srgbClr val="FBAE40"/>
          </p15:clr>
        </p15:guide>
        <p15:guide id="8" orient="horz" pos="240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x2 Grid Layout">
    <p:spTree>
      <p:nvGrpSpPr>
        <p:cNvPr id="1" name=""/>
        <p:cNvGrpSpPr/>
        <p:nvPr/>
      </p:nvGrpSpPr>
      <p:grpSpPr>
        <a:xfrm>
          <a:off x="0" y="0"/>
          <a:ext cx="0" cy="0"/>
          <a:chOff x="0" y="0"/>
          <a:chExt cx="0" cy="0"/>
        </a:xfrm>
      </p:grpSpPr>
      <p:sp>
        <p:nvSpPr>
          <p:cNvPr id="38" name="Title 1">
            <a:extLst>
              <a:ext uri="{FF2B5EF4-FFF2-40B4-BE49-F238E27FC236}">
                <a16:creationId xmlns:a16="http://schemas.microsoft.com/office/drawing/2014/main" id="{31EE2C71-E6FD-4A5F-BC00-7290049C4471}"/>
              </a:ext>
            </a:extLst>
          </p:cNvPr>
          <p:cNvSpPr>
            <a:spLocks noGrp="1"/>
          </p:cNvSpPr>
          <p:nvPr>
            <p:ph type="title"/>
          </p:nvPr>
        </p:nvSpPr>
        <p:spPr>
          <a:xfrm>
            <a:off x="952499" y="526777"/>
            <a:ext cx="10287001" cy="869089"/>
          </a:xfrm>
        </p:spPr>
        <p:txBody>
          <a:bodyPr lIns="0" tIns="0" rIns="0" bIns="0"/>
          <a:lstStyle>
            <a:lvl1pPr>
              <a:defRPr>
                <a:latin typeface="Roboto" panose="02000000000000000000" pitchFamily="2" charset="0"/>
                <a:ea typeface="Roboto" panose="02000000000000000000" pitchFamily="2" charset="0"/>
              </a:defRPr>
            </a:lvl1pPr>
          </a:lstStyle>
          <a:p>
            <a:r>
              <a:rPr lang="en-US" dirty="0"/>
              <a:t>Click to edit Master title style</a:t>
            </a:r>
          </a:p>
        </p:txBody>
      </p:sp>
      <p:cxnSp>
        <p:nvCxnSpPr>
          <p:cNvPr id="7" name="Straight Connector 6">
            <a:extLst>
              <a:ext uri="{FF2B5EF4-FFF2-40B4-BE49-F238E27FC236}">
                <a16:creationId xmlns:a16="http://schemas.microsoft.com/office/drawing/2014/main" id="{E7D57D41-E534-4387-8837-F27E5C2408BD}"/>
              </a:ext>
            </a:extLst>
          </p:cNvPr>
          <p:cNvCxnSpPr>
            <a:cxnSpLocks/>
          </p:cNvCxnSpPr>
          <p:nvPr userDrawn="1"/>
        </p:nvCxnSpPr>
        <p:spPr>
          <a:xfrm>
            <a:off x="952498" y="1363362"/>
            <a:ext cx="768531"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94F85108-BDC9-43A2-BEF1-240E666F4E03}"/>
              </a:ext>
            </a:extLst>
          </p:cNvPr>
          <p:cNvSpPr>
            <a:spLocks noGrp="1"/>
          </p:cNvSpPr>
          <p:nvPr>
            <p:ph idx="1" hasCustomPrompt="1"/>
          </p:nvPr>
        </p:nvSpPr>
        <p:spPr>
          <a:xfrm>
            <a:off x="952500" y="1686758"/>
            <a:ext cx="4772003" cy="319591"/>
          </a:xfrm>
        </p:spPr>
        <p:txBody>
          <a:bodyPr lIns="0" tIns="0" rIns="0" bIns="0">
            <a:no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header</a:t>
            </a:r>
          </a:p>
        </p:txBody>
      </p:sp>
      <p:sp>
        <p:nvSpPr>
          <p:cNvPr id="14" name="Content Placeholder 2">
            <a:extLst>
              <a:ext uri="{FF2B5EF4-FFF2-40B4-BE49-F238E27FC236}">
                <a16:creationId xmlns:a16="http://schemas.microsoft.com/office/drawing/2014/main" id="{968A6427-DC92-4AE6-82DE-34A0B3A972EE}"/>
              </a:ext>
            </a:extLst>
          </p:cNvPr>
          <p:cNvSpPr>
            <a:spLocks noGrp="1"/>
          </p:cNvSpPr>
          <p:nvPr userDrawn="1">
            <p:ph idx="10" hasCustomPrompt="1"/>
          </p:nvPr>
        </p:nvSpPr>
        <p:spPr>
          <a:xfrm>
            <a:off x="952502" y="2120010"/>
            <a:ext cx="4772003" cy="417141"/>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text</a:t>
            </a:r>
          </a:p>
        </p:txBody>
      </p:sp>
      <p:cxnSp>
        <p:nvCxnSpPr>
          <p:cNvPr id="9" name="Straight Connector 8">
            <a:extLst>
              <a:ext uri="{FF2B5EF4-FFF2-40B4-BE49-F238E27FC236}">
                <a16:creationId xmlns:a16="http://schemas.microsoft.com/office/drawing/2014/main" id="{6FCD7C05-8E7C-4679-B83F-CDDB1BDA2031}"/>
              </a:ext>
            </a:extLst>
          </p:cNvPr>
          <p:cNvCxnSpPr/>
          <p:nvPr userDrawn="1"/>
        </p:nvCxnSpPr>
        <p:spPr>
          <a:xfrm>
            <a:off x="949325" y="2760956"/>
            <a:ext cx="10290176"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7" name="Content Placeholder 2">
            <a:extLst>
              <a:ext uri="{FF2B5EF4-FFF2-40B4-BE49-F238E27FC236}">
                <a16:creationId xmlns:a16="http://schemas.microsoft.com/office/drawing/2014/main" id="{5FC9698A-599E-4227-BA19-18EFBBF3E0DD}"/>
              </a:ext>
            </a:extLst>
          </p:cNvPr>
          <p:cNvSpPr>
            <a:spLocks noGrp="1"/>
          </p:cNvSpPr>
          <p:nvPr>
            <p:ph idx="11" hasCustomPrompt="1"/>
          </p:nvPr>
        </p:nvSpPr>
        <p:spPr>
          <a:xfrm>
            <a:off x="954094" y="2904080"/>
            <a:ext cx="4772003" cy="319591"/>
          </a:xfrm>
        </p:spPr>
        <p:txBody>
          <a:bodyPr lIns="0" tIns="0" rIns="0" bIns="0">
            <a:no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header</a:t>
            </a:r>
          </a:p>
        </p:txBody>
      </p:sp>
      <p:sp>
        <p:nvSpPr>
          <p:cNvPr id="18" name="Content Placeholder 2">
            <a:extLst>
              <a:ext uri="{FF2B5EF4-FFF2-40B4-BE49-F238E27FC236}">
                <a16:creationId xmlns:a16="http://schemas.microsoft.com/office/drawing/2014/main" id="{C4B470A9-B821-4D01-8FB4-31DF303421A9}"/>
              </a:ext>
            </a:extLst>
          </p:cNvPr>
          <p:cNvSpPr>
            <a:spLocks noGrp="1"/>
          </p:cNvSpPr>
          <p:nvPr>
            <p:ph idx="12" hasCustomPrompt="1"/>
          </p:nvPr>
        </p:nvSpPr>
        <p:spPr>
          <a:xfrm>
            <a:off x="954096" y="3337333"/>
            <a:ext cx="4772003" cy="304911"/>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text</a:t>
            </a:r>
          </a:p>
        </p:txBody>
      </p:sp>
      <p:cxnSp>
        <p:nvCxnSpPr>
          <p:cNvPr id="32" name="Straight Connector 31">
            <a:extLst>
              <a:ext uri="{FF2B5EF4-FFF2-40B4-BE49-F238E27FC236}">
                <a16:creationId xmlns:a16="http://schemas.microsoft.com/office/drawing/2014/main" id="{3C85CAC7-8545-4ED7-8312-FBC92F7F9DA5}"/>
              </a:ext>
            </a:extLst>
          </p:cNvPr>
          <p:cNvCxnSpPr/>
          <p:nvPr userDrawn="1"/>
        </p:nvCxnSpPr>
        <p:spPr>
          <a:xfrm>
            <a:off x="950912" y="3792244"/>
            <a:ext cx="10290176"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2" name="Content Placeholder 2">
            <a:extLst>
              <a:ext uri="{FF2B5EF4-FFF2-40B4-BE49-F238E27FC236}">
                <a16:creationId xmlns:a16="http://schemas.microsoft.com/office/drawing/2014/main" id="{0C507C81-6817-4069-BC84-0CE4705AE16C}"/>
              </a:ext>
            </a:extLst>
          </p:cNvPr>
          <p:cNvSpPr>
            <a:spLocks noGrp="1"/>
          </p:cNvSpPr>
          <p:nvPr>
            <p:ph idx="15" hasCustomPrompt="1"/>
          </p:nvPr>
        </p:nvSpPr>
        <p:spPr>
          <a:xfrm>
            <a:off x="954098" y="3970621"/>
            <a:ext cx="4772003" cy="319591"/>
          </a:xfrm>
        </p:spPr>
        <p:txBody>
          <a:bodyPr lIns="0" tIns="0" rIns="0" bIns="0">
            <a:no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header</a:t>
            </a:r>
          </a:p>
        </p:txBody>
      </p:sp>
      <p:sp>
        <p:nvSpPr>
          <p:cNvPr id="23" name="Content Placeholder 2">
            <a:extLst>
              <a:ext uri="{FF2B5EF4-FFF2-40B4-BE49-F238E27FC236}">
                <a16:creationId xmlns:a16="http://schemas.microsoft.com/office/drawing/2014/main" id="{94103820-8C7A-497C-BCBA-2CFEB4549C83}"/>
              </a:ext>
            </a:extLst>
          </p:cNvPr>
          <p:cNvSpPr>
            <a:spLocks noGrp="1"/>
          </p:cNvSpPr>
          <p:nvPr>
            <p:ph idx="16" hasCustomPrompt="1"/>
          </p:nvPr>
        </p:nvSpPr>
        <p:spPr>
          <a:xfrm>
            <a:off x="954100" y="4403874"/>
            <a:ext cx="4772003" cy="310972"/>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text</a:t>
            </a:r>
          </a:p>
        </p:txBody>
      </p:sp>
      <p:cxnSp>
        <p:nvCxnSpPr>
          <p:cNvPr id="16" name="Straight Connector 15">
            <a:extLst>
              <a:ext uri="{FF2B5EF4-FFF2-40B4-BE49-F238E27FC236}">
                <a16:creationId xmlns:a16="http://schemas.microsoft.com/office/drawing/2014/main" id="{1F1CE437-6AD8-4170-8DC8-66894266CE06}"/>
              </a:ext>
            </a:extLst>
          </p:cNvPr>
          <p:cNvCxnSpPr/>
          <p:nvPr userDrawn="1"/>
        </p:nvCxnSpPr>
        <p:spPr>
          <a:xfrm>
            <a:off x="952506" y="4885677"/>
            <a:ext cx="10290176"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9" name="Content Placeholder 2">
            <a:extLst>
              <a:ext uri="{FF2B5EF4-FFF2-40B4-BE49-F238E27FC236}">
                <a16:creationId xmlns:a16="http://schemas.microsoft.com/office/drawing/2014/main" id="{0C02F409-DCF5-4241-BB5E-6E37CC8D3518}"/>
              </a:ext>
            </a:extLst>
          </p:cNvPr>
          <p:cNvSpPr>
            <a:spLocks noGrp="1"/>
          </p:cNvSpPr>
          <p:nvPr>
            <p:ph idx="13" hasCustomPrompt="1"/>
          </p:nvPr>
        </p:nvSpPr>
        <p:spPr>
          <a:xfrm>
            <a:off x="954096" y="5089029"/>
            <a:ext cx="4772003" cy="319591"/>
          </a:xfrm>
        </p:spPr>
        <p:txBody>
          <a:bodyPr lIns="0" tIns="0" rIns="0" bIns="0">
            <a:no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header</a:t>
            </a:r>
          </a:p>
        </p:txBody>
      </p:sp>
      <p:sp>
        <p:nvSpPr>
          <p:cNvPr id="20" name="Content Placeholder 2">
            <a:extLst>
              <a:ext uri="{FF2B5EF4-FFF2-40B4-BE49-F238E27FC236}">
                <a16:creationId xmlns:a16="http://schemas.microsoft.com/office/drawing/2014/main" id="{2AC426E8-7005-475F-BC32-B5F0BA7A8A4C}"/>
              </a:ext>
            </a:extLst>
          </p:cNvPr>
          <p:cNvSpPr>
            <a:spLocks noGrp="1"/>
          </p:cNvSpPr>
          <p:nvPr>
            <p:ph idx="14" hasCustomPrompt="1"/>
          </p:nvPr>
        </p:nvSpPr>
        <p:spPr>
          <a:xfrm>
            <a:off x="954098" y="5522281"/>
            <a:ext cx="4772003" cy="417141"/>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text</a:t>
            </a:r>
          </a:p>
        </p:txBody>
      </p:sp>
      <p:cxnSp>
        <p:nvCxnSpPr>
          <p:cNvPr id="34" name="Straight Connector 33">
            <a:extLst>
              <a:ext uri="{FF2B5EF4-FFF2-40B4-BE49-F238E27FC236}">
                <a16:creationId xmlns:a16="http://schemas.microsoft.com/office/drawing/2014/main" id="{8222804C-AFDD-4E8C-BFDC-31326A2127FA}"/>
              </a:ext>
            </a:extLst>
          </p:cNvPr>
          <p:cNvCxnSpPr/>
          <p:nvPr userDrawn="1"/>
        </p:nvCxnSpPr>
        <p:spPr>
          <a:xfrm>
            <a:off x="6096000" y="1686758"/>
            <a:ext cx="0" cy="4293629"/>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4" name="Content Placeholder 2">
            <a:extLst>
              <a:ext uri="{FF2B5EF4-FFF2-40B4-BE49-F238E27FC236}">
                <a16:creationId xmlns:a16="http://schemas.microsoft.com/office/drawing/2014/main" id="{66342B0E-1F8B-4D4C-ABA7-E43BC2B3F4AE}"/>
              </a:ext>
            </a:extLst>
          </p:cNvPr>
          <p:cNvSpPr>
            <a:spLocks noGrp="1"/>
          </p:cNvSpPr>
          <p:nvPr>
            <p:ph idx="17" hasCustomPrompt="1"/>
          </p:nvPr>
        </p:nvSpPr>
        <p:spPr>
          <a:xfrm>
            <a:off x="6467495" y="1688232"/>
            <a:ext cx="4772003" cy="319591"/>
          </a:xfrm>
        </p:spPr>
        <p:txBody>
          <a:bodyPr lIns="0" tIns="0" rIns="0" bIns="0">
            <a:no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header</a:t>
            </a:r>
          </a:p>
        </p:txBody>
      </p:sp>
      <p:sp>
        <p:nvSpPr>
          <p:cNvPr id="25" name="Content Placeholder 2">
            <a:extLst>
              <a:ext uri="{FF2B5EF4-FFF2-40B4-BE49-F238E27FC236}">
                <a16:creationId xmlns:a16="http://schemas.microsoft.com/office/drawing/2014/main" id="{FCF3285B-83DB-4917-9F24-EC0C964DE403}"/>
              </a:ext>
            </a:extLst>
          </p:cNvPr>
          <p:cNvSpPr>
            <a:spLocks noGrp="1"/>
          </p:cNvSpPr>
          <p:nvPr>
            <p:ph idx="18" hasCustomPrompt="1"/>
          </p:nvPr>
        </p:nvSpPr>
        <p:spPr>
          <a:xfrm>
            <a:off x="6467497" y="2121484"/>
            <a:ext cx="4772003" cy="417141"/>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text</a:t>
            </a:r>
          </a:p>
        </p:txBody>
      </p:sp>
      <p:sp>
        <p:nvSpPr>
          <p:cNvPr id="26" name="Content Placeholder 2">
            <a:extLst>
              <a:ext uri="{FF2B5EF4-FFF2-40B4-BE49-F238E27FC236}">
                <a16:creationId xmlns:a16="http://schemas.microsoft.com/office/drawing/2014/main" id="{8C88D8B1-0044-4EC5-B4CD-DB1095F378A4}"/>
              </a:ext>
            </a:extLst>
          </p:cNvPr>
          <p:cNvSpPr>
            <a:spLocks noGrp="1"/>
          </p:cNvSpPr>
          <p:nvPr>
            <p:ph idx="19" hasCustomPrompt="1"/>
          </p:nvPr>
        </p:nvSpPr>
        <p:spPr>
          <a:xfrm>
            <a:off x="6469089" y="2905554"/>
            <a:ext cx="4772003" cy="319591"/>
          </a:xfrm>
        </p:spPr>
        <p:txBody>
          <a:bodyPr lIns="0" tIns="0" rIns="0" bIns="0">
            <a:no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header</a:t>
            </a:r>
          </a:p>
        </p:txBody>
      </p:sp>
      <p:sp>
        <p:nvSpPr>
          <p:cNvPr id="27" name="Content Placeholder 2">
            <a:extLst>
              <a:ext uri="{FF2B5EF4-FFF2-40B4-BE49-F238E27FC236}">
                <a16:creationId xmlns:a16="http://schemas.microsoft.com/office/drawing/2014/main" id="{9F6100E2-DAE8-4111-AF37-8909AA389FC1}"/>
              </a:ext>
            </a:extLst>
          </p:cNvPr>
          <p:cNvSpPr>
            <a:spLocks noGrp="1"/>
          </p:cNvSpPr>
          <p:nvPr>
            <p:ph idx="20" hasCustomPrompt="1"/>
          </p:nvPr>
        </p:nvSpPr>
        <p:spPr>
          <a:xfrm>
            <a:off x="6469091" y="3338807"/>
            <a:ext cx="4772003" cy="304911"/>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text</a:t>
            </a:r>
          </a:p>
        </p:txBody>
      </p:sp>
      <p:sp>
        <p:nvSpPr>
          <p:cNvPr id="30" name="Content Placeholder 2">
            <a:extLst>
              <a:ext uri="{FF2B5EF4-FFF2-40B4-BE49-F238E27FC236}">
                <a16:creationId xmlns:a16="http://schemas.microsoft.com/office/drawing/2014/main" id="{C0B1E9EC-56B4-4514-B189-24BD47F549F3}"/>
              </a:ext>
            </a:extLst>
          </p:cNvPr>
          <p:cNvSpPr>
            <a:spLocks noGrp="1"/>
          </p:cNvSpPr>
          <p:nvPr>
            <p:ph idx="23" hasCustomPrompt="1"/>
          </p:nvPr>
        </p:nvSpPr>
        <p:spPr>
          <a:xfrm>
            <a:off x="6469093" y="3972095"/>
            <a:ext cx="4772003" cy="319591"/>
          </a:xfrm>
        </p:spPr>
        <p:txBody>
          <a:bodyPr lIns="0" tIns="0" rIns="0" bIns="0">
            <a:no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header</a:t>
            </a:r>
          </a:p>
        </p:txBody>
      </p:sp>
      <p:sp>
        <p:nvSpPr>
          <p:cNvPr id="31" name="Content Placeholder 2">
            <a:extLst>
              <a:ext uri="{FF2B5EF4-FFF2-40B4-BE49-F238E27FC236}">
                <a16:creationId xmlns:a16="http://schemas.microsoft.com/office/drawing/2014/main" id="{F685484E-408B-4771-9259-BAAC2A6E6017}"/>
              </a:ext>
            </a:extLst>
          </p:cNvPr>
          <p:cNvSpPr>
            <a:spLocks noGrp="1"/>
          </p:cNvSpPr>
          <p:nvPr>
            <p:ph idx="24" hasCustomPrompt="1"/>
          </p:nvPr>
        </p:nvSpPr>
        <p:spPr>
          <a:xfrm>
            <a:off x="6469095" y="4405348"/>
            <a:ext cx="4772003" cy="310972"/>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text</a:t>
            </a:r>
          </a:p>
        </p:txBody>
      </p:sp>
      <p:sp>
        <p:nvSpPr>
          <p:cNvPr id="28" name="Content Placeholder 2">
            <a:extLst>
              <a:ext uri="{FF2B5EF4-FFF2-40B4-BE49-F238E27FC236}">
                <a16:creationId xmlns:a16="http://schemas.microsoft.com/office/drawing/2014/main" id="{0EE05AF1-1486-45F2-B87D-2AE555B8D1CB}"/>
              </a:ext>
            </a:extLst>
          </p:cNvPr>
          <p:cNvSpPr>
            <a:spLocks noGrp="1"/>
          </p:cNvSpPr>
          <p:nvPr>
            <p:ph idx="21" hasCustomPrompt="1"/>
          </p:nvPr>
        </p:nvSpPr>
        <p:spPr>
          <a:xfrm>
            <a:off x="6469091" y="5090503"/>
            <a:ext cx="4772003" cy="319591"/>
          </a:xfrm>
        </p:spPr>
        <p:txBody>
          <a:bodyPr lIns="0" tIns="0" rIns="0" bIns="0">
            <a:no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header</a:t>
            </a:r>
          </a:p>
        </p:txBody>
      </p:sp>
      <p:sp>
        <p:nvSpPr>
          <p:cNvPr id="29" name="Content Placeholder 2">
            <a:extLst>
              <a:ext uri="{FF2B5EF4-FFF2-40B4-BE49-F238E27FC236}">
                <a16:creationId xmlns:a16="http://schemas.microsoft.com/office/drawing/2014/main" id="{52C4B0E5-3C7E-4BC2-AA92-4156C26C91FF}"/>
              </a:ext>
            </a:extLst>
          </p:cNvPr>
          <p:cNvSpPr>
            <a:spLocks noGrp="1"/>
          </p:cNvSpPr>
          <p:nvPr>
            <p:ph idx="22" hasCustomPrompt="1"/>
          </p:nvPr>
        </p:nvSpPr>
        <p:spPr>
          <a:xfrm>
            <a:off x="6469093" y="5523755"/>
            <a:ext cx="4772003" cy="417141"/>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text</a:t>
            </a:r>
          </a:p>
        </p:txBody>
      </p:sp>
      <p:sp>
        <p:nvSpPr>
          <p:cNvPr id="33" name="Rectangle 32">
            <a:extLst>
              <a:ext uri="{FF2B5EF4-FFF2-40B4-BE49-F238E27FC236}">
                <a16:creationId xmlns:a16="http://schemas.microsoft.com/office/drawing/2014/main" id="{A5480C56-313A-5C4D-A02B-5C10621A5061}"/>
              </a:ext>
            </a:extLst>
          </p:cNvPr>
          <p:cNvSpPr/>
          <p:nvPr userDrawn="1"/>
        </p:nvSpPr>
        <p:spPr>
          <a:xfrm>
            <a:off x="0" y="6389511"/>
            <a:ext cx="12192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39" name="Picture 38" descr="The University of Iowa">
            <a:extLst>
              <a:ext uri="{FF2B5EF4-FFF2-40B4-BE49-F238E27FC236}">
                <a16:creationId xmlns:a16="http://schemas.microsoft.com/office/drawing/2014/main" id="{58CA1799-4AEA-D247-8458-F8440E403067}"/>
              </a:ext>
            </a:extLst>
          </p:cNvPr>
          <p:cNvPicPr>
            <a:picLocks noChangeAspect="1"/>
          </p:cNvPicPr>
          <p:nvPr userDrawn="1"/>
        </p:nvPicPr>
        <p:blipFill>
          <a:blip r:embed="rId2"/>
          <a:stretch>
            <a:fillRect/>
          </a:stretch>
        </p:blipFill>
        <p:spPr>
          <a:xfrm>
            <a:off x="838200" y="6131555"/>
            <a:ext cx="1545021" cy="733885"/>
          </a:xfrm>
          <a:prstGeom prst="rect">
            <a:avLst/>
          </a:prstGeom>
        </p:spPr>
      </p:pic>
      <p:sp>
        <p:nvSpPr>
          <p:cNvPr id="37" name="Footer Placeholder 4">
            <a:extLst>
              <a:ext uri="{FF2B5EF4-FFF2-40B4-BE49-F238E27FC236}">
                <a16:creationId xmlns:a16="http://schemas.microsoft.com/office/drawing/2014/main" id="{FFD2AE71-6126-9A49-BF5D-602677416553}"/>
              </a:ext>
            </a:extLst>
          </p:cNvPr>
          <p:cNvSpPr>
            <a:spLocks noGrp="1"/>
          </p:cNvSpPr>
          <p:nvPr>
            <p:ph type="ftr" sz="quarter" idx="3"/>
          </p:nvPr>
        </p:nvSpPr>
        <p:spPr>
          <a:xfrm>
            <a:off x="2519853" y="6441192"/>
            <a:ext cx="8684173" cy="365125"/>
          </a:xfrm>
          <a:prstGeom prst="rect">
            <a:avLst/>
          </a:prstGeom>
        </p:spPr>
        <p:txBody>
          <a:bodyPr vert="horz" lIns="91440" tIns="45720" rIns="91440" bIns="45720" rtlCol="0" anchor="ctr"/>
          <a:lstStyle>
            <a:lvl1pPr algn="l">
              <a:defRPr sz="1400" b="0">
                <a:solidFill>
                  <a:schemeClr val="bg1"/>
                </a:solidFill>
              </a:defRPr>
            </a:lvl1pPr>
          </a:lstStyle>
          <a:p>
            <a:r>
              <a:rPr lang="en-US"/>
              <a:t>Final Project | Topics in Computer Science II | Fall 2025, University of Iowa</a:t>
            </a:r>
            <a:endParaRPr lang="en-US" b="0" dirty="0"/>
          </a:p>
        </p:txBody>
      </p:sp>
    </p:spTree>
    <p:extLst>
      <p:ext uri="{BB962C8B-B14F-4D97-AF65-F5344CB8AC3E}">
        <p14:creationId xmlns:p14="http://schemas.microsoft.com/office/powerpoint/2010/main" val="868536204"/>
      </p:ext>
    </p:extLst>
  </p:cSld>
  <p:clrMapOvr>
    <a:masterClrMapping/>
  </p:clrMapOvr>
  <p:extLst>
    <p:ext uri="{DCECCB84-F9BA-43D5-87BE-67443E8EF086}">
      <p15:sldGuideLst xmlns:p15="http://schemas.microsoft.com/office/powerpoint/2012/main">
        <p15:guide id="2" pos="598">
          <p15:clr>
            <a:srgbClr val="FBAE40"/>
          </p15:clr>
        </p15:guide>
        <p15:guide id="3" pos="7080">
          <p15:clr>
            <a:srgbClr val="FBAE40"/>
          </p15:clr>
        </p15:guide>
        <p15:guide id="4" pos="3840">
          <p15:clr>
            <a:srgbClr val="FBAE40"/>
          </p15:clr>
        </p15:guide>
        <p15:guide id="5" orient="horz" pos="1054" userDrawn="1">
          <p15:clr>
            <a:srgbClr val="FBAE40"/>
          </p15:clr>
        </p15:guide>
        <p15:guide id="6" orient="horz" pos="3744">
          <p15:clr>
            <a:srgbClr val="FBAE40"/>
          </p15:clr>
        </p15:guide>
        <p15:guide id="7" orient="horz" pos="697" userDrawn="1">
          <p15:clr>
            <a:srgbClr val="FBAE40"/>
          </p15:clr>
        </p15:guide>
        <p15:guide id="8" orient="horz" pos="240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x2 Grid Layout">
    <p:spTree>
      <p:nvGrpSpPr>
        <p:cNvPr id="1" name=""/>
        <p:cNvGrpSpPr/>
        <p:nvPr/>
      </p:nvGrpSpPr>
      <p:grpSpPr>
        <a:xfrm>
          <a:off x="0" y="0"/>
          <a:ext cx="0" cy="0"/>
          <a:chOff x="0" y="0"/>
          <a:chExt cx="0" cy="0"/>
        </a:xfrm>
      </p:grpSpPr>
      <p:sp>
        <p:nvSpPr>
          <p:cNvPr id="29" name="Title 1">
            <a:extLst>
              <a:ext uri="{FF2B5EF4-FFF2-40B4-BE49-F238E27FC236}">
                <a16:creationId xmlns:a16="http://schemas.microsoft.com/office/drawing/2014/main" id="{F947D672-DDE7-4F36-B79C-4245C5D115ED}"/>
              </a:ext>
            </a:extLst>
          </p:cNvPr>
          <p:cNvSpPr>
            <a:spLocks noGrp="1"/>
          </p:cNvSpPr>
          <p:nvPr>
            <p:ph type="title"/>
          </p:nvPr>
        </p:nvSpPr>
        <p:spPr>
          <a:xfrm>
            <a:off x="952499" y="526777"/>
            <a:ext cx="10287001" cy="869089"/>
          </a:xfrm>
        </p:spPr>
        <p:txBody>
          <a:bodyPr lIns="0" tIns="0" rIns="0" bIns="0"/>
          <a:lstStyle>
            <a:lvl1pPr>
              <a:defRPr>
                <a:latin typeface="Roboto" panose="02000000000000000000" pitchFamily="2" charset="0"/>
                <a:ea typeface="Roboto" panose="02000000000000000000" pitchFamily="2" charset="0"/>
              </a:defRPr>
            </a:lvl1pPr>
          </a:lstStyle>
          <a:p>
            <a:r>
              <a:rPr lang="en-US" dirty="0"/>
              <a:t>Click to edit Master title style</a:t>
            </a:r>
          </a:p>
        </p:txBody>
      </p:sp>
      <p:cxnSp>
        <p:nvCxnSpPr>
          <p:cNvPr id="7" name="Straight Connector 6">
            <a:extLst>
              <a:ext uri="{FF2B5EF4-FFF2-40B4-BE49-F238E27FC236}">
                <a16:creationId xmlns:a16="http://schemas.microsoft.com/office/drawing/2014/main" id="{E7D57D41-E534-4387-8837-F27E5C2408BD}"/>
              </a:ext>
            </a:extLst>
          </p:cNvPr>
          <p:cNvCxnSpPr>
            <a:cxnSpLocks/>
          </p:cNvCxnSpPr>
          <p:nvPr userDrawn="1"/>
        </p:nvCxnSpPr>
        <p:spPr>
          <a:xfrm>
            <a:off x="952498" y="1363362"/>
            <a:ext cx="768531"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94F85108-BDC9-43A2-BEF1-240E666F4E03}"/>
              </a:ext>
            </a:extLst>
          </p:cNvPr>
          <p:cNvSpPr>
            <a:spLocks noGrp="1"/>
          </p:cNvSpPr>
          <p:nvPr>
            <p:ph idx="1" hasCustomPrompt="1"/>
          </p:nvPr>
        </p:nvSpPr>
        <p:spPr>
          <a:xfrm>
            <a:off x="952500" y="1686758"/>
            <a:ext cx="4800224" cy="374036"/>
          </a:xfrm>
        </p:spPr>
        <p:txBody>
          <a:bodyPr lIns="0" tIns="0" rIns="0" bIns="0">
            <a:norm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14" name="Content Placeholder 2">
            <a:extLst>
              <a:ext uri="{FF2B5EF4-FFF2-40B4-BE49-F238E27FC236}">
                <a16:creationId xmlns:a16="http://schemas.microsoft.com/office/drawing/2014/main" id="{968A6427-DC92-4AE6-82DE-34A0B3A972EE}"/>
              </a:ext>
            </a:extLst>
          </p:cNvPr>
          <p:cNvSpPr>
            <a:spLocks noGrp="1"/>
          </p:cNvSpPr>
          <p:nvPr>
            <p:ph idx="10" hasCustomPrompt="1"/>
          </p:nvPr>
        </p:nvSpPr>
        <p:spPr>
          <a:xfrm>
            <a:off x="952501" y="2238480"/>
            <a:ext cx="4800219" cy="1200572"/>
          </a:xfrm>
        </p:spPr>
        <p:txBody>
          <a:bodyPr lIns="0" tIns="0" rIns="0" bIns="0">
            <a:normAutofit/>
          </a:bodyPr>
          <a:lstStyle>
            <a:lvl1pPr marL="0" indent="0">
              <a:buSzPct val="95000"/>
              <a:buFont typeface="Arial" panose="020B0604020202020204" pitchFamily="34" charset="0"/>
              <a:buNone/>
              <a:defRPr sz="18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cxnSp>
        <p:nvCxnSpPr>
          <p:cNvPr id="8" name="Straight Connector 7">
            <a:extLst>
              <a:ext uri="{FF2B5EF4-FFF2-40B4-BE49-F238E27FC236}">
                <a16:creationId xmlns:a16="http://schemas.microsoft.com/office/drawing/2014/main" id="{69FB9F7B-CC85-4936-BE2A-DF6B8BF46018}"/>
              </a:ext>
            </a:extLst>
          </p:cNvPr>
          <p:cNvCxnSpPr/>
          <p:nvPr userDrawn="1"/>
        </p:nvCxnSpPr>
        <p:spPr>
          <a:xfrm>
            <a:off x="949325" y="3790765"/>
            <a:ext cx="10290176"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3" name="Content Placeholder 2">
            <a:extLst>
              <a:ext uri="{FF2B5EF4-FFF2-40B4-BE49-F238E27FC236}">
                <a16:creationId xmlns:a16="http://schemas.microsoft.com/office/drawing/2014/main" id="{FDFA8ABE-0B6C-4930-94A9-A2BB4166E51F}"/>
              </a:ext>
            </a:extLst>
          </p:cNvPr>
          <p:cNvSpPr>
            <a:spLocks noGrp="1"/>
          </p:cNvSpPr>
          <p:nvPr>
            <p:ph idx="17" hasCustomPrompt="1"/>
          </p:nvPr>
        </p:nvSpPr>
        <p:spPr>
          <a:xfrm>
            <a:off x="958052" y="4209907"/>
            <a:ext cx="4800224" cy="374036"/>
          </a:xfrm>
        </p:spPr>
        <p:txBody>
          <a:bodyPr lIns="0" tIns="0" rIns="0" bIns="0">
            <a:norm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24" name="Content Placeholder 2">
            <a:extLst>
              <a:ext uri="{FF2B5EF4-FFF2-40B4-BE49-F238E27FC236}">
                <a16:creationId xmlns:a16="http://schemas.microsoft.com/office/drawing/2014/main" id="{47E91DB8-4856-4AED-8362-60627F681EE8}"/>
              </a:ext>
            </a:extLst>
          </p:cNvPr>
          <p:cNvSpPr>
            <a:spLocks noGrp="1"/>
          </p:cNvSpPr>
          <p:nvPr>
            <p:ph idx="18" hasCustomPrompt="1"/>
          </p:nvPr>
        </p:nvSpPr>
        <p:spPr>
          <a:xfrm>
            <a:off x="958053" y="4761629"/>
            <a:ext cx="4800219" cy="1181971"/>
          </a:xfrm>
        </p:spPr>
        <p:txBody>
          <a:bodyPr lIns="0" tIns="0" rIns="0" bIns="0">
            <a:normAutofit/>
          </a:bodyPr>
          <a:lstStyle>
            <a:lvl1pPr marL="0" indent="0">
              <a:buSzPct val="95000"/>
              <a:buFont typeface="Arial" panose="020B0604020202020204" pitchFamily="34" charset="0"/>
              <a:buNone/>
              <a:defRPr sz="18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cxnSp>
        <p:nvCxnSpPr>
          <p:cNvPr id="22" name="Straight Connector 21">
            <a:extLst>
              <a:ext uri="{FF2B5EF4-FFF2-40B4-BE49-F238E27FC236}">
                <a16:creationId xmlns:a16="http://schemas.microsoft.com/office/drawing/2014/main" id="{CEF932C4-F1C3-47F2-84B8-FEC885C1843C}"/>
              </a:ext>
            </a:extLst>
          </p:cNvPr>
          <p:cNvCxnSpPr>
            <a:cxnSpLocks/>
          </p:cNvCxnSpPr>
          <p:nvPr userDrawn="1"/>
        </p:nvCxnSpPr>
        <p:spPr>
          <a:xfrm>
            <a:off x="6096000" y="1679384"/>
            <a:ext cx="0" cy="4272765"/>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9" name="Content Placeholder 2">
            <a:extLst>
              <a:ext uri="{FF2B5EF4-FFF2-40B4-BE49-F238E27FC236}">
                <a16:creationId xmlns:a16="http://schemas.microsoft.com/office/drawing/2014/main" id="{A07502CC-5B90-4BCF-B63B-36D026C9AE96}"/>
              </a:ext>
            </a:extLst>
          </p:cNvPr>
          <p:cNvSpPr>
            <a:spLocks noGrp="1"/>
          </p:cNvSpPr>
          <p:nvPr>
            <p:ph idx="15" hasCustomPrompt="1"/>
          </p:nvPr>
        </p:nvSpPr>
        <p:spPr>
          <a:xfrm>
            <a:off x="6433724" y="1676706"/>
            <a:ext cx="4800224" cy="374036"/>
          </a:xfrm>
        </p:spPr>
        <p:txBody>
          <a:bodyPr lIns="0" tIns="0" rIns="0" bIns="0">
            <a:norm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20" name="Content Placeholder 2">
            <a:extLst>
              <a:ext uri="{FF2B5EF4-FFF2-40B4-BE49-F238E27FC236}">
                <a16:creationId xmlns:a16="http://schemas.microsoft.com/office/drawing/2014/main" id="{F169EF16-BA54-4279-A087-A65E4F26675F}"/>
              </a:ext>
            </a:extLst>
          </p:cNvPr>
          <p:cNvSpPr>
            <a:spLocks noGrp="1"/>
          </p:cNvSpPr>
          <p:nvPr>
            <p:ph idx="16" hasCustomPrompt="1"/>
          </p:nvPr>
        </p:nvSpPr>
        <p:spPr>
          <a:xfrm>
            <a:off x="6433725" y="2228428"/>
            <a:ext cx="4800224" cy="1200572"/>
          </a:xfrm>
        </p:spPr>
        <p:txBody>
          <a:bodyPr lIns="0" tIns="0" rIns="0" bIns="0">
            <a:normAutofit/>
          </a:bodyPr>
          <a:lstStyle>
            <a:lvl1pPr marL="0" indent="0">
              <a:buSzPct val="95000"/>
              <a:buFont typeface="Arial" panose="020B0604020202020204" pitchFamily="34" charset="0"/>
              <a:buNone/>
              <a:defRPr sz="18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sp>
        <p:nvSpPr>
          <p:cNvPr id="25" name="Content Placeholder 2">
            <a:extLst>
              <a:ext uri="{FF2B5EF4-FFF2-40B4-BE49-F238E27FC236}">
                <a16:creationId xmlns:a16="http://schemas.microsoft.com/office/drawing/2014/main" id="{76BD4A33-C7CC-4380-A2BB-ECC6C2FB7225}"/>
              </a:ext>
            </a:extLst>
          </p:cNvPr>
          <p:cNvSpPr>
            <a:spLocks noGrp="1"/>
          </p:cNvSpPr>
          <p:nvPr>
            <p:ph idx="19" hasCustomPrompt="1"/>
          </p:nvPr>
        </p:nvSpPr>
        <p:spPr>
          <a:xfrm>
            <a:off x="6439276" y="4199855"/>
            <a:ext cx="4800224" cy="374036"/>
          </a:xfrm>
        </p:spPr>
        <p:txBody>
          <a:bodyPr lIns="0" tIns="0" rIns="0" bIns="0">
            <a:norm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26" name="Content Placeholder 2">
            <a:extLst>
              <a:ext uri="{FF2B5EF4-FFF2-40B4-BE49-F238E27FC236}">
                <a16:creationId xmlns:a16="http://schemas.microsoft.com/office/drawing/2014/main" id="{4CD0BB64-6643-42CE-AFE7-372305F21233}"/>
              </a:ext>
            </a:extLst>
          </p:cNvPr>
          <p:cNvSpPr>
            <a:spLocks noGrp="1"/>
          </p:cNvSpPr>
          <p:nvPr>
            <p:ph idx="20" hasCustomPrompt="1"/>
          </p:nvPr>
        </p:nvSpPr>
        <p:spPr>
          <a:xfrm>
            <a:off x="6439277" y="4751577"/>
            <a:ext cx="4800224" cy="1200572"/>
          </a:xfrm>
        </p:spPr>
        <p:txBody>
          <a:bodyPr lIns="0" tIns="0" rIns="0" bIns="0">
            <a:normAutofit/>
          </a:bodyPr>
          <a:lstStyle>
            <a:lvl1pPr marL="0" indent="0">
              <a:buSzPct val="95000"/>
              <a:buFont typeface="Arial" panose="020B0604020202020204" pitchFamily="34" charset="0"/>
              <a:buNone/>
              <a:defRPr sz="18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sp>
        <p:nvSpPr>
          <p:cNvPr id="21" name="Rectangle 20">
            <a:extLst>
              <a:ext uri="{FF2B5EF4-FFF2-40B4-BE49-F238E27FC236}">
                <a16:creationId xmlns:a16="http://schemas.microsoft.com/office/drawing/2014/main" id="{D8D606F0-071A-A842-B316-9BEBD143AC36}"/>
              </a:ext>
            </a:extLst>
          </p:cNvPr>
          <p:cNvSpPr/>
          <p:nvPr userDrawn="1"/>
        </p:nvSpPr>
        <p:spPr>
          <a:xfrm>
            <a:off x="0" y="6389511"/>
            <a:ext cx="12192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28" name="Picture 27" descr="The University of Iowa">
            <a:extLst>
              <a:ext uri="{FF2B5EF4-FFF2-40B4-BE49-F238E27FC236}">
                <a16:creationId xmlns:a16="http://schemas.microsoft.com/office/drawing/2014/main" id="{9AAD4B2F-0082-B749-BE09-2EC20A6C430D}"/>
              </a:ext>
            </a:extLst>
          </p:cNvPr>
          <p:cNvPicPr>
            <a:picLocks noChangeAspect="1"/>
          </p:cNvPicPr>
          <p:nvPr userDrawn="1"/>
        </p:nvPicPr>
        <p:blipFill>
          <a:blip r:embed="rId2"/>
          <a:stretch>
            <a:fillRect/>
          </a:stretch>
        </p:blipFill>
        <p:spPr>
          <a:xfrm>
            <a:off x="838200" y="6131555"/>
            <a:ext cx="1545021" cy="733885"/>
          </a:xfrm>
          <a:prstGeom prst="rect">
            <a:avLst/>
          </a:prstGeom>
        </p:spPr>
      </p:pic>
      <p:sp>
        <p:nvSpPr>
          <p:cNvPr id="27" name="Footer Placeholder 4">
            <a:extLst>
              <a:ext uri="{FF2B5EF4-FFF2-40B4-BE49-F238E27FC236}">
                <a16:creationId xmlns:a16="http://schemas.microsoft.com/office/drawing/2014/main" id="{BD920E71-4E45-E74F-B01A-DC16C3B807E1}"/>
              </a:ext>
            </a:extLst>
          </p:cNvPr>
          <p:cNvSpPr>
            <a:spLocks noGrp="1"/>
          </p:cNvSpPr>
          <p:nvPr>
            <p:ph type="ftr" sz="quarter" idx="3"/>
          </p:nvPr>
        </p:nvSpPr>
        <p:spPr>
          <a:xfrm>
            <a:off x="2519853" y="6441192"/>
            <a:ext cx="8684173" cy="365125"/>
          </a:xfrm>
          <a:prstGeom prst="rect">
            <a:avLst/>
          </a:prstGeom>
        </p:spPr>
        <p:txBody>
          <a:bodyPr vert="horz" lIns="91440" tIns="45720" rIns="91440" bIns="45720" rtlCol="0" anchor="ctr"/>
          <a:lstStyle>
            <a:lvl1pPr algn="l">
              <a:defRPr sz="1400" b="0">
                <a:solidFill>
                  <a:schemeClr val="bg1"/>
                </a:solidFill>
              </a:defRPr>
            </a:lvl1pPr>
          </a:lstStyle>
          <a:p>
            <a:r>
              <a:rPr lang="en-US"/>
              <a:t>Final Project | Topics in Computer Science II | Fall 2025, University of Iowa</a:t>
            </a:r>
            <a:endParaRPr lang="en-US" b="0" dirty="0"/>
          </a:p>
        </p:txBody>
      </p:sp>
    </p:spTree>
    <p:extLst>
      <p:ext uri="{BB962C8B-B14F-4D97-AF65-F5344CB8AC3E}">
        <p14:creationId xmlns:p14="http://schemas.microsoft.com/office/powerpoint/2010/main" val="748418329"/>
      </p:ext>
    </p:extLst>
  </p:cSld>
  <p:clrMapOvr>
    <a:masterClrMapping/>
  </p:clrMapOvr>
  <p:extLst>
    <p:ext uri="{DCECCB84-F9BA-43D5-87BE-67443E8EF086}">
      <p15:sldGuideLst xmlns:p15="http://schemas.microsoft.com/office/powerpoint/2012/main">
        <p15:guide id="2" pos="598">
          <p15:clr>
            <a:srgbClr val="FBAE40"/>
          </p15:clr>
        </p15:guide>
        <p15:guide id="3" pos="7080">
          <p15:clr>
            <a:srgbClr val="FBAE40"/>
          </p15:clr>
        </p15:guide>
        <p15:guide id="4" pos="3840">
          <p15:clr>
            <a:srgbClr val="FBAE40"/>
          </p15:clr>
        </p15:guide>
        <p15:guide id="5" orient="horz" pos="1054" userDrawn="1">
          <p15:clr>
            <a:srgbClr val="FBAE40"/>
          </p15:clr>
        </p15:guide>
        <p15:guide id="6" orient="horz" pos="2400" userDrawn="1">
          <p15:clr>
            <a:srgbClr val="FBAE40"/>
          </p15:clr>
        </p15:guide>
        <p15:guide id="7" orient="horz" pos="697"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ree Column Stat Layout ">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7C3D46F0-0006-469D-9C96-A2B5BF708743}"/>
              </a:ext>
            </a:extLst>
          </p:cNvPr>
          <p:cNvSpPr>
            <a:spLocks noGrp="1"/>
          </p:cNvSpPr>
          <p:nvPr>
            <p:ph type="title"/>
          </p:nvPr>
        </p:nvSpPr>
        <p:spPr>
          <a:xfrm>
            <a:off x="952499" y="526777"/>
            <a:ext cx="10287001" cy="869089"/>
          </a:xfrm>
        </p:spPr>
        <p:txBody>
          <a:bodyPr lIns="0" tIns="0" rIns="0" bIns="0"/>
          <a:lstStyle>
            <a:lvl1pPr>
              <a:defRPr>
                <a:latin typeface="Roboto" panose="02000000000000000000" pitchFamily="2" charset="0"/>
                <a:ea typeface="Roboto" panose="02000000000000000000" pitchFamily="2" charset="0"/>
              </a:defRPr>
            </a:lvl1pPr>
          </a:lstStyle>
          <a:p>
            <a:r>
              <a:rPr lang="en-US" dirty="0"/>
              <a:t>Click to edit Master title style</a:t>
            </a:r>
          </a:p>
        </p:txBody>
      </p:sp>
      <p:cxnSp>
        <p:nvCxnSpPr>
          <p:cNvPr id="7" name="Straight Connector 6">
            <a:extLst>
              <a:ext uri="{FF2B5EF4-FFF2-40B4-BE49-F238E27FC236}">
                <a16:creationId xmlns:a16="http://schemas.microsoft.com/office/drawing/2014/main" id="{E7D57D41-E534-4387-8837-F27E5C2408BD}"/>
              </a:ext>
            </a:extLst>
          </p:cNvPr>
          <p:cNvCxnSpPr>
            <a:cxnSpLocks/>
          </p:cNvCxnSpPr>
          <p:nvPr userDrawn="1"/>
        </p:nvCxnSpPr>
        <p:spPr>
          <a:xfrm>
            <a:off x="952498" y="1363362"/>
            <a:ext cx="768531"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94F85108-BDC9-43A2-BEF1-240E666F4E03}"/>
              </a:ext>
            </a:extLst>
          </p:cNvPr>
          <p:cNvSpPr>
            <a:spLocks noGrp="1"/>
          </p:cNvSpPr>
          <p:nvPr>
            <p:ph idx="1" hasCustomPrompt="1"/>
          </p:nvPr>
        </p:nvSpPr>
        <p:spPr>
          <a:xfrm>
            <a:off x="939080" y="2597398"/>
            <a:ext cx="1742242" cy="787298"/>
          </a:xfrm>
        </p:spPr>
        <p:txBody>
          <a:bodyPr lIns="0" tIns="0" rIns="0" bIns="0">
            <a:noAutofit/>
          </a:bodyPr>
          <a:lstStyle>
            <a:lvl1pPr marL="0" indent="0" algn="l">
              <a:buSzPct val="95000"/>
              <a:buFont typeface="Arial" panose="020B0604020202020204" pitchFamily="34" charset="0"/>
              <a:buNone/>
              <a:defRPr sz="55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Stat</a:t>
            </a:r>
          </a:p>
        </p:txBody>
      </p:sp>
      <p:sp>
        <p:nvSpPr>
          <p:cNvPr id="52" name="Picture Placeholder 50">
            <a:extLst>
              <a:ext uri="{FF2B5EF4-FFF2-40B4-BE49-F238E27FC236}">
                <a16:creationId xmlns:a16="http://schemas.microsoft.com/office/drawing/2014/main" id="{8D984633-F962-1848-A009-619CB8211633}"/>
              </a:ext>
            </a:extLst>
          </p:cNvPr>
          <p:cNvSpPr>
            <a:spLocks noGrp="1"/>
          </p:cNvSpPr>
          <p:nvPr>
            <p:ph type="pic" sz="quarter" idx="20"/>
          </p:nvPr>
        </p:nvSpPr>
        <p:spPr>
          <a:xfrm>
            <a:off x="3037173" y="2243035"/>
            <a:ext cx="1071841" cy="1095375"/>
          </a:xfrm>
        </p:spPr>
        <p:txBody>
          <a:bodyPr/>
          <a:lstStyle>
            <a:lvl1pPr marL="0" indent="0">
              <a:buNone/>
              <a:defRPr/>
            </a:lvl1pPr>
          </a:lstStyle>
          <a:p>
            <a:endParaRPr lang="en-US" dirty="0"/>
          </a:p>
        </p:txBody>
      </p:sp>
      <p:cxnSp>
        <p:nvCxnSpPr>
          <p:cNvPr id="14" name="Straight Connector 13">
            <a:extLst>
              <a:ext uri="{FF2B5EF4-FFF2-40B4-BE49-F238E27FC236}">
                <a16:creationId xmlns:a16="http://schemas.microsoft.com/office/drawing/2014/main" id="{44DE3AB4-3020-8D45-86B7-592F12CB716B}"/>
              </a:ext>
            </a:extLst>
          </p:cNvPr>
          <p:cNvCxnSpPr>
            <a:cxnSpLocks/>
          </p:cNvCxnSpPr>
          <p:nvPr userDrawn="1"/>
        </p:nvCxnSpPr>
        <p:spPr>
          <a:xfrm>
            <a:off x="896513" y="3573316"/>
            <a:ext cx="3212501"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16" name="Content Placeholder 2">
            <a:extLst>
              <a:ext uri="{FF2B5EF4-FFF2-40B4-BE49-F238E27FC236}">
                <a16:creationId xmlns:a16="http://schemas.microsoft.com/office/drawing/2014/main" id="{DC4E94AD-16D9-BE4C-8C57-CFA6654E1BD9}"/>
              </a:ext>
            </a:extLst>
          </p:cNvPr>
          <p:cNvSpPr>
            <a:spLocks noGrp="1"/>
          </p:cNvSpPr>
          <p:nvPr>
            <p:ph idx="14" hasCustomPrompt="1"/>
          </p:nvPr>
        </p:nvSpPr>
        <p:spPr>
          <a:xfrm>
            <a:off x="939080" y="3819675"/>
            <a:ext cx="3169934" cy="1061801"/>
          </a:xfrm>
        </p:spPr>
        <p:txBody>
          <a:bodyPr lIns="0" tIns="0" rIns="0" bIns="0">
            <a:normAutofit/>
          </a:bodyPr>
          <a:lstStyle>
            <a:lvl1pPr marL="0" indent="0" algn="l">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a:t>
            </a:r>
            <a:br>
              <a:rPr lang="en-US" dirty="0"/>
            </a:br>
            <a:r>
              <a:rPr lang="en-US" dirty="0"/>
              <a:t>item or step 1</a:t>
            </a:r>
          </a:p>
        </p:txBody>
      </p:sp>
      <p:sp>
        <p:nvSpPr>
          <p:cNvPr id="19" name="Content Placeholder 2">
            <a:extLst>
              <a:ext uri="{FF2B5EF4-FFF2-40B4-BE49-F238E27FC236}">
                <a16:creationId xmlns:a16="http://schemas.microsoft.com/office/drawing/2014/main" id="{E64293C0-60B2-3341-9C38-86DF7ACA51DC}"/>
              </a:ext>
            </a:extLst>
          </p:cNvPr>
          <p:cNvSpPr>
            <a:spLocks noGrp="1"/>
          </p:cNvSpPr>
          <p:nvPr>
            <p:ph idx="21" hasCustomPrompt="1"/>
          </p:nvPr>
        </p:nvSpPr>
        <p:spPr>
          <a:xfrm>
            <a:off x="4582471" y="2597398"/>
            <a:ext cx="1742242" cy="787298"/>
          </a:xfrm>
        </p:spPr>
        <p:txBody>
          <a:bodyPr lIns="0" tIns="0" rIns="0" bIns="0">
            <a:noAutofit/>
          </a:bodyPr>
          <a:lstStyle>
            <a:lvl1pPr marL="0" indent="0" algn="l">
              <a:buSzPct val="95000"/>
              <a:buFont typeface="Arial" panose="020B0604020202020204" pitchFamily="34" charset="0"/>
              <a:buNone/>
              <a:defRPr sz="55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Stat</a:t>
            </a:r>
          </a:p>
        </p:txBody>
      </p:sp>
      <p:sp>
        <p:nvSpPr>
          <p:cNvPr id="25" name="Picture Placeholder 50">
            <a:extLst>
              <a:ext uri="{FF2B5EF4-FFF2-40B4-BE49-F238E27FC236}">
                <a16:creationId xmlns:a16="http://schemas.microsoft.com/office/drawing/2014/main" id="{3ED87A8B-0573-474F-94C0-2F7E344853F2}"/>
              </a:ext>
            </a:extLst>
          </p:cNvPr>
          <p:cNvSpPr>
            <a:spLocks noGrp="1"/>
          </p:cNvSpPr>
          <p:nvPr>
            <p:ph type="pic" sz="quarter" idx="23"/>
          </p:nvPr>
        </p:nvSpPr>
        <p:spPr>
          <a:xfrm>
            <a:off x="6680564" y="2243035"/>
            <a:ext cx="1071841" cy="1095375"/>
          </a:xfrm>
        </p:spPr>
        <p:txBody>
          <a:bodyPr/>
          <a:lstStyle>
            <a:lvl1pPr marL="0" indent="0">
              <a:buNone/>
              <a:defRPr/>
            </a:lvl1pPr>
          </a:lstStyle>
          <a:p>
            <a:endParaRPr lang="en-US" dirty="0"/>
          </a:p>
        </p:txBody>
      </p:sp>
      <p:cxnSp>
        <p:nvCxnSpPr>
          <p:cNvPr id="20" name="Straight Connector 19">
            <a:extLst>
              <a:ext uri="{FF2B5EF4-FFF2-40B4-BE49-F238E27FC236}">
                <a16:creationId xmlns:a16="http://schemas.microsoft.com/office/drawing/2014/main" id="{1799B91B-7CDD-284B-99CF-8408146B2C0D}"/>
              </a:ext>
            </a:extLst>
          </p:cNvPr>
          <p:cNvCxnSpPr>
            <a:cxnSpLocks/>
          </p:cNvCxnSpPr>
          <p:nvPr userDrawn="1"/>
        </p:nvCxnSpPr>
        <p:spPr>
          <a:xfrm>
            <a:off x="4539904" y="3573316"/>
            <a:ext cx="3212501"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24" name="Content Placeholder 2">
            <a:extLst>
              <a:ext uri="{FF2B5EF4-FFF2-40B4-BE49-F238E27FC236}">
                <a16:creationId xmlns:a16="http://schemas.microsoft.com/office/drawing/2014/main" id="{8BB67D17-F456-FC43-9C41-9344D6EEB07B}"/>
              </a:ext>
            </a:extLst>
          </p:cNvPr>
          <p:cNvSpPr>
            <a:spLocks noGrp="1"/>
          </p:cNvSpPr>
          <p:nvPr>
            <p:ph idx="22" hasCustomPrompt="1"/>
          </p:nvPr>
        </p:nvSpPr>
        <p:spPr>
          <a:xfrm>
            <a:off x="4582471" y="3819675"/>
            <a:ext cx="3169934" cy="1061801"/>
          </a:xfrm>
        </p:spPr>
        <p:txBody>
          <a:bodyPr lIns="0" tIns="0" rIns="0" bIns="0">
            <a:normAutofit/>
          </a:bodyPr>
          <a:lstStyle>
            <a:lvl1pPr marL="0" indent="0" algn="l">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a:t>
            </a:r>
            <a:br>
              <a:rPr lang="en-US" dirty="0"/>
            </a:br>
            <a:r>
              <a:rPr lang="en-US" dirty="0"/>
              <a:t>item or step 1</a:t>
            </a:r>
          </a:p>
        </p:txBody>
      </p:sp>
      <p:sp>
        <p:nvSpPr>
          <p:cNvPr id="26" name="Content Placeholder 2">
            <a:extLst>
              <a:ext uri="{FF2B5EF4-FFF2-40B4-BE49-F238E27FC236}">
                <a16:creationId xmlns:a16="http://schemas.microsoft.com/office/drawing/2014/main" id="{60F6E28A-AB38-A64F-9481-C9F0437BFEA5}"/>
              </a:ext>
            </a:extLst>
          </p:cNvPr>
          <p:cNvSpPr>
            <a:spLocks noGrp="1"/>
          </p:cNvSpPr>
          <p:nvPr>
            <p:ph idx="24" hasCustomPrompt="1"/>
          </p:nvPr>
        </p:nvSpPr>
        <p:spPr>
          <a:xfrm>
            <a:off x="8225863" y="2597398"/>
            <a:ext cx="1742242" cy="787298"/>
          </a:xfrm>
        </p:spPr>
        <p:txBody>
          <a:bodyPr lIns="0" tIns="0" rIns="0" bIns="0">
            <a:noAutofit/>
          </a:bodyPr>
          <a:lstStyle>
            <a:lvl1pPr marL="0" indent="0" algn="l">
              <a:buSzPct val="95000"/>
              <a:buFont typeface="Arial" panose="020B0604020202020204" pitchFamily="34" charset="0"/>
              <a:buNone/>
              <a:defRPr sz="55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Stat</a:t>
            </a:r>
          </a:p>
        </p:txBody>
      </p:sp>
      <p:sp>
        <p:nvSpPr>
          <p:cNvPr id="29" name="Picture Placeholder 50">
            <a:extLst>
              <a:ext uri="{FF2B5EF4-FFF2-40B4-BE49-F238E27FC236}">
                <a16:creationId xmlns:a16="http://schemas.microsoft.com/office/drawing/2014/main" id="{106DB928-4AE1-4E4B-9A4C-6062FC247709}"/>
              </a:ext>
            </a:extLst>
          </p:cNvPr>
          <p:cNvSpPr>
            <a:spLocks noGrp="1"/>
          </p:cNvSpPr>
          <p:nvPr>
            <p:ph type="pic" sz="quarter" idx="26"/>
          </p:nvPr>
        </p:nvSpPr>
        <p:spPr>
          <a:xfrm>
            <a:off x="10323956" y="2243035"/>
            <a:ext cx="1071841" cy="1095375"/>
          </a:xfrm>
        </p:spPr>
        <p:txBody>
          <a:bodyPr/>
          <a:lstStyle>
            <a:lvl1pPr marL="0" indent="0">
              <a:buNone/>
              <a:defRPr/>
            </a:lvl1pPr>
          </a:lstStyle>
          <a:p>
            <a:endParaRPr lang="en-US" dirty="0"/>
          </a:p>
        </p:txBody>
      </p:sp>
      <p:cxnSp>
        <p:nvCxnSpPr>
          <p:cNvPr id="27" name="Straight Connector 26">
            <a:extLst>
              <a:ext uri="{FF2B5EF4-FFF2-40B4-BE49-F238E27FC236}">
                <a16:creationId xmlns:a16="http://schemas.microsoft.com/office/drawing/2014/main" id="{F9F7D2B0-E449-FD45-9789-FC204088E97C}"/>
              </a:ext>
            </a:extLst>
          </p:cNvPr>
          <p:cNvCxnSpPr>
            <a:cxnSpLocks/>
          </p:cNvCxnSpPr>
          <p:nvPr userDrawn="1"/>
        </p:nvCxnSpPr>
        <p:spPr>
          <a:xfrm>
            <a:off x="8183296" y="3573316"/>
            <a:ext cx="3212501"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28" name="Content Placeholder 2">
            <a:extLst>
              <a:ext uri="{FF2B5EF4-FFF2-40B4-BE49-F238E27FC236}">
                <a16:creationId xmlns:a16="http://schemas.microsoft.com/office/drawing/2014/main" id="{86FE37F4-1DCF-2D40-845F-6C10AC016C29}"/>
              </a:ext>
            </a:extLst>
          </p:cNvPr>
          <p:cNvSpPr>
            <a:spLocks noGrp="1"/>
          </p:cNvSpPr>
          <p:nvPr>
            <p:ph idx="25" hasCustomPrompt="1"/>
          </p:nvPr>
        </p:nvSpPr>
        <p:spPr>
          <a:xfrm>
            <a:off x="8225863" y="3819675"/>
            <a:ext cx="3169934" cy="1061801"/>
          </a:xfrm>
        </p:spPr>
        <p:txBody>
          <a:bodyPr lIns="0" tIns="0" rIns="0" bIns="0">
            <a:normAutofit/>
          </a:bodyPr>
          <a:lstStyle>
            <a:lvl1pPr marL="0" indent="0" algn="l">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a:t>
            </a:r>
            <a:br>
              <a:rPr lang="en-US" dirty="0"/>
            </a:br>
            <a:r>
              <a:rPr lang="en-US" dirty="0"/>
              <a:t>item or step 1</a:t>
            </a:r>
          </a:p>
        </p:txBody>
      </p:sp>
      <p:sp>
        <p:nvSpPr>
          <p:cNvPr id="18" name="Rectangle 17">
            <a:extLst>
              <a:ext uri="{FF2B5EF4-FFF2-40B4-BE49-F238E27FC236}">
                <a16:creationId xmlns:a16="http://schemas.microsoft.com/office/drawing/2014/main" id="{C6F1B24E-B6B2-2D4F-8CE9-C10E33FBF4C2}"/>
              </a:ext>
            </a:extLst>
          </p:cNvPr>
          <p:cNvSpPr/>
          <p:nvPr userDrawn="1"/>
        </p:nvSpPr>
        <p:spPr>
          <a:xfrm>
            <a:off x="0" y="6389511"/>
            <a:ext cx="12192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22" name="Picture 21" descr="The University of Iowa">
            <a:extLst>
              <a:ext uri="{FF2B5EF4-FFF2-40B4-BE49-F238E27FC236}">
                <a16:creationId xmlns:a16="http://schemas.microsoft.com/office/drawing/2014/main" id="{9C14D290-718E-D94D-BEC3-A2B3F3F54CAF}"/>
              </a:ext>
            </a:extLst>
          </p:cNvPr>
          <p:cNvPicPr>
            <a:picLocks noChangeAspect="1"/>
          </p:cNvPicPr>
          <p:nvPr userDrawn="1"/>
        </p:nvPicPr>
        <p:blipFill>
          <a:blip r:embed="rId2"/>
          <a:stretch>
            <a:fillRect/>
          </a:stretch>
        </p:blipFill>
        <p:spPr>
          <a:xfrm>
            <a:off x="838200" y="6131555"/>
            <a:ext cx="1545021" cy="733885"/>
          </a:xfrm>
          <a:prstGeom prst="rect">
            <a:avLst/>
          </a:prstGeom>
        </p:spPr>
      </p:pic>
      <p:sp>
        <p:nvSpPr>
          <p:cNvPr id="21" name="Footer Placeholder 4">
            <a:extLst>
              <a:ext uri="{FF2B5EF4-FFF2-40B4-BE49-F238E27FC236}">
                <a16:creationId xmlns:a16="http://schemas.microsoft.com/office/drawing/2014/main" id="{5387E550-EB5F-3F4A-9BFA-44D25611C96F}"/>
              </a:ext>
            </a:extLst>
          </p:cNvPr>
          <p:cNvSpPr>
            <a:spLocks noGrp="1"/>
          </p:cNvSpPr>
          <p:nvPr>
            <p:ph type="ftr" sz="quarter" idx="3"/>
          </p:nvPr>
        </p:nvSpPr>
        <p:spPr>
          <a:xfrm>
            <a:off x="2519853" y="6441192"/>
            <a:ext cx="8684173" cy="365125"/>
          </a:xfrm>
          <a:prstGeom prst="rect">
            <a:avLst/>
          </a:prstGeom>
        </p:spPr>
        <p:txBody>
          <a:bodyPr vert="horz" lIns="91440" tIns="45720" rIns="91440" bIns="45720" rtlCol="0" anchor="ctr"/>
          <a:lstStyle>
            <a:lvl1pPr algn="l">
              <a:defRPr sz="1400" b="1">
                <a:solidFill>
                  <a:schemeClr val="bg1"/>
                </a:solidFill>
              </a:defRPr>
            </a:lvl1pPr>
          </a:lstStyle>
          <a:p>
            <a:r>
              <a:rPr lang="en-US" b="0"/>
              <a:t>Final Project | Topics in Computer Science II | Fall 2025, University of Iowa</a:t>
            </a:r>
            <a:endParaRPr lang="en-US" dirty="0"/>
          </a:p>
        </p:txBody>
      </p:sp>
    </p:spTree>
    <p:extLst>
      <p:ext uri="{BB962C8B-B14F-4D97-AF65-F5344CB8AC3E}">
        <p14:creationId xmlns:p14="http://schemas.microsoft.com/office/powerpoint/2010/main" val="1710712687"/>
      </p:ext>
    </p:extLst>
  </p:cSld>
  <p:clrMapOvr>
    <a:masterClrMapping/>
  </p:clrMapOvr>
  <p:extLst>
    <p:ext uri="{DCECCB84-F9BA-43D5-87BE-67443E8EF086}">
      <p15:sldGuideLst xmlns:p15="http://schemas.microsoft.com/office/powerpoint/2012/main">
        <p15:guide id="1" orient="horz" pos="2400" userDrawn="1">
          <p15:clr>
            <a:srgbClr val="FBAE40"/>
          </p15:clr>
        </p15:guide>
        <p15:guide id="2" pos="598">
          <p15:clr>
            <a:srgbClr val="FBAE40"/>
          </p15:clr>
        </p15:guide>
        <p15:guide id="3" pos="7080">
          <p15:clr>
            <a:srgbClr val="FBAE40"/>
          </p15:clr>
        </p15:guide>
        <p15:guide id="4" pos="3840">
          <p15:clr>
            <a:srgbClr val="FBAE40"/>
          </p15:clr>
        </p15:guide>
        <p15:guide id="5" orient="horz" pos="1054" userDrawn="1">
          <p15:clr>
            <a:srgbClr val="FBAE40"/>
          </p15:clr>
        </p15:guide>
        <p15:guide id="6" orient="horz" pos="3744" userDrawn="1">
          <p15:clr>
            <a:srgbClr val="FBAE40"/>
          </p15:clr>
        </p15:guide>
        <p15:guide id="7" orient="horz" pos="697"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hree Column Icon Layout">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7C3D46F0-0006-469D-9C96-A2B5BF708743}"/>
              </a:ext>
            </a:extLst>
          </p:cNvPr>
          <p:cNvSpPr>
            <a:spLocks noGrp="1"/>
          </p:cNvSpPr>
          <p:nvPr>
            <p:ph type="title"/>
          </p:nvPr>
        </p:nvSpPr>
        <p:spPr>
          <a:xfrm>
            <a:off x="952499" y="526777"/>
            <a:ext cx="10287001" cy="869089"/>
          </a:xfrm>
        </p:spPr>
        <p:txBody>
          <a:bodyPr lIns="0" tIns="0" rIns="0" bIns="0"/>
          <a:lstStyle>
            <a:lvl1pPr>
              <a:defRPr>
                <a:latin typeface="Roboto" panose="02000000000000000000" pitchFamily="2" charset="0"/>
                <a:ea typeface="Roboto" panose="02000000000000000000" pitchFamily="2" charset="0"/>
              </a:defRPr>
            </a:lvl1pPr>
          </a:lstStyle>
          <a:p>
            <a:r>
              <a:rPr lang="en-US" dirty="0"/>
              <a:t>Click to edit Master title style</a:t>
            </a:r>
          </a:p>
        </p:txBody>
      </p:sp>
      <p:cxnSp>
        <p:nvCxnSpPr>
          <p:cNvPr id="7" name="Straight Connector 6">
            <a:extLst>
              <a:ext uri="{FF2B5EF4-FFF2-40B4-BE49-F238E27FC236}">
                <a16:creationId xmlns:a16="http://schemas.microsoft.com/office/drawing/2014/main" id="{E7D57D41-E534-4387-8837-F27E5C2408BD}"/>
              </a:ext>
            </a:extLst>
          </p:cNvPr>
          <p:cNvCxnSpPr>
            <a:cxnSpLocks/>
          </p:cNvCxnSpPr>
          <p:nvPr userDrawn="1"/>
        </p:nvCxnSpPr>
        <p:spPr>
          <a:xfrm>
            <a:off x="952498" y="1363362"/>
            <a:ext cx="768531" cy="0"/>
          </a:xfrm>
          <a:prstGeom prst="line">
            <a:avLst/>
          </a:prstGeom>
          <a:ln w="63500"/>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E7A2738-1D29-40DE-AACF-F60CD708E892}"/>
              </a:ext>
            </a:extLst>
          </p:cNvPr>
          <p:cNvCxnSpPr/>
          <p:nvPr userDrawn="1"/>
        </p:nvCxnSpPr>
        <p:spPr>
          <a:xfrm>
            <a:off x="2535870" y="2921860"/>
            <a:ext cx="7111014"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Oval 1">
            <a:extLst>
              <a:ext uri="{FF2B5EF4-FFF2-40B4-BE49-F238E27FC236}">
                <a16:creationId xmlns:a16="http://schemas.microsoft.com/office/drawing/2014/main" id="{D1ADFA24-184F-46B9-B1D0-3FBB044F3673}"/>
              </a:ext>
            </a:extLst>
          </p:cNvPr>
          <p:cNvSpPr/>
          <p:nvPr userDrawn="1"/>
        </p:nvSpPr>
        <p:spPr>
          <a:xfrm>
            <a:off x="1664749" y="2050739"/>
            <a:ext cx="1742242" cy="1742242"/>
          </a:xfrm>
          <a:prstGeom prst="ellipse">
            <a:avLst/>
          </a:prstGeom>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Picture Placeholder 3">
            <a:extLst>
              <a:ext uri="{FF2B5EF4-FFF2-40B4-BE49-F238E27FC236}">
                <a16:creationId xmlns:a16="http://schemas.microsoft.com/office/drawing/2014/main" id="{DC306F30-B3C1-E74C-B18C-7075DB0761DE}"/>
              </a:ext>
            </a:extLst>
          </p:cNvPr>
          <p:cNvSpPr>
            <a:spLocks noGrp="1"/>
          </p:cNvSpPr>
          <p:nvPr>
            <p:ph type="pic" sz="quarter" idx="21"/>
          </p:nvPr>
        </p:nvSpPr>
        <p:spPr>
          <a:xfrm>
            <a:off x="1953910" y="2337468"/>
            <a:ext cx="1182412" cy="1222625"/>
          </a:xfrm>
        </p:spPr>
        <p:txBody>
          <a:bodyPr/>
          <a:lstStyle>
            <a:lvl1pPr>
              <a:buNone/>
              <a:defRPr/>
            </a:lvl1pPr>
          </a:lstStyle>
          <a:p>
            <a:endParaRPr lang="en-US" dirty="0"/>
          </a:p>
        </p:txBody>
      </p:sp>
      <p:sp>
        <p:nvSpPr>
          <p:cNvPr id="5" name="Content Placeholder 2">
            <a:extLst>
              <a:ext uri="{FF2B5EF4-FFF2-40B4-BE49-F238E27FC236}">
                <a16:creationId xmlns:a16="http://schemas.microsoft.com/office/drawing/2014/main" id="{94F85108-BDC9-43A2-BEF1-240E666F4E03}"/>
              </a:ext>
            </a:extLst>
          </p:cNvPr>
          <p:cNvSpPr>
            <a:spLocks noGrp="1"/>
          </p:cNvSpPr>
          <p:nvPr>
            <p:ph idx="1" hasCustomPrompt="1"/>
          </p:nvPr>
        </p:nvSpPr>
        <p:spPr>
          <a:xfrm>
            <a:off x="952500" y="4078664"/>
            <a:ext cx="3166740" cy="754602"/>
          </a:xfrm>
        </p:spPr>
        <p:txBody>
          <a:bodyPr lIns="0" tIns="0" rIns="0" bIns="0">
            <a:normAutofit/>
          </a:bodyPr>
          <a:lstStyle>
            <a:lvl1pPr marL="0" indent="0" algn="ctr">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a:t>
            </a:r>
            <a:br>
              <a:rPr lang="en-US" dirty="0"/>
            </a:br>
            <a:r>
              <a:rPr lang="en-US" dirty="0"/>
              <a:t>item or step 1</a:t>
            </a:r>
          </a:p>
        </p:txBody>
      </p:sp>
      <p:sp>
        <p:nvSpPr>
          <p:cNvPr id="19" name="Oval 18">
            <a:extLst>
              <a:ext uri="{FF2B5EF4-FFF2-40B4-BE49-F238E27FC236}">
                <a16:creationId xmlns:a16="http://schemas.microsoft.com/office/drawing/2014/main" id="{3FF9D861-0550-4AC8-BB96-094DAF60B7F4}"/>
              </a:ext>
            </a:extLst>
          </p:cNvPr>
          <p:cNvSpPr/>
          <p:nvPr userDrawn="1"/>
        </p:nvSpPr>
        <p:spPr>
          <a:xfrm>
            <a:off x="5231950" y="2050741"/>
            <a:ext cx="1742242" cy="1742242"/>
          </a:xfrm>
          <a:prstGeom prst="ellipse">
            <a:avLst/>
          </a:prstGeom>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Picture Placeholder 3">
            <a:extLst>
              <a:ext uri="{FF2B5EF4-FFF2-40B4-BE49-F238E27FC236}">
                <a16:creationId xmlns:a16="http://schemas.microsoft.com/office/drawing/2014/main" id="{4382C3D7-6E45-864C-A5B5-39762336A484}"/>
              </a:ext>
            </a:extLst>
          </p:cNvPr>
          <p:cNvSpPr>
            <a:spLocks noGrp="1"/>
          </p:cNvSpPr>
          <p:nvPr>
            <p:ph type="pic" sz="quarter" idx="22"/>
          </p:nvPr>
        </p:nvSpPr>
        <p:spPr>
          <a:xfrm>
            <a:off x="5500171" y="2310547"/>
            <a:ext cx="1182412" cy="1222625"/>
          </a:xfrm>
        </p:spPr>
        <p:txBody>
          <a:bodyPr/>
          <a:lstStyle>
            <a:lvl1pPr>
              <a:buNone/>
              <a:defRPr/>
            </a:lvl1pPr>
          </a:lstStyle>
          <a:p>
            <a:endParaRPr lang="en-US" dirty="0"/>
          </a:p>
        </p:txBody>
      </p:sp>
      <p:sp>
        <p:nvSpPr>
          <p:cNvPr id="15" name="Content Placeholder 2">
            <a:extLst>
              <a:ext uri="{FF2B5EF4-FFF2-40B4-BE49-F238E27FC236}">
                <a16:creationId xmlns:a16="http://schemas.microsoft.com/office/drawing/2014/main" id="{700A296A-0A06-4FFB-B935-517187294F6B}"/>
              </a:ext>
            </a:extLst>
          </p:cNvPr>
          <p:cNvSpPr>
            <a:spLocks noGrp="1"/>
          </p:cNvSpPr>
          <p:nvPr>
            <p:ph idx="11" hasCustomPrompt="1"/>
          </p:nvPr>
        </p:nvSpPr>
        <p:spPr>
          <a:xfrm>
            <a:off x="4616385" y="4078664"/>
            <a:ext cx="2973372" cy="754602"/>
          </a:xfrm>
        </p:spPr>
        <p:txBody>
          <a:bodyPr lIns="0" tIns="0" rIns="0" bIns="0">
            <a:normAutofit/>
          </a:bodyPr>
          <a:lstStyle>
            <a:lvl1pPr marL="0" indent="0" algn="ctr">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a:t>
            </a:r>
            <a:br>
              <a:rPr lang="en-US" dirty="0"/>
            </a:br>
            <a:r>
              <a:rPr lang="en-US" dirty="0"/>
              <a:t>item or step 2</a:t>
            </a:r>
          </a:p>
        </p:txBody>
      </p:sp>
      <p:sp>
        <p:nvSpPr>
          <p:cNvPr id="20" name="Oval 19">
            <a:extLst>
              <a:ext uri="{FF2B5EF4-FFF2-40B4-BE49-F238E27FC236}">
                <a16:creationId xmlns:a16="http://schemas.microsoft.com/office/drawing/2014/main" id="{D101DA23-83F7-4662-BC02-2666717C53B4}"/>
              </a:ext>
            </a:extLst>
          </p:cNvPr>
          <p:cNvSpPr/>
          <p:nvPr userDrawn="1"/>
        </p:nvSpPr>
        <p:spPr>
          <a:xfrm>
            <a:off x="8775763" y="2050741"/>
            <a:ext cx="1742242" cy="1742242"/>
          </a:xfrm>
          <a:prstGeom prst="ellipse">
            <a:avLst/>
          </a:prstGeom>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Picture Placeholder 3">
            <a:extLst>
              <a:ext uri="{FF2B5EF4-FFF2-40B4-BE49-F238E27FC236}">
                <a16:creationId xmlns:a16="http://schemas.microsoft.com/office/drawing/2014/main" id="{6E1CEA20-24A4-8C45-B5A6-CE111F714FEF}"/>
              </a:ext>
            </a:extLst>
          </p:cNvPr>
          <p:cNvSpPr>
            <a:spLocks noGrp="1"/>
          </p:cNvSpPr>
          <p:nvPr>
            <p:ph type="pic" sz="quarter" idx="23"/>
          </p:nvPr>
        </p:nvSpPr>
        <p:spPr>
          <a:xfrm>
            <a:off x="9046432" y="2299135"/>
            <a:ext cx="1182412" cy="1222625"/>
          </a:xfrm>
        </p:spPr>
        <p:txBody>
          <a:bodyPr/>
          <a:lstStyle>
            <a:lvl1pPr>
              <a:buNone/>
              <a:defRPr/>
            </a:lvl1pPr>
          </a:lstStyle>
          <a:p>
            <a:endParaRPr lang="en-US" dirty="0"/>
          </a:p>
        </p:txBody>
      </p:sp>
      <p:sp>
        <p:nvSpPr>
          <p:cNvPr id="17" name="Content Placeholder 2">
            <a:extLst>
              <a:ext uri="{FF2B5EF4-FFF2-40B4-BE49-F238E27FC236}">
                <a16:creationId xmlns:a16="http://schemas.microsoft.com/office/drawing/2014/main" id="{D4DB30FF-E82C-424F-A06C-EFC3CFC45E36}"/>
              </a:ext>
            </a:extLst>
          </p:cNvPr>
          <p:cNvSpPr>
            <a:spLocks noGrp="1"/>
          </p:cNvSpPr>
          <p:nvPr>
            <p:ph idx="13" hasCustomPrompt="1"/>
          </p:nvPr>
        </p:nvSpPr>
        <p:spPr>
          <a:xfrm>
            <a:off x="8063514" y="4078663"/>
            <a:ext cx="3166740" cy="754602"/>
          </a:xfrm>
        </p:spPr>
        <p:txBody>
          <a:bodyPr lIns="0" tIns="0" rIns="0" bIns="0">
            <a:normAutofit/>
          </a:bodyPr>
          <a:lstStyle>
            <a:lvl1pPr marL="0" indent="0" algn="ctr">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a:t>
            </a:r>
            <a:br>
              <a:rPr lang="en-US" dirty="0"/>
            </a:br>
            <a:r>
              <a:rPr lang="en-US" dirty="0"/>
              <a:t>item or step 1</a:t>
            </a:r>
          </a:p>
        </p:txBody>
      </p:sp>
      <p:sp>
        <p:nvSpPr>
          <p:cNvPr id="18" name="Rectangle 17">
            <a:extLst>
              <a:ext uri="{FF2B5EF4-FFF2-40B4-BE49-F238E27FC236}">
                <a16:creationId xmlns:a16="http://schemas.microsoft.com/office/drawing/2014/main" id="{C6F1B24E-B6B2-2D4F-8CE9-C10E33FBF4C2}"/>
              </a:ext>
            </a:extLst>
          </p:cNvPr>
          <p:cNvSpPr/>
          <p:nvPr userDrawn="1"/>
        </p:nvSpPr>
        <p:spPr>
          <a:xfrm>
            <a:off x="0" y="6389511"/>
            <a:ext cx="12192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22" name="Picture 21" descr="The University of Iowa">
            <a:extLst>
              <a:ext uri="{FF2B5EF4-FFF2-40B4-BE49-F238E27FC236}">
                <a16:creationId xmlns:a16="http://schemas.microsoft.com/office/drawing/2014/main" id="{9C14D290-718E-D94D-BEC3-A2B3F3F54CAF}"/>
              </a:ext>
            </a:extLst>
          </p:cNvPr>
          <p:cNvPicPr>
            <a:picLocks noChangeAspect="1"/>
          </p:cNvPicPr>
          <p:nvPr userDrawn="1"/>
        </p:nvPicPr>
        <p:blipFill>
          <a:blip r:embed="rId2"/>
          <a:stretch>
            <a:fillRect/>
          </a:stretch>
        </p:blipFill>
        <p:spPr>
          <a:xfrm>
            <a:off x="838200" y="6131555"/>
            <a:ext cx="1545021" cy="733885"/>
          </a:xfrm>
          <a:prstGeom prst="rect">
            <a:avLst/>
          </a:prstGeom>
        </p:spPr>
      </p:pic>
      <p:sp>
        <p:nvSpPr>
          <p:cNvPr id="21" name="Footer Placeholder 4">
            <a:extLst>
              <a:ext uri="{FF2B5EF4-FFF2-40B4-BE49-F238E27FC236}">
                <a16:creationId xmlns:a16="http://schemas.microsoft.com/office/drawing/2014/main" id="{5387E550-EB5F-3F4A-9BFA-44D25611C96F}"/>
              </a:ext>
            </a:extLst>
          </p:cNvPr>
          <p:cNvSpPr>
            <a:spLocks noGrp="1"/>
          </p:cNvSpPr>
          <p:nvPr>
            <p:ph type="ftr" sz="quarter" idx="3"/>
          </p:nvPr>
        </p:nvSpPr>
        <p:spPr>
          <a:xfrm>
            <a:off x="2519853" y="6441192"/>
            <a:ext cx="8684173" cy="365125"/>
          </a:xfrm>
          <a:prstGeom prst="rect">
            <a:avLst/>
          </a:prstGeom>
        </p:spPr>
        <p:txBody>
          <a:bodyPr vert="horz" lIns="91440" tIns="45720" rIns="91440" bIns="45720" rtlCol="0" anchor="ctr"/>
          <a:lstStyle>
            <a:lvl1pPr algn="l">
              <a:defRPr sz="1400" b="1">
                <a:solidFill>
                  <a:schemeClr val="bg1"/>
                </a:solidFill>
              </a:defRPr>
            </a:lvl1pPr>
          </a:lstStyle>
          <a:p>
            <a:r>
              <a:rPr lang="en-US"/>
              <a:t>Final Project | Topics in Computer Science II | Fall 2025, University of Iowa</a:t>
            </a:r>
            <a:endParaRPr lang="en-US" dirty="0"/>
          </a:p>
        </p:txBody>
      </p:sp>
    </p:spTree>
    <p:extLst>
      <p:ext uri="{BB962C8B-B14F-4D97-AF65-F5344CB8AC3E}">
        <p14:creationId xmlns:p14="http://schemas.microsoft.com/office/powerpoint/2010/main" val="733951917"/>
      </p:ext>
    </p:extLst>
  </p:cSld>
  <p:clrMapOvr>
    <a:masterClrMapping/>
  </p:clrMapOvr>
  <p:extLst>
    <p:ext uri="{DCECCB84-F9BA-43D5-87BE-67443E8EF086}">
      <p15:sldGuideLst xmlns:p15="http://schemas.microsoft.com/office/powerpoint/2012/main">
        <p15:guide id="1" orient="horz" pos="2400" userDrawn="1">
          <p15:clr>
            <a:srgbClr val="FBAE40"/>
          </p15:clr>
        </p15:guide>
        <p15:guide id="2" pos="598">
          <p15:clr>
            <a:srgbClr val="FBAE40"/>
          </p15:clr>
        </p15:guide>
        <p15:guide id="3" pos="7080">
          <p15:clr>
            <a:srgbClr val="FBAE40"/>
          </p15:clr>
        </p15:guide>
        <p15:guide id="4" pos="3840">
          <p15:clr>
            <a:srgbClr val="FBAE40"/>
          </p15:clr>
        </p15:guide>
        <p15:guide id="5" orient="horz" pos="1054" userDrawn="1">
          <p15:clr>
            <a:srgbClr val="FBAE40"/>
          </p15:clr>
        </p15:guide>
        <p15:guide id="6" orient="horz" pos="3744" userDrawn="1">
          <p15:clr>
            <a:srgbClr val="FBAE40"/>
          </p15:clr>
        </p15:guide>
        <p15:guide id="7" orient="horz" pos="697"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our Column Icon Layout">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1B9DD2E6-4011-470E-85A1-9331B2E255C8}"/>
              </a:ext>
            </a:extLst>
          </p:cNvPr>
          <p:cNvSpPr>
            <a:spLocks noGrp="1"/>
          </p:cNvSpPr>
          <p:nvPr>
            <p:ph type="title"/>
          </p:nvPr>
        </p:nvSpPr>
        <p:spPr>
          <a:xfrm>
            <a:off x="952499" y="526777"/>
            <a:ext cx="10287001" cy="869089"/>
          </a:xfrm>
        </p:spPr>
        <p:txBody>
          <a:bodyPr lIns="0" tIns="0" rIns="0" bIns="0"/>
          <a:lstStyle>
            <a:lvl1pPr>
              <a:defRPr>
                <a:latin typeface="Roboto" panose="02000000000000000000" pitchFamily="2" charset="0"/>
                <a:ea typeface="Roboto" panose="02000000000000000000" pitchFamily="2" charset="0"/>
              </a:defRPr>
            </a:lvl1pPr>
          </a:lstStyle>
          <a:p>
            <a:r>
              <a:rPr lang="en-US" dirty="0"/>
              <a:t>Click to edit Master title style</a:t>
            </a:r>
          </a:p>
        </p:txBody>
      </p:sp>
      <p:cxnSp>
        <p:nvCxnSpPr>
          <p:cNvPr id="7" name="Straight Connector 6">
            <a:extLst>
              <a:ext uri="{FF2B5EF4-FFF2-40B4-BE49-F238E27FC236}">
                <a16:creationId xmlns:a16="http://schemas.microsoft.com/office/drawing/2014/main" id="{E7D57D41-E534-4387-8837-F27E5C2408BD}"/>
              </a:ext>
            </a:extLst>
          </p:cNvPr>
          <p:cNvCxnSpPr>
            <a:cxnSpLocks/>
          </p:cNvCxnSpPr>
          <p:nvPr userDrawn="1"/>
        </p:nvCxnSpPr>
        <p:spPr>
          <a:xfrm>
            <a:off x="952498" y="1363362"/>
            <a:ext cx="768531" cy="0"/>
          </a:xfrm>
          <a:prstGeom prst="line">
            <a:avLst/>
          </a:prstGeom>
          <a:ln w="63500"/>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D6361F7-376B-4B6B-90CB-982F8C88D3AB}"/>
              </a:ext>
            </a:extLst>
          </p:cNvPr>
          <p:cNvCxnSpPr/>
          <p:nvPr userDrawn="1"/>
        </p:nvCxnSpPr>
        <p:spPr>
          <a:xfrm>
            <a:off x="2535870" y="2921860"/>
            <a:ext cx="7111014"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A7215D4C-D1BA-4B83-8034-F6173B4B3FE7}"/>
              </a:ext>
            </a:extLst>
          </p:cNvPr>
          <p:cNvSpPr/>
          <p:nvPr userDrawn="1"/>
        </p:nvSpPr>
        <p:spPr>
          <a:xfrm>
            <a:off x="1260812" y="2050739"/>
            <a:ext cx="1742242" cy="1742242"/>
          </a:xfrm>
          <a:prstGeom prst="ellipse">
            <a:avLst/>
          </a:prstGeom>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Picture Placeholder 3">
            <a:extLst>
              <a:ext uri="{FF2B5EF4-FFF2-40B4-BE49-F238E27FC236}">
                <a16:creationId xmlns:a16="http://schemas.microsoft.com/office/drawing/2014/main" id="{0A1A4191-73C5-A24C-B85A-D6F8FC572523}"/>
              </a:ext>
            </a:extLst>
          </p:cNvPr>
          <p:cNvSpPr>
            <a:spLocks noGrp="1"/>
          </p:cNvSpPr>
          <p:nvPr>
            <p:ph type="pic" sz="quarter" idx="24"/>
          </p:nvPr>
        </p:nvSpPr>
        <p:spPr>
          <a:xfrm>
            <a:off x="1540727" y="2311683"/>
            <a:ext cx="1182412" cy="1222625"/>
          </a:xfrm>
        </p:spPr>
        <p:txBody>
          <a:bodyPr/>
          <a:lstStyle>
            <a:lvl1pPr>
              <a:buNone/>
              <a:defRPr/>
            </a:lvl1pPr>
          </a:lstStyle>
          <a:p>
            <a:endParaRPr lang="en-US" dirty="0"/>
          </a:p>
        </p:txBody>
      </p:sp>
      <p:sp>
        <p:nvSpPr>
          <p:cNvPr id="24" name="Content Placeholder 2">
            <a:extLst>
              <a:ext uri="{FF2B5EF4-FFF2-40B4-BE49-F238E27FC236}">
                <a16:creationId xmlns:a16="http://schemas.microsoft.com/office/drawing/2014/main" id="{5C06C296-F787-402D-AC65-1E55B4D25C69}"/>
              </a:ext>
            </a:extLst>
          </p:cNvPr>
          <p:cNvSpPr>
            <a:spLocks noGrp="1"/>
          </p:cNvSpPr>
          <p:nvPr>
            <p:ph idx="17" hasCustomPrompt="1"/>
          </p:nvPr>
        </p:nvSpPr>
        <p:spPr>
          <a:xfrm>
            <a:off x="952500" y="4078664"/>
            <a:ext cx="2358866" cy="754602"/>
          </a:xfrm>
        </p:spPr>
        <p:txBody>
          <a:bodyPr lIns="0" tIns="0" rIns="0" bIns="0">
            <a:normAutofit/>
          </a:bodyPr>
          <a:lstStyle>
            <a:lvl1pPr marL="0" indent="0" algn="ctr">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a:t>
            </a:r>
            <a:br>
              <a:rPr lang="en-US" dirty="0"/>
            </a:br>
            <a:r>
              <a:rPr lang="en-US" dirty="0"/>
              <a:t>item or step 1</a:t>
            </a:r>
          </a:p>
        </p:txBody>
      </p:sp>
      <p:sp>
        <p:nvSpPr>
          <p:cNvPr id="27" name="Oval 26">
            <a:extLst>
              <a:ext uri="{FF2B5EF4-FFF2-40B4-BE49-F238E27FC236}">
                <a16:creationId xmlns:a16="http://schemas.microsoft.com/office/drawing/2014/main" id="{AE1934B1-C1CC-42D5-A8D8-639ED39E9A45}"/>
              </a:ext>
            </a:extLst>
          </p:cNvPr>
          <p:cNvSpPr/>
          <p:nvPr userDrawn="1"/>
        </p:nvSpPr>
        <p:spPr>
          <a:xfrm>
            <a:off x="3935830" y="2050739"/>
            <a:ext cx="1742242" cy="1742242"/>
          </a:xfrm>
          <a:prstGeom prst="ellipse">
            <a:avLst/>
          </a:prstGeom>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Picture Placeholder 3">
            <a:extLst>
              <a:ext uri="{FF2B5EF4-FFF2-40B4-BE49-F238E27FC236}">
                <a16:creationId xmlns:a16="http://schemas.microsoft.com/office/drawing/2014/main" id="{D7A0C8CB-AE00-AE4E-8B06-C3CDA2E8A6B0}"/>
              </a:ext>
            </a:extLst>
          </p:cNvPr>
          <p:cNvSpPr>
            <a:spLocks noGrp="1"/>
          </p:cNvSpPr>
          <p:nvPr>
            <p:ph type="pic" sz="quarter" idx="21"/>
          </p:nvPr>
        </p:nvSpPr>
        <p:spPr>
          <a:xfrm>
            <a:off x="4221796" y="2280863"/>
            <a:ext cx="1182412" cy="1222625"/>
          </a:xfrm>
        </p:spPr>
        <p:txBody>
          <a:bodyPr/>
          <a:lstStyle>
            <a:lvl1pPr>
              <a:buNone/>
              <a:defRPr/>
            </a:lvl1pPr>
          </a:lstStyle>
          <a:p>
            <a:endParaRPr lang="en-US" dirty="0"/>
          </a:p>
        </p:txBody>
      </p:sp>
      <p:sp>
        <p:nvSpPr>
          <p:cNvPr id="26" name="Content Placeholder 2">
            <a:extLst>
              <a:ext uri="{FF2B5EF4-FFF2-40B4-BE49-F238E27FC236}">
                <a16:creationId xmlns:a16="http://schemas.microsoft.com/office/drawing/2014/main" id="{8C7F2CE8-9E91-4C86-99AB-686A9C810419}"/>
              </a:ext>
            </a:extLst>
          </p:cNvPr>
          <p:cNvSpPr>
            <a:spLocks noGrp="1"/>
          </p:cNvSpPr>
          <p:nvPr>
            <p:ph idx="18" hasCustomPrompt="1"/>
          </p:nvPr>
        </p:nvSpPr>
        <p:spPr>
          <a:xfrm>
            <a:off x="3627518" y="4078664"/>
            <a:ext cx="2358866" cy="754602"/>
          </a:xfrm>
        </p:spPr>
        <p:txBody>
          <a:bodyPr lIns="0" tIns="0" rIns="0" bIns="0">
            <a:normAutofit/>
          </a:bodyPr>
          <a:lstStyle>
            <a:lvl1pPr marL="0" indent="0" algn="ctr">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a:t>
            </a:r>
            <a:br>
              <a:rPr lang="en-US" dirty="0"/>
            </a:br>
            <a:r>
              <a:rPr lang="en-US" dirty="0"/>
              <a:t>item or step 1</a:t>
            </a:r>
          </a:p>
        </p:txBody>
      </p:sp>
      <p:sp>
        <p:nvSpPr>
          <p:cNvPr id="29" name="Oval 28">
            <a:extLst>
              <a:ext uri="{FF2B5EF4-FFF2-40B4-BE49-F238E27FC236}">
                <a16:creationId xmlns:a16="http://schemas.microsoft.com/office/drawing/2014/main" id="{07542B3E-45A5-4E88-A2C5-758AC86BE4D0}"/>
              </a:ext>
            </a:extLst>
          </p:cNvPr>
          <p:cNvSpPr/>
          <p:nvPr userDrawn="1"/>
        </p:nvSpPr>
        <p:spPr>
          <a:xfrm>
            <a:off x="6513929" y="2050739"/>
            <a:ext cx="1742242" cy="1742242"/>
          </a:xfrm>
          <a:prstGeom prst="ellipse">
            <a:avLst/>
          </a:prstGeom>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Picture Placeholder 3">
            <a:extLst>
              <a:ext uri="{FF2B5EF4-FFF2-40B4-BE49-F238E27FC236}">
                <a16:creationId xmlns:a16="http://schemas.microsoft.com/office/drawing/2014/main" id="{EED777B6-C788-B840-ACC3-FD8949E42ACB}"/>
              </a:ext>
            </a:extLst>
          </p:cNvPr>
          <p:cNvSpPr>
            <a:spLocks noGrp="1"/>
          </p:cNvSpPr>
          <p:nvPr>
            <p:ph type="pic" sz="quarter" idx="22"/>
          </p:nvPr>
        </p:nvSpPr>
        <p:spPr>
          <a:xfrm>
            <a:off x="6793844" y="2309972"/>
            <a:ext cx="1182412" cy="1222625"/>
          </a:xfrm>
        </p:spPr>
        <p:txBody>
          <a:bodyPr/>
          <a:lstStyle>
            <a:lvl1pPr>
              <a:buNone/>
              <a:defRPr/>
            </a:lvl1pPr>
          </a:lstStyle>
          <a:p>
            <a:endParaRPr lang="en-US" dirty="0"/>
          </a:p>
        </p:txBody>
      </p:sp>
      <p:sp>
        <p:nvSpPr>
          <p:cNvPr id="28" name="Content Placeholder 2">
            <a:extLst>
              <a:ext uri="{FF2B5EF4-FFF2-40B4-BE49-F238E27FC236}">
                <a16:creationId xmlns:a16="http://schemas.microsoft.com/office/drawing/2014/main" id="{BC06D7C8-7D2D-4A80-B5B8-174F5056AA0B}"/>
              </a:ext>
            </a:extLst>
          </p:cNvPr>
          <p:cNvSpPr>
            <a:spLocks noGrp="1"/>
          </p:cNvSpPr>
          <p:nvPr>
            <p:ph idx="19" hasCustomPrompt="1"/>
          </p:nvPr>
        </p:nvSpPr>
        <p:spPr>
          <a:xfrm>
            <a:off x="6205617" y="4078664"/>
            <a:ext cx="2358866" cy="754602"/>
          </a:xfrm>
        </p:spPr>
        <p:txBody>
          <a:bodyPr lIns="0" tIns="0" rIns="0" bIns="0">
            <a:normAutofit/>
          </a:bodyPr>
          <a:lstStyle>
            <a:lvl1pPr marL="0" indent="0" algn="ctr">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a:t>
            </a:r>
            <a:br>
              <a:rPr lang="en-US" dirty="0"/>
            </a:br>
            <a:r>
              <a:rPr lang="en-US" dirty="0"/>
              <a:t>item or step 1</a:t>
            </a:r>
          </a:p>
        </p:txBody>
      </p:sp>
      <p:sp>
        <p:nvSpPr>
          <p:cNvPr id="31" name="Oval 30">
            <a:extLst>
              <a:ext uri="{FF2B5EF4-FFF2-40B4-BE49-F238E27FC236}">
                <a16:creationId xmlns:a16="http://schemas.microsoft.com/office/drawing/2014/main" id="{924B0597-6276-471F-96FD-FDE08D64C524}"/>
              </a:ext>
            </a:extLst>
          </p:cNvPr>
          <p:cNvSpPr/>
          <p:nvPr userDrawn="1"/>
        </p:nvSpPr>
        <p:spPr>
          <a:xfrm>
            <a:off x="9188946" y="2045132"/>
            <a:ext cx="1742242" cy="1742242"/>
          </a:xfrm>
          <a:prstGeom prst="ellipse">
            <a:avLst/>
          </a:prstGeom>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Picture Placeholder 3">
            <a:extLst>
              <a:ext uri="{FF2B5EF4-FFF2-40B4-BE49-F238E27FC236}">
                <a16:creationId xmlns:a16="http://schemas.microsoft.com/office/drawing/2014/main" id="{04C4E3A7-AB8A-6243-BBFD-8A433C78470B}"/>
              </a:ext>
            </a:extLst>
          </p:cNvPr>
          <p:cNvSpPr>
            <a:spLocks noGrp="1"/>
          </p:cNvSpPr>
          <p:nvPr>
            <p:ph type="pic" sz="quarter" idx="23"/>
          </p:nvPr>
        </p:nvSpPr>
        <p:spPr>
          <a:xfrm>
            <a:off x="9473607" y="2311684"/>
            <a:ext cx="1182412" cy="1222625"/>
          </a:xfrm>
        </p:spPr>
        <p:txBody>
          <a:bodyPr/>
          <a:lstStyle>
            <a:lvl1pPr>
              <a:buNone/>
              <a:defRPr/>
            </a:lvl1pPr>
          </a:lstStyle>
          <a:p>
            <a:endParaRPr lang="en-US" dirty="0"/>
          </a:p>
        </p:txBody>
      </p:sp>
      <p:sp>
        <p:nvSpPr>
          <p:cNvPr id="30" name="Content Placeholder 2">
            <a:extLst>
              <a:ext uri="{FF2B5EF4-FFF2-40B4-BE49-F238E27FC236}">
                <a16:creationId xmlns:a16="http://schemas.microsoft.com/office/drawing/2014/main" id="{8FC2F9F8-450A-4433-BAFC-DCD0001FAF1D}"/>
              </a:ext>
            </a:extLst>
          </p:cNvPr>
          <p:cNvSpPr>
            <a:spLocks noGrp="1"/>
          </p:cNvSpPr>
          <p:nvPr>
            <p:ph idx="20" hasCustomPrompt="1"/>
          </p:nvPr>
        </p:nvSpPr>
        <p:spPr>
          <a:xfrm>
            <a:off x="8880634" y="4073057"/>
            <a:ext cx="2358866" cy="754602"/>
          </a:xfrm>
        </p:spPr>
        <p:txBody>
          <a:bodyPr lIns="0" tIns="0" rIns="0" bIns="0">
            <a:normAutofit/>
          </a:bodyPr>
          <a:lstStyle>
            <a:lvl1pPr marL="0" indent="0" algn="ctr">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a:t>
            </a:r>
            <a:br>
              <a:rPr lang="en-US" dirty="0"/>
            </a:br>
            <a:r>
              <a:rPr lang="en-US" dirty="0"/>
              <a:t>item or step 1</a:t>
            </a:r>
          </a:p>
        </p:txBody>
      </p:sp>
      <p:sp>
        <p:nvSpPr>
          <p:cNvPr id="16" name="Rectangle 15">
            <a:extLst>
              <a:ext uri="{FF2B5EF4-FFF2-40B4-BE49-F238E27FC236}">
                <a16:creationId xmlns:a16="http://schemas.microsoft.com/office/drawing/2014/main" id="{D4578BB7-B3A6-0D4A-A743-C8950F9817AE}"/>
              </a:ext>
            </a:extLst>
          </p:cNvPr>
          <p:cNvSpPr/>
          <p:nvPr userDrawn="1"/>
        </p:nvSpPr>
        <p:spPr>
          <a:xfrm>
            <a:off x="0" y="6389511"/>
            <a:ext cx="12192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20" name="Picture 19" descr="The University of Iowa">
            <a:extLst>
              <a:ext uri="{FF2B5EF4-FFF2-40B4-BE49-F238E27FC236}">
                <a16:creationId xmlns:a16="http://schemas.microsoft.com/office/drawing/2014/main" id="{6D319038-0896-5540-A405-0F93F52CC9DC}"/>
              </a:ext>
            </a:extLst>
          </p:cNvPr>
          <p:cNvPicPr>
            <a:picLocks noChangeAspect="1"/>
          </p:cNvPicPr>
          <p:nvPr userDrawn="1"/>
        </p:nvPicPr>
        <p:blipFill>
          <a:blip r:embed="rId2"/>
          <a:stretch>
            <a:fillRect/>
          </a:stretch>
        </p:blipFill>
        <p:spPr>
          <a:xfrm>
            <a:off x="838200" y="6131555"/>
            <a:ext cx="1545021" cy="733885"/>
          </a:xfrm>
          <a:prstGeom prst="rect">
            <a:avLst/>
          </a:prstGeom>
        </p:spPr>
      </p:pic>
      <p:sp>
        <p:nvSpPr>
          <p:cNvPr id="19" name="Footer Placeholder 4">
            <a:extLst>
              <a:ext uri="{FF2B5EF4-FFF2-40B4-BE49-F238E27FC236}">
                <a16:creationId xmlns:a16="http://schemas.microsoft.com/office/drawing/2014/main" id="{CF5779A1-5C1A-D949-93A6-EFB401BFC69D}"/>
              </a:ext>
            </a:extLst>
          </p:cNvPr>
          <p:cNvSpPr>
            <a:spLocks noGrp="1"/>
          </p:cNvSpPr>
          <p:nvPr>
            <p:ph type="ftr" sz="quarter" idx="3"/>
          </p:nvPr>
        </p:nvSpPr>
        <p:spPr>
          <a:xfrm>
            <a:off x="2519853" y="6441192"/>
            <a:ext cx="8684173" cy="365125"/>
          </a:xfrm>
          <a:prstGeom prst="rect">
            <a:avLst/>
          </a:prstGeom>
        </p:spPr>
        <p:txBody>
          <a:bodyPr vert="horz" lIns="91440" tIns="45720" rIns="91440" bIns="45720" rtlCol="0" anchor="ctr"/>
          <a:lstStyle>
            <a:lvl1pPr algn="l">
              <a:defRPr sz="1400" b="1">
                <a:solidFill>
                  <a:schemeClr val="bg1"/>
                </a:solidFill>
              </a:defRPr>
            </a:lvl1pPr>
          </a:lstStyle>
          <a:p>
            <a:r>
              <a:rPr lang="en-US"/>
              <a:t>Final Project | Topics in Computer Science II | Fall 2025, University of Iowa</a:t>
            </a:r>
            <a:endParaRPr lang="en-US" dirty="0"/>
          </a:p>
        </p:txBody>
      </p:sp>
    </p:spTree>
    <p:extLst>
      <p:ext uri="{BB962C8B-B14F-4D97-AF65-F5344CB8AC3E}">
        <p14:creationId xmlns:p14="http://schemas.microsoft.com/office/powerpoint/2010/main" val="1568389576"/>
      </p:ext>
    </p:extLst>
  </p:cSld>
  <p:clrMapOvr>
    <a:masterClrMapping/>
  </p:clrMapOvr>
  <p:extLst>
    <p:ext uri="{DCECCB84-F9BA-43D5-87BE-67443E8EF086}">
      <p15:sldGuideLst xmlns:p15="http://schemas.microsoft.com/office/powerpoint/2012/main">
        <p15:guide id="1" orient="horz" pos="2400" userDrawn="1">
          <p15:clr>
            <a:srgbClr val="FBAE40"/>
          </p15:clr>
        </p15:guide>
        <p15:guide id="2" pos="598">
          <p15:clr>
            <a:srgbClr val="FBAE40"/>
          </p15:clr>
        </p15:guide>
        <p15:guide id="3" pos="7080">
          <p15:clr>
            <a:srgbClr val="FBAE40"/>
          </p15:clr>
        </p15:guide>
        <p15:guide id="4" pos="3840">
          <p15:clr>
            <a:srgbClr val="FBAE40"/>
          </p15:clr>
        </p15:guide>
        <p15:guide id="5" orient="horz" pos="1054" userDrawn="1">
          <p15:clr>
            <a:srgbClr val="FBAE40"/>
          </p15:clr>
        </p15:guide>
        <p15:guide id="6" orient="horz" pos="3744" userDrawn="1">
          <p15:clr>
            <a:srgbClr val="FBAE40"/>
          </p15:clr>
        </p15:guide>
        <p15:guide id="7" orient="horz" pos="697"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Five Column Icon Layout">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C7E2EA4D-EFA8-4B7C-9585-ADB07DA2D974}"/>
              </a:ext>
            </a:extLst>
          </p:cNvPr>
          <p:cNvSpPr>
            <a:spLocks noGrp="1"/>
          </p:cNvSpPr>
          <p:nvPr>
            <p:ph type="title"/>
          </p:nvPr>
        </p:nvSpPr>
        <p:spPr>
          <a:xfrm>
            <a:off x="952499" y="526777"/>
            <a:ext cx="10287001" cy="869089"/>
          </a:xfrm>
        </p:spPr>
        <p:txBody>
          <a:bodyPr lIns="0" tIns="0" rIns="0" bIns="0"/>
          <a:lstStyle>
            <a:lvl1pPr>
              <a:defRPr>
                <a:latin typeface="Roboto" panose="02000000000000000000" pitchFamily="2" charset="0"/>
                <a:ea typeface="Roboto" panose="02000000000000000000" pitchFamily="2" charset="0"/>
              </a:defRPr>
            </a:lvl1pPr>
          </a:lstStyle>
          <a:p>
            <a:r>
              <a:rPr lang="en-US" dirty="0"/>
              <a:t>Click to edit Master title style</a:t>
            </a:r>
          </a:p>
        </p:txBody>
      </p:sp>
      <p:cxnSp>
        <p:nvCxnSpPr>
          <p:cNvPr id="7" name="Straight Connector 6">
            <a:extLst>
              <a:ext uri="{FF2B5EF4-FFF2-40B4-BE49-F238E27FC236}">
                <a16:creationId xmlns:a16="http://schemas.microsoft.com/office/drawing/2014/main" id="{E7D57D41-E534-4387-8837-F27E5C2408BD}"/>
              </a:ext>
            </a:extLst>
          </p:cNvPr>
          <p:cNvCxnSpPr>
            <a:cxnSpLocks/>
          </p:cNvCxnSpPr>
          <p:nvPr userDrawn="1"/>
        </p:nvCxnSpPr>
        <p:spPr>
          <a:xfrm>
            <a:off x="952498" y="1363362"/>
            <a:ext cx="768531" cy="0"/>
          </a:xfrm>
          <a:prstGeom prst="line">
            <a:avLst/>
          </a:prstGeom>
          <a:ln w="63500"/>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D6361F7-376B-4B6B-90CB-982F8C88D3AB}"/>
              </a:ext>
            </a:extLst>
          </p:cNvPr>
          <p:cNvCxnSpPr/>
          <p:nvPr userDrawn="1"/>
        </p:nvCxnSpPr>
        <p:spPr>
          <a:xfrm>
            <a:off x="2535870" y="2921860"/>
            <a:ext cx="7111014"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A7215D4C-D1BA-4B83-8034-F6173B4B3FE7}"/>
              </a:ext>
            </a:extLst>
          </p:cNvPr>
          <p:cNvSpPr/>
          <p:nvPr userDrawn="1"/>
        </p:nvSpPr>
        <p:spPr>
          <a:xfrm>
            <a:off x="1175438" y="2125657"/>
            <a:ext cx="1594590" cy="1594590"/>
          </a:xfrm>
          <a:prstGeom prst="ellipse">
            <a:avLst/>
          </a:prstGeom>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Picture Placeholder 3">
            <a:extLst>
              <a:ext uri="{FF2B5EF4-FFF2-40B4-BE49-F238E27FC236}">
                <a16:creationId xmlns:a16="http://schemas.microsoft.com/office/drawing/2014/main" id="{0E2F4087-739F-1B43-B022-92BCEDD29A2D}"/>
              </a:ext>
            </a:extLst>
          </p:cNvPr>
          <p:cNvSpPr>
            <a:spLocks noGrp="1"/>
          </p:cNvSpPr>
          <p:nvPr>
            <p:ph type="pic" sz="quarter" idx="26"/>
          </p:nvPr>
        </p:nvSpPr>
        <p:spPr>
          <a:xfrm>
            <a:off x="1448972" y="2403497"/>
            <a:ext cx="1030100" cy="1086492"/>
          </a:xfrm>
        </p:spPr>
        <p:txBody>
          <a:bodyPr/>
          <a:lstStyle>
            <a:lvl1pPr>
              <a:buNone/>
              <a:defRPr/>
            </a:lvl1pPr>
          </a:lstStyle>
          <a:p>
            <a:endParaRPr lang="en-US" dirty="0"/>
          </a:p>
        </p:txBody>
      </p:sp>
      <p:sp>
        <p:nvSpPr>
          <p:cNvPr id="24" name="Content Placeholder 2">
            <a:extLst>
              <a:ext uri="{FF2B5EF4-FFF2-40B4-BE49-F238E27FC236}">
                <a16:creationId xmlns:a16="http://schemas.microsoft.com/office/drawing/2014/main" id="{5C06C296-F787-402D-AC65-1E55B4D25C69}"/>
              </a:ext>
            </a:extLst>
          </p:cNvPr>
          <p:cNvSpPr>
            <a:spLocks noGrp="1"/>
          </p:cNvSpPr>
          <p:nvPr>
            <p:ph idx="17" hasCustomPrompt="1"/>
          </p:nvPr>
        </p:nvSpPr>
        <p:spPr>
          <a:xfrm>
            <a:off x="1175438" y="4078664"/>
            <a:ext cx="1601504" cy="754602"/>
          </a:xfrm>
        </p:spPr>
        <p:txBody>
          <a:bodyPr lIns="0" tIns="0" rIns="0" bIns="0">
            <a:normAutofit/>
          </a:bodyPr>
          <a:lstStyle>
            <a:lvl1pPr marL="0" indent="0" algn="ctr">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a:t>
            </a:r>
            <a:br>
              <a:rPr lang="en-US" dirty="0"/>
            </a:br>
            <a:r>
              <a:rPr lang="en-US" dirty="0"/>
              <a:t>item or step 1</a:t>
            </a:r>
          </a:p>
        </p:txBody>
      </p:sp>
      <p:sp>
        <p:nvSpPr>
          <p:cNvPr id="27" name="Oval 26">
            <a:extLst>
              <a:ext uri="{FF2B5EF4-FFF2-40B4-BE49-F238E27FC236}">
                <a16:creationId xmlns:a16="http://schemas.microsoft.com/office/drawing/2014/main" id="{AE1934B1-C1CC-42D5-A8D8-639ED39E9A45}"/>
              </a:ext>
            </a:extLst>
          </p:cNvPr>
          <p:cNvSpPr/>
          <p:nvPr userDrawn="1"/>
        </p:nvSpPr>
        <p:spPr>
          <a:xfrm>
            <a:off x="3222122" y="2125657"/>
            <a:ext cx="1594590" cy="1594590"/>
          </a:xfrm>
          <a:prstGeom prst="ellipse">
            <a:avLst/>
          </a:prstGeom>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3">
            <a:extLst>
              <a:ext uri="{FF2B5EF4-FFF2-40B4-BE49-F238E27FC236}">
                <a16:creationId xmlns:a16="http://schemas.microsoft.com/office/drawing/2014/main" id="{090A73C4-9F43-6142-BBC5-1C887BE310ED}"/>
              </a:ext>
            </a:extLst>
          </p:cNvPr>
          <p:cNvSpPr>
            <a:spLocks noGrp="1"/>
          </p:cNvSpPr>
          <p:nvPr>
            <p:ph type="pic" sz="quarter" idx="23"/>
          </p:nvPr>
        </p:nvSpPr>
        <p:spPr>
          <a:xfrm>
            <a:off x="3502864" y="2384080"/>
            <a:ext cx="1030100" cy="1086492"/>
          </a:xfrm>
        </p:spPr>
        <p:txBody>
          <a:bodyPr/>
          <a:lstStyle>
            <a:lvl1pPr>
              <a:buNone/>
              <a:defRPr/>
            </a:lvl1pPr>
          </a:lstStyle>
          <a:p>
            <a:endParaRPr lang="en-US" dirty="0"/>
          </a:p>
        </p:txBody>
      </p:sp>
      <p:sp>
        <p:nvSpPr>
          <p:cNvPr id="33" name="Content Placeholder 2">
            <a:extLst>
              <a:ext uri="{FF2B5EF4-FFF2-40B4-BE49-F238E27FC236}">
                <a16:creationId xmlns:a16="http://schemas.microsoft.com/office/drawing/2014/main" id="{9B9DF875-9EAF-4928-8E91-6599CCEAADEE}"/>
              </a:ext>
            </a:extLst>
          </p:cNvPr>
          <p:cNvSpPr>
            <a:spLocks noGrp="1"/>
          </p:cNvSpPr>
          <p:nvPr>
            <p:ph idx="18" hasCustomPrompt="1"/>
          </p:nvPr>
        </p:nvSpPr>
        <p:spPr>
          <a:xfrm>
            <a:off x="3225991" y="4080927"/>
            <a:ext cx="1601504" cy="754602"/>
          </a:xfrm>
        </p:spPr>
        <p:txBody>
          <a:bodyPr lIns="0" tIns="0" rIns="0" bIns="0">
            <a:normAutofit/>
          </a:bodyPr>
          <a:lstStyle>
            <a:lvl1pPr marL="0" indent="0" algn="ctr">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a:t>
            </a:r>
            <a:br>
              <a:rPr lang="en-US" dirty="0"/>
            </a:br>
            <a:r>
              <a:rPr lang="en-US" dirty="0"/>
              <a:t>item or step 2</a:t>
            </a:r>
          </a:p>
        </p:txBody>
      </p:sp>
      <p:sp>
        <p:nvSpPr>
          <p:cNvPr id="29" name="Oval 28">
            <a:extLst>
              <a:ext uri="{FF2B5EF4-FFF2-40B4-BE49-F238E27FC236}">
                <a16:creationId xmlns:a16="http://schemas.microsoft.com/office/drawing/2014/main" id="{07542B3E-45A5-4E88-A2C5-758AC86BE4D0}"/>
              </a:ext>
            </a:extLst>
          </p:cNvPr>
          <p:cNvSpPr/>
          <p:nvPr userDrawn="1"/>
        </p:nvSpPr>
        <p:spPr>
          <a:xfrm>
            <a:off x="5305996" y="2125657"/>
            <a:ext cx="1594590" cy="1594590"/>
          </a:xfrm>
          <a:prstGeom prst="ellipse">
            <a:avLst/>
          </a:prstGeom>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Picture Placeholder 3">
            <a:extLst>
              <a:ext uri="{FF2B5EF4-FFF2-40B4-BE49-F238E27FC236}">
                <a16:creationId xmlns:a16="http://schemas.microsoft.com/office/drawing/2014/main" id="{121B32AC-29FE-5347-BC89-E1D12CFE9173}"/>
              </a:ext>
            </a:extLst>
          </p:cNvPr>
          <p:cNvSpPr>
            <a:spLocks noGrp="1"/>
          </p:cNvSpPr>
          <p:nvPr>
            <p:ph type="pic" sz="quarter" idx="24"/>
          </p:nvPr>
        </p:nvSpPr>
        <p:spPr>
          <a:xfrm>
            <a:off x="5588241" y="2367425"/>
            <a:ext cx="1030100" cy="1086492"/>
          </a:xfrm>
        </p:spPr>
        <p:txBody>
          <a:bodyPr/>
          <a:lstStyle>
            <a:lvl1pPr>
              <a:buNone/>
              <a:defRPr/>
            </a:lvl1pPr>
          </a:lstStyle>
          <a:p>
            <a:endParaRPr lang="en-US" dirty="0"/>
          </a:p>
        </p:txBody>
      </p:sp>
      <p:sp>
        <p:nvSpPr>
          <p:cNvPr id="36" name="Content Placeholder 2">
            <a:extLst>
              <a:ext uri="{FF2B5EF4-FFF2-40B4-BE49-F238E27FC236}">
                <a16:creationId xmlns:a16="http://schemas.microsoft.com/office/drawing/2014/main" id="{FCAF8AD6-3AD0-422C-B775-D4163897266E}"/>
              </a:ext>
            </a:extLst>
          </p:cNvPr>
          <p:cNvSpPr>
            <a:spLocks noGrp="1"/>
          </p:cNvSpPr>
          <p:nvPr>
            <p:ph idx="19" hasCustomPrompt="1"/>
          </p:nvPr>
        </p:nvSpPr>
        <p:spPr>
          <a:xfrm>
            <a:off x="5285614" y="4095574"/>
            <a:ext cx="1601504" cy="754602"/>
          </a:xfrm>
        </p:spPr>
        <p:txBody>
          <a:bodyPr lIns="0" tIns="0" rIns="0" bIns="0">
            <a:normAutofit/>
          </a:bodyPr>
          <a:lstStyle>
            <a:lvl1pPr marL="0" indent="0" algn="ctr">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a:t>
            </a:r>
            <a:br>
              <a:rPr lang="en-US" dirty="0"/>
            </a:br>
            <a:r>
              <a:rPr lang="en-US" dirty="0"/>
              <a:t>item or step 3</a:t>
            </a:r>
          </a:p>
        </p:txBody>
      </p:sp>
      <p:sp>
        <p:nvSpPr>
          <p:cNvPr id="31" name="Oval 30">
            <a:extLst>
              <a:ext uri="{FF2B5EF4-FFF2-40B4-BE49-F238E27FC236}">
                <a16:creationId xmlns:a16="http://schemas.microsoft.com/office/drawing/2014/main" id="{924B0597-6276-471F-96FD-FDE08D64C524}"/>
              </a:ext>
            </a:extLst>
          </p:cNvPr>
          <p:cNvSpPr/>
          <p:nvPr userDrawn="1"/>
        </p:nvSpPr>
        <p:spPr>
          <a:xfrm>
            <a:off x="7346820" y="2120050"/>
            <a:ext cx="1594590" cy="1594590"/>
          </a:xfrm>
          <a:prstGeom prst="ellipse">
            <a:avLst/>
          </a:prstGeom>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Picture Placeholder 3">
            <a:extLst>
              <a:ext uri="{FF2B5EF4-FFF2-40B4-BE49-F238E27FC236}">
                <a16:creationId xmlns:a16="http://schemas.microsoft.com/office/drawing/2014/main" id="{035F86CE-4040-2C49-984A-EDA41DCC41DE}"/>
              </a:ext>
            </a:extLst>
          </p:cNvPr>
          <p:cNvSpPr>
            <a:spLocks noGrp="1"/>
          </p:cNvSpPr>
          <p:nvPr>
            <p:ph type="pic" sz="quarter" idx="25"/>
          </p:nvPr>
        </p:nvSpPr>
        <p:spPr>
          <a:xfrm>
            <a:off x="7583252" y="2382067"/>
            <a:ext cx="1121725" cy="1086492"/>
          </a:xfrm>
        </p:spPr>
        <p:txBody>
          <a:bodyPr/>
          <a:lstStyle>
            <a:lvl1pPr>
              <a:buNone/>
              <a:defRPr/>
            </a:lvl1pPr>
          </a:lstStyle>
          <a:p>
            <a:endParaRPr lang="en-US" dirty="0"/>
          </a:p>
        </p:txBody>
      </p:sp>
      <p:sp>
        <p:nvSpPr>
          <p:cNvPr id="38" name="Content Placeholder 2">
            <a:extLst>
              <a:ext uri="{FF2B5EF4-FFF2-40B4-BE49-F238E27FC236}">
                <a16:creationId xmlns:a16="http://schemas.microsoft.com/office/drawing/2014/main" id="{7322EF39-6BE8-4D2B-B814-5743037B71F3}"/>
              </a:ext>
            </a:extLst>
          </p:cNvPr>
          <p:cNvSpPr>
            <a:spLocks noGrp="1"/>
          </p:cNvSpPr>
          <p:nvPr>
            <p:ph idx="20" hasCustomPrompt="1"/>
          </p:nvPr>
        </p:nvSpPr>
        <p:spPr>
          <a:xfrm>
            <a:off x="7325607" y="4098102"/>
            <a:ext cx="1601504" cy="754602"/>
          </a:xfrm>
        </p:spPr>
        <p:txBody>
          <a:bodyPr lIns="0" tIns="0" rIns="0" bIns="0">
            <a:normAutofit/>
          </a:bodyPr>
          <a:lstStyle>
            <a:lvl1pPr marL="0" indent="0" algn="ctr">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a:t>
            </a:r>
            <a:br>
              <a:rPr lang="en-US" dirty="0"/>
            </a:br>
            <a:r>
              <a:rPr lang="en-US" dirty="0"/>
              <a:t>item or step 4</a:t>
            </a:r>
          </a:p>
        </p:txBody>
      </p:sp>
      <p:sp>
        <p:nvSpPr>
          <p:cNvPr id="39" name="Oval 38">
            <a:extLst>
              <a:ext uri="{FF2B5EF4-FFF2-40B4-BE49-F238E27FC236}">
                <a16:creationId xmlns:a16="http://schemas.microsoft.com/office/drawing/2014/main" id="{D3182B05-A7F1-450F-AE61-51425BEF3AA6}"/>
              </a:ext>
            </a:extLst>
          </p:cNvPr>
          <p:cNvSpPr/>
          <p:nvPr userDrawn="1"/>
        </p:nvSpPr>
        <p:spPr>
          <a:xfrm>
            <a:off x="9434872" y="2133924"/>
            <a:ext cx="1594590" cy="1594590"/>
          </a:xfrm>
          <a:prstGeom prst="ellipse">
            <a:avLst/>
          </a:prstGeom>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Picture Placeholder 3">
            <a:extLst>
              <a:ext uri="{FF2B5EF4-FFF2-40B4-BE49-F238E27FC236}">
                <a16:creationId xmlns:a16="http://schemas.microsoft.com/office/drawing/2014/main" id="{F0B4205C-10C8-FE4A-8B1C-0B1A629E22B6}"/>
              </a:ext>
            </a:extLst>
          </p:cNvPr>
          <p:cNvSpPr>
            <a:spLocks noGrp="1"/>
          </p:cNvSpPr>
          <p:nvPr>
            <p:ph type="pic" sz="quarter" idx="22"/>
          </p:nvPr>
        </p:nvSpPr>
        <p:spPr>
          <a:xfrm>
            <a:off x="9682000" y="2389427"/>
            <a:ext cx="1100333" cy="1086492"/>
          </a:xfrm>
        </p:spPr>
        <p:txBody>
          <a:bodyPr/>
          <a:lstStyle>
            <a:lvl1pPr>
              <a:buNone/>
              <a:defRPr/>
            </a:lvl1pPr>
          </a:lstStyle>
          <a:p>
            <a:endParaRPr lang="en-US" dirty="0"/>
          </a:p>
        </p:txBody>
      </p:sp>
      <p:sp>
        <p:nvSpPr>
          <p:cNvPr id="40" name="Content Placeholder 2">
            <a:extLst>
              <a:ext uri="{FF2B5EF4-FFF2-40B4-BE49-F238E27FC236}">
                <a16:creationId xmlns:a16="http://schemas.microsoft.com/office/drawing/2014/main" id="{0D14923E-7CAE-49B7-9668-7B538ECFDC5F}"/>
              </a:ext>
            </a:extLst>
          </p:cNvPr>
          <p:cNvSpPr>
            <a:spLocks noGrp="1"/>
          </p:cNvSpPr>
          <p:nvPr>
            <p:ph idx="21" hasCustomPrompt="1"/>
          </p:nvPr>
        </p:nvSpPr>
        <p:spPr>
          <a:xfrm>
            <a:off x="9419080" y="4107460"/>
            <a:ext cx="1601504" cy="754602"/>
          </a:xfrm>
        </p:spPr>
        <p:txBody>
          <a:bodyPr lIns="0" tIns="0" rIns="0" bIns="0">
            <a:normAutofit/>
          </a:bodyPr>
          <a:lstStyle>
            <a:lvl1pPr marL="0" indent="0" algn="ctr">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a:t>
            </a:r>
            <a:br>
              <a:rPr lang="en-US" dirty="0"/>
            </a:br>
            <a:r>
              <a:rPr lang="en-US" dirty="0"/>
              <a:t>item or step 5</a:t>
            </a:r>
          </a:p>
        </p:txBody>
      </p:sp>
      <p:sp>
        <p:nvSpPr>
          <p:cNvPr id="20" name="Rectangle 19">
            <a:extLst>
              <a:ext uri="{FF2B5EF4-FFF2-40B4-BE49-F238E27FC236}">
                <a16:creationId xmlns:a16="http://schemas.microsoft.com/office/drawing/2014/main" id="{76866093-3200-6440-8AB2-9242D398F84E}"/>
              </a:ext>
            </a:extLst>
          </p:cNvPr>
          <p:cNvSpPr/>
          <p:nvPr userDrawn="1"/>
        </p:nvSpPr>
        <p:spPr>
          <a:xfrm>
            <a:off x="0" y="6389511"/>
            <a:ext cx="12192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22" name="Picture 21" descr="The University of Iowa">
            <a:extLst>
              <a:ext uri="{FF2B5EF4-FFF2-40B4-BE49-F238E27FC236}">
                <a16:creationId xmlns:a16="http://schemas.microsoft.com/office/drawing/2014/main" id="{D664CA64-A0A9-F34D-BDC5-9ABCDE7A5479}"/>
              </a:ext>
            </a:extLst>
          </p:cNvPr>
          <p:cNvPicPr>
            <a:picLocks noChangeAspect="1"/>
          </p:cNvPicPr>
          <p:nvPr userDrawn="1"/>
        </p:nvPicPr>
        <p:blipFill>
          <a:blip r:embed="rId2"/>
          <a:stretch>
            <a:fillRect/>
          </a:stretch>
        </p:blipFill>
        <p:spPr>
          <a:xfrm>
            <a:off x="838200" y="6131555"/>
            <a:ext cx="1545021" cy="733885"/>
          </a:xfrm>
          <a:prstGeom prst="rect">
            <a:avLst/>
          </a:prstGeom>
        </p:spPr>
      </p:pic>
      <p:sp>
        <p:nvSpPr>
          <p:cNvPr id="21" name="Footer Placeholder 4">
            <a:extLst>
              <a:ext uri="{FF2B5EF4-FFF2-40B4-BE49-F238E27FC236}">
                <a16:creationId xmlns:a16="http://schemas.microsoft.com/office/drawing/2014/main" id="{EB50283A-D398-E048-BDA3-92DD544A494E}"/>
              </a:ext>
            </a:extLst>
          </p:cNvPr>
          <p:cNvSpPr>
            <a:spLocks noGrp="1"/>
          </p:cNvSpPr>
          <p:nvPr>
            <p:ph type="ftr" sz="quarter" idx="3"/>
          </p:nvPr>
        </p:nvSpPr>
        <p:spPr>
          <a:xfrm>
            <a:off x="2519853" y="6441192"/>
            <a:ext cx="8684173" cy="365125"/>
          </a:xfrm>
          <a:prstGeom prst="rect">
            <a:avLst/>
          </a:prstGeom>
        </p:spPr>
        <p:txBody>
          <a:bodyPr vert="horz" lIns="91440" tIns="45720" rIns="91440" bIns="45720" rtlCol="0" anchor="ctr"/>
          <a:lstStyle>
            <a:lvl1pPr algn="l">
              <a:defRPr sz="1400" b="1">
                <a:solidFill>
                  <a:schemeClr val="bg1"/>
                </a:solidFill>
              </a:defRPr>
            </a:lvl1pPr>
          </a:lstStyle>
          <a:p>
            <a:r>
              <a:rPr lang="en-US" b="0"/>
              <a:t>Final Project | Topics in Computer Science II | Fall 2025, University of Iowa</a:t>
            </a:r>
            <a:endParaRPr lang="en-US" dirty="0"/>
          </a:p>
        </p:txBody>
      </p:sp>
    </p:spTree>
    <p:extLst>
      <p:ext uri="{BB962C8B-B14F-4D97-AF65-F5344CB8AC3E}">
        <p14:creationId xmlns:p14="http://schemas.microsoft.com/office/powerpoint/2010/main" val="398207520"/>
      </p:ext>
    </p:extLst>
  </p:cSld>
  <p:clrMapOvr>
    <a:masterClrMapping/>
  </p:clrMapOvr>
  <p:extLst>
    <p:ext uri="{DCECCB84-F9BA-43D5-87BE-67443E8EF086}">
      <p15:sldGuideLst xmlns:p15="http://schemas.microsoft.com/office/powerpoint/2012/main">
        <p15:guide id="1" orient="horz" pos="2400" userDrawn="1">
          <p15:clr>
            <a:srgbClr val="FBAE40"/>
          </p15:clr>
        </p15:guide>
        <p15:guide id="2" pos="598">
          <p15:clr>
            <a:srgbClr val="FBAE40"/>
          </p15:clr>
        </p15:guide>
        <p15:guide id="3" pos="7080">
          <p15:clr>
            <a:srgbClr val="FBAE40"/>
          </p15:clr>
        </p15:guide>
        <p15:guide id="4" pos="3840">
          <p15:clr>
            <a:srgbClr val="FBAE40"/>
          </p15:clr>
        </p15:guide>
        <p15:guide id="5" orient="horz" pos="1054" userDrawn="1">
          <p15:clr>
            <a:srgbClr val="FBAE40"/>
          </p15:clr>
        </p15:guide>
        <p15:guide id="6" orient="horz" pos="3744" userDrawn="1">
          <p15:clr>
            <a:srgbClr val="FBAE40"/>
          </p15:clr>
        </p15:guide>
        <p15:guide id="7" orient="horz" pos="697"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ree Column Photo Layout">
    <p:spTree>
      <p:nvGrpSpPr>
        <p:cNvPr id="1" name=""/>
        <p:cNvGrpSpPr/>
        <p:nvPr/>
      </p:nvGrpSpPr>
      <p:grpSpPr>
        <a:xfrm>
          <a:off x="0" y="0"/>
          <a:ext cx="0" cy="0"/>
          <a:chOff x="0" y="0"/>
          <a:chExt cx="0" cy="0"/>
        </a:xfrm>
      </p:grpSpPr>
      <p:sp>
        <p:nvSpPr>
          <p:cNvPr id="24" name="Title 1">
            <a:extLst>
              <a:ext uri="{FF2B5EF4-FFF2-40B4-BE49-F238E27FC236}">
                <a16:creationId xmlns:a16="http://schemas.microsoft.com/office/drawing/2014/main" id="{B103BAF8-AE0C-4C2A-AFFE-5EFC74007B1B}"/>
              </a:ext>
            </a:extLst>
          </p:cNvPr>
          <p:cNvSpPr>
            <a:spLocks noGrp="1"/>
          </p:cNvSpPr>
          <p:nvPr>
            <p:ph type="title"/>
          </p:nvPr>
        </p:nvSpPr>
        <p:spPr>
          <a:xfrm>
            <a:off x="952499" y="526777"/>
            <a:ext cx="10287001" cy="869089"/>
          </a:xfrm>
        </p:spPr>
        <p:txBody>
          <a:bodyPr lIns="0" tIns="0" rIns="0" bIns="0"/>
          <a:lstStyle>
            <a:lvl1pPr>
              <a:defRPr>
                <a:latin typeface="Roboto" panose="02000000000000000000" pitchFamily="2" charset="0"/>
                <a:ea typeface="Roboto" panose="02000000000000000000" pitchFamily="2" charset="0"/>
              </a:defRPr>
            </a:lvl1pPr>
          </a:lstStyle>
          <a:p>
            <a:r>
              <a:rPr lang="en-US" dirty="0"/>
              <a:t>Click to edit Master title style</a:t>
            </a:r>
          </a:p>
        </p:txBody>
      </p:sp>
      <p:cxnSp>
        <p:nvCxnSpPr>
          <p:cNvPr id="7" name="Straight Connector 6">
            <a:extLst>
              <a:ext uri="{FF2B5EF4-FFF2-40B4-BE49-F238E27FC236}">
                <a16:creationId xmlns:a16="http://schemas.microsoft.com/office/drawing/2014/main" id="{E7D57D41-E534-4387-8837-F27E5C2408BD}"/>
              </a:ext>
            </a:extLst>
          </p:cNvPr>
          <p:cNvCxnSpPr>
            <a:cxnSpLocks/>
          </p:cNvCxnSpPr>
          <p:nvPr userDrawn="1"/>
        </p:nvCxnSpPr>
        <p:spPr>
          <a:xfrm>
            <a:off x="952498" y="1363362"/>
            <a:ext cx="768531"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4" name="Picture Placeholder 3">
            <a:extLst>
              <a:ext uri="{FF2B5EF4-FFF2-40B4-BE49-F238E27FC236}">
                <a16:creationId xmlns:a16="http://schemas.microsoft.com/office/drawing/2014/main" id="{4C29AABA-668F-408C-81ED-9A30ED0A4BE9}"/>
              </a:ext>
            </a:extLst>
          </p:cNvPr>
          <p:cNvSpPr>
            <a:spLocks noGrp="1"/>
          </p:cNvSpPr>
          <p:nvPr>
            <p:ph type="pic" sz="quarter" idx="15"/>
          </p:nvPr>
        </p:nvSpPr>
        <p:spPr>
          <a:xfrm>
            <a:off x="949325" y="1684461"/>
            <a:ext cx="3170238" cy="1621608"/>
          </a:xfrm>
        </p:spPr>
        <p:txBody>
          <a:bodyPr/>
          <a:lstStyle>
            <a:lvl1pPr>
              <a:buNone/>
              <a:defRPr/>
            </a:lvl1pPr>
          </a:lstStyle>
          <a:p>
            <a:endParaRPr lang="en-US" dirty="0"/>
          </a:p>
        </p:txBody>
      </p:sp>
      <p:sp>
        <p:nvSpPr>
          <p:cNvPr id="5" name="Content Placeholder 2">
            <a:extLst>
              <a:ext uri="{FF2B5EF4-FFF2-40B4-BE49-F238E27FC236}">
                <a16:creationId xmlns:a16="http://schemas.microsoft.com/office/drawing/2014/main" id="{94F85108-BDC9-43A2-BEF1-240E666F4E03}"/>
              </a:ext>
            </a:extLst>
          </p:cNvPr>
          <p:cNvSpPr>
            <a:spLocks noGrp="1"/>
          </p:cNvSpPr>
          <p:nvPr>
            <p:ph idx="1" hasCustomPrompt="1"/>
          </p:nvPr>
        </p:nvSpPr>
        <p:spPr>
          <a:xfrm>
            <a:off x="952500" y="3548916"/>
            <a:ext cx="3166740" cy="754602"/>
          </a:xfrm>
        </p:spPr>
        <p:txBody>
          <a:bodyPr lIns="0" tIns="0" rIns="0" bIns="0">
            <a:norm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14" name="Content Placeholder 2">
            <a:extLst>
              <a:ext uri="{FF2B5EF4-FFF2-40B4-BE49-F238E27FC236}">
                <a16:creationId xmlns:a16="http://schemas.microsoft.com/office/drawing/2014/main" id="{968A6427-DC92-4AE6-82DE-34A0B3A972EE}"/>
              </a:ext>
            </a:extLst>
          </p:cNvPr>
          <p:cNvSpPr>
            <a:spLocks noGrp="1"/>
          </p:cNvSpPr>
          <p:nvPr>
            <p:ph idx="10" hasCustomPrompt="1"/>
          </p:nvPr>
        </p:nvSpPr>
        <p:spPr>
          <a:xfrm>
            <a:off x="952501" y="4383805"/>
            <a:ext cx="3166740" cy="1408471"/>
          </a:xfrm>
        </p:spPr>
        <p:txBody>
          <a:bodyPr lIns="0" tIns="0" rIns="0" bIns="0">
            <a:normAutofit/>
          </a:bodyPr>
          <a:lstStyle>
            <a:lvl1pPr marL="0" indent="0">
              <a:buSzPct val="95000"/>
              <a:buFont typeface="Arial" panose="020B0604020202020204" pitchFamily="34" charset="0"/>
              <a:buNone/>
              <a:defRPr sz="18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cxnSp>
        <p:nvCxnSpPr>
          <p:cNvPr id="11" name="Straight Connector 10">
            <a:extLst>
              <a:ext uri="{FF2B5EF4-FFF2-40B4-BE49-F238E27FC236}">
                <a16:creationId xmlns:a16="http://schemas.microsoft.com/office/drawing/2014/main" id="{7336E4CD-9037-4D69-A3E3-6380D9131A19}"/>
              </a:ext>
            </a:extLst>
          </p:cNvPr>
          <p:cNvCxnSpPr/>
          <p:nvPr userDrawn="1"/>
        </p:nvCxnSpPr>
        <p:spPr>
          <a:xfrm>
            <a:off x="4376691" y="1679383"/>
            <a:ext cx="0" cy="4264218"/>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9" name="Picture Placeholder 3">
            <a:extLst>
              <a:ext uri="{FF2B5EF4-FFF2-40B4-BE49-F238E27FC236}">
                <a16:creationId xmlns:a16="http://schemas.microsoft.com/office/drawing/2014/main" id="{3C3EF38F-8A6A-4B49-A1A2-467E7797A518}"/>
              </a:ext>
            </a:extLst>
          </p:cNvPr>
          <p:cNvSpPr>
            <a:spLocks noGrp="1"/>
          </p:cNvSpPr>
          <p:nvPr>
            <p:ph type="pic" sz="quarter" idx="16"/>
          </p:nvPr>
        </p:nvSpPr>
        <p:spPr>
          <a:xfrm>
            <a:off x="4602447" y="1677611"/>
            <a:ext cx="2987311" cy="1621608"/>
          </a:xfrm>
        </p:spPr>
        <p:txBody>
          <a:bodyPr/>
          <a:lstStyle>
            <a:lvl1pPr>
              <a:buNone/>
              <a:defRPr/>
            </a:lvl1pPr>
          </a:lstStyle>
          <a:p>
            <a:endParaRPr lang="en-US" dirty="0"/>
          </a:p>
        </p:txBody>
      </p:sp>
      <p:sp>
        <p:nvSpPr>
          <p:cNvPr id="15" name="Content Placeholder 2">
            <a:extLst>
              <a:ext uri="{FF2B5EF4-FFF2-40B4-BE49-F238E27FC236}">
                <a16:creationId xmlns:a16="http://schemas.microsoft.com/office/drawing/2014/main" id="{700A296A-0A06-4FFB-B935-517187294F6B}"/>
              </a:ext>
            </a:extLst>
          </p:cNvPr>
          <p:cNvSpPr>
            <a:spLocks noGrp="1"/>
          </p:cNvSpPr>
          <p:nvPr>
            <p:ph idx="11" hasCustomPrompt="1"/>
          </p:nvPr>
        </p:nvSpPr>
        <p:spPr>
          <a:xfrm>
            <a:off x="4616385" y="3537679"/>
            <a:ext cx="2973372" cy="754602"/>
          </a:xfrm>
        </p:spPr>
        <p:txBody>
          <a:bodyPr lIns="0" tIns="0" rIns="0" bIns="0">
            <a:norm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16" name="Content Placeholder 2">
            <a:extLst>
              <a:ext uri="{FF2B5EF4-FFF2-40B4-BE49-F238E27FC236}">
                <a16:creationId xmlns:a16="http://schemas.microsoft.com/office/drawing/2014/main" id="{4DA600F9-1950-41BD-ACB3-21F2B5AE9494}"/>
              </a:ext>
            </a:extLst>
          </p:cNvPr>
          <p:cNvSpPr>
            <a:spLocks noGrp="1"/>
          </p:cNvSpPr>
          <p:nvPr>
            <p:ph idx="12" hasCustomPrompt="1"/>
          </p:nvPr>
        </p:nvSpPr>
        <p:spPr>
          <a:xfrm>
            <a:off x="4616386" y="4372568"/>
            <a:ext cx="2973372" cy="1408471"/>
          </a:xfrm>
        </p:spPr>
        <p:txBody>
          <a:bodyPr lIns="0" tIns="0" rIns="0" bIns="0">
            <a:normAutofit/>
          </a:bodyPr>
          <a:lstStyle>
            <a:lvl1pPr marL="0" indent="0">
              <a:buSzPct val="95000"/>
              <a:buFont typeface="Arial" panose="020B0604020202020204" pitchFamily="34" charset="0"/>
              <a:buNone/>
              <a:defRPr sz="18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cxnSp>
        <p:nvCxnSpPr>
          <p:cNvPr id="12" name="Straight Connector 11">
            <a:extLst>
              <a:ext uri="{FF2B5EF4-FFF2-40B4-BE49-F238E27FC236}">
                <a16:creationId xmlns:a16="http://schemas.microsoft.com/office/drawing/2014/main" id="{3CA77083-F133-420F-93AD-77761878E852}"/>
              </a:ext>
            </a:extLst>
          </p:cNvPr>
          <p:cNvCxnSpPr/>
          <p:nvPr userDrawn="1"/>
        </p:nvCxnSpPr>
        <p:spPr>
          <a:xfrm>
            <a:off x="7806430" y="1679383"/>
            <a:ext cx="0" cy="4264218"/>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1" name="Picture Placeholder 3">
            <a:extLst>
              <a:ext uri="{FF2B5EF4-FFF2-40B4-BE49-F238E27FC236}">
                <a16:creationId xmlns:a16="http://schemas.microsoft.com/office/drawing/2014/main" id="{DDD8951C-5A36-4D07-AB7C-0F597B3D797D}"/>
              </a:ext>
            </a:extLst>
          </p:cNvPr>
          <p:cNvSpPr>
            <a:spLocks noGrp="1"/>
          </p:cNvSpPr>
          <p:nvPr>
            <p:ph type="pic" sz="quarter" idx="17"/>
          </p:nvPr>
        </p:nvSpPr>
        <p:spPr>
          <a:xfrm>
            <a:off x="8072642" y="1684461"/>
            <a:ext cx="3166858" cy="1621608"/>
          </a:xfrm>
        </p:spPr>
        <p:txBody>
          <a:bodyPr/>
          <a:lstStyle>
            <a:lvl1pPr>
              <a:buNone/>
              <a:defRPr/>
            </a:lvl1pPr>
          </a:lstStyle>
          <a:p>
            <a:endParaRPr lang="en-US" dirty="0"/>
          </a:p>
        </p:txBody>
      </p:sp>
      <p:sp>
        <p:nvSpPr>
          <p:cNvPr id="17" name="Content Placeholder 2">
            <a:extLst>
              <a:ext uri="{FF2B5EF4-FFF2-40B4-BE49-F238E27FC236}">
                <a16:creationId xmlns:a16="http://schemas.microsoft.com/office/drawing/2014/main" id="{D4DB30FF-E82C-424F-A06C-EFC3CFC45E36}"/>
              </a:ext>
            </a:extLst>
          </p:cNvPr>
          <p:cNvSpPr>
            <a:spLocks noGrp="1"/>
          </p:cNvSpPr>
          <p:nvPr>
            <p:ph idx="13" hasCustomPrompt="1"/>
          </p:nvPr>
        </p:nvSpPr>
        <p:spPr>
          <a:xfrm>
            <a:off x="8063514" y="3537679"/>
            <a:ext cx="3166740" cy="754602"/>
          </a:xfrm>
        </p:spPr>
        <p:txBody>
          <a:bodyPr lIns="0" tIns="0" rIns="0" bIns="0">
            <a:norm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18" name="Content Placeholder 2">
            <a:extLst>
              <a:ext uri="{FF2B5EF4-FFF2-40B4-BE49-F238E27FC236}">
                <a16:creationId xmlns:a16="http://schemas.microsoft.com/office/drawing/2014/main" id="{36DC4408-89C4-4D74-957E-B2A4D59F76AE}"/>
              </a:ext>
            </a:extLst>
          </p:cNvPr>
          <p:cNvSpPr>
            <a:spLocks noGrp="1"/>
          </p:cNvSpPr>
          <p:nvPr>
            <p:ph idx="14" hasCustomPrompt="1"/>
          </p:nvPr>
        </p:nvSpPr>
        <p:spPr>
          <a:xfrm>
            <a:off x="8063515" y="4372568"/>
            <a:ext cx="3166740" cy="1408471"/>
          </a:xfrm>
        </p:spPr>
        <p:txBody>
          <a:bodyPr lIns="0" tIns="0" rIns="0" bIns="0">
            <a:normAutofit/>
          </a:bodyPr>
          <a:lstStyle>
            <a:lvl1pPr marL="0" indent="0">
              <a:buSzPct val="95000"/>
              <a:buFont typeface="Arial" panose="020B0604020202020204" pitchFamily="34" charset="0"/>
              <a:buNone/>
              <a:defRPr sz="18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sp>
        <p:nvSpPr>
          <p:cNvPr id="23" name="Rectangle 22">
            <a:extLst>
              <a:ext uri="{FF2B5EF4-FFF2-40B4-BE49-F238E27FC236}">
                <a16:creationId xmlns:a16="http://schemas.microsoft.com/office/drawing/2014/main" id="{02DAB539-1500-4641-B587-77CADD883496}"/>
              </a:ext>
            </a:extLst>
          </p:cNvPr>
          <p:cNvSpPr/>
          <p:nvPr userDrawn="1"/>
        </p:nvSpPr>
        <p:spPr>
          <a:xfrm>
            <a:off x="0" y="6389511"/>
            <a:ext cx="12192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26" name="Picture 25" descr="The University of Iowa">
            <a:extLst>
              <a:ext uri="{FF2B5EF4-FFF2-40B4-BE49-F238E27FC236}">
                <a16:creationId xmlns:a16="http://schemas.microsoft.com/office/drawing/2014/main" id="{425DB221-2568-9A44-ABC3-1ED0E0B41E19}"/>
              </a:ext>
            </a:extLst>
          </p:cNvPr>
          <p:cNvPicPr>
            <a:picLocks noChangeAspect="1"/>
          </p:cNvPicPr>
          <p:nvPr userDrawn="1"/>
        </p:nvPicPr>
        <p:blipFill>
          <a:blip r:embed="rId2"/>
          <a:stretch>
            <a:fillRect/>
          </a:stretch>
        </p:blipFill>
        <p:spPr>
          <a:xfrm>
            <a:off x="838200" y="6131555"/>
            <a:ext cx="1545021" cy="733885"/>
          </a:xfrm>
          <a:prstGeom prst="rect">
            <a:avLst/>
          </a:prstGeom>
        </p:spPr>
      </p:pic>
      <p:sp>
        <p:nvSpPr>
          <p:cNvPr id="25" name="Footer Placeholder 4">
            <a:extLst>
              <a:ext uri="{FF2B5EF4-FFF2-40B4-BE49-F238E27FC236}">
                <a16:creationId xmlns:a16="http://schemas.microsoft.com/office/drawing/2014/main" id="{6E30D721-4805-D344-A3E0-90A8F1D568DF}"/>
              </a:ext>
            </a:extLst>
          </p:cNvPr>
          <p:cNvSpPr>
            <a:spLocks noGrp="1"/>
          </p:cNvSpPr>
          <p:nvPr>
            <p:ph type="ftr" sz="quarter" idx="3"/>
          </p:nvPr>
        </p:nvSpPr>
        <p:spPr>
          <a:xfrm>
            <a:off x="2519853" y="6441192"/>
            <a:ext cx="8684173" cy="365125"/>
          </a:xfrm>
          <a:prstGeom prst="rect">
            <a:avLst/>
          </a:prstGeom>
        </p:spPr>
        <p:txBody>
          <a:bodyPr vert="horz" lIns="91440" tIns="45720" rIns="91440" bIns="45720" rtlCol="0" anchor="ctr"/>
          <a:lstStyle>
            <a:lvl1pPr algn="l">
              <a:defRPr sz="1400" b="0">
                <a:solidFill>
                  <a:schemeClr val="bg1"/>
                </a:solidFill>
              </a:defRPr>
            </a:lvl1pPr>
          </a:lstStyle>
          <a:p>
            <a:r>
              <a:rPr lang="en-US"/>
              <a:t>Final Project | Topics in Computer Science II | Fall 2025, University of Iowa</a:t>
            </a:r>
            <a:endParaRPr lang="en-US" b="0" dirty="0"/>
          </a:p>
        </p:txBody>
      </p:sp>
    </p:spTree>
    <p:extLst>
      <p:ext uri="{BB962C8B-B14F-4D97-AF65-F5344CB8AC3E}">
        <p14:creationId xmlns:p14="http://schemas.microsoft.com/office/powerpoint/2010/main" val="2664682089"/>
      </p:ext>
    </p:extLst>
  </p:cSld>
  <p:clrMapOvr>
    <a:masterClrMapping/>
  </p:clrMapOvr>
  <p:extLst>
    <p:ext uri="{DCECCB84-F9BA-43D5-87BE-67443E8EF086}">
      <p15:sldGuideLst xmlns:p15="http://schemas.microsoft.com/office/powerpoint/2012/main">
        <p15:guide id="2" pos="598">
          <p15:clr>
            <a:srgbClr val="FBAE40"/>
          </p15:clr>
        </p15:guide>
        <p15:guide id="3" pos="7080">
          <p15:clr>
            <a:srgbClr val="FBAE40"/>
          </p15:clr>
        </p15:guide>
        <p15:guide id="4" pos="3840">
          <p15:clr>
            <a:srgbClr val="FBAE40"/>
          </p15:clr>
        </p15:guide>
        <p15:guide id="5" orient="horz" pos="1054">
          <p15:clr>
            <a:srgbClr val="FBAE40"/>
          </p15:clr>
        </p15:guide>
        <p15:guide id="7" orient="horz" pos="3744">
          <p15:clr>
            <a:srgbClr val="FBAE40"/>
          </p15:clr>
        </p15:guide>
        <p15:guide id="8" orient="horz" pos="697">
          <p15:clr>
            <a:srgbClr val="FBAE40"/>
          </p15:clr>
        </p15:guide>
        <p15:guide id="9" orient="horz" pos="2400"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Four Column Photo Layout">
    <p:spTree>
      <p:nvGrpSpPr>
        <p:cNvPr id="1" name=""/>
        <p:cNvGrpSpPr/>
        <p:nvPr/>
      </p:nvGrpSpPr>
      <p:grpSpPr>
        <a:xfrm>
          <a:off x="0" y="0"/>
          <a:ext cx="0" cy="0"/>
          <a:chOff x="0" y="0"/>
          <a:chExt cx="0" cy="0"/>
        </a:xfrm>
      </p:grpSpPr>
      <p:sp>
        <p:nvSpPr>
          <p:cNvPr id="27" name="Title 1">
            <a:extLst>
              <a:ext uri="{FF2B5EF4-FFF2-40B4-BE49-F238E27FC236}">
                <a16:creationId xmlns:a16="http://schemas.microsoft.com/office/drawing/2014/main" id="{D42FEC1B-FCF8-4508-B227-27323879AC52}"/>
              </a:ext>
            </a:extLst>
          </p:cNvPr>
          <p:cNvSpPr>
            <a:spLocks noGrp="1"/>
          </p:cNvSpPr>
          <p:nvPr userDrawn="1">
            <p:ph type="title"/>
          </p:nvPr>
        </p:nvSpPr>
        <p:spPr>
          <a:xfrm>
            <a:off x="952499" y="526777"/>
            <a:ext cx="10287001" cy="869089"/>
          </a:xfrm>
        </p:spPr>
        <p:txBody>
          <a:bodyPr lIns="0" tIns="0" rIns="0" bIns="0"/>
          <a:lstStyle>
            <a:lvl1pPr>
              <a:defRPr>
                <a:latin typeface="Roboto" panose="02000000000000000000" pitchFamily="2" charset="0"/>
                <a:ea typeface="Roboto" panose="02000000000000000000" pitchFamily="2" charset="0"/>
              </a:defRPr>
            </a:lvl1pPr>
          </a:lstStyle>
          <a:p>
            <a:r>
              <a:rPr lang="en-US" dirty="0"/>
              <a:t>Click to edit Master title style</a:t>
            </a:r>
          </a:p>
        </p:txBody>
      </p:sp>
      <p:cxnSp>
        <p:nvCxnSpPr>
          <p:cNvPr id="7" name="Straight Connector 6">
            <a:extLst>
              <a:ext uri="{FF2B5EF4-FFF2-40B4-BE49-F238E27FC236}">
                <a16:creationId xmlns:a16="http://schemas.microsoft.com/office/drawing/2014/main" id="{E7D57D41-E534-4387-8837-F27E5C2408BD}"/>
              </a:ext>
            </a:extLst>
          </p:cNvPr>
          <p:cNvCxnSpPr>
            <a:cxnSpLocks/>
          </p:cNvCxnSpPr>
          <p:nvPr userDrawn="1"/>
        </p:nvCxnSpPr>
        <p:spPr>
          <a:xfrm>
            <a:off x="952498" y="1363362"/>
            <a:ext cx="768531"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26" name="Picture Placeholder 3">
            <a:extLst>
              <a:ext uri="{FF2B5EF4-FFF2-40B4-BE49-F238E27FC236}">
                <a16:creationId xmlns:a16="http://schemas.microsoft.com/office/drawing/2014/main" id="{E21D4365-BAA8-4F76-87AD-1A328301E298}"/>
              </a:ext>
            </a:extLst>
          </p:cNvPr>
          <p:cNvSpPr>
            <a:spLocks noGrp="1"/>
          </p:cNvSpPr>
          <p:nvPr>
            <p:ph type="pic" sz="quarter" idx="19"/>
          </p:nvPr>
        </p:nvSpPr>
        <p:spPr>
          <a:xfrm>
            <a:off x="949325" y="1684461"/>
            <a:ext cx="2373939" cy="1621608"/>
          </a:xfrm>
        </p:spPr>
        <p:txBody>
          <a:bodyPr/>
          <a:lstStyle>
            <a:lvl1pPr>
              <a:buNone/>
              <a:defRPr/>
            </a:lvl1pPr>
          </a:lstStyle>
          <a:p>
            <a:endParaRPr lang="en-US" dirty="0"/>
          </a:p>
        </p:txBody>
      </p:sp>
      <p:sp>
        <p:nvSpPr>
          <p:cNvPr id="5" name="Content Placeholder 2">
            <a:extLst>
              <a:ext uri="{FF2B5EF4-FFF2-40B4-BE49-F238E27FC236}">
                <a16:creationId xmlns:a16="http://schemas.microsoft.com/office/drawing/2014/main" id="{94F85108-BDC9-43A2-BEF1-240E666F4E03}"/>
              </a:ext>
            </a:extLst>
          </p:cNvPr>
          <p:cNvSpPr>
            <a:spLocks noGrp="1"/>
          </p:cNvSpPr>
          <p:nvPr>
            <p:ph idx="1" hasCustomPrompt="1"/>
          </p:nvPr>
        </p:nvSpPr>
        <p:spPr>
          <a:xfrm>
            <a:off x="952500" y="3545060"/>
            <a:ext cx="2358867" cy="754602"/>
          </a:xfrm>
        </p:spPr>
        <p:txBody>
          <a:bodyPr lIns="0" tIns="0" rIns="0" bIns="0">
            <a:norm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14" name="Content Placeholder 2">
            <a:extLst>
              <a:ext uri="{FF2B5EF4-FFF2-40B4-BE49-F238E27FC236}">
                <a16:creationId xmlns:a16="http://schemas.microsoft.com/office/drawing/2014/main" id="{968A6427-DC92-4AE6-82DE-34A0B3A972EE}"/>
              </a:ext>
            </a:extLst>
          </p:cNvPr>
          <p:cNvSpPr>
            <a:spLocks noGrp="1"/>
          </p:cNvSpPr>
          <p:nvPr userDrawn="1">
            <p:ph idx="10" hasCustomPrompt="1"/>
          </p:nvPr>
        </p:nvSpPr>
        <p:spPr>
          <a:xfrm>
            <a:off x="952501" y="4372570"/>
            <a:ext cx="2358867" cy="1408472"/>
          </a:xfrm>
        </p:spPr>
        <p:txBody>
          <a:bodyPr lIns="0" tIns="0" rIns="0" bIns="0">
            <a:normAutofit/>
          </a:bodyPr>
          <a:lstStyle>
            <a:lvl1pPr marL="0" indent="0">
              <a:buSzPct val="95000"/>
              <a:buFont typeface="Arial" panose="020B0604020202020204" pitchFamily="34" charset="0"/>
              <a:buNone/>
              <a:defRPr sz="18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cxnSp>
        <p:nvCxnSpPr>
          <p:cNvPr id="11" name="Straight Connector 10">
            <a:extLst>
              <a:ext uri="{FF2B5EF4-FFF2-40B4-BE49-F238E27FC236}">
                <a16:creationId xmlns:a16="http://schemas.microsoft.com/office/drawing/2014/main" id="{7336E4CD-9037-4D69-A3E3-6380D9131A19}"/>
              </a:ext>
            </a:extLst>
          </p:cNvPr>
          <p:cNvCxnSpPr/>
          <p:nvPr userDrawn="1"/>
        </p:nvCxnSpPr>
        <p:spPr>
          <a:xfrm>
            <a:off x="3441180" y="1686757"/>
            <a:ext cx="0" cy="4256844"/>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4" name="Picture Placeholder 3">
            <a:extLst>
              <a:ext uri="{FF2B5EF4-FFF2-40B4-BE49-F238E27FC236}">
                <a16:creationId xmlns:a16="http://schemas.microsoft.com/office/drawing/2014/main" id="{EB10E167-B94B-AD40-958C-D9E0F8F9DF4A}"/>
              </a:ext>
            </a:extLst>
          </p:cNvPr>
          <p:cNvSpPr>
            <a:spLocks noGrp="1"/>
          </p:cNvSpPr>
          <p:nvPr userDrawn="1">
            <p:ph type="pic" sz="quarter" idx="23"/>
          </p:nvPr>
        </p:nvSpPr>
        <p:spPr>
          <a:xfrm>
            <a:off x="3593362" y="1684461"/>
            <a:ext cx="2373939" cy="1621608"/>
          </a:xfrm>
        </p:spPr>
        <p:txBody>
          <a:bodyPr/>
          <a:lstStyle>
            <a:lvl1pPr>
              <a:buNone/>
              <a:defRPr/>
            </a:lvl1pPr>
          </a:lstStyle>
          <a:p>
            <a:endParaRPr lang="en-US" dirty="0"/>
          </a:p>
        </p:txBody>
      </p:sp>
      <p:sp>
        <p:nvSpPr>
          <p:cNvPr id="25" name="Content Placeholder 2">
            <a:extLst>
              <a:ext uri="{FF2B5EF4-FFF2-40B4-BE49-F238E27FC236}">
                <a16:creationId xmlns:a16="http://schemas.microsoft.com/office/drawing/2014/main" id="{C03DF098-BB37-5848-9388-750D29EFC657}"/>
              </a:ext>
            </a:extLst>
          </p:cNvPr>
          <p:cNvSpPr>
            <a:spLocks noGrp="1"/>
          </p:cNvSpPr>
          <p:nvPr userDrawn="1">
            <p:ph idx="24" hasCustomPrompt="1"/>
          </p:nvPr>
        </p:nvSpPr>
        <p:spPr>
          <a:xfrm>
            <a:off x="3630386" y="3545060"/>
            <a:ext cx="2358867" cy="754602"/>
          </a:xfrm>
        </p:spPr>
        <p:txBody>
          <a:bodyPr lIns="0" tIns="0" rIns="0" bIns="0">
            <a:norm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33" name="Content Placeholder 2">
            <a:extLst>
              <a:ext uri="{FF2B5EF4-FFF2-40B4-BE49-F238E27FC236}">
                <a16:creationId xmlns:a16="http://schemas.microsoft.com/office/drawing/2014/main" id="{6FE4DEF0-41BC-4548-B7BA-1E5B0231AFFD}"/>
              </a:ext>
            </a:extLst>
          </p:cNvPr>
          <p:cNvSpPr>
            <a:spLocks noGrp="1"/>
          </p:cNvSpPr>
          <p:nvPr userDrawn="1">
            <p:ph idx="25" hasCustomPrompt="1"/>
          </p:nvPr>
        </p:nvSpPr>
        <p:spPr>
          <a:xfrm>
            <a:off x="3630387" y="4372570"/>
            <a:ext cx="2358867" cy="1408472"/>
          </a:xfrm>
        </p:spPr>
        <p:txBody>
          <a:bodyPr lIns="0" tIns="0" rIns="0" bIns="0">
            <a:normAutofit/>
          </a:bodyPr>
          <a:lstStyle>
            <a:lvl1pPr marL="0" indent="0">
              <a:buSzPct val="95000"/>
              <a:buFont typeface="Arial" panose="020B0604020202020204" pitchFamily="34" charset="0"/>
              <a:buNone/>
              <a:defRPr sz="18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cxnSp>
        <p:nvCxnSpPr>
          <p:cNvPr id="22" name="Straight Connector 21">
            <a:extLst>
              <a:ext uri="{FF2B5EF4-FFF2-40B4-BE49-F238E27FC236}">
                <a16:creationId xmlns:a16="http://schemas.microsoft.com/office/drawing/2014/main" id="{CEF932C4-F1C3-47F2-84B8-FEC885C1843C}"/>
              </a:ext>
            </a:extLst>
          </p:cNvPr>
          <p:cNvCxnSpPr/>
          <p:nvPr userDrawn="1"/>
        </p:nvCxnSpPr>
        <p:spPr>
          <a:xfrm>
            <a:off x="6095740" y="1686758"/>
            <a:ext cx="0" cy="4293629"/>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34" name="Picture Placeholder 3">
            <a:extLst>
              <a:ext uri="{FF2B5EF4-FFF2-40B4-BE49-F238E27FC236}">
                <a16:creationId xmlns:a16="http://schemas.microsoft.com/office/drawing/2014/main" id="{864CDDAA-23B4-C842-845C-7640D95F2B65}"/>
              </a:ext>
            </a:extLst>
          </p:cNvPr>
          <p:cNvSpPr>
            <a:spLocks noGrp="1"/>
          </p:cNvSpPr>
          <p:nvPr userDrawn="1">
            <p:ph type="pic" sz="quarter" idx="26"/>
          </p:nvPr>
        </p:nvSpPr>
        <p:spPr>
          <a:xfrm>
            <a:off x="6237399" y="1684461"/>
            <a:ext cx="2373939" cy="1621608"/>
          </a:xfrm>
        </p:spPr>
        <p:txBody>
          <a:bodyPr/>
          <a:lstStyle>
            <a:lvl1pPr>
              <a:buNone/>
              <a:defRPr/>
            </a:lvl1pPr>
          </a:lstStyle>
          <a:p>
            <a:endParaRPr lang="en-US" dirty="0"/>
          </a:p>
        </p:txBody>
      </p:sp>
      <p:sp>
        <p:nvSpPr>
          <p:cNvPr id="35" name="Content Placeholder 2">
            <a:extLst>
              <a:ext uri="{FF2B5EF4-FFF2-40B4-BE49-F238E27FC236}">
                <a16:creationId xmlns:a16="http://schemas.microsoft.com/office/drawing/2014/main" id="{DEB8CCE3-3756-5947-84B2-DFCA00A013F6}"/>
              </a:ext>
            </a:extLst>
          </p:cNvPr>
          <p:cNvSpPr>
            <a:spLocks noGrp="1"/>
          </p:cNvSpPr>
          <p:nvPr userDrawn="1">
            <p:ph idx="27" hasCustomPrompt="1"/>
          </p:nvPr>
        </p:nvSpPr>
        <p:spPr>
          <a:xfrm>
            <a:off x="6242957" y="3545060"/>
            <a:ext cx="2358867" cy="754602"/>
          </a:xfrm>
        </p:spPr>
        <p:txBody>
          <a:bodyPr lIns="0" tIns="0" rIns="0" bIns="0">
            <a:norm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36" name="Content Placeholder 2">
            <a:extLst>
              <a:ext uri="{FF2B5EF4-FFF2-40B4-BE49-F238E27FC236}">
                <a16:creationId xmlns:a16="http://schemas.microsoft.com/office/drawing/2014/main" id="{09C56F7D-4836-1E4F-BD4C-CB150E12E098}"/>
              </a:ext>
            </a:extLst>
          </p:cNvPr>
          <p:cNvSpPr>
            <a:spLocks noGrp="1"/>
          </p:cNvSpPr>
          <p:nvPr userDrawn="1">
            <p:ph idx="28" hasCustomPrompt="1"/>
          </p:nvPr>
        </p:nvSpPr>
        <p:spPr>
          <a:xfrm>
            <a:off x="6242958" y="4372570"/>
            <a:ext cx="2358867" cy="1408472"/>
          </a:xfrm>
        </p:spPr>
        <p:txBody>
          <a:bodyPr lIns="0" tIns="0" rIns="0" bIns="0">
            <a:normAutofit/>
          </a:bodyPr>
          <a:lstStyle>
            <a:lvl1pPr marL="0" indent="0">
              <a:buSzPct val="95000"/>
              <a:buFont typeface="Arial" panose="020B0604020202020204" pitchFamily="34" charset="0"/>
              <a:buNone/>
              <a:defRPr sz="18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cxnSp>
        <p:nvCxnSpPr>
          <p:cNvPr id="12" name="Straight Connector 11">
            <a:extLst>
              <a:ext uri="{FF2B5EF4-FFF2-40B4-BE49-F238E27FC236}">
                <a16:creationId xmlns:a16="http://schemas.microsoft.com/office/drawing/2014/main" id="{3CA77083-F133-420F-93AD-77761878E852}"/>
              </a:ext>
            </a:extLst>
          </p:cNvPr>
          <p:cNvCxnSpPr/>
          <p:nvPr userDrawn="1"/>
        </p:nvCxnSpPr>
        <p:spPr>
          <a:xfrm>
            <a:off x="8750300" y="1686757"/>
            <a:ext cx="0" cy="4256844"/>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30" name="Picture Placeholder 3">
            <a:extLst>
              <a:ext uri="{FF2B5EF4-FFF2-40B4-BE49-F238E27FC236}">
                <a16:creationId xmlns:a16="http://schemas.microsoft.com/office/drawing/2014/main" id="{06A5C640-1D0E-4428-AC28-148AE98A7B34}"/>
              </a:ext>
            </a:extLst>
          </p:cNvPr>
          <p:cNvSpPr>
            <a:spLocks noGrp="1"/>
          </p:cNvSpPr>
          <p:nvPr userDrawn="1">
            <p:ph type="pic" sz="quarter" idx="22"/>
          </p:nvPr>
        </p:nvSpPr>
        <p:spPr>
          <a:xfrm>
            <a:off x="8881435" y="1680693"/>
            <a:ext cx="2349365" cy="1621608"/>
          </a:xfrm>
        </p:spPr>
        <p:txBody>
          <a:bodyPr/>
          <a:lstStyle>
            <a:lvl1pPr>
              <a:buNone/>
              <a:defRPr/>
            </a:lvl1pPr>
          </a:lstStyle>
          <a:p>
            <a:endParaRPr lang="en-US" dirty="0"/>
          </a:p>
        </p:txBody>
      </p:sp>
      <p:sp>
        <p:nvSpPr>
          <p:cNvPr id="19" name="Content Placeholder 2">
            <a:extLst>
              <a:ext uri="{FF2B5EF4-FFF2-40B4-BE49-F238E27FC236}">
                <a16:creationId xmlns:a16="http://schemas.microsoft.com/office/drawing/2014/main" id="{A07502CC-5B90-4BCF-B63B-36D026C9AE96}"/>
              </a:ext>
            </a:extLst>
          </p:cNvPr>
          <p:cNvSpPr>
            <a:spLocks noGrp="1"/>
          </p:cNvSpPr>
          <p:nvPr userDrawn="1">
            <p:ph idx="15" hasCustomPrompt="1"/>
          </p:nvPr>
        </p:nvSpPr>
        <p:spPr>
          <a:xfrm>
            <a:off x="8875080" y="3548916"/>
            <a:ext cx="2358867" cy="754602"/>
          </a:xfrm>
        </p:spPr>
        <p:txBody>
          <a:bodyPr lIns="0" tIns="0" rIns="0" bIns="0">
            <a:norm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20" name="Content Placeholder 2">
            <a:extLst>
              <a:ext uri="{FF2B5EF4-FFF2-40B4-BE49-F238E27FC236}">
                <a16:creationId xmlns:a16="http://schemas.microsoft.com/office/drawing/2014/main" id="{F169EF16-BA54-4279-A087-A65E4F26675F}"/>
              </a:ext>
            </a:extLst>
          </p:cNvPr>
          <p:cNvSpPr>
            <a:spLocks noGrp="1"/>
          </p:cNvSpPr>
          <p:nvPr userDrawn="1">
            <p:ph idx="16" hasCustomPrompt="1"/>
          </p:nvPr>
        </p:nvSpPr>
        <p:spPr>
          <a:xfrm>
            <a:off x="8875081" y="4362520"/>
            <a:ext cx="2358867" cy="1408470"/>
          </a:xfrm>
        </p:spPr>
        <p:txBody>
          <a:bodyPr lIns="0" tIns="0" rIns="0" bIns="0">
            <a:normAutofit/>
          </a:bodyPr>
          <a:lstStyle>
            <a:lvl1pPr marL="0" indent="0">
              <a:buSzPct val="95000"/>
              <a:buFont typeface="Arial" panose="020B0604020202020204" pitchFamily="34" charset="0"/>
              <a:buNone/>
              <a:defRPr sz="18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sp>
        <p:nvSpPr>
          <p:cNvPr id="23" name="Rectangle 22">
            <a:extLst>
              <a:ext uri="{FF2B5EF4-FFF2-40B4-BE49-F238E27FC236}">
                <a16:creationId xmlns:a16="http://schemas.microsoft.com/office/drawing/2014/main" id="{CA720753-9BFD-2840-9C93-FF72942ED6E3}"/>
              </a:ext>
            </a:extLst>
          </p:cNvPr>
          <p:cNvSpPr/>
          <p:nvPr userDrawn="1"/>
        </p:nvSpPr>
        <p:spPr>
          <a:xfrm>
            <a:off x="0" y="6389511"/>
            <a:ext cx="12192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32" name="Picture 31" descr="The University of Iowa">
            <a:extLst>
              <a:ext uri="{FF2B5EF4-FFF2-40B4-BE49-F238E27FC236}">
                <a16:creationId xmlns:a16="http://schemas.microsoft.com/office/drawing/2014/main" id="{710BB67D-293B-374F-89FC-5F2EBF9F2923}"/>
              </a:ext>
            </a:extLst>
          </p:cNvPr>
          <p:cNvPicPr>
            <a:picLocks noChangeAspect="1"/>
          </p:cNvPicPr>
          <p:nvPr userDrawn="1"/>
        </p:nvPicPr>
        <p:blipFill>
          <a:blip r:embed="rId2"/>
          <a:stretch>
            <a:fillRect/>
          </a:stretch>
        </p:blipFill>
        <p:spPr>
          <a:xfrm>
            <a:off x="838200" y="6131555"/>
            <a:ext cx="1545021" cy="733885"/>
          </a:xfrm>
          <a:prstGeom prst="rect">
            <a:avLst/>
          </a:prstGeom>
        </p:spPr>
      </p:pic>
      <p:sp>
        <p:nvSpPr>
          <p:cNvPr id="31" name="Footer Placeholder 4">
            <a:extLst>
              <a:ext uri="{FF2B5EF4-FFF2-40B4-BE49-F238E27FC236}">
                <a16:creationId xmlns:a16="http://schemas.microsoft.com/office/drawing/2014/main" id="{9EE9B966-22C9-0D4A-8DF7-FFA7CF9C9DD8}"/>
              </a:ext>
            </a:extLst>
          </p:cNvPr>
          <p:cNvSpPr>
            <a:spLocks noGrp="1"/>
          </p:cNvSpPr>
          <p:nvPr userDrawn="1">
            <p:ph type="ftr" sz="quarter" idx="3"/>
          </p:nvPr>
        </p:nvSpPr>
        <p:spPr>
          <a:xfrm>
            <a:off x="2519853" y="6441192"/>
            <a:ext cx="8684173" cy="365125"/>
          </a:xfrm>
          <a:prstGeom prst="rect">
            <a:avLst/>
          </a:prstGeom>
        </p:spPr>
        <p:txBody>
          <a:bodyPr vert="horz" lIns="91440" tIns="45720" rIns="91440" bIns="45720" rtlCol="0" anchor="ctr"/>
          <a:lstStyle>
            <a:lvl1pPr algn="l">
              <a:defRPr sz="1400" b="0">
                <a:solidFill>
                  <a:schemeClr val="bg1"/>
                </a:solidFill>
              </a:defRPr>
            </a:lvl1pPr>
          </a:lstStyle>
          <a:p>
            <a:r>
              <a:rPr lang="en-US"/>
              <a:t>Final Project | Topics in Computer Science II | Fall 2025, University of Iowa</a:t>
            </a:r>
            <a:endParaRPr lang="en-US" b="0" dirty="0"/>
          </a:p>
        </p:txBody>
      </p:sp>
    </p:spTree>
    <p:extLst>
      <p:ext uri="{BB962C8B-B14F-4D97-AF65-F5344CB8AC3E}">
        <p14:creationId xmlns:p14="http://schemas.microsoft.com/office/powerpoint/2010/main" val="3170021997"/>
      </p:ext>
    </p:extLst>
  </p:cSld>
  <p:clrMapOvr>
    <a:masterClrMapping/>
  </p:clrMapOvr>
  <p:extLst>
    <p:ext uri="{DCECCB84-F9BA-43D5-87BE-67443E8EF086}">
      <p15:sldGuideLst xmlns:p15="http://schemas.microsoft.com/office/powerpoint/2012/main">
        <p15:guide id="1" orient="horz" pos="2400" userDrawn="1">
          <p15:clr>
            <a:srgbClr val="FBAE40"/>
          </p15:clr>
        </p15:guide>
        <p15:guide id="2" pos="598">
          <p15:clr>
            <a:srgbClr val="FBAE40"/>
          </p15:clr>
        </p15:guide>
        <p15:guide id="3" pos="7080">
          <p15:clr>
            <a:srgbClr val="FBAE40"/>
          </p15:clr>
        </p15:guide>
        <p15:guide id="4" pos="3840">
          <p15:clr>
            <a:srgbClr val="FBAE40"/>
          </p15:clr>
        </p15:guide>
        <p15:guide id="5" orient="horz" pos="1054">
          <p15:clr>
            <a:srgbClr val="FBAE40"/>
          </p15:clr>
        </p15:guide>
        <p15:guide id="6" orient="horz" pos="3744">
          <p15:clr>
            <a:srgbClr val="FBAE40"/>
          </p15:clr>
        </p15:guide>
        <p15:guide id="7" orient="horz" pos="697">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Five Column Photo Layout">
    <p:spTree>
      <p:nvGrpSpPr>
        <p:cNvPr id="1" name=""/>
        <p:cNvGrpSpPr/>
        <p:nvPr/>
      </p:nvGrpSpPr>
      <p:grpSpPr>
        <a:xfrm>
          <a:off x="0" y="0"/>
          <a:ext cx="0" cy="0"/>
          <a:chOff x="0" y="0"/>
          <a:chExt cx="0" cy="0"/>
        </a:xfrm>
      </p:grpSpPr>
      <p:sp>
        <p:nvSpPr>
          <p:cNvPr id="37" name="Title 1">
            <a:extLst>
              <a:ext uri="{FF2B5EF4-FFF2-40B4-BE49-F238E27FC236}">
                <a16:creationId xmlns:a16="http://schemas.microsoft.com/office/drawing/2014/main" id="{8F3E476F-E407-4406-BB4F-38E54533153E}"/>
              </a:ext>
            </a:extLst>
          </p:cNvPr>
          <p:cNvSpPr>
            <a:spLocks noGrp="1"/>
          </p:cNvSpPr>
          <p:nvPr>
            <p:ph type="title"/>
          </p:nvPr>
        </p:nvSpPr>
        <p:spPr>
          <a:xfrm>
            <a:off x="952499" y="526777"/>
            <a:ext cx="10287001" cy="869089"/>
          </a:xfrm>
        </p:spPr>
        <p:txBody>
          <a:bodyPr lIns="0" tIns="0" rIns="0" bIns="0"/>
          <a:lstStyle>
            <a:lvl1pPr>
              <a:defRPr>
                <a:latin typeface="Roboto" panose="02000000000000000000" pitchFamily="2" charset="0"/>
                <a:ea typeface="Roboto" panose="02000000000000000000" pitchFamily="2" charset="0"/>
              </a:defRPr>
            </a:lvl1pPr>
          </a:lstStyle>
          <a:p>
            <a:r>
              <a:rPr lang="en-US" dirty="0"/>
              <a:t>Click to edit Master title style</a:t>
            </a:r>
          </a:p>
        </p:txBody>
      </p:sp>
      <p:cxnSp>
        <p:nvCxnSpPr>
          <p:cNvPr id="7" name="Straight Connector 6">
            <a:extLst>
              <a:ext uri="{FF2B5EF4-FFF2-40B4-BE49-F238E27FC236}">
                <a16:creationId xmlns:a16="http://schemas.microsoft.com/office/drawing/2014/main" id="{E7D57D41-E534-4387-8837-F27E5C2408BD}"/>
              </a:ext>
            </a:extLst>
          </p:cNvPr>
          <p:cNvCxnSpPr>
            <a:cxnSpLocks/>
          </p:cNvCxnSpPr>
          <p:nvPr userDrawn="1"/>
        </p:nvCxnSpPr>
        <p:spPr>
          <a:xfrm>
            <a:off x="952498" y="1363362"/>
            <a:ext cx="768531"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32" name="Picture Placeholder 3">
            <a:extLst>
              <a:ext uri="{FF2B5EF4-FFF2-40B4-BE49-F238E27FC236}">
                <a16:creationId xmlns:a16="http://schemas.microsoft.com/office/drawing/2014/main" id="{14F11A61-EE32-4596-8BBC-0626131F1E6F}"/>
              </a:ext>
            </a:extLst>
          </p:cNvPr>
          <p:cNvSpPr>
            <a:spLocks noGrp="1"/>
          </p:cNvSpPr>
          <p:nvPr>
            <p:ph type="pic" sz="quarter" idx="19"/>
          </p:nvPr>
        </p:nvSpPr>
        <p:spPr>
          <a:xfrm>
            <a:off x="952499" y="1684461"/>
            <a:ext cx="1832437" cy="1621608"/>
          </a:xfrm>
        </p:spPr>
        <p:txBody>
          <a:bodyPr/>
          <a:lstStyle>
            <a:lvl1pPr>
              <a:buNone/>
              <a:defRPr/>
            </a:lvl1pPr>
          </a:lstStyle>
          <a:p>
            <a:endParaRPr lang="en-US" dirty="0"/>
          </a:p>
        </p:txBody>
      </p:sp>
      <p:sp>
        <p:nvSpPr>
          <p:cNvPr id="5" name="Content Placeholder 2">
            <a:extLst>
              <a:ext uri="{FF2B5EF4-FFF2-40B4-BE49-F238E27FC236}">
                <a16:creationId xmlns:a16="http://schemas.microsoft.com/office/drawing/2014/main" id="{94F85108-BDC9-43A2-BEF1-240E666F4E03}"/>
              </a:ext>
            </a:extLst>
          </p:cNvPr>
          <p:cNvSpPr>
            <a:spLocks noGrp="1"/>
          </p:cNvSpPr>
          <p:nvPr>
            <p:ph idx="1" hasCustomPrompt="1"/>
          </p:nvPr>
        </p:nvSpPr>
        <p:spPr>
          <a:xfrm>
            <a:off x="952501" y="3545060"/>
            <a:ext cx="1826629" cy="667670"/>
          </a:xfrm>
        </p:spPr>
        <p:txBody>
          <a:bodyPr lIns="0" tIns="0" rIns="0" bIns="0">
            <a:norm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14" name="Content Placeholder 2">
            <a:extLst>
              <a:ext uri="{FF2B5EF4-FFF2-40B4-BE49-F238E27FC236}">
                <a16:creationId xmlns:a16="http://schemas.microsoft.com/office/drawing/2014/main" id="{968A6427-DC92-4AE6-82DE-34A0B3A972EE}"/>
              </a:ext>
            </a:extLst>
          </p:cNvPr>
          <p:cNvSpPr>
            <a:spLocks noGrp="1"/>
          </p:cNvSpPr>
          <p:nvPr userDrawn="1">
            <p:ph idx="10" hasCustomPrompt="1"/>
          </p:nvPr>
        </p:nvSpPr>
        <p:spPr>
          <a:xfrm>
            <a:off x="952502" y="4275590"/>
            <a:ext cx="1826629" cy="1408470"/>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cxnSp>
        <p:nvCxnSpPr>
          <p:cNvPr id="11" name="Straight Connector 10">
            <a:extLst>
              <a:ext uri="{FF2B5EF4-FFF2-40B4-BE49-F238E27FC236}">
                <a16:creationId xmlns:a16="http://schemas.microsoft.com/office/drawing/2014/main" id="{7336E4CD-9037-4D69-A3E3-6380D9131A19}"/>
              </a:ext>
            </a:extLst>
          </p:cNvPr>
          <p:cNvCxnSpPr>
            <a:cxnSpLocks/>
          </p:cNvCxnSpPr>
          <p:nvPr userDrawn="1"/>
        </p:nvCxnSpPr>
        <p:spPr>
          <a:xfrm>
            <a:off x="2924781" y="1686759"/>
            <a:ext cx="0" cy="4256841"/>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45" name="Picture Placeholder 3">
            <a:extLst>
              <a:ext uri="{FF2B5EF4-FFF2-40B4-BE49-F238E27FC236}">
                <a16:creationId xmlns:a16="http://schemas.microsoft.com/office/drawing/2014/main" id="{10B80E7E-3ECA-A84C-BBC2-DF9FD6DED4FD}"/>
              </a:ext>
            </a:extLst>
          </p:cNvPr>
          <p:cNvSpPr>
            <a:spLocks noGrp="1"/>
          </p:cNvSpPr>
          <p:nvPr>
            <p:ph type="pic" sz="quarter" idx="28"/>
          </p:nvPr>
        </p:nvSpPr>
        <p:spPr>
          <a:xfrm>
            <a:off x="3053442" y="1684461"/>
            <a:ext cx="1832437" cy="1621608"/>
          </a:xfrm>
        </p:spPr>
        <p:txBody>
          <a:bodyPr/>
          <a:lstStyle>
            <a:lvl1pPr>
              <a:buNone/>
              <a:defRPr/>
            </a:lvl1pPr>
          </a:lstStyle>
          <a:p>
            <a:endParaRPr lang="en-US" dirty="0"/>
          </a:p>
        </p:txBody>
      </p:sp>
      <p:sp>
        <p:nvSpPr>
          <p:cNvPr id="44" name="Content Placeholder 2">
            <a:extLst>
              <a:ext uri="{FF2B5EF4-FFF2-40B4-BE49-F238E27FC236}">
                <a16:creationId xmlns:a16="http://schemas.microsoft.com/office/drawing/2014/main" id="{AB9C78E2-4679-F844-BB37-D2E07B542CA3}"/>
              </a:ext>
            </a:extLst>
          </p:cNvPr>
          <p:cNvSpPr>
            <a:spLocks noGrp="1"/>
          </p:cNvSpPr>
          <p:nvPr>
            <p:ph idx="27" hasCustomPrompt="1"/>
          </p:nvPr>
        </p:nvSpPr>
        <p:spPr>
          <a:xfrm>
            <a:off x="3053444" y="3545060"/>
            <a:ext cx="1826629" cy="667670"/>
          </a:xfrm>
        </p:spPr>
        <p:txBody>
          <a:bodyPr lIns="0" tIns="0" rIns="0" bIns="0">
            <a:norm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35" name="Content Placeholder 2">
            <a:extLst>
              <a:ext uri="{FF2B5EF4-FFF2-40B4-BE49-F238E27FC236}">
                <a16:creationId xmlns:a16="http://schemas.microsoft.com/office/drawing/2014/main" id="{0F3EA205-7109-BC44-BA2C-7704780449E8}"/>
              </a:ext>
            </a:extLst>
          </p:cNvPr>
          <p:cNvSpPr>
            <a:spLocks noGrp="1"/>
          </p:cNvSpPr>
          <p:nvPr>
            <p:ph idx="26" hasCustomPrompt="1"/>
          </p:nvPr>
        </p:nvSpPr>
        <p:spPr>
          <a:xfrm>
            <a:off x="3053445" y="4275590"/>
            <a:ext cx="1826629" cy="1408470"/>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cxnSp>
        <p:nvCxnSpPr>
          <p:cNvPr id="22" name="Straight Connector 21">
            <a:extLst>
              <a:ext uri="{FF2B5EF4-FFF2-40B4-BE49-F238E27FC236}">
                <a16:creationId xmlns:a16="http://schemas.microsoft.com/office/drawing/2014/main" id="{CEF932C4-F1C3-47F2-84B8-FEC885C1843C}"/>
              </a:ext>
            </a:extLst>
          </p:cNvPr>
          <p:cNvCxnSpPr>
            <a:cxnSpLocks/>
          </p:cNvCxnSpPr>
          <p:nvPr userDrawn="1"/>
        </p:nvCxnSpPr>
        <p:spPr>
          <a:xfrm>
            <a:off x="5036631" y="1686759"/>
            <a:ext cx="0" cy="4256842"/>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48" name="Picture Placeholder 3">
            <a:extLst>
              <a:ext uri="{FF2B5EF4-FFF2-40B4-BE49-F238E27FC236}">
                <a16:creationId xmlns:a16="http://schemas.microsoft.com/office/drawing/2014/main" id="{4EF24A51-2D82-AA40-8405-8CFEC6F5CB5D}"/>
              </a:ext>
            </a:extLst>
          </p:cNvPr>
          <p:cNvSpPr>
            <a:spLocks noGrp="1"/>
          </p:cNvSpPr>
          <p:nvPr>
            <p:ph type="pic" sz="quarter" idx="31"/>
          </p:nvPr>
        </p:nvSpPr>
        <p:spPr>
          <a:xfrm>
            <a:off x="5187042" y="1684461"/>
            <a:ext cx="1832437" cy="1621608"/>
          </a:xfrm>
        </p:spPr>
        <p:txBody>
          <a:bodyPr/>
          <a:lstStyle>
            <a:lvl1pPr>
              <a:buNone/>
              <a:defRPr/>
            </a:lvl1pPr>
          </a:lstStyle>
          <a:p>
            <a:endParaRPr lang="en-US" dirty="0"/>
          </a:p>
        </p:txBody>
      </p:sp>
      <p:sp>
        <p:nvSpPr>
          <p:cNvPr id="47" name="Content Placeholder 2">
            <a:extLst>
              <a:ext uri="{FF2B5EF4-FFF2-40B4-BE49-F238E27FC236}">
                <a16:creationId xmlns:a16="http://schemas.microsoft.com/office/drawing/2014/main" id="{90D707E7-5635-444F-BB41-10E2268CC099}"/>
              </a:ext>
            </a:extLst>
          </p:cNvPr>
          <p:cNvSpPr>
            <a:spLocks noGrp="1"/>
          </p:cNvSpPr>
          <p:nvPr>
            <p:ph idx="30" hasCustomPrompt="1"/>
          </p:nvPr>
        </p:nvSpPr>
        <p:spPr>
          <a:xfrm>
            <a:off x="5187044" y="3545060"/>
            <a:ext cx="1826629" cy="667670"/>
          </a:xfrm>
        </p:spPr>
        <p:txBody>
          <a:bodyPr lIns="0" tIns="0" rIns="0" bIns="0">
            <a:norm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46" name="Content Placeholder 2">
            <a:extLst>
              <a:ext uri="{FF2B5EF4-FFF2-40B4-BE49-F238E27FC236}">
                <a16:creationId xmlns:a16="http://schemas.microsoft.com/office/drawing/2014/main" id="{4340EF3F-9B6C-B54B-94AD-7275543213B0}"/>
              </a:ext>
            </a:extLst>
          </p:cNvPr>
          <p:cNvSpPr>
            <a:spLocks noGrp="1"/>
          </p:cNvSpPr>
          <p:nvPr>
            <p:ph idx="29" hasCustomPrompt="1"/>
          </p:nvPr>
        </p:nvSpPr>
        <p:spPr>
          <a:xfrm>
            <a:off x="5187045" y="4275590"/>
            <a:ext cx="1826629" cy="1408470"/>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cxnSp>
        <p:nvCxnSpPr>
          <p:cNvPr id="12" name="Straight Connector 11">
            <a:extLst>
              <a:ext uri="{FF2B5EF4-FFF2-40B4-BE49-F238E27FC236}">
                <a16:creationId xmlns:a16="http://schemas.microsoft.com/office/drawing/2014/main" id="{3CA77083-F133-420F-93AD-77761878E852}"/>
              </a:ext>
            </a:extLst>
          </p:cNvPr>
          <p:cNvCxnSpPr>
            <a:cxnSpLocks/>
          </p:cNvCxnSpPr>
          <p:nvPr userDrawn="1"/>
        </p:nvCxnSpPr>
        <p:spPr>
          <a:xfrm>
            <a:off x="7148481" y="1686759"/>
            <a:ext cx="0" cy="4256841"/>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51" name="Picture Placeholder 3">
            <a:extLst>
              <a:ext uri="{FF2B5EF4-FFF2-40B4-BE49-F238E27FC236}">
                <a16:creationId xmlns:a16="http://schemas.microsoft.com/office/drawing/2014/main" id="{4D703A3B-87F3-AE45-90D2-795F9DA88577}"/>
              </a:ext>
            </a:extLst>
          </p:cNvPr>
          <p:cNvSpPr>
            <a:spLocks noGrp="1"/>
          </p:cNvSpPr>
          <p:nvPr>
            <p:ph type="pic" sz="quarter" idx="34"/>
          </p:nvPr>
        </p:nvSpPr>
        <p:spPr>
          <a:xfrm>
            <a:off x="7266213" y="1684461"/>
            <a:ext cx="1832437" cy="1621608"/>
          </a:xfrm>
        </p:spPr>
        <p:txBody>
          <a:bodyPr/>
          <a:lstStyle>
            <a:lvl1pPr>
              <a:buNone/>
              <a:defRPr/>
            </a:lvl1pPr>
          </a:lstStyle>
          <a:p>
            <a:endParaRPr lang="en-US" dirty="0"/>
          </a:p>
        </p:txBody>
      </p:sp>
      <p:sp>
        <p:nvSpPr>
          <p:cNvPr id="50" name="Content Placeholder 2">
            <a:extLst>
              <a:ext uri="{FF2B5EF4-FFF2-40B4-BE49-F238E27FC236}">
                <a16:creationId xmlns:a16="http://schemas.microsoft.com/office/drawing/2014/main" id="{5C95157B-C7FC-864F-A9C2-08E02E26EE07}"/>
              </a:ext>
            </a:extLst>
          </p:cNvPr>
          <p:cNvSpPr>
            <a:spLocks noGrp="1"/>
          </p:cNvSpPr>
          <p:nvPr>
            <p:ph idx="33" hasCustomPrompt="1"/>
          </p:nvPr>
        </p:nvSpPr>
        <p:spPr>
          <a:xfrm>
            <a:off x="7266215" y="3545060"/>
            <a:ext cx="1826629" cy="667670"/>
          </a:xfrm>
        </p:spPr>
        <p:txBody>
          <a:bodyPr lIns="0" tIns="0" rIns="0" bIns="0">
            <a:norm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49" name="Content Placeholder 2">
            <a:extLst>
              <a:ext uri="{FF2B5EF4-FFF2-40B4-BE49-F238E27FC236}">
                <a16:creationId xmlns:a16="http://schemas.microsoft.com/office/drawing/2014/main" id="{71E05108-E0DC-6947-A186-EA5436079AAF}"/>
              </a:ext>
            </a:extLst>
          </p:cNvPr>
          <p:cNvSpPr>
            <a:spLocks noGrp="1"/>
          </p:cNvSpPr>
          <p:nvPr>
            <p:ph idx="32" hasCustomPrompt="1"/>
          </p:nvPr>
        </p:nvSpPr>
        <p:spPr>
          <a:xfrm>
            <a:off x="7266216" y="4275590"/>
            <a:ext cx="1826629" cy="1408470"/>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cxnSp>
        <p:nvCxnSpPr>
          <p:cNvPr id="23" name="Straight Connector 22">
            <a:extLst>
              <a:ext uri="{FF2B5EF4-FFF2-40B4-BE49-F238E27FC236}">
                <a16:creationId xmlns:a16="http://schemas.microsoft.com/office/drawing/2014/main" id="{55F5ADDF-F780-4384-87F4-30070C81BB29}"/>
              </a:ext>
            </a:extLst>
          </p:cNvPr>
          <p:cNvCxnSpPr>
            <a:cxnSpLocks/>
          </p:cNvCxnSpPr>
          <p:nvPr userDrawn="1"/>
        </p:nvCxnSpPr>
        <p:spPr>
          <a:xfrm>
            <a:off x="9260331" y="1686759"/>
            <a:ext cx="0" cy="4256841"/>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54" name="Picture Placeholder 3">
            <a:extLst>
              <a:ext uri="{FF2B5EF4-FFF2-40B4-BE49-F238E27FC236}">
                <a16:creationId xmlns:a16="http://schemas.microsoft.com/office/drawing/2014/main" id="{E90B3032-DDF8-0446-8BB7-81565519E036}"/>
              </a:ext>
            </a:extLst>
          </p:cNvPr>
          <p:cNvSpPr>
            <a:spLocks noGrp="1"/>
          </p:cNvSpPr>
          <p:nvPr>
            <p:ph type="pic" sz="quarter" idx="37"/>
          </p:nvPr>
        </p:nvSpPr>
        <p:spPr>
          <a:xfrm>
            <a:off x="9410699" y="1684461"/>
            <a:ext cx="1832437" cy="1621608"/>
          </a:xfrm>
        </p:spPr>
        <p:txBody>
          <a:bodyPr/>
          <a:lstStyle>
            <a:lvl1pPr>
              <a:buNone/>
              <a:defRPr/>
            </a:lvl1pPr>
          </a:lstStyle>
          <a:p>
            <a:endParaRPr lang="en-US" dirty="0"/>
          </a:p>
        </p:txBody>
      </p:sp>
      <p:sp>
        <p:nvSpPr>
          <p:cNvPr id="53" name="Content Placeholder 2">
            <a:extLst>
              <a:ext uri="{FF2B5EF4-FFF2-40B4-BE49-F238E27FC236}">
                <a16:creationId xmlns:a16="http://schemas.microsoft.com/office/drawing/2014/main" id="{724287DA-FEAD-6E4A-83EC-B59516E2386C}"/>
              </a:ext>
            </a:extLst>
          </p:cNvPr>
          <p:cNvSpPr>
            <a:spLocks noGrp="1"/>
          </p:cNvSpPr>
          <p:nvPr>
            <p:ph idx="36" hasCustomPrompt="1"/>
          </p:nvPr>
        </p:nvSpPr>
        <p:spPr>
          <a:xfrm>
            <a:off x="9410701" y="3545060"/>
            <a:ext cx="1826629" cy="675110"/>
          </a:xfrm>
        </p:spPr>
        <p:txBody>
          <a:bodyPr lIns="0" tIns="0" rIns="0" bIns="0">
            <a:norm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52" name="Content Placeholder 2">
            <a:extLst>
              <a:ext uri="{FF2B5EF4-FFF2-40B4-BE49-F238E27FC236}">
                <a16:creationId xmlns:a16="http://schemas.microsoft.com/office/drawing/2014/main" id="{4FC143B3-231A-2B46-ABBF-7F6B6BBF4596}"/>
              </a:ext>
            </a:extLst>
          </p:cNvPr>
          <p:cNvSpPr>
            <a:spLocks noGrp="1"/>
          </p:cNvSpPr>
          <p:nvPr>
            <p:ph idx="35" hasCustomPrompt="1"/>
          </p:nvPr>
        </p:nvSpPr>
        <p:spPr>
          <a:xfrm>
            <a:off x="9410702" y="4275590"/>
            <a:ext cx="1826629" cy="1408470"/>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sp>
        <p:nvSpPr>
          <p:cNvPr id="36" name="Rectangle 35">
            <a:extLst>
              <a:ext uri="{FF2B5EF4-FFF2-40B4-BE49-F238E27FC236}">
                <a16:creationId xmlns:a16="http://schemas.microsoft.com/office/drawing/2014/main" id="{8A4E17D8-CAFF-0E47-97EF-4D4BC59FFC70}"/>
              </a:ext>
            </a:extLst>
          </p:cNvPr>
          <p:cNvSpPr/>
          <p:nvPr userDrawn="1"/>
        </p:nvSpPr>
        <p:spPr>
          <a:xfrm>
            <a:off x="0" y="6389511"/>
            <a:ext cx="12192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43" name="Picture 42" descr="The University of Iowa">
            <a:extLst>
              <a:ext uri="{FF2B5EF4-FFF2-40B4-BE49-F238E27FC236}">
                <a16:creationId xmlns:a16="http://schemas.microsoft.com/office/drawing/2014/main" id="{924E35CA-EA2E-084A-B4D2-736FEA8C0DDC}"/>
              </a:ext>
            </a:extLst>
          </p:cNvPr>
          <p:cNvPicPr>
            <a:picLocks noChangeAspect="1"/>
          </p:cNvPicPr>
          <p:nvPr userDrawn="1"/>
        </p:nvPicPr>
        <p:blipFill>
          <a:blip r:embed="rId2"/>
          <a:stretch>
            <a:fillRect/>
          </a:stretch>
        </p:blipFill>
        <p:spPr>
          <a:xfrm>
            <a:off x="838200" y="6131555"/>
            <a:ext cx="1545021" cy="733885"/>
          </a:xfrm>
          <a:prstGeom prst="rect">
            <a:avLst/>
          </a:prstGeom>
        </p:spPr>
      </p:pic>
      <p:sp>
        <p:nvSpPr>
          <p:cNvPr id="38" name="Footer Placeholder 4">
            <a:extLst>
              <a:ext uri="{FF2B5EF4-FFF2-40B4-BE49-F238E27FC236}">
                <a16:creationId xmlns:a16="http://schemas.microsoft.com/office/drawing/2014/main" id="{D752B61A-80FF-1049-8A33-5614EE9DC804}"/>
              </a:ext>
            </a:extLst>
          </p:cNvPr>
          <p:cNvSpPr>
            <a:spLocks noGrp="1"/>
          </p:cNvSpPr>
          <p:nvPr>
            <p:ph type="ftr" sz="quarter" idx="3"/>
          </p:nvPr>
        </p:nvSpPr>
        <p:spPr>
          <a:xfrm>
            <a:off x="2519853" y="6441192"/>
            <a:ext cx="8684173" cy="365125"/>
          </a:xfrm>
          <a:prstGeom prst="rect">
            <a:avLst/>
          </a:prstGeom>
        </p:spPr>
        <p:txBody>
          <a:bodyPr vert="horz" lIns="91440" tIns="45720" rIns="91440" bIns="45720" rtlCol="0" anchor="ctr"/>
          <a:lstStyle>
            <a:lvl1pPr algn="l">
              <a:defRPr sz="1400" b="0">
                <a:solidFill>
                  <a:schemeClr val="bg1"/>
                </a:solidFill>
              </a:defRPr>
            </a:lvl1pPr>
          </a:lstStyle>
          <a:p>
            <a:r>
              <a:rPr lang="en-US"/>
              <a:t>Final Project | Topics in Computer Science II | Fall 2025, University of Iowa</a:t>
            </a:r>
            <a:endParaRPr lang="en-US" b="0" dirty="0"/>
          </a:p>
        </p:txBody>
      </p:sp>
    </p:spTree>
    <p:extLst>
      <p:ext uri="{BB962C8B-B14F-4D97-AF65-F5344CB8AC3E}">
        <p14:creationId xmlns:p14="http://schemas.microsoft.com/office/powerpoint/2010/main" val="3835456899"/>
      </p:ext>
    </p:extLst>
  </p:cSld>
  <p:clrMapOvr>
    <a:masterClrMapping/>
  </p:clrMapOvr>
  <p:extLst>
    <p:ext uri="{DCECCB84-F9BA-43D5-87BE-67443E8EF086}">
      <p15:sldGuideLst xmlns:p15="http://schemas.microsoft.com/office/powerpoint/2012/main">
        <p15:guide id="1" orient="horz" pos="2400" userDrawn="1">
          <p15:clr>
            <a:srgbClr val="FBAE40"/>
          </p15:clr>
        </p15:guide>
        <p15:guide id="2" pos="598">
          <p15:clr>
            <a:srgbClr val="FBAE40"/>
          </p15:clr>
        </p15:guide>
        <p15:guide id="3" pos="7080">
          <p15:clr>
            <a:srgbClr val="FBAE40"/>
          </p15:clr>
        </p15:guide>
        <p15:guide id="4" pos="3840">
          <p15:clr>
            <a:srgbClr val="FBAE40"/>
          </p15:clr>
        </p15:guide>
        <p15:guide id="5" orient="horz" pos="1054">
          <p15:clr>
            <a:srgbClr val="FBAE40"/>
          </p15:clr>
        </p15:guide>
        <p15:guide id="6" orient="horz" pos="3744">
          <p15:clr>
            <a:srgbClr val="FBAE40"/>
          </p15:clr>
        </p15:guide>
        <p15:guide id="7" orient="horz" pos="69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ullet Slide - Photo">
    <p:spTree>
      <p:nvGrpSpPr>
        <p:cNvPr id="1" name=""/>
        <p:cNvGrpSpPr/>
        <p:nvPr/>
      </p:nvGrpSpPr>
      <p:grpSpPr>
        <a:xfrm>
          <a:off x="0" y="0"/>
          <a:ext cx="0" cy="0"/>
          <a:chOff x="0" y="0"/>
          <a:chExt cx="0" cy="0"/>
        </a:xfrm>
      </p:grpSpPr>
      <p:sp>
        <p:nvSpPr>
          <p:cNvPr id="17" name="Title 20">
            <a:extLst>
              <a:ext uri="{FF2B5EF4-FFF2-40B4-BE49-F238E27FC236}">
                <a16:creationId xmlns:a16="http://schemas.microsoft.com/office/drawing/2014/main" id="{2BA8F287-92C7-4FFD-A7E9-45864F8E91A4}"/>
              </a:ext>
            </a:extLst>
          </p:cNvPr>
          <p:cNvSpPr>
            <a:spLocks noGrp="1"/>
          </p:cNvSpPr>
          <p:nvPr>
            <p:ph type="title" hasCustomPrompt="1"/>
          </p:nvPr>
        </p:nvSpPr>
        <p:spPr>
          <a:xfrm>
            <a:off x="949325" y="498296"/>
            <a:ext cx="5260975" cy="896116"/>
          </a:xfrm>
        </p:spPr>
        <p:txBody>
          <a:bodyPr/>
          <a:lstStyle>
            <a:lvl1pPr>
              <a:defRPr/>
            </a:lvl1pPr>
          </a:lstStyle>
          <a:p>
            <a:r>
              <a:rPr lang="en-US" dirty="0"/>
              <a:t>Click to edit Title</a:t>
            </a:r>
          </a:p>
        </p:txBody>
      </p:sp>
      <p:cxnSp>
        <p:nvCxnSpPr>
          <p:cNvPr id="16" name="Straight Connector 15">
            <a:extLst>
              <a:ext uri="{FF2B5EF4-FFF2-40B4-BE49-F238E27FC236}">
                <a16:creationId xmlns:a16="http://schemas.microsoft.com/office/drawing/2014/main" id="{0F31F03A-71CF-475D-8A3C-99FC106D73E8}"/>
              </a:ext>
            </a:extLst>
          </p:cNvPr>
          <p:cNvCxnSpPr>
            <a:cxnSpLocks/>
          </p:cNvCxnSpPr>
          <p:nvPr userDrawn="1"/>
        </p:nvCxnSpPr>
        <p:spPr>
          <a:xfrm>
            <a:off x="952498" y="1363362"/>
            <a:ext cx="768531"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47404DB8-B6AC-4389-8E6E-A115840D1D74}"/>
              </a:ext>
            </a:extLst>
          </p:cNvPr>
          <p:cNvSpPr>
            <a:spLocks noGrp="1"/>
          </p:cNvSpPr>
          <p:nvPr>
            <p:ph idx="1"/>
          </p:nvPr>
        </p:nvSpPr>
        <p:spPr>
          <a:xfrm>
            <a:off x="952499" y="1686757"/>
            <a:ext cx="5257801" cy="4256843"/>
          </a:xfrm>
        </p:spPr>
        <p:txBody>
          <a:bodyPr lIns="0" tIns="0" rIns="0" bIns="0"/>
          <a:lstStyle>
            <a:lvl1pPr marL="228600" indent="-228600">
              <a:buClr>
                <a:schemeClr val="tx2"/>
              </a:buClr>
              <a:buSzPct val="95000"/>
              <a:buFont typeface="Arial" panose="020B0604020202020204" pitchFamily="34" charset="0"/>
              <a:buChar char="•"/>
              <a:defRPr>
                <a:latin typeface="Roboto" panose="02000000000000000000" pitchFamily="2" charset="0"/>
                <a:ea typeface="Roboto" panose="02000000000000000000" pitchFamily="2" charset="0"/>
              </a:defRPr>
            </a:lvl1pPr>
            <a:lvl2pPr marL="685800" indent="-228600">
              <a:buClr>
                <a:schemeClr val="tx2"/>
              </a:buClr>
              <a:buSzPct val="100000"/>
              <a:buFont typeface="Arial" panose="020B0604020202020204" pitchFamily="34" charset="0"/>
              <a:buChar char="‒"/>
              <a:defRPr>
                <a:latin typeface="Roboto" panose="02000000000000000000" pitchFamily="2" charset="0"/>
                <a:ea typeface="Roboto" panose="02000000000000000000" pitchFamily="2" charset="0"/>
              </a:defRPr>
            </a:lvl2pPr>
            <a:lvl3pPr marL="1143000" indent="-228600">
              <a:buClr>
                <a:schemeClr val="tx2"/>
              </a:buClr>
              <a:buSzPct val="100000"/>
              <a:buFont typeface="Roboto" panose="02000000000000000000" pitchFamily="2" charset="0"/>
              <a:buChar char="•"/>
              <a:defRPr>
                <a:latin typeface="Roboto" panose="02000000000000000000" pitchFamily="2" charset="0"/>
                <a:ea typeface="Roboto" panose="02000000000000000000" pitchFamily="2" charset="0"/>
              </a:defRPr>
            </a:lvl3pPr>
            <a:lvl4pPr marL="1600200" indent="-228600">
              <a:buClr>
                <a:schemeClr val="tx2"/>
              </a:buClr>
              <a:buSzPct val="100000"/>
              <a:buFont typeface="Roboto" panose="02000000000000000000" pitchFamily="2" charset="0"/>
              <a:buChar char="―"/>
              <a:defRPr>
                <a:latin typeface="Roboto" panose="02000000000000000000" pitchFamily="2" charset="0"/>
                <a:ea typeface="Roboto" panose="02000000000000000000" pitchFamily="2" charset="0"/>
              </a:defRPr>
            </a:lvl4pPr>
            <a:lvl5pPr marL="2057400" indent="-228600">
              <a:buClr>
                <a:schemeClr val="tx2"/>
              </a:buClr>
              <a:buSzPct val="100000"/>
              <a:buFont typeface="Arial" panose="020B0604020202020204" pitchFamily="34" charset="0"/>
              <a:buChar char="•"/>
              <a:defRPr>
                <a:latin typeface="Roboto" panose="02000000000000000000" pitchFamily="2" charset="0"/>
                <a:ea typeface="Roboto" panose="02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a:extLst>
              <a:ext uri="{FF2B5EF4-FFF2-40B4-BE49-F238E27FC236}">
                <a16:creationId xmlns:a16="http://schemas.microsoft.com/office/drawing/2014/main" id="{E42EEDE3-0B18-E049-BE23-974E50C72979}"/>
              </a:ext>
            </a:extLst>
          </p:cNvPr>
          <p:cNvSpPr>
            <a:spLocks noGrp="1"/>
          </p:cNvSpPr>
          <p:nvPr>
            <p:ph type="pic" sz="quarter" idx="11"/>
          </p:nvPr>
        </p:nvSpPr>
        <p:spPr>
          <a:xfrm>
            <a:off x="7171534" y="0"/>
            <a:ext cx="5029200" cy="6389511"/>
          </a:xfrm>
          <a:prstGeom prst="rect">
            <a:avLst/>
          </a:prstGeom>
        </p:spPr>
        <p:txBody>
          <a:bodyPr anchor="ctr" anchorCtr="0"/>
          <a:lstStyle>
            <a:lvl1pPr marL="0" indent="0" algn="ctr">
              <a:buNone/>
              <a:defRPr b="0" i="0">
                <a:solidFill>
                  <a:schemeClr val="accent3"/>
                </a:solidFill>
                <a:latin typeface="Arial" panose="020B0604020202020204" pitchFamily="34" charset="0"/>
              </a:defRPr>
            </a:lvl1pPr>
          </a:lstStyle>
          <a:p>
            <a:r>
              <a:rPr lang="en-US" dirty="0"/>
              <a:t>Click icon to add picture</a:t>
            </a:r>
          </a:p>
        </p:txBody>
      </p:sp>
      <p:sp>
        <p:nvSpPr>
          <p:cNvPr id="9" name="Rectangle 8">
            <a:extLst>
              <a:ext uri="{FF2B5EF4-FFF2-40B4-BE49-F238E27FC236}">
                <a16:creationId xmlns:a16="http://schemas.microsoft.com/office/drawing/2014/main" id="{7420F7CB-393D-BF45-B52D-542FDDEFCAFF}"/>
              </a:ext>
            </a:extLst>
          </p:cNvPr>
          <p:cNvSpPr/>
          <p:nvPr userDrawn="1"/>
        </p:nvSpPr>
        <p:spPr>
          <a:xfrm>
            <a:off x="0" y="6389511"/>
            <a:ext cx="12192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12" name="Picture 11" descr="The University of Iowa">
            <a:extLst>
              <a:ext uri="{FF2B5EF4-FFF2-40B4-BE49-F238E27FC236}">
                <a16:creationId xmlns:a16="http://schemas.microsoft.com/office/drawing/2014/main" id="{9CE5618D-3613-E04D-A815-ED9A2C5AA3C5}"/>
              </a:ext>
            </a:extLst>
          </p:cNvPr>
          <p:cNvPicPr>
            <a:picLocks noChangeAspect="1"/>
          </p:cNvPicPr>
          <p:nvPr userDrawn="1"/>
        </p:nvPicPr>
        <p:blipFill>
          <a:blip r:embed="rId2"/>
          <a:stretch>
            <a:fillRect/>
          </a:stretch>
        </p:blipFill>
        <p:spPr>
          <a:xfrm>
            <a:off x="838200" y="6131555"/>
            <a:ext cx="1545021" cy="733885"/>
          </a:xfrm>
          <a:prstGeom prst="rect">
            <a:avLst/>
          </a:prstGeom>
        </p:spPr>
      </p:pic>
      <p:sp>
        <p:nvSpPr>
          <p:cNvPr id="11" name="Footer Placeholder 4">
            <a:extLst>
              <a:ext uri="{FF2B5EF4-FFF2-40B4-BE49-F238E27FC236}">
                <a16:creationId xmlns:a16="http://schemas.microsoft.com/office/drawing/2014/main" id="{C35C85E8-314E-3E45-BB26-1A95C606F050}"/>
              </a:ext>
            </a:extLst>
          </p:cNvPr>
          <p:cNvSpPr>
            <a:spLocks noGrp="1"/>
          </p:cNvSpPr>
          <p:nvPr>
            <p:ph type="ftr" sz="quarter" idx="3"/>
          </p:nvPr>
        </p:nvSpPr>
        <p:spPr>
          <a:xfrm>
            <a:off x="2519853" y="6441192"/>
            <a:ext cx="8684173" cy="365125"/>
          </a:xfrm>
          <a:prstGeom prst="rect">
            <a:avLst/>
          </a:prstGeom>
        </p:spPr>
        <p:txBody>
          <a:bodyPr vert="horz" lIns="91440" tIns="45720" rIns="91440" bIns="45720" rtlCol="0" anchor="ctr"/>
          <a:lstStyle>
            <a:lvl1pPr algn="l">
              <a:defRPr sz="1400" b="0">
                <a:solidFill>
                  <a:schemeClr val="bg1"/>
                </a:solidFill>
              </a:defRPr>
            </a:lvl1pPr>
          </a:lstStyle>
          <a:p>
            <a:r>
              <a:rPr lang="en-US"/>
              <a:t>Final Project | Topics in Computer Science II | Fall 2025, University of Iowa</a:t>
            </a:r>
            <a:endParaRPr lang="en-US" b="0" dirty="0"/>
          </a:p>
        </p:txBody>
      </p:sp>
    </p:spTree>
    <p:extLst>
      <p:ext uri="{BB962C8B-B14F-4D97-AF65-F5344CB8AC3E}">
        <p14:creationId xmlns:p14="http://schemas.microsoft.com/office/powerpoint/2010/main" val="2625500995"/>
      </p:ext>
    </p:extLst>
  </p:cSld>
  <p:clrMapOvr>
    <a:masterClrMapping/>
  </p:clrMapOvr>
  <p:extLst>
    <p:ext uri="{DCECCB84-F9BA-43D5-87BE-67443E8EF086}">
      <p15:sldGuideLst xmlns:p15="http://schemas.microsoft.com/office/powerpoint/2012/main">
        <p15:guide id="1" orient="horz" pos="3744" userDrawn="1">
          <p15:clr>
            <a:srgbClr val="FBAE40"/>
          </p15:clr>
        </p15:guide>
        <p15:guide id="2" pos="3912" userDrawn="1">
          <p15:clr>
            <a:srgbClr val="FBAE40"/>
          </p15:clr>
        </p15:guide>
        <p15:guide id="3" pos="600" userDrawn="1">
          <p15:clr>
            <a:srgbClr val="FBAE40"/>
          </p15:clr>
        </p15:guide>
        <p15:guide id="4" orient="horz" pos="1056" userDrawn="1">
          <p15:clr>
            <a:srgbClr val="FBAE40"/>
          </p15:clr>
        </p15:guide>
        <p15:guide id="6" orient="horz" pos="697" userDrawn="1">
          <p15:clr>
            <a:srgbClr val="FBAE40"/>
          </p15:clr>
        </p15:guide>
        <p15:guide id="7" orient="horz" pos="2400"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ullet Slide - Photo Collage">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7524483D-CFE3-E34D-BB74-CEDD541765E2}"/>
              </a:ext>
            </a:extLst>
          </p:cNvPr>
          <p:cNvSpPr>
            <a:spLocks noGrp="1"/>
          </p:cNvSpPr>
          <p:nvPr>
            <p:ph type="title"/>
          </p:nvPr>
        </p:nvSpPr>
        <p:spPr>
          <a:xfrm>
            <a:off x="952499" y="365125"/>
            <a:ext cx="5254505" cy="1331865"/>
          </a:xfrm>
        </p:spPr>
        <p:txBody>
          <a:bodyPr/>
          <a:lstStyle>
            <a:lvl1pPr>
              <a:defRPr>
                <a:latin typeface="Roboto" panose="02000000000000000000" pitchFamily="2" charset="0"/>
                <a:ea typeface="Roboto" panose="02000000000000000000" pitchFamily="2" charset="0"/>
              </a:defRPr>
            </a:lvl1pPr>
          </a:lstStyle>
          <a:p>
            <a:r>
              <a:rPr lang="en-US" dirty="0"/>
              <a:t>Click to edit Master title style</a:t>
            </a:r>
          </a:p>
        </p:txBody>
      </p:sp>
      <p:cxnSp>
        <p:nvCxnSpPr>
          <p:cNvPr id="17" name="Straight Connector 16">
            <a:extLst>
              <a:ext uri="{FF2B5EF4-FFF2-40B4-BE49-F238E27FC236}">
                <a16:creationId xmlns:a16="http://schemas.microsoft.com/office/drawing/2014/main" id="{EB28F420-DDD1-5E4A-9513-EAE252D759FE}"/>
              </a:ext>
            </a:extLst>
          </p:cNvPr>
          <p:cNvCxnSpPr>
            <a:cxnSpLocks/>
          </p:cNvCxnSpPr>
          <p:nvPr userDrawn="1"/>
        </p:nvCxnSpPr>
        <p:spPr>
          <a:xfrm>
            <a:off x="952500" y="1734062"/>
            <a:ext cx="768531"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65D1D7B4-E242-C142-8F5F-F3301CC02498}"/>
              </a:ext>
            </a:extLst>
          </p:cNvPr>
          <p:cNvSpPr>
            <a:spLocks noGrp="1"/>
          </p:cNvSpPr>
          <p:nvPr>
            <p:ph idx="1"/>
          </p:nvPr>
        </p:nvSpPr>
        <p:spPr>
          <a:xfrm>
            <a:off x="952499" y="1962386"/>
            <a:ext cx="5266450" cy="3981214"/>
          </a:xfrm>
        </p:spPr>
        <p:txBody>
          <a:bodyPr/>
          <a:lstStyle>
            <a:lvl1pPr marL="228600" indent="-228600">
              <a:buClr>
                <a:schemeClr val="tx2"/>
              </a:buClr>
              <a:buSzPct val="95000"/>
              <a:buFont typeface="Arial" panose="020B0604020202020204" pitchFamily="34" charset="0"/>
              <a:buChar char="•"/>
              <a:defRPr>
                <a:latin typeface="Roboto" panose="02000000000000000000" pitchFamily="2" charset="0"/>
                <a:ea typeface="Roboto" panose="02000000000000000000" pitchFamily="2" charset="0"/>
              </a:defRPr>
            </a:lvl1pPr>
            <a:lvl2pPr marL="685800" indent="-228600">
              <a:buClr>
                <a:schemeClr val="tx2"/>
              </a:buClr>
              <a:buFont typeface="Roboto" panose="02000000000000000000" pitchFamily="2" charset="0"/>
              <a:buChar char="–"/>
              <a:defRPr>
                <a:latin typeface="Roboto" panose="02000000000000000000" pitchFamily="2" charset="0"/>
                <a:ea typeface="Roboto" panose="02000000000000000000" pitchFamily="2" charset="0"/>
              </a:defRPr>
            </a:lvl2pPr>
            <a:lvl3pPr>
              <a:buClr>
                <a:schemeClr val="tx2"/>
              </a:buClr>
              <a:defRPr>
                <a:latin typeface="Roboto" panose="02000000000000000000" pitchFamily="2" charset="0"/>
                <a:ea typeface="Roboto" panose="02000000000000000000" pitchFamily="2" charset="0"/>
              </a:defRPr>
            </a:lvl3pPr>
            <a:lvl4pPr marL="1600200" indent="-228600">
              <a:buClr>
                <a:schemeClr val="tx2"/>
              </a:buClr>
              <a:buFont typeface="Arial" panose="020B0604020202020204" pitchFamily="34" charset="0"/>
              <a:buChar char="‒"/>
              <a:defRPr>
                <a:latin typeface="Roboto" panose="02000000000000000000" pitchFamily="2" charset="0"/>
                <a:ea typeface="Roboto" panose="02000000000000000000" pitchFamily="2" charset="0"/>
              </a:defRPr>
            </a:lvl4pPr>
            <a:lvl5pPr marL="2057400" indent="-228600">
              <a:buClr>
                <a:schemeClr val="tx2"/>
              </a:buClr>
              <a:buFont typeface="Arial" panose="020B0604020202020204" pitchFamily="34" charset="0"/>
              <a:buChar char="•"/>
              <a:defRPr>
                <a:latin typeface="Roboto" panose="02000000000000000000" pitchFamily="2" charset="0"/>
                <a:ea typeface="Roboto" panose="02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4">
            <a:extLst>
              <a:ext uri="{FF2B5EF4-FFF2-40B4-BE49-F238E27FC236}">
                <a16:creationId xmlns:a16="http://schemas.microsoft.com/office/drawing/2014/main" id="{04FCC643-718F-7645-8F8D-0BFC94D0506B}"/>
              </a:ext>
            </a:extLst>
          </p:cNvPr>
          <p:cNvSpPr>
            <a:spLocks noGrp="1"/>
          </p:cNvSpPr>
          <p:nvPr>
            <p:ph type="pic" sz="quarter" idx="14"/>
          </p:nvPr>
        </p:nvSpPr>
        <p:spPr>
          <a:xfrm>
            <a:off x="7159502" y="0"/>
            <a:ext cx="2483404" cy="3191425"/>
          </a:xfrm>
          <a:prstGeom prst="rect">
            <a:avLst/>
          </a:prstGeom>
        </p:spPr>
        <p:txBody>
          <a:bodyPr anchor="ctr" anchorCtr="0"/>
          <a:lstStyle>
            <a:lvl1pPr marL="0" indent="0" algn="ctr">
              <a:buNone/>
              <a:defRPr b="0" i="0">
                <a:solidFill>
                  <a:schemeClr val="accent3"/>
                </a:solidFill>
                <a:latin typeface="Arial" panose="020B0604020202020204" pitchFamily="34" charset="0"/>
                <a:cs typeface="Arial" panose="020B0604020202020204" pitchFamily="34" charset="0"/>
              </a:defRPr>
            </a:lvl1pPr>
          </a:lstStyle>
          <a:p>
            <a:r>
              <a:rPr lang="en-US" dirty="0"/>
              <a:t>Click icon to add picture</a:t>
            </a:r>
          </a:p>
        </p:txBody>
      </p:sp>
      <p:sp>
        <p:nvSpPr>
          <p:cNvPr id="9" name="Picture Placeholder 4">
            <a:extLst>
              <a:ext uri="{FF2B5EF4-FFF2-40B4-BE49-F238E27FC236}">
                <a16:creationId xmlns:a16="http://schemas.microsoft.com/office/drawing/2014/main" id="{41C31617-CC11-4C42-B6D0-164DF6AFBF41}"/>
              </a:ext>
            </a:extLst>
          </p:cNvPr>
          <p:cNvSpPr>
            <a:spLocks noGrp="1"/>
          </p:cNvSpPr>
          <p:nvPr>
            <p:ph type="pic" sz="quarter" idx="15"/>
          </p:nvPr>
        </p:nvSpPr>
        <p:spPr>
          <a:xfrm>
            <a:off x="9713630" y="0"/>
            <a:ext cx="2483404" cy="3191425"/>
          </a:xfrm>
          <a:prstGeom prst="rect">
            <a:avLst/>
          </a:prstGeom>
        </p:spPr>
        <p:txBody>
          <a:bodyPr anchor="ctr" anchorCtr="0"/>
          <a:lstStyle>
            <a:lvl1pPr marL="0" indent="0" algn="ctr">
              <a:buNone/>
              <a:defRPr b="0" i="0">
                <a:solidFill>
                  <a:schemeClr val="accent3"/>
                </a:solidFill>
                <a:latin typeface="Arial" panose="020B0604020202020204" pitchFamily="34" charset="0"/>
                <a:cs typeface="Arial" panose="020B0604020202020204" pitchFamily="34" charset="0"/>
              </a:defRPr>
            </a:lvl1pPr>
          </a:lstStyle>
          <a:p>
            <a:r>
              <a:rPr lang="en-US" dirty="0"/>
              <a:t>Click icon to add picture</a:t>
            </a:r>
          </a:p>
        </p:txBody>
      </p:sp>
      <p:sp>
        <p:nvSpPr>
          <p:cNvPr id="6" name="Picture Placeholder 4">
            <a:extLst>
              <a:ext uri="{FF2B5EF4-FFF2-40B4-BE49-F238E27FC236}">
                <a16:creationId xmlns:a16="http://schemas.microsoft.com/office/drawing/2014/main" id="{3E5CE386-BEFE-FE49-A675-D93BEDF680BC}"/>
              </a:ext>
            </a:extLst>
          </p:cNvPr>
          <p:cNvSpPr>
            <a:spLocks noGrp="1"/>
          </p:cNvSpPr>
          <p:nvPr>
            <p:ph type="pic" sz="quarter" idx="11" hasCustomPrompt="1"/>
          </p:nvPr>
        </p:nvSpPr>
        <p:spPr>
          <a:xfrm>
            <a:off x="7159502" y="3260862"/>
            <a:ext cx="5032499" cy="3128649"/>
          </a:xfrm>
          <a:prstGeom prst="rect">
            <a:avLst/>
          </a:prstGeom>
        </p:spPr>
        <p:txBody>
          <a:bodyPr anchor="ctr" anchorCtr="0"/>
          <a:lstStyle>
            <a:lvl1pPr marL="0" indent="0" algn="ctr">
              <a:buNone/>
              <a:defRPr b="0" i="0">
                <a:solidFill>
                  <a:schemeClr val="accent3"/>
                </a:solidFill>
                <a:latin typeface="Arial" panose="020B0604020202020204" pitchFamily="34" charset="0"/>
                <a:cs typeface="Arial" panose="020B0604020202020204" pitchFamily="34" charset="0"/>
              </a:defRPr>
            </a:lvl1pPr>
          </a:lstStyle>
          <a:p>
            <a:r>
              <a:rPr lang="en-US" dirty="0"/>
              <a:t> Click icon to add picture </a:t>
            </a:r>
          </a:p>
        </p:txBody>
      </p:sp>
      <p:sp>
        <p:nvSpPr>
          <p:cNvPr id="11" name="Rectangle 10">
            <a:extLst>
              <a:ext uri="{FF2B5EF4-FFF2-40B4-BE49-F238E27FC236}">
                <a16:creationId xmlns:a16="http://schemas.microsoft.com/office/drawing/2014/main" id="{BC24DFA0-3257-B044-87EF-16154359E2FC}"/>
              </a:ext>
            </a:extLst>
          </p:cNvPr>
          <p:cNvSpPr/>
          <p:nvPr userDrawn="1"/>
        </p:nvSpPr>
        <p:spPr>
          <a:xfrm>
            <a:off x="0" y="6389511"/>
            <a:ext cx="12192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19" name="Picture 18" descr="The University of Iowa">
            <a:extLst>
              <a:ext uri="{FF2B5EF4-FFF2-40B4-BE49-F238E27FC236}">
                <a16:creationId xmlns:a16="http://schemas.microsoft.com/office/drawing/2014/main" id="{87382191-DF4D-7341-915C-9C1044535279}"/>
              </a:ext>
            </a:extLst>
          </p:cNvPr>
          <p:cNvPicPr>
            <a:picLocks noChangeAspect="1"/>
          </p:cNvPicPr>
          <p:nvPr userDrawn="1"/>
        </p:nvPicPr>
        <p:blipFill>
          <a:blip r:embed="rId2"/>
          <a:stretch>
            <a:fillRect/>
          </a:stretch>
        </p:blipFill>
        <p:spPr>
          <a:xfrm>
            <a:off x="838200" y="6131555"/>
            <a:ext cx="1545021" cy="733885"/>
          </a:xfrm>
          <a:prstGeom prst="rect">
            <a:avLst/>
          </a:prstGeom>
        </p:spPr>
      </p:pic>
      <p:sp>
        <p:nvSpPr>
          <p:cNvPr id="15" name="Footer Placeholder 4">
            <a:extLst>
              <a:ext uri="{FF2B5EF4-FFF2-40B4-BE49-F238E27FC236}">
                <a16:creationId xmlns:a16="http://schemas.microsoft.com/office/drawing/2014/main" id="{E21405B1-B61E-0943-909C-EFA16B5EE486}"/>
              </a:ext>
            </a:extLst>
          </p:cNvPr>
          <p:cNvSpPr>
            <a:spLocks noGrp="1"/>
          </p:cNvSpPr>
          <p:nvPr>
            <p:ph type="ftr" sz="quarter" idx="3"/>
          </p:nvPr>
        </p:nvSpPr>
        <p:spPr>
          <a:xfrm>
            <a:off x="2519853" y="6441192"/>
            <a:ext cx="8684173" cy="365125"/>
          </a:xfrm>
          <a:prstGeom prst="rect">
            <a:avLst/>
          </a:prstGeom>
        </p:spPr>
        <p:txBody>
          <a:bodyPr vert="horz" lIns="91440" tIns="45720" rIns="91440" bIns="45720" rtlCol="0" anchor="ctr"/>
          <a:lstStyle>
            <a:lvl1pPr algn="l">
              <a:defRPr sz="1400" b="0">
                <a:solidFill>
                  <a:schemeClr val="bg1"/>
                </a:solidFill>
              </a:defRPr>
            </a:lvl1pPr>
          </a:lstStyle>
          <a:p>
            <a:r>
              <a:rPr lang="en-US"/>
              <a:t>Final Project | Topics in Computer Science II | Fall 2025, University of Iowa</a:t>
            </a:r>
            <a:endParaRPr lang="en-US" b="0" dirty="0"/>
          </a:p>
        </p:txBody>
      </p:sp>
    </p:spTree>
    <p:extLst>
      <p:ext uri="{BB962C8B-B14F-4D97-AF65-F5344CB8AC3E}">
        <p14:creationId xmlns:p14="http://schemas.microsoft.com/office/powerpoint/2010/main" val="1338072623"/>
      </p:ext>
    </p:extLst>
  </p:cSld>
  <p:clrMapOvr>
    <a:masterClrMapping/>
  </p:clrMapOvr>
  <p:extLst>
    <p:ext uri="{DCECCB84-F9BA-43D5-87BE-67443E8EF086}">
      <p15:sldGuideLst xmlns:p15="http://schemas.microsoft.com/office/powerpoint/2012/main">
        <p15:guide id="1" orient="horz" pos="3744" userDrawn="1">
          <p15:clr>
            <a:srgbClr val="FBAE40"/>
          </p15:clr>
        </p15:guide>
        <p15:guide id="2" pos="3926" userDrawn="1">
          <p15:clr>
            <a:srgbClr val="FBAE40"/>
          </p15:clr>
        </p15:guide>
        <p15:guide id="3" pos="600" userDrawn="1">
          <p15:clr>
            <a:srgbClr val="FBAE40"/>
          </p15:clr>
        </p15:guide>
        <p15:guide id="4" orient="horz" pos="240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AAEF4-B950-814D-A811-CD17BDDF049C}"/>
              </a:ext>
            </a:extLst>
          </p:cNvPr>
          <p:cNvSpPr>
            <a:spLocks noGrp="1"/>
          </p:cNvSpPr>
          <p:nvPr>
            <p:ph type="title"/>
          </p:nvPr>
        </p:nvSpPr>
        <p:spPr>
          <a:xfrm>
            <a:off x="949325" y="494273"/>
            <a:ext cx="10290175" cy="869089"/>
          </a:xfrm>
        </p:spPr>
        <p:txBody>
          <a:bodyPr lIns="0" tIns="0" rIns="0" bIns="0"/>
          <a:lstStyle/>
          <a:p>
            <a:r>
              <a:rPr lang="en-US" dirty="0"/>
              <a:t>Click to edit Master title style</a:t>
            </a:r>
          </a:p>
        </p:txBody>
      </p:sp>
      <p:cxnSp>
        <p:nvCxnSpPr>
          <p:cNvPr id="8" name="Straight Connector 7">
            <a:extLst>
              <a:ext uri="{FF2B5EF4-FFF2-40B4-BE49-F238E27FC236}">
                <a16:creationId xmlns:a16="http://schemas.microsoft.com/office/drawing/2014/main" id="{CBB5BDD8-8221-F040-8AE0-3F33C4E24CA0}"/>
              </a:ext>
            </a:extLst>
          </p:cNvPr>
          <p:cNvCxnSpPr>
            <a:cxnSpLocks/>
          </p:cNvCxnSpPr>
          <p:nvPr userDrawn="1"/>
        </p:nvCxnSpPr>
        <p:spPr>
          <a:xfrm>
            <a:off x="949325" y="1363362"/>
            <a:ext cx="768531"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5" name="Chart Placeholder 4">
            <a:extLst>
              <a:ext uri="{FF2B5EF4-FFF2-40B4-BE49-F238E27FC236}">
                <a16:creationId xmlns:a16="http://schemas.microsoft.com/office/drawing/2014/main" id="{DF1F65E7-1CB7-3D42-91A9-88DA4E58EB0E}"/>
              </a:ext>
            </a:extLst>
          </p:cNvPr>
          <p:cNvSpPr>
            <a:spLocks noGrp="1"/>
          </p:cNvSpPr>
          <p:nvPr>
            <p:ph type="chart" sz="quarter" idx="10"/>
          </p:nvPr>
        </p:nvSpPr>
        <p:spPr>
          <a:xfrm>
            <a:off x="949325" y="1570038"/>
            <a:ext cx="10290175" cy="4114800"/>
          </a:xfrm>
        </p:spPr>
        <p:txBody>
          <a:bodyPr lIns="0" tIns="0" rIns="0" bIns="0"/>
          <a:lstStyle/>
          <a:p>
            <a:endParaRPr lang="en-US" dirty="0"/>
          </a:p>
        </p:txBody>
      </p:sp>
      <p:sp>
        <p:nvSpPr>
          <p:cNvPr id="12" name="Rectangle 11">
            <a:extLst>
              <a:ext uri="{FF2B5EF4-FFF2-40B4-BE49-F238E27FC236}">
                <a16:creationId xmlns:a16="http://schemas.microsoft.com/office/drawing/2014/main" id="{1F56D074-0631-F846-A2A3-4A39FEAEFDD7}"/>
              </a:ext>
            </a:extLst>
          </p:cNvPr>
          <p:cNvSpPr/>
          <p:nvPr userDrawn="1"/>
        </p:nvSpPr>
        <p:spPr>
          <a:xfrm>
            <a:off x="0" y="6389511"/>
            <a:ext cx="12192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14" name="Picture 13" descr="The University of Iowa">
            <a:extLst>
              <a:ext uri="{FF2B5EF4-FFF2-40B4-BE49-F238E27FC236}">
                <a16:creationId xmlns:a16="http://schemas.microsoft.com/office/drawing/2014/main" id="{F53BBB5F-6629-C742-91EE-40B5B8BC1084}"/>
              </a:ext>
            </a:extLst>
          </p:cNvPr>
          <p:cNvPicPr>
            <a:picLocks noChangeAspect="1"/>
          </p:cNvPicPr>
          <p:nvPr userDrawn="1"/>
        </p:nvPicPr>
        <p:blipFill>
          <a:blip r:embed="rId2"/>
          <a:stretch>
            <a:fillRect/>
          </a:stretch>
        </p:blipFill>
        <p:spPr>
          <a:xfrm>
            <a:off x="838200" y="6131555"/>
            <a:ext cx="1545021" cy="733885"/>
          </a:xfrm>
          <a:prstGeom prst="rect">
            <a:avLst/>
          </a:prstGeom>
        </p:spPr>
      </p:pic>
      <p:sp>
        <p:nvSpPr>
          <p:cNvPr id="13" name="Footer Placeholder 4">
            <a:extLst>
              <a:ext uri="{FF2B5EF4-FFF2-40B4-BE49-F238E27FC236}">
                <a16:creationId xmlns:a16="http://schemas.microsoft.com/office/drawing/2014/main" id="{B3AC09A7-82B4-6B47-A4FB-CA6800EAFBA4}"/>
              </a:ext>
            </a:extLst>
          </p:cNvPr>
          <p:cNvSpPr>
            <a:spLocks noGrp="1"/>
          </p:cNvSpPr>
          <p:nvPr>
            <p:ph type="ftr" sz="quarter" idx="3"/>
          </p:nvPr>
        </p:nvSpPr>
        <p:spPr>
          <a:xfrm>
            <a:off x="2519853" y="6441192"/>
            <a:ext cx="8684173" cy="365125"/>
          </a:xfrm>
          <a:prstGeom prst="rect">
            <a:avLst/>
          </a:prstGeom>
        </p:spPr>
        <p:txBody>
          <a:bodyPr vert="horz" lIns="91440" tIns="45720" rIns="91440" bIns="45720" rtlCol="0" anchor="ctr"/>
          <a:lstStyle>
            <a:lvl1pPr algn="l">
              <a:defRPr sz="1400" b="0">
                <a:solidFill>
                  <a:schemeClr val="bg1"/>
                </a:solidFill>
              </a:defRPr>
            </a:lvl1pPr>
          </a:lstStyle>
          <a:p>
            <a:r>
              <a:rPr lang="en-US"/>
              <a:t>Final Project | Topics in Computer Science II | Fall 2025, University of Iowa</a:t>
            </a:r>
            <a:endParaRPr lang="en-US" b="0" dirty="0"/>
          </a:p>
        </p:txBody>
      </p:sp>
    </p:spTree>
    <p:extLst>
      <p:ext uri="{BB962C8B-B14F-4D97-AF65-F5344CB8AC3E}">
        <p14:creationId xmlns:p14="http://schemas.microsoft.com/office/powerpoint/2010/main" val="3142765285"/>
      </p:ext>
    </p:extLst>
  </p:cSld>
  <p:clrMapOvr>
    <a:masterClrMapping/>
  </p:clrMapOvr>
  <p:extLst>
    <p:ext uri="{DCECCB84-F9BA-43D5-87BE-67443E8EF086}">
      <p15:sldGuideLst xmlns:p15="http://schemas.microsoft.com/office/powerpoint/2012/main">
        <p15:guide id="2" pos="598" userDrawn="1">
          <p15:clr>
            <a:srgbClr val="FBAE40"/>
          </p15:clr>
        </p15:guide>
        <p15:guide id="3" pos="7080"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1"/>
        </a:solidFill>
        <a:effectLst/>
      </p:bgPr>
    </p:bg>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AC533B8E-DBF3-664D-901D-8735DE775212}"/>
              </a:ext>
            </a:extLst>
          </p:cNvPr>
          <p:cNvSpPr>
            <a:spLocks noGrp="1"/>
          </p:cNvSpPr>
          <p:nvPr>
            <p:ph type="ctrTitle" hasCustomPrompt="1"/>
          </p:nvPr>
        </p:nvSpPr>
        <p:spPr>
          <a:xfrm>
            <a:off x="989081" y="3367173"/>
            <a:ext cx="7163317" cy="1160369"/>
          </a:xfrm>
        </p:spPr>
        <p:txBody>
          <a:bodyPr lIns="0" tIns="0" rIns="0" bIns="0" anchor="t" anchorCtr="0">
            <a:noAutofit/>
          </a:bodyPr>
          <a:lstStyle>
            <a:lvl1pPr algn="l">
              <a:defRPr sz="6000" b="1">
                <a:solidFill>
                  <a:schemeClr val="tx1"/>
                </a:solidFill>
                <a:latin typeface="+mj-lt"/>
                <a:ea typeface="Roboto Black" panose="02000000000000000000" pitchFamily="2" charset="0"/>
                <a:cs typeface="Arial" panose="020B0604020202020204" pitchFamily="34" charset="0"/>
              </a:defRPr>
            </a:lvl1pPr>
          </a:lstStyle>
          <a:p>
            <a:r>
              <a:rPr lang="en-US" dirty="0"/>
              <a:t>Thank you</a:t>
            </a:r>
          </a:p>
        </p:txBody>
      </p:sp>
      <p:cxnSp>
        <p:nvCxnSpPr>
          <p:cNvPr id="21" name="Straight Connector 20">
            <a:extLst>
              <a:ext uri="{FF2B5EF4-FFF2-40B4-BE49-F238E27FC236}">
                <a16:creationId xmlns:a16="http://schemas.microsoft.com/office/drawing/2014/main" id="{4F7216A4-2452-1B4B-AE0D-122E7F5A5965}"/>
              </a:ext>
            </a:extLst>
          </p:cNvPr>
          <p:cNvCxnSpPr>
            <a:cxnSpLocks/>
          </p:cNvCxnSpPr>
          <p:nvPr userDrawn="1"/>
        </p:nvCxnSpPr>
        <p:spPr>
          <a:xfrm>
            <a:off x="974126" y="3029213"/>
            <a:ext cx="768531" cy="0"/>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 Placeholder 13">
            <a:extLst>
              <a:ext uri="{FF2B5EF4-FFF2-40B4-BE49-F238E27FC236}">
                <a16:creationId xmlns:a16="http://schemas.microsoft.com/office/drawing/2014/main" id="{73873935-43A0-4C23-AC45-B3EF69B188E1}"/>
              </a:ext>
            </a:extLst>
          </p:cNvPr>
          <p:cNvSpPr>
            <a:spLocks noGrp="1"/>
          </p:cNvSpPr>
          <p:nvPr>
            <p:ph type="body" sz="quarter" idx="12" hasCustomPrompt="1"/>
          </p:nvPr>
        </p:nvSpPr>
        <p:spPr>
          <a:xfrm>
            <a:off x="8628383" y="3029213"/>
            <a:ext cx="2687038" cy="1498329"/>
          </a:xfrm>
        </p:spPr>
        <p:txBody>
          <a:bodyPr vert="horz" anchor="ctr" anchorCtr="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400" b="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Presenter Name</a:t>
            </a:r>
          </a:p>
          <a:p>
            <a:pPr lvl="0"/>
            <a:r>
              <a:rPr lang="en-US" dirty="0"/>
              <a:t>Contact Person Title </a:t>
            </a:r>
          </a:p>
          <a:p>
            <a:pPr lvl="0"/>
            <a:r>
              <a:rPr lang="en-US" dirty="0"/>
              <a:t>Contact Person Unit</a:t>
            </a:r>
          </a:p>
          <a:p>
            <a:pPr lvl="0"/>
            <a:endParaRPr lang="en-US" dirty="0"/>
          </a:p>
          <a:p>
            <a:pPr lvl="0"/>
            <a:r>
              <a:rPr lang="en-US" dirty="0"/>
              <a:t>Phone: </a:t>
            </a:r>
          </a:p>
          <a:p>
            <a:pPr lvl="0"/>
            <a:r>
              <a:rPr lang="en-US" dirty="0"/>
              <a:t>Fax: </a:t>
            </a:r>
          </a:p>
          <a:p>
            <a:pPr lvl="0"/>
            <a:r>
              <a:rPr lang="en-US" dirty="0"/>
              <a:t>Email:</a:t>
            </a:r>
          </a:p>
        </p:txBody>
      </p:sp>
      <p:sp>
        <p:nvSpPr>
          <p:cNvPr id="4" name="Rectangle 3">
            <a:extLst>
              <a:ext uri="{FF2B5EF4-FFF2-40B4-BE49-F238E27FC236}">
                <a16:creationId xmlns:a16="http://schemas.microsoft.com/office/drawing/2014/main" id="{1C6ACD65-4DC5-40D8-89A9-EBA0997790E8}"/>
              </a:ext>
            </a:extLst>
          </p:cNvPr>
          <p:cNvSpPr/>
          <p:nvPr userDrawn="1"/>
        </p:nvSpPr>
        <p:spPr>
          <a:xfrm>
            <a:off x="949325" y="5019085"/>
            <a:ext cx="318908" cy="36933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 Placeholder 2">
            <a:extLst>
              <a:ext uri="{FF2B5EF4-FFF2-40B4-BE49-F238E27FC236}">
                <a16:creationId xmlns:a16="http://schemas.microsoft.com/office/drawing/2014/main" id="{33438018-43AE-4329-BACA-C859C7CFF4A2}"/>
              </a:ext>
            </a:extLst>
          </p:cNvPr>
          <p:cNvSpPr>
            <a:spLocks noGrp="1"/>
          </p:cNvSpPr>
          <p:nvPr>
            <p:ph type="body" sz="quarter" idx="10" hasCustomPrompt="1"/>
          </p:nvPr>
        </p:nvSpPr>
        <p:spPr>
          <a:xfrm>
            <a:off x="1268233" y="5019085"/>
            <a:ext cx="2231701" cy="369332"/>
          </a:xfrm>
          <a:solidFill>
            <a:schemeClr val="tx1"/>
          </a:solidFill>
          <a:ln>
            <a:noFill/>
          </a:ln>
        </p:spPr>
        <p:txBody>
          <a:bodyPr wrap="none" lIns="91440" tIns="45720" rIns="91440" bIns="45720">
            <a:spAutoFit/>
          </a:bodyPr>
          <a:lstStyle>
            <a:lvl1pPr marL="0" indent="0">
              <a:buNone/>
              <a:defRPr sz="1800">
                <a:solidFill>
                  <a:schemeClr val="bg1"/>
                </a:solidFill>
                <a:latin typeface="Roboto Black" panose="02000000000000000000" pitchFamily="2" charset="0"/>
                <a:ea typeface="Roboto Black" panose="02000000000000000000" pitchFamily="2" charset="0"/>
              </a:defRPr>
            </a:lvl1pPr>
          </a:lstStyle>
          <a:p>
            <a:pPr lvl="0"/>
            <a:r>
              <a:rPr lang="en-US" dirty="0"/>
              <a:t>Insert Web Address</a:t>
            </a:r>
          </a:p>
        </p:txBody>
      </p:sp>
      <p:grpSp>
        <p:nvGrpSpPr>
          <p:cNvPr id="15" name="Group 14">
            <a:extLst>
              <a:ext uri="{FF2B5EF4-FFF2-40B4-BE49-F238E27FC236}">
                <a16:creationId xmlns:a16="http://schemas.microsoft.com/office/drawing/2014/main" id="{EB262A30-5EEC-5549-B428-7E5B11A5D7A7}"/>
              </a:ext>
            </a:extLst>
          </p:cNvPr>
          <p:cNvGrpSpPr/>
          <p:nvPr userDrawn="1"/>
        </p:nvGrpSpPr>
        <p:grpSpPr>
          <a:xfrm>
            <a:off x="1071271" y="5122118"/>
            <a:ext cx="142379" cy="150373"/>
            <a:chOff x="3057746" y="812006"/>
            <a:chExt cx="173610" cy="183357"/>
          </a:xfrm>
          <a:noFill/>
        </p:grpSpPr>
        <p:cxnSp>
          <p:nvCxnSpPr>
            <p:cNvPr id="16" name="Straight Connector 15">
              <a:extLst>
                <a:ext uri="{FF2B5EF4-FFF2-40B4-BE49-F238E27FC236}">
                  <a16:creationId xmlns:a16="http://schemas.microsoft.com/office/drawing/2014/main" id="{1699B573-1E8F-3547-9D64-50A2EC630F1F}"/>
                </a:ext>
              </a:extLst>
            </p:cNvPr>
            <p:cNvCxnSpPr/>
            <p:nvPr userDrawn="1"/>
          </p:nvCxnSpPr>
          <p:spPr>
            <a:xfrm>
              <a:off x="3057746" y="904875"/>
              <a:ext cx="173610" cy="0"/>
            </a:xfrm>
            <a:prstGeom prst="line">
              <a:avLst/>
            </a:prstGeom>
            <a:grpFill/>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Freeform: Shape 12">
              <a:extLst>
                <a:ext uri="{FF2B5EF4-FFF2-40B4-BE49-F238E27FC236}">
                  <a16:creationId xmlns:a16="http://schemas.microsoft.com/office/drawing/2014/main" id="{68F32139-4BAE-F54C-8358-EF5839C5813E}"/>
                </a:ext>
              </a:extLst>
            </p:cNvPr>
            <p:cNvSpPr/>
            <p:nvPr userDrawn="1"/>
          </p:nvSpPr>
          <p:spPr>
            <a:xfrm>
              <a:off x="3143250" y="812006"/>
              <a:ext cx="85725" cy="183357"/>
            </a:xfrm>
            <a:custGeom>
              <a:avLst/>
              <a:gdLst>
                <a:gd name="connsiteX0" fmla="*/ 4763 w 85725"/>
                <a:gd name="connsiteY0" fmla="*/ 0 h 183357"/>
                <a:gd name="connsiteX1" fmla="*/ 85725 w 85725"/>
                <a:gd name="connsiteY1" fmla="*/ 92869 h 183357"/>
                <a:gd name="connsiteX2" fmla="*/ 0 w 85725"/>
                <a:gd name="connsiteY2" fmla="*/ 183357 h 183357"/>
              </a:gdLst>
              <a:ahLst/>
              <a:cxnLst>
                <a:cxn ang="0">
                  <a:pos x="connsiteX0" y="connsiteY0"/>
                </a:cxn>
                <a:cxn ang="0">
                  <a:pos x="connsiteX1" y="connsiteY1"/>
                </a:cxn>
                <a:cxn ang="0">
                  <a:pos x="connsiteX2" y="connsiteY2"/>
                </a:cxn>
              </a:cxnLst>
              <a:rect l="l" t="t" r="r" b="b"/>
              <a:pathLst>
                <a:path w="85725" h="183357">
                  <a:moveTo>
                    <a:pt x="4763" y="0"/>
                  </a:moveTo>
                  <a:lnTo>
                    <a:pt x="85725" y="92869"/>
                  </a:lnTo>
                  <a:lnTo>
                    <a:pt x="0" y="183357"/>
                  </a:lnTo>
                </a:path>
              </a:pathLst>
            </a:custGeom>
            <a:grp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14" name="Picture 13">
            <a:extLst>
              <a:ext uri="{FF2B5EF4-FFF2-40B4-BE49-F238E27FC236}">
                <a16:creationId xmlns:a16="http://schemas.microsoft.com/office/drawing/2014/main" id="{4B1807D8-E6B4-C743-A4EC-22D5E0479848}"/>
              </a:ext>
            </a:extLst>
          </p:cNvPr>
          <p:cNvPicPr>
            <a:picLocks noChangeAspect="1"/>
          </p:cNvPicPr>
          <p:nvPr userDrawn="1"/>
        </p:nvPicPr>
        <p:blipFill>
          <a:blip r:embed="rId2"/>
          <a:srcRect/>
          <a:stretch/>
        </p:blipFill>
        <p:spPr>
          <a:xfrm>
            <a:off x="8628383" y="0"/>
            <a:ext cx="2687038" cy="1279542"/>
          </a:xfrm>
          <a:prstGeom prst="rect">
            <a:avLst/>
          </a:prstGeom>
        </p:spPr>
      </p:pic>
      <p:sp>
        <p:nvSpPr>
          <p:cNvPr id="20" name="Footer Placeholder 4">
            <a:extLst>
              <a:ext uri="{FF2B5EF4-FFF2-40B4-BE49-F238E27FC236}">
                <a16:creationId xmlns:a16="http://schemas.microsoft.com/office/drawing/2014/main" id="{4D36833F-B2C7-1C49-9947-A60C1ACB0296}"/>
              </a:ext>
            </a:extLst>
          </p:cNvPr>
          <p:cNvSpPr>
            <a:spLocks noGrp="1"/>
          </p:cNvSpPr>
          <p:nvPr>
            <p:ph type="ftr" sz="quarter" idx="3"/>
          </p:nvPr>
        </p:nvSpPr>
        <p:spPr>
          <a:xfrm>
            <a:off x="956096" y="2463764"/>
            <a:ext cx="7157006" cy="365125"/>
          </a:xfrm>
          <a:prstGeom prst="rect">
            <a:avLst/>
          </a:prstGeom>
          <a:noFill/>
        </p:spPr>
        <p:txBody>
          <a:bodyPr vert="horz" lIns="0" tIns="0" rIns="0" bIns="0" rtlCol="0" anchor="ctr"/>
          <a:lstStyle>
            <a:lvl1pPr algn="l">
              <a:defRPr sz="1800" b="0">
                <a:solidFill>
                  <a:schemeClr val="tx1"/>
                </a:solidFill>
              </a:defRPr>
            </a:lvl1pPr>
          </a:lstStyle>
          <a:p>
            <a:r>
              <a:rPr lang="en-US"/>
              <a:t>Final Project | Topics in Computer Science II | Fall 2025, University of Iowa</a:t>
            </a:r>
            <a:endParaRPr lang="en-US" dirty="0"/>
          </a:p>
        </p:txBody>
      </p:sp>
    </p:spTree>
    <p:extLst>
      <p:ext uri="{BB962C8B-B14F-4D97-AF65-F5344CB8AC3E}">
        <p14:creationId xmlns:p14="http://schemas.microsoft.com/office/powerpoint/2010/main" val="28836383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598"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losing Slide-Solid Black">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A47420D0-6FF1-9C4A-B953-EA4EEABBA308}"/>
              </a:ext>
            </a:extLst>
          </p:cNvPr>
          <p:cNvSpPr>
            <a:spLocks noGrp="1"/>
          </p:cNvSpPr>
          <p:nvPr>
            <p:ph type="ctrTitle" hasCustomPrompt="1"/>
          </p:nvPr>
        </p:nvSpPr>
        <p:spPr>
          <a:xfrm>
            <a:off x="989081" y="3367173"/>
            <a:ext cx="7163317" cy="1160369"/>
          </a:xfrm>
        </p:spPr>
        <p:txBody>
          <a:bodyPr lIns="0" tIns="0" rIns="0" bIns="0" anchor="t" anchorCtr="0">
            <a:noAutofit/>
          </a:bodyPr>
          <a:lstStyle>
            <a:lvl1pPr algn="l">
              <a:defRPr sz="6000" b="1">
                <a:solidFill>
                  <a:schemeClr val="bg1"/>
                </a:solidFill>
                <a:latin typeface="+mj-lt"/>
                <a:ea typeface="Roboto Black" panose="02000000000000000000" pitchFamily="2" charset="0"/>
                <a:cs typeface="Arial" panose="020B0604020202020204" pitchFamily="34" charset="0"/>
              </a:defRPr>
            </a:lvl1pPr>
          </a:lstStyle>
          <a:p>
            <a:r>
              <a:rPr lang="en-US" dirty="0"/>
              <a:t>Thank you</a:t>
            </a:r>
          </a:p>
        </p:txBody>
      </p:sp>
      <p:cxnSp>
        <p:nvCxnSpPr>
          <p:cNvPr id="21" name="Straight Connector 20">
            <a:extLst>
              <a:ext uri="{FF2B5EF4-FFF2-40B4-BE49-F238E27FC236}">
                <a16:creationId xmlns:a16="http://schemas.microsoft.com/office/drawing/2014/main" id="{4F7216A4-2452-1B4B-AE0D-122E7F5A5965}"/>
              </a:ext>
            </a:extLst>
          </p:cNvPr>
          <p:cNvCxnSpPr>
            <a:cxnSpLocks/>
          </p:cNvCxnSpPr>
          <p:nvPr userDrawn="1"/>
        </p:nvCxnSpPr>
        <p:spPr>
          <a:xfrm>
            <a:off x="974126" y="3029213"/>
            <a:ext cx="768531" cy="0"/>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7" name="Text Placeholder 13">
            <a:extLst>
              <a:ext uri="{FF2B5EF4-FFF2-40B4-BE49-F238E27FC236}">
                <a16:creationId xmlns:a16="http://schemas.microsoft.com/office/drawing/2014/main" id="{73873935-43A0-4C23-AC45-B3EF69B188E1}"/>
              </a:ext>
            </a:extLst>
          </p:cNvPr>
          <p:cNvSpPr>
            <a:spLocks noGrp="1"/>
          </p:cNvSpPr>
          <p:nvPr>
            <p:ph type="body" sz="quarter" idx="12" hasCustomPrompt="1"/>
          </p:nvPr>
        </p:nvSpPr>
        <p:spPr>
          <a:xfrm>
            <a:off x="8625016" y="3029213"/>
            <a:ext cx="2693773" cy="1498329"/>
          </a:xfrm>
        </p:spPr>
        <p:txBody>
          <a:bodyPr vert="horz" anchor="ctr" anchorCtr="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400" b="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Presenter Name</a:t>
            </a:r>
          </a:p>
          <a:p>
            <a:pPr lvl="0"/>
            <a:r>
              <a:rPr lang="en-US" dirty="0"/>
              <a:t>Contact Person Title </a:t>
            </a:r>
          </a:p>
          <a:p>
            <a:pPr lvl="0"/>
            <a:r>
              <a:rPr lang="en-US" dirty="0"/>
              <a:t>Contact Person Unit</a:t>
            </a:r>
          </a:p>
          <a:p>
            <a:pPr lvl="0"/>
            <a:endParaRPr lang="en-US" dirty="0"/>
          </a:p>
          <a:p>
            <a:pPr lvl="0"/>
            <a:r>
              <a:rPr lang="en-US" dirty="0"/>
              <a:t>Phone: </a:t>
            </a:r>
          </a:p>
          <a:p>
            <a:pPr lvl="0"/>
            <a:r>
              <a:rPr lang="en-US" dirty="0"/>
              <a:t>Fax: </a:t>
            </a:r>
          </a:p>
          <a:p>
            <a:pPr lvl="0"/>
            <a:r>
              <a:rPr lang="en-US" dirty="0"/>
              <a:t>Email:</a:t>
            </a:r>
          </a:p>
        </p:txBody>
      </p:sp>
      <p:sp>
        <p:nvSpPr>
          <p:cNvPr id="4" name="Rectangle 3">
            <a:extLst>
              <a:ext uri="{FF2B5EF4-FFF2-40B4-BE49-F238E27FC236}">
                <a16:creationId xmlns:a16="http://schemas.microsoft.com/office/drawing/2014/main" id="{1C6ACD65-4DC5-40D8-89A9-EBA0997790E8}"/>
              </a:ext>
            </a:extLst>
          </p:cNvPr>
          <p:cNvSpPr/>
          <p:nvPr userDrawn="1"/>
        </p:nvSpPr>
        <p:spPr>
          <a:xfrm>
            <a:off x="949325" y="5019085"/>
            <a:ext cx="318908" cy="369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 Placeholder 2">
            <a:extLst>
              <a:ext uri="{FF2B5EF4-FFF2-40B4-BE49-F238E27FC236}">
                <a16:creationId xmlns:a16="http://schemas.microsoft.com/office/drawing/2014/main" id="{33438018-43AE-4329-BACA-C859C7CFF4A2}"/>
              </a:ext>
            </a:extLst>
          </p:cNvPr>
          <p:cNvSpPr>
            <a:spLocks noGrp="1"/>
          </p:cNvSpPr>
          <p:nvPr>
            <p:ph type="body" sz="quarter" idx="10" hasCustomPrompt="1"/>
          </p:nvPr>
        </p:nvSpPr>
        <p:spPr>
          <a:xfrm>
            <a:off x="1268233" y="5019085"/>
            <a:ext cx="2231701" cy="369332"/>
          </a:xfrm>
          <a:solidFill>
            <a:schemeClr val="accent1"/>
          </a:solidFill>
          <a:ln>
            <a:noFill/>
          </a:ln>
        </p:spPr>
        <p:txBody>
          <a:bodyPr wrap="none" lIns="91440" tIns="45720" rIns="91440" bIns="45720">
            <a:spAutoFit/>
          </a:bodyPr>
          <a:lstStyle>
            <a:lvl1pPr marL="0" indent="0">
              <a:buNone/>
              <a:defRPr sz="1800">
                <a:solidFill>
                  <a:schemeClr val="tx1"/>
                </a:solidFill>
                <a:latin typeface="Roboto Black" panose="02000000000000000000" pitchFamily="2" charset="0"/>
                <a:ea typeface="Roboto Black" panose="02000000000000000000" pitchFamily="2" charset="0"/>
              </a:defRPr>
            </a:lvl1pPr>
          </a:lstStyle>
          <a:p>
            <a:pPr lvl="0"/>
            <a:r>
              <a:rPr lang="en-US" dirty="0"/>
              <a:t>Insert Web Address</a:t>
            </a:r>
          </a:p>
        </p:txBody>
      </p:sp>
      <p:grpSp>
        <p:nvGrpSpPr>
          <p:cNvPr id="11" name="Group 10">
            <a:extLst>
              <a:ext uri="{FF2B5EF4-FFF2-40B4-BE49-F238E27FC236}">
                <a16:creationId xmlns:a16="http://schemas.microsoft.com/office/drawing/2014/main" id="{5625728D-FF50-4FF2-AC2E-B13A3D44D5B9}"/>
              </a:ext>
            </a:extLst>
          </p:cNvPr>
          <p:cNvGrpSpPr/>
          <p:nvPr/>
        </p:nvGrpSpPr>
        <p:grpSpPr>
          <a:xfrm>
            <a:off x="1071271" y="5122118"/>
            <a:ext cx="142379" cy="150373"/>
            <a:chOff x="3057746" y="812006"/>
            <a:chExt cx="173610" cy="183357"/>
          </a:xfrm>
          <a:noFill/>
        </p:grpSpPr>
        <p:cxnSp>
          <p:nvCxnSpPr>
            <p:cNvPr id="12" name="Straight Connector 11">
              <a:extLst>
                <a:ext uri="{FF2B5EF4-FFF2-40B4-BE49-F238E27FC236}">
                  <a16:creationId xmlns:a16="http://schemas.microsoft.com/office/drawing/2014/main" id="{58A6E0DE-15E0-485B-8083-6D1BB965B9B6}"/>
                </a:ext>
              </a:extLst>
            </p:cNvPr>
            <p:cNvCxnSpPr/>
            <p:nvPr userDrawn="1"/>
          </p:nvCxnSpPr>
          <p:spPr>
            <a:xfrm>
              <a:off x="3057746" y="904875"/>
              <a:ext cx="173610" cy="0"/>
            </a:xfrm>
            <a:prstGeom prst="line">
              <a:avLst/>
            </a:prstGeom>
            <a:grpFill/>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Freeform: Shape 12">
              <a:extLst>
                <a:ext uri="{FF2B5EF4-FFF2-40B4-BE49-F238E27FC236}">
                  <a16:creationId xmlns:a16="http://schemas.microsoft.com/office/drawing/2014/main" id="{184EFEE4-DF1C-4FDF-ABC6-804BF8FA2941}"/>
                </a:ext>
              </a:extLst>
            </p:cNvPr>
            <p:cNvSpPr/>
            <p:nvPr userDrawn="1"/>
          </p:nvSpPr>
          <p:spPr>
            <a:xfrm>
              <a:off x="3143250" y="812006"/>
              <a:ext cx="85725" cy="183357"/>
            </a:xfrm>
            <a:custGeom>
              <a:avLst/>
              <a:gdLst>
                <a:gd name="connsiteX0" fmla="*/ 4763 w 85725"/>
                <a:gd name="connsiteY0" fmla="*/ 0 h 183357"/>
                <a:gd name="connsiteX1" fmla="*/ 85725 w 85725"/>
                <a:gd name="connsiteY1" fmla="*/ 92869 h 183357"/>
                <a:gd name="connsiteX2" fmla="*/ 0 w 85725"/>
                <a:gd name="connsiteY2" fmla="*/ 183357 h 183357"/>
              </a:gdLst>
              <a:ahLst/>
              <a:cxnLst>
                <a:cxn ang="0">
                  <a:pos x="connsiteX0" y="connsiteY0"/>
                </a:cxn>
                <a:cxn ang="0">
                  <a:pos x="connsiteX1" y="connsiteY1"/>
                </a:cxn>
                <a:cxn ang="0">
                  <a:pos x="connsiteX2" y="connsiteY2"/>
                </a:cxn>
              </a:cxnLst>
              <a:rect l="l" t="t" r="r" b="b"/>
              <a:pathLst>
                <a:path w="85725" h="183357">
                  <a:moveTo>
                    <a:pt x="4763" y="0"/>
                  </a:moveTo>
                  <a:lnTo>
                    <a:pt x="85725" y="92869"/>
                  </a:lnTo>
                  <a:lnTo>
                    <a:pt x="0" y="183357"/>
                  </a:lnTo>
                </a:path>
              </a:pathLst>
            </a:custGeom>
            <a:grp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15" name="Picture 14" descr="The University of Iowa">
            <a:extLst>
              <a:ext uri="{FF2B5EF4-FFF2-40B4-BE49-F238E27FC236}">
                <a16:creationId xmlns:a16="http://schemas.microsoft.com/office/drawing/2014/main" id="{6179B039-C5FC-F04C-AB21-BEF980B032D5}"/>
              </a:ext>
            </a:extLst>
          </p:cNvPr>
          <p:cNvPicPr>
            <a:picLocks noChangeAspect="1"/>
          </p:cNvPicPr>
          <p:nvPr userDrawn="1"/>
        </p:nvPicPr>
        <p:blipFill>
          <a:blip r:embed="rId2"/>
          <a:stretch>
            <a:fillRect/>
          </a:stretch>
        </p:blipFill>
        <p:spPr>
          <a:xfrm>
            <a:off x="8625016" y="0"/>
            <a:ext cx="2693773" cy="1279542"/>
          </a:xfrm>
          <a:prstGeom prst="rect">
            <a:avLst/>
          </a:prstGeom>
        </p:spPr>
      </p:pic>
      <p:sp>
        <p:nvSpPr>
          <p:cNvPr id="17" name="Footer Placeholder 4">
            <a:extLst>
              <a:ext uri="{FF2B5EF4-FFF2-40B4-BE49-F238E27FC236}">
                <a16:creationId xmlns:a16="http://schemas.microsoft.com/office/drawing/2014/main" id="{70E4C36A-C453-EE4B-A1E5-D1232C361273}"/>
              </a:ext>
            </a:extLst>
          </p:cNvPr>
          <p:cNvSpPr>
            <a:spLocks noGrp="1"/>
          </p:cNvSpPr>
          <p:nvPr>
            <p:ph type="ftr" sz="quarter" idx="3"/>
          </p:nvPr>
        </p:nvSpPr>
        <p:spPr>
          <a:xfrm>
            <a:off x="956096" y="2463764"/>
            <a:ext cx="7157006" cy="365125"/>
          </a:xfrm>
          <a:prstGeom prst="rect">
            <a:avLst/>
          </a:prstGeom>
          <a:noFill/>
        </p:spPr>
        <p:txBody>
          <a:bodyPr vert="horz" lIns="0" tIns="0" rIns="0" bIns="0" rtlCol="0" anchor="ctr"/>
          <a:lstStyle>
            <a:lvl1pPr algn="l">
              <a:defRPr sz="1800" b="0">
                <a:solidFill>
                  <a:schemeClr val="bg1"/>
                </a:solidFill>
              </a:defRPr>
            </a:lvl1pPr>
          </a:lstStyle>
          <a:p>
            <a:r>
              <a:rPr lang="en-US"/>
              <a:t>Final Project | Topics in Computer Science II | Fall 2025, University of Iowa</a:t>
            </a:r>
            <a:endParaRPr lang="en-US" dirty="0"/>
          </a:p>
        </p:txBody>
      </p:sp>
    </p:spTree>
    <p:extLst>
      <p:ext uri="{BB962C8B-B14F-4D97-AF65-F5344CB8AC3E}">
        <p14:creationId xmlns:p14="http://schemas.microsoft.com/office/powerpoint/2010/main" val="378864459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598"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IOWA Logo with Text">
    <p:bg>
      <p:bgPr>
        <a:solidFill>
          <a:schemeClr val="tx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B993FB4-4336-2048-A6A4-FA306EBBE714}"/>
              </a:ext>
            </a:extLst>
          </p:cNvPr>
          <p:cNvSpPr>
            <a:spLocks noGrp="1"/>
          </p:cNvSpPr>
          <p:nvPr>
            <p:ph type="title" hasCustomPrompt="1"/>
          </p:nvPr>
        </p:nvSpPr>
        <p:spPr>
          <a:xfrm>
            <a:off x="838200" y="4485842"/>
            <a:ext cx="10515600" cy="896116"/>
          </a:xfrm>
        </p:spPr>
        <p:txBody>
          <a:bodyPr/>
          <a:lstStyle>
            <a:lvl1pPr algn="ctr">
              <a:defRPr>
                <a:solidFill>
                  <a:schemeClr val="bg1"/>
                </a:solidFill>
              </a:defRPr>
            </a:lvl1pPr>
          </a:lstStyle>
          <a:p>
            <a:r>
              <a:rPr lang="en-US" dirty="0"/>
              <a:t>Closing Slide Header</a:t>
            </a:r>
          </a:p>
        </p:txBody>
      </p:sp>
      <p:pic>
        <p:nvPicPr>
          <p:cNvPr id="4" name="Picture 3" descr="The University of Iowa">
            <a:extLst>
              <a:ext uri="{FF2B5EF4-FFF2-40B4-BE49-F238E27FC236}">
                <a16:creationId xmlns:a16="http://schemas.microsoft.com/office/drawing/2014/main" id="{D94B893B-3A5E-A84C-9A26-CCC1CC0A2366}"/>
              </a:ext>
            </a:extLst>
          </p:cNvPr>
          <p:cNvPicPr>
            <a:picLocks noChangeAspect="1"/>
          </p:cNvPicPr>
          <p:nvPr userDrawn="1"/>
        </p:nvPicPr>
        <p:blipFill>
          <a:blip r:embed="rId2"/>
          <a:stretch>
            <a:fillRect/>
          </a:stretch>
        </p:blipFill>
        <p:spPr>
          <a:xfrm>
            <a:off x="2286000" y="675842"/>
            <a:ext cx="7620000" cy="3810000"/>
          </a:xfrm>
          <a:prstGeom prst="rect">
            <a:avLst/>
          </a:prstGeom>
        </p:spPr>
      </p:pic>
    </p:spTree>
    <p:extLst>
      <p:ext uri="{BB962C8B-B14F-4D97-AF65-F5344CB8AC3E}">
        <p14:creationId xmlns:p14="http://schemas.microsoft.com/office/powerpoint/2010/main" val="273075325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OWA Logo only">
    <p:bg>
      <p:bgPr>
        <a:solidFill>
          <a:schemeClr val="tx1"/>
        </a:solidFill>
        <a:effectLst/>
      </p:bgPr>
    </p:bg>
    <p:spTree>
      <p:nvGrpSpPr>
        <p:cNvPr id="1" name=""/>
        <p:cNvGrpSpPr/>
        <p:nvPr/>
      </p:nvGrpSpPr>
      <p:grpSpPr>
        <a:xfrm>
          <a:off x="0" y="0"/>
          <a:ext cx="0" cy="0"/>
          <a:chOff x="0" y="0"/>
          <a:chExt cx="0" cy="0"/>
        </a:xfrm>
      </p:grpSpPr>
      <p:pic>
        <p:nvPicPr>
          <p:cNvPr id="4" name="Picture 3" descr="The University of Iowa">
            <a:extLst>
              <a:ext uri="{FF2B5EF4-FFF2-40B4-BE49-F238E27FC236}">
                <a16:creationId xmlns:a16="http://schemas.microsoft.com/office/drawing/2014/main" id="{D94B893B-3A5E-A84C-9A26-CCC1CC0A2366}"/>
              </a:ext>
            </a:extLst>
          </p:cNvPr>
          <p:cNvPicPr>
            <a:picLocks noChangeAspect="1"/>
          </p:cNvPicPr>
          <p:nvPr userDrawn="1"/>
        </p:nvPicPr>
        <p:blipFill>
          <a:blip r:embed="rId2"/>
          <a:stretch>
            <a:fillRect/>
          </a:stretch>
        </p:blipFill>
        <p:spPr>
          <a:xfrm>
            <a:off x="2286000" y="1524000"/>
            <a:ext cx="7620000" cy="3810000"/>
          </a:xfrm>
          <a:prstGeom prst="rect">
            <a:avLst/>
          </a:prstGeom>
        </p:spPr>
      </p:pic>
    </p:spTree>
    <p:extLst>
      <p:ext uri="{BB962C8B-B14F-4D97-AF65-F5344CB8AC3E}">
        <p14:creationId xmlns:p14="http://schemas.microsoft.com/office/powerpoint/2010/main" val="197453069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D47C82-65E8-6F4A-93F5-B60D5D90FAEC}"/>
              </a:ext>
            </a:extLst>
          </p:cNvPr>
          <p:cNvSpPr>
            <a:spLocks noGrp="1"/>
          </p:cNvSpPr>
          <p:nvPr>
            <p:ph type="title"/>
          </p:nvPr>
        </p:nvSpPr>
        <p:spPr>
          <a:xfrm>
            <a:off x="838200" y="365126"/>
            <a:ext cx="10515600" cy="896116"/>
          </a:xfrm>
          <a:prstGeom prst="rect">
            <a:avLst/>
          </a:prstGeom>
        </p:spPr>
        <p:txBody>
          <a:bodyPr vert="horz" lIns="0" tIns="0" rIns="0" bIns="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50D0A12C-E82E-3F40-8F2F-F914F24F0B62}"/>
              </a:ext>
            </a:extLst>
          </p:cNvPr>
          <p:cNvSpPr>
            <a:spLocks noGrp="1"/>
          </p:cNvSpPr>
          <p:nvPr>
            <p:ph type="body" idx="1"/>
          </p:nvPr>
        </p:nvSpPr>
        <p:spPr>
          <a:xfrm>
            <a:off x="838200" y="1825625"/>
            <a:ext cx="10515600" cy="4351338"/>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70061491"/>
      </p:ext>
    </p:extLst>
  </p:cSld>
  <p:clrMap bg1="lt1" tx1="dk1" bg2="lt2" tx2="dk2" accent1="accent1" accent2="accent2" accent3="accent3" accent4="accent4" accent5="accent5" accent6="accent6" hlink="hlink" folHlink="folHlink"/>
  <p:sldLayoutIdLst>
    <p:sldLayoutId id="2147483656" r:id="rId1"/>
    <p:sldLayoutId id="2147483687" r:id="rId2"/>
    <p:sldLayoutId id="2147483688" r:id="rId3"/>
    <p:sldLayoutId id="2147483684" r:id="rId4"/>
    <p:sldLayoutId id="2147483663" r:id="rId5"/>
    <p:sldLayoutId id="2147483686" r:id="rId6"/>
    <p:sldLayoutId id="2147483690" r:id="rId7"/>
    <p:sldLayoutId id="2147483682" r:id="rId8"/>
    <p:sldLayoutId id="2147483650" r:id="rId9"/>
    <p:sldLayoutId id="2147483662" r:id="rId10"/>
    <p:sldLayoutId id="2147483670" r:id="rId11"/>
    <p:sldLayoutId id="2147483667" r:id="rId12"/>
    <p:sldLayoutId id="2147483668" r:id="rId13"/>
    <p:sldLayoutId id="2147483674" r:id="rId14"/>
    <p:sldLayoutId id="2147483675" r:id="rId15"/>
    <p:sldLayoutId id="2147483677" r:id="rId16"/>
    <p:sldLayoutId id="2147483676" r:id="rId17"/>
    <p:sldLayoutId id="2147483672" r:id="rId18"/>
    <p:sldLayoutId id="2147483692" r:id="rId19"/>
    <p:sldLayoutId id="2147483669" r:id="rId20"/>
    <p:sldLayoutId id="2147483671" r:id="rId21"/>
    <p:sldLayoutId id="2147483673" r:id="rId22"/>
    <p:sldLayoutId id="2147483679" r:id="rId23"/>
    <p:sldLayoutId id="2147483680" r:id="rId24"/>
    <p:sldLayoutId id="2147483681" r:id="rId25"/>
    <p:sldLayoutId id="2147483654" r:id="rId26"/>
    <p:sldLayoutId id="2147483655" r:id="rId27"/>
    <p:sldLayoutId id="2147483665" r:id="rId28"/>
    <p:sldLayoutId id="2147483664" r:id="rId29"/>
    <p:sldLayoutId id="2147483689" r:id="rId30"/>
    <p:sldLayoutId id="2147483693" r:id="rId31"/>
    <p:sldLayoutId id="2147483691" r:id="rId32"/>
  </p:sldLayoutIdLst>
  <p:hf sldNum="0" hdr="0" dt="0"/>
  <p:txStyles>
    <p:titleStyle>
      <a:lvl1pPr algn="l" defTabSz="914400" rtl="0" eaLnBrk="1" latinLnBrk="0" hangingPunct="1">
        <a:lnSpc>
          <a:spcPct val="90000"/>
        </a:lnSpc>
        <a:spcBef>
          <a:spcPct val="0"/>
        </a:spcBef>
        <a:buNone/>
        <a:defRPr sz="4000" b="1" kern="1200">
          <a:solidFill>
            <a:schemeClr val="tx1"/>
          </a:solidFill>
          <a:latin typeface="Roboto" panose="02000000000000000000" pitchFamily="2" charset="0"/>
          <a:ea typeface="Roboto" panose="02000000000000000000" pitchFamily="2" charset="0"/>
          <a:cs typeface="Arial" panose="020B0604020202020204" pitchFamily="34" charset="0"/>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Arial" panose="020B0604020202020204" pitchFamily="34" charset="0"/>
        </a:defRPr>
      </a:lvl1pPr>
      <a:lvl2pPr marL="685800" indent="-228600" algn="l" defTabSz="914400" rtl="0" eaLnBrk="1" latinLnBrk="0" hangingPunct="1">
        <a:lnSpc>
          <a:spcPct val="100000"/>
        </a:lnSpc>
        <a:spcBef>
          <a:spcPts val="500"/>
        </a:spcBef>
        <a:buFont typeface="Roboto" panose="02000000000000000000" pitchFamily="2" charset="0"/>
        <a:buChar char="–"/>
        <a:defRPr sz="2400" kern="1200">
          <a:solidFill>
            <a:schemeClr val="tx1"/>
          </a:solidFill>
          <a:latin typeface="Roboto" panose="02000000000000000000" pitchFamily="2" charset="0"/>
          <a:ea typeface="Roboto" panose="02000000000000000000" pitchFamily="2" charset="0"/>
          <a:cs typeface="Arial" panose="020B0604020202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Arial" panose="020B0604020202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8" Type="http://schemas.openxmlformats.org/officeDocument/2006/relationships/image" Target="../media/image130.png"/><Relationship Id="rId3" Type="http://schemas.openxmlformats.org/officeDocument/2006/relationships/image" Target="../media/image7.png"/><Relationship Id="rId7" Type="http://schemas.openxmlformats.org/officeDocument/2006/relationships/customXml" Target="../ink/ink1.xml"/><Relationship Id="rId2" Type="http://schemas.openxmlformats.org/officeDocument/2006/relationships/image" Target="../media/image6.png"/><Relationship Id="rId1" Type="http://schemas.openxmlformats.org/officeDocument/2006/relationships/slideLayout" Target="../slideLayouts/slideLayout9.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2.png"/><Relationship Id="rId4" Type="http://schemas.openxmlformats.org/officeDocument/2006/relationships/image" Target="../media/image8.png"/><Relationship Id="rId9"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3.xml"/><Relationship Id="rId5" Type="http://schemas.openxmlformats.org/officeDocument/2006/relationships/slide" Target="slide64.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hyperlink" Target="https://store.google.com/category/connected_home?hl=en-US&amp;pli=1" TargetMode="External"/><Relationship Id="rId1" Type="http://schemas.openxmlformats.org/officeDocument/2006/relationships/slideLayout" Target="../slideLayouts/slideLayout26.xml"/><Relationship Id="rId4" Type="http://schemas.openxmlformats.org/officeDocument/2006/relationships/slide" Target="slide64.xml"/></Relationships>
</file>

<file path=ppt/slides/_rels/slide12.xml.rels><?xml version="1.0" encoding="UTF-8" standalone="yes"?>
<Relationships xmlns="http://schemas.openxmlformats.org/package/2006/relationships"><Relationship Id="rId2" Type="http://schemas.openxmlformats.org/officeDocument/2006/relationships/slide" Target="slide64.xml"/><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3" Type="http://schemas.openxmlformats.org/officeDocument/2006/relationships/slide" Target="slide64.xml"/><Relationship Id="rId2" Type="http://schemas.openxmlformats.org/officeDocument/2006/relationships/image" Target="../media/image16.png"/><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2" Type="http://schemas.openxmlformats.org/officeDocument/2006/relationships/slide" Target="slide64.xml"/><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3" Type="http://schemas.openxmlformats.org/officeDocument/2006/relationships/slide" Target="slide64.xml"/><Relationship Id="rId2" Type="http://schemas.openxmlformats.org/officeDocument/2006/relationships/image" Target="../media/image17.png"/><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2" Type="http://schemas.openxmlformats.org/officeDocument/2006/relationships/slide" Target="slide64.xml"/><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2" Type="http://schemas.openxmlformats.org/officeDocument/2006/relationships/slide" Target="slide64.xml"/><Relationship Id="rId1" Type="http://schemas.openxmlformats.org/officeDocument/2006/relationships/slideLayout" Target="../slideLayouts/slideLayout26.xml"/></Relationships>
</file>

<file path=ppt/slides/_rels/slide18.xml.rels><?xml version="1.0" encoding="UTF-8" standalone="yes"?>
<Relationships xmlns="http://schemas.openxmlformats.org/package/2006/relationships"><Relationship Id="rId3" Type="http://schemas.openxmlformats.org/officeDocument/2006/relationships/slide" Target="slide64.xml"/><Relationship Id="rId2" Type="http://schemas.openxmlformats.org/officeDocument/2006/relationships/image" Target="../media/image18.png"/><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3" Type="http://schemas.openxmlformats.org/officeDocument/2006/relationships/slide" Target="slide64.xml"/><Relationship Id="rId2" Type="http://schemas.openxmlformats.org/officeDocument/2006/relationships/image" Target="../media/image18.png"/><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2" Type="http://schemas.openxmlformats.org/officeDocument/2006/relationships/slide" Target="slide64.xml"/><Relationship Id="rId1" Type="http://schemas.openxmlformats.org/officeDocument/2006/relationships/slideLayout" Target="../slideLayouts/slideLayout26.xml"/></Relationships>
</file>

<file path=ppt/slides/_rels/slide21.xml.rels><?xml version="1.0" encoding="UTF-8" standalone="yes"?>
<Relationships xmlns="http://schemas.openxmlformats.org/package/2006/relationships"><Relationship Id="rId3" Type="http://schemas.openxmlformats.org/officeDocument/2006/relationships/hyperlink" Target="https://www.silabs.com/documents/login/application-notes/an1141-thread-mesh-network-performance.pdf" TargetMode="External"/><Relationship Id="rId2" Type="http://schemas.openxmlformats.org/officeDocument/2006/relationships/image" Target="../media/image19.png"/><Relationship Id="rId1" Type="http://schemas.openxmlformats.org/officeDocument/2006/relationships/slideLayout" Target="../slideLayouts/slideLayout26.xml"/><Relationship Id="rId4" Type="http://schemas.openxmlformats.org/officeDocument/2006/relationships/slide" Target="slide64.xml"/></Relationships>
</file>

<file path=ppt/slides/_rels/slide22.xml.rels><?xml version="1.0" encoding="UTF-8" standalone="yes"?>
<Relationships xmlns="http://schemas.openxmlformats.org/package/2006/relationships"><Relationship Id="rId3" Type="http://schemas.openxmlformats.org/officeDocument/2006/relationships/hyperlink" Target="https://www.threadgroup.org/thread-group#Membershipbenefits" TargetMode="External"/><Relationship Id="rId2" Type="http://schemas.openxmlformats.org/officeDocument/2006/relationships/image" Target="../media/image20.png"/><Relationship Id="rId1" Type="http://schemas.openxmlformats.org/officeDocument/2006/relationships/slideLayout" Target="../slideLayouts/slideLayout26.xml"/><Relationship Id="rId4" Type="http://schemas.openxmlformats.org/officeDocument/2006/relationships/slide" Target="slide64.xml"/></Relationships>
</file>

<file path=ppt/slides/_rels/slide23.xml.rels><?xml version="1.0" encoding="UTF-8" standalone="yes"?>
<Relationships xmlns="http://schemas.openxmlformats.org/package/2006/relationships"><Relationship Id="rId3" Type="http://schemas.openxmlformats.org/officeDocument/2006/relationships/slide" Target="slide64.xml"/><Relationship Id="rId2" Type="http://schemas.openxmlformats.org/officeDocument/2006/relationships/image" Target="../media/image13.jpeg"/><Relationship Id="rId1" Type="http://schemas.openxmlformats.org/officeDocument/2006/relationships/slideLayout" Target="../slideLayouts/slideLayout2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slide" Target="slide64.xml"/><Relationship Id="rId2" Type="http://schemas.openxmlformats.org/officeDocument/2006/relationships/image" Target="../media/image14.jpeg"/><Relationship Id="rId1" Type="http://schemas.openxmlformats.org/officeDocument/2006/relationships/slideLayout" Target="../slideLayouts/slideLayout26.xml"/></Relationships>
</file>

<file path=ppt/slides/_rels/slide26.xml.rels><?xml version="1.0" encoding="UTF-8" standalone="yes"?>
<Relationships xmlns="http://schemas.openxmlformats.org/package/2006/relationships"><Relationship Id="rId2" Type="http://schemas.openxmlformats.org/officeDocument/2006/relationships/slide" Target="slide64.xml"/><Relationship Id="rId1" Type="http://schemas.openxmlformats.org/officeDocument/2006/relationships/slideLayout" Target="../slideLayouts/slideLayout26.xml"/></Relationships>
</file>

<file path=ppt/slides/_rels/slide27.xml.rels><?xml version="1.0" encoding="UTF-8" standalone="yes"?>
<Relationships xmlns="http://schemas.openxmlformats.org/package/2006/relationships"><Relationship Id="rId3" Type="http://schemas.openxmlformats.org/officeDocument/2006/relationships/slide" Target="slide64.xml"/><Relationship Id="rId2" Type="http://schemas.openxmlformats.org/officeDocument/2006/relationships/image" Target="../media/image21.png"/><Relationship Id="rId1" Type="http://schemas.openxmlformats.org/officeDocument/2006/relationships/slideLayout" Target="../slideLayouts/slideLayout26.xml"/></Relationships>
</file>

<file path=ppt/slides/_rels/slide28.xml.rels><?xml version="1.0" encoding="UTF-8" standalone="yes"?>
<Relationships xmlns="http://schemas.openxmlformats.org/package/2006/relationships"><Relationship Id="rId2" Type="http://schemas.openxmlformats.org/officeDocument/2006/relationships/slide" Target="slide64.xml"/><Relationship Id="rId1" Type="http://schemas.openxmlformats.org/officeDocument/2006/relationships/slideLayout" Target="../slideLayouts/slideLayout26.xml"/></Relationships>
</file>

<file path=ppt/slides/_rels/slide29.xml.rels><?xml version="1.0" encoding="UTF-8" standalone="yes"?>
<Relationships xmlns="http://schemas.openxmlformats.org/package/2006/relationships"><Relationship Id="rId2" Type="http://schemas.openxmlformats.org/officeDocument/2006/relationships/slide" Target="slide64.xml"/><Relationship Id="rId1" Type="http://schemas.openxmlformats.org/officeDocument/2006/relationships/slideLayout" Target="../slideLayouts/slideLayout26.xml"/></Relationships>
</file>

<file path=ppt/slides/_rels/slide30.xml.rels><?xml version="1.0" encoding="UTF-8" standalone="yes"?>
<Relationships xmlns="http://schemas.openxmlformats.org/package/2006/relationships"><Relationship Id="rId3" Type="http://schemas.openxmlformats.org/officeDocument/2006/relationships/slide" Target="slide64.xml"/><Relationship Id="rId2" Type="http://schemas.openxmlformats.org/officeDocument/2006/relationships/notesSlide" Target="../notesSlides/notesSlide3.xml"/><Relationship Id="rId1" Type="http://schemas.openxmlformats.org/officeDocument/2006/relationships/slideLayout" Target="../slideLayouts/slideLayout26.xml"/></Relationships>
</file>

<file path=ppt/slides/_rels/slide31.xml.rels><?xml version="1.0" encoding="UTF-8" standalone="yes"?>
<Relationships xmlns="http://schemas.openxmlformats.org/package/2006/relationships"><Relationship Id="rId3" Type="http://schemas.openxmlformats.org/officeDocument/2006/relationships/slide" Target="slide64.xml"/><Relationship Id="rId2" Type="http://schemas.openxmlformats.org/officeDocument/2006/relationships/image" Target="../media/image22.png"/><Relationship Id="rId1" Type="http://schemas.openxmlformats.org/officeDocument/2006/relationships/slideLayout" Target="../slideLayouts/slideLayout26.xml"/></Relationships>
</file>

<file path=ppt/slides/_rels/slide32.xml.rels><?xml version="1.0" encoding="UTF-8" standalone="yes"?>
<Relationships xmlns="http://schemas.openxmlformats.org/package/2006/relationships"><Relationship Id="rId2" Type="http://schemas.openxmlformats.org/officeDocument/2006/relationships/slide" Target="slide64.xml"/><Relationship Id="rId1" Type="http://schemas.openxmlformats.org/officeDocument/2006/relationships/slideLayout" Target="../slideLayouts/slideLayout26.xml"/></Relationships>
</file>

<file path=ppt/slides/_rels/slide33.xml.rels><?xml version="1.0" encoding="UTF-8" standalone="yes"?>
<Relationships xmlns="http://schemas.openxmlformats.org/package/2006/relationships"><Relationship Id="rId3" Type="http://schemas.openxmlformats.org/officeDocument/2006/relationships/hyperlink" Target="https://www.silabs.com/documents/login/application-notes/an1138-zigbee-mesh-network-performance.pdf" TargetMode="External"/><Relationship Id="rId2" Type="http://schemas.openxmlformats.org/officeDocument/2006/relationships/image" Target="../media/image23.png"/><Relationship Id="rId1" Type="http://schemas.openxmlformats.org/officeDocument/2006/relationships/slideLayout" Target="../slideLayouts/slideLayout26.xml"/><Relationship Id="rId4" Type="http://schemas.openxmlformats.org/officeDocument/2006/relationships/slide" Target="slide64.xml"/></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hyperlink" Target="https://csa-iot.org/become-member/#Membership" TargetMode="External"/><Relationship Id="rId1" Type="http://schemas.openxmlformats.org/officeDocument/2006/relationships/slideLayout" Target="../slideLayouts/slideLayout26.xml"/><Relationship Id="rId4" Type="http://schemas.openxmlformats.org/officeDocument/2006/relationships/slide" Target="slide64.xml"/></Relationships>
</file>

<file path=ppt/slides/_rels/slide35.xml.rels><?xml version="1.0" encoding="UTF-8" standalone="yes"?>
<Relationships xmlns="http://schemas.openxmlformats.org/package/2006/relationships"><Relationship Id="rId2" Type="http://schemas.openxmlformats.org/officeDocument/2006/relationships/slide" Target="slide64.xml"/><Relationship Id="rId1" Type="http://schemas.openxmlformats.org/officeDocument/2006/relationships/slideLayout" Target="../slideLayouts/slideLayout2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 Target="slide64.xml"/><Relationship Id="rId1" Type="http://schemas.openxmlformats.org/officeDocument/2006/relationships/slideLayout" Target="../slideLayouts/slideLayout26.xml"/></Relationships>
</file>

<file path=ppt/slides/_rels/slide38.xml.rels><?xml version="1.0" encoding="UTF-8" standalone="yes"?>
<Relationships xmlns="http://schemas.openxmlformats.org/package/2006/relationships"><Relationship Id="rId2" Type="http://schemas.openxmlformats.org/officeDocument/2006/relationships/slide" Target="slide64.xml"/><Relationship Id="rId1" Type="http://schemas.openxmlformats.org/officeDocument/2006/relationships/slideLayout" Target="../slideLayouts/slideLayout26.xml"/></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slide" Target="slide64.xml"/><Relationship Id="rId1" Type="http://schemas.openxmlformats.org/officeDocument/2006/relationships/slideLayout" Target="../slideLayouts/slideLayout26.xml"/></Relationships>
</file>

<file path=ppt/slides/_rels/slide40.xml.rels><?xml version="1.0" encoding="UTF-8" standalone="yes"?>
<Relationships xmlns="http://schemas.openxmlformats.org/package/2006/relationships"><Relationship Id="rId2" Type="http://schemas.openxmlformats.org/officeDocument/2006/relationships/slide" Target="slide64.xml"/><Relationship Id="rId1" Type="http://schemas.openxmlformats.org/officeDocument/2006/relationships/slideLayout" Target="../slideLayouts/slideLayout26.xml"/></Relationships>
</file>

<file path=ppt/slides/_rels/slide41.xml.rels><?xml version="1.0" encoding="UTF-8" standalone="yes"?>
<Relationships xmlns="http://schemas.openxmlformats.org/package/2006/relationships"><Relationship Id="rId2" Type="http://schemas.openxmlformats.org/officeDocument/2006/relationships/slide" Target="slide64.xml"/><Relationship Id="rId1" Type="http://schemas.openxmlformats.org/officeDocument/2006/relationships/slideLayout" Target="../slideLayouts/slideLayout26.xml"/></Relationships>
</file>

<file path=ppt/slides/_rels/slide4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 Target="slide64.xml"/><Relationship Id="rId1" Type="http://schemas.openxmlformats.org/officeDocument/2006/relationships/slideLayout" Target="../slideLayouts/slideLayout26.xml"/></Relationships>
</file>

<file path=ppt/slides/_rels/slide4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 Target="slide64.xml"/><Relationship Id="rId1" Type="http://schemas.openxmlformats.org/officeDocument/2006/relationships/slideLayout" Target="../slideLayouts/slideLayout26.xml"/></Relationships>
</file>

<file path=ppt/slides/_rels/slide44.xml.rels><?xml version="1.0" encoding="UTF-8" standalone="yes"?>
<Relationships xmlns="http://schemas.openxmlformats.org/package/2006/relationships"><Relationship Id="rId2" Type="http://schemas.openxmlformats.org/officeDocument/2006/relationships/slide" Target="slide64.xml"/><Relationship Id="rId1" Type="http://schemas.openxmlformats.org/officeDocument/2006/relationships/slideLayout" Target="../slideLayouts/slideLayout26.xml"/></Relationships>
</file>

<file path=ppt/slides/_rels/slide4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slide" Target="slide64.xml"/><Relationship Id="rId1" Type="http://schemas.openxmlformats.org/officeDocument/2006/relationships/slideLayout" Target="../slideLayouts/slideLayout26.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46.xml.rels><?xml version="1.0" encoding="UTF-8" standalone="yes"?>
<Relationships xmlns="http://schemas.openxmlformats.org/package/2006/relationships"><Relationship Id="rId2" Type="http://schemas.openxmlformats.org/officeDocument/2006/relationships/slide" Target="slide64.xml"/><Relationship Id="rId1" Type="http://schemas.openxmlformats.org/officeDocument/2006/relationships/slideLayout" Target="../slideLayouts/slideLayout2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hyperlink" Target="https://github.com/espressif/esp-zigbee-sdk" TargetMode="External"/><Relationship Id="rId2" Type="http://schemas.openxmlformats.org/officeDocument/2006/relationships/hyperlink" Target="https://openthread.io/" TargetMode="External"/><Relationship Id="rId1" Type="http://schemas.openxmlformats.org/officeDocument/2006/relationships/slideLayout" Target="../slideLayouts/slideLayout26.xml"/><Relationship Id="rId4" Type="http://schemas.openxmlformats.org/officeDocument/2006/relationships/hyperlink" Target="https://github.com/OpenZWave"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xml"/><Relationship Id="rId1" Type="http://schemas.openxmlformats.org/officeDocument/2006/relationships/slideLayout" Target="../slideLayouts/slideLayout20.xml"/><Relationship Id="rId5" Type="http://schemas.openxmlformats.org/officeDocument/2006/relationships/image" Target="../media/image34.png"/><Relationship Id="rId4" Type="http://schemas.openxmlformats.org/officeDocument/2006/relationships/image" Target="../media/image3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6.xml"/></Relationships>
</file>

<file path=ppt/slides/_rels/slide56.xml.rels><?xml version="1.0" encoding="UTF-8" standalone="yes"?>
<Relationships xmlns="http://schemas.openxmlformats.org/package/2006/relationships"><Relationship Id="rId2" Type="http://schemas.openxmlformats.org/officeDocument/2006/relationships/hyperlink" Target="https://www.zigbee2mqtt.io/supported-devices/" TargetMode="External"/><Relationship Id="rId1" Type="http://schemas.openxmlformats.org/officeDocument/2006/relationships/slideLayout" Target="../slideLayouts/slideLayout26.xml"/></Relationships>
</file>

<file path=ppt/slides/_rels/slide5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0.xml"/></Relationships>
</file>

<file path=ppt/slides/_rels/slide58.xml.rels><?xml version="1.0" encoding="UTF-8" standalone="yes"?>
<Relationships xmlns="http://schemas.openxmlformats.org/package/2006/relationships"><Relationship Id="rId2" Type="http://schemas.openxmlformats.org/officeDocument/2006/relationships/hyperlink" Target="https://www.zigbee2mqtt.io/supported-devices/" TargetMode="External"/><Relationship Id="rId1" Type="http://schemas.openxmlformats.org/officeDocument/2006/relationships/slideLayout" Target="../slideLayouts/slideLayout26.xml"/></Relationships>
</file>

<file path=ppt/slides/_rels/slide5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64.xml.rels><?xml version="1.0" encoding="UTF-8" standalone="yes"?>
<Relationships xmlns="http://schemas.openxmlformats.org/package/2006/relationships"><Relationship Id="rId8" Type="http://schemas.openxmlformats.org/officeDocument/2006/relationships/hyperlink" Target="https://ieeexplore.ieee.org/stamp/stamp.jsp?tp=&amp;arnumber=7745306" TargetMode="External"/><Relationship Id="rId3" Type="http://schemas.openxmlformats.org/officeDocument/2006/relationships/hyperlink" Target="https://www.silabs.com/documents/login/application-notes/an1141-thread-mesh-network-performance.pdf" TargetMode="External"/><Relationship Id="rId7" Type="http://schemas.openxmlformats.org/officeDocument/2006/relationships/hyperlink" Target="https://community.silabs.com/s/article/Introduction-of-Z-Wave?language=en_US" TargetMode="External"/><Relationship Id="rId2" Type="http://schemas.openxmlformats.org/officeDocument/2006/relationships/hyperlink" Target="https://www.silabs.com/documents/public/user-guides/ug103-11-fundamentals-thread.pdf" TargetMode="External"/><Relationship Id="rId1" Type="http://schemas.openxmlformats.org/officeDocument/2006/relationships/slideLayout" Target="../slideLayouts/slideLayout26.xml"/><Relationship Id="rId6" Type="http://schemas.openxmlformats.org/officeDocument/2006/relationships/hyperlink" Target="https://wiki.st.com/stm32mcu/wiki/Category:Zigbee" TargetMode="External"/><Relationship Id="rId5" Type="http://schemas.openxmlformats.org/officeDocument/2006/relationships/hyperlink" Target="https://ieeexplore.ieee.org/stamp/stamp.jsp?tp=&amp;arnumber=7940247" TargetMode="External"/><Relationship Id="rId4" Type="http://schemas.openxmlformats.org/officeDocument/2006/relationships/hyperlink" Target="https://www.silabs.com/documents/login/application-notes/an1138-zigbee-mesh-network-performance.pdf" TargetMode="External"/><Relationship Id="rId9" Type="http://schemas.openxmlformats.org/officeDocument/2006/relationships/hyperlink" Target="https://www.silabs.com/wireless/z-wave/z-wave-long-range-overview" TargetMode="External"/></Relationships>
</file>

<file path=ppt/slides/_rels/slide65.xml.rels><?xml version="1.0" encoding="UTF-8" standalone="yes"?>
<Relationships xmlns="http://schemas.openxmlformats.org/package/2006/relationships"><Relationship Id="rId8" Type="http://schemas.openxmlformats.org/officeDocument/2006/relationships/hyperlink" Target="https://www.threadgroup.org/thread-group#Membershipbenefits" TargetMode="External"/><Relationship Id="rId3" Type="http://schemas.openxmlformats.org/officeDocument/2006/relationships/hyperlink" Target="https://en.wikipedia.org/wiki/Z-Wave" TargetMode="External"/><Relationship Id="rId7" Type="http://schemas.openxmlformats.org/officeDocument/2006/relationships/hyperlink" Target="https://www.threadgroup.org/Certified-Products" TargetMode="External"/><Relationship Id="rId2" Type="http://schemas.openxmlformats.org/officeDocument/2006/relationships/hyperlink" Target="https://en.wikipedia.org/wiki/Zigbee" TargetMode="External"/><Relationship Id="rId1" Type="http://schemas.openxmlformats.org/officeDocument/2006/relationships/slideLayout" Target="../slideLayouts/slideLayout26.xml"/><Relationship Id="rId6" Type="http://schemas.openxmlformats.org/officeDocument/2006/relationships/hyperlink" Target="https://www.sdmmag.com/articles/103889-z-wave-releases-list-of-latest-certified-smart-home-devices" TargetMode="External"/><Relationship Id="rId5" Type="http://schemas.openxmlformats.org/officeDocument/2006/relationships/hyperlink" Target="https://www.zigbee2mqtt.io/supported-devices/" TargetMode="External"/><Relationship Id="rId10" Type="http://schemas.openxmlformats.org/officeDocument/2006/relationships/hyperlink" Target="https://z-wavealliance.org/membership-levels/" TargetMode="External"/><Relationship Id="rId4" Type="http://schemas.openxmlformats.org/officeDocument/2006/relationships/hyperlink" Target="https://en.wikipedia.org/wiki/Thread_(network_protocol)" TargetMode="External"/><Relationship Id="rId9" Type="http://schemas.openxmlformats.org/officeDocument/2006/relationships/hyperlink" Target="https://csa-iot.org/become-member/#Membership" TargetMode="External"/></Relationships>
</file>

<file path=ppt/slides/_rels/slide66.xml.rels><?xml version="1.0" encoding="UTF-8" standalone="yes"?>
<Relationships xmlns="http://schemas.openxmlformats.org/package/2006/relationships"><Relationship Id="rId3" Type="http://schemas.openxmlformats.org/officeDocument/2006/relationships/hyperlink" Target="https://www.sinopetech.com/en/blogs/all-blogs/zigbee-101-everything-you-need-to-know-1?srsltid=AfmBOorZHeBtIMkXXutpxPxt1samq7NTBrG_GodtxsFzbwKaUPSUt-z_" TargetMode="External"/><Relationship Id="rId7" Type="http://schemas.openxmlformats.org/officeDocument/2006/relationships/hyperlink" Target="https://brand.uiowa.edu/powerpoint-templates" TargetMode="External"/><Relationship Id="rId2" Type="http://schemas.openxmlformats.org/officeDocument/2006/relationships/hyperlink" Target="https://www.symmetryelectronics.com/blog/an-introduction-to-thread/?srsltid=AfmBOopEh1TMTnOiQlt2wvZQzxmmL36RVOgHed7YmqPB_tDUQc6xXnS_" TargetMode="External"/><Relationship Id="rId1" Type="http://schemas.openxmlformats.org/officeDocument/2006/relationships/slideLayout" Target="../slideLayouts/slideLayout26.xml"/><Relationship Id="rId6" Type="http://schemas.openxmlformats.org/officeDocument/2006/relationships/hyperlink" Target="https://white-noise-sounds.bandcamp.com/" TargetMode="External"/><Relationship Id="rId5" Type="http://schemas.openxmlformats.org/officeDocument/2006/relationships/hyperlink" Target="https://www.youtube.com/watch?v=6CHs4x2uqcQ" TargetMode="External"/><Relationship Id="rId4" Type="http://schemas.openxmlformats.org/officeDocument/2006/relationships/hyperlink" Target="https://en.wikipedia.org/wiki/Z-Wav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80B23-7308-1745-A1A9-A5522BA49EE8}"/>
              </a:ext>
            </a:extLst>
          </p:cNvPr>
          <p:cNvSpPr>
            <a:spLocks noGrp="1"/>
          </p:cNvSpPr>
          <p:nvPr>
            <p:ph type="ctrTitle"/>
          </p:nvPr>
        </p:nvSpPr>
        <p:spPr>
          <a:xfrm>
            <a:off x="974725" y="2677626"/>
            <a:ext cx="10354360" cy="1843238"/>
          </a:xfrm>
        </p:spPr>
        <p:txBody>
          <a:bodyPr>
            <a:normAutofit/>
          </a:bodyPr>
          <a:lstStyle/>
          <a:p>
            <a:r>
              <a:rPr lang="en-US" sz="5300" dirty="0"/>
              <a:t>Comparison of Thread, Zigbee and Z-Wave for Home Automation</a:t>
            </a:r>
          </a:p>
        </p:txBody>
      </p:sp>
      <p:sp>
        <p:nvSpPr>
          <p:cNvPr id="12" name="Subtitle 11">
            <a:extLst>
              <a:ext uri="{FF2B5EF4-FFF2-40B4-BE49-F238E27FC236}">
                <a16:creationId xmlns:a16="http://schemas.microsoft.com/office/drawing/2014/main" id="{ADA0161C-D166-6E4C-8069-E1FBFE0BE5F2}"/>
              </a:ext>
            </a:extLst>
          </p:cNvPr>
          <p:cNvSpPr>
            <a:spLocks noGrp="1"/>
          </p:cNvSpPr>
          <p:nvPr>
            <p:ph type="subTitle" idx="1"/>
          </p:nvPr>
        </p:nvSpPr>
        <p:spPr>
          <a:xfrm>
            <a:off x="974725" y="4709626"/>
            <a:ext cx="10354360" cy="407460"/>
          </a:xfrm>
        </p:spPr>
        <p:txBody>
          <a:bodyPr>
            <a:normAutofit/>
          </a:bodyPr>
          <a:lstStyle/>
          <a:p>
            <a:r>
              <a:rPr lang="en-US" dirty="0"/>
              <a:t>Matt Krueger</a:t>
            </a:r>
          </a:p>
        </p:txBody>
      </p:sp>
      <p:sp>
        <p:nvSpPr>
          <p:cNvPr id="13" name="Text Placeholder 12">
            <a:extLst>
              <a:ext uri="{FF2B5EF4-FFF2-40B4-BE49-F238E27FC236}">
                <a16:creationId xmlns:a16="http://schemas.microsoft.com/office/drawing/2014/main" id="{6C5EE2B8-026E-D04B-8925-60FA6F76C380}"/>
              </a:ext>
            </a:extLst>
          </p:cNvPr>
          <p:cNvSpPr>
            <a:spLocks noGrp="1"/>
          </p:cNvSpPr>
          <p:nvPr>
            <p:ph type="body" sz="quarter" idx="10"/>
          </p:nvPr>
        </p:nvSpPr>
        <p:spPr>
          <a:xfrm>
            <a:off x="974725" y="5148794"/>
            <a:ext cx="10354360" cy="463108"/>
          </a:xfrm>
        </p:spPr>
        <p:txBody>
          <a:bodyPr/>
          <a:lstStyle/>
          <a:p>
            <a:r>
              <a:rPr lang="en-US"/>
              <a:t>December 19, 2025</a:t>
            </a:r>
            <a:endParaRPr lang="en-US" dirty="0"/>
          </a:p>
        </p:txBody>
      </p:sp>
      <p:sp>
        <p:nvSpPr>
          <p:cNvPr id="5" name="Footer Placeholder 4">
            <a:extLst>
              <a:ext uri="{FF2B5EF4-FFF2-40B4-BE49-F238E27FC236}">
                <a16:creationId xmlns:a16="http://schemas.microsoft.com/office/drawing/2014/main" id="{A71FEB04-6AB2-DD4F-B560-E3674C11A535}"/>
              </a:ext>
            </a:extLst>
          </p:cNvPr>
          <p:cNvSpPr>
            <a:spLocks noGrp="1"/>
          </p:cNvSpPr>
          <p:nvPr>
            <p:ph type="ftr" sz="quarter" idx="3"/>
          </p:nvPr>
        </p:nvSpPr>
        <p:spPr>
          <a:xfrm>
            <a:off x="952500" y="1774216"/>
            <a:ext cx="10376585" cy="365125"/>
          </a:xfrm>
        </p:spPr>
        <p:txBody>
          <a:bodyPr/>
          <a:lstStyle/>
          <a:p>
            <a:r>
              <a:rPr lang="en-US"/>
              <a:t>Final Project | Topics in Computer Science II | Fall 2025, University of Iowa</a:t>
            </a:r>
            <a:endParaRPr lang="en-US" dirty="0"/>
          </a:p>
        </p:txBody>
      </p:sp>
    </p:spTree>
    <p:extLst>
      <p:ext uri="{BB962C8B-B14F-4D97-AF65-F5344CB8AC3E}">
        <p14:creationId xmlns:p14="http://schemas.microsoft.com/office/powerpoint/2010/main" val="38925108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D64B6-F3A9-9B4A-E424-3AB1F07EAF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4BCC3E-6B1D-0E7C-0EDF-32C45A711E88}"/>
              </a:ext>
            </a:extLst>
          </p:cNvPr>
          <p:cNvSpPr>
            <a:spLocks noGrp="1"/>
          </p:cNvSpPr>
          <p:nvPr>
            <p:ph type="title"/>
          </p:nvPr>
        </p:nvSpPr>
        <p:spPr>
          <a:xfrm>
            <a:off x="952499" y="526777"/>
            <a:ext cx="10287001" cy="869089"/>
          </a:xfrm>
        </p:spPr>
        <p:txBody>
          <a:bodyPr/>
          <a:lstStyle/>
          <a:p>
            <a:r>
              <a:rPr lang="en-US" dirty="0"/>
              <a:t>Quick Note</a:t>
            </a:r>
          </a:p>
        </p:txBody>
      </p:sp>
      <p:sp>
        <p:nvSpPr>
          <p:cNvPr id="3" name="Content Placeholder 2">
            <a:extLst>
              <a:ext uri="{FF2B5EF4-FFF2-40B4-BE49-F238E27FC236}">
                <a16:creationId xmlns:a16="http://schemas.microsoft.com/office/drawing/2014/main" id="{F1982EB8-49CB-AA6B-7384-39E291F61473}"/>
              </a:ext>
            </a:extLst>
          </p:cNvPr>
          <p:cNvSpPr>
            <a:spLocks noGrp="1"/>
          </p:cNvSpPr>
          <p:nvPr>
            <p:ph idx="10"/>
          </p:nvPr>
        </p:nvSpPr>
        <p:spPr>
          <a:xfrm>
            <a:off x="952498" y="1686757"/>
            <a:ext cx="10251527" cy="4256843"/>
          </a:xfrm>
        </p:spPr>
        <p:txBody>
          <a:bodyPr>
            <a:normAutofit/>
          </a:bodyPr>
          <a:lstStyle/>
          <a:p>
            <a:pPr marL="0" indent="0">
              <a:buNone/>
            </a:pPr>
            <a:r>
              <a:rPr lang="en-US" dirty="0"/>
              <a:t>This “presentation” contains many short form paragraphs in contrast to a typical bulleted format to more clearly explain ideas and thinking. </a:t>
            </a:r>
          </a:p>
          <a:p>
            <a:pPr marL="0" indent="0">
              <a:buNone/>
            </a:pPr>
            <a:endParaRPr lang="en-US" dirty="0"/>
          </a:p>
          <a:p>
            <a:pPr marL="0" indent="0">
              <a:buNone/>
            </a:pPr>
            <a:r>
              <a:rPr lang="en-US" dirty="0"/>
              <a:t>I felt this to be sufficient as I did not verbally present this material. </a:t>
            </a:r>
          </a:p>
        </p:txBody>
      </p:sp>
      <p:sp>
        <p:nvSpPr>
          <p:cNvPr id="5" name="Footer Placeholder 3">
            <a:extLst>
              <a:ext uri="{FF2B5EF4-FFF2-40B4-BE49-F238E27FC236}">
                <a16:creationId xmlns:a16="http://schemas.microsoft.com/office/drawing/2014/main" id="{541C1E17-F239-38DC-1FD3-8B5C14142767}"/>
              </a:ext>
            </a:extLst>
          </p:cNvPr>
          <p:cNvSpPr>
            <a:spLocks noGrp="1"/>
          </p:cNvSpPr>
          <p:nvPr>
            <p:ph type="ftr" sz="quarter" idx="3"/>
          </p:nvPr>
        </p:nvSpPr>
        <p:spPr>
          <a:xfrm>
            <a:off x="2519853" y="6441192"/>
            <a:ext cx="8684173" cy="365125"/>
          </a:xfrm>
        </p:spPr>
        <p:txBody>
          <a:bodyPr/>
          <a:lstStyle/>
          <a:p>
            <a:r>
              <a:rPr lang="en-US"/>
              <a:t>Final Project | Topics in Computer Science II | Fall 2025, University of Iowa</a:t>
            </a:r>
            <a:endParaRPr lang="en-US" dirty="0"/>
          </a:p>
        </p:txBody>
      </p:sp>
    </p:spTree>
    <p:extLst>
      <p:ext uri="{BB962C8B-B14F-4D97-AF65-F5344CB8AC3E}">
        <p14:creationId xmlns:p14="http://schemas.microsoft.com/office/powerpoint/2010/main" val="33001401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5CBB2-F610-40B4-A124-363EF63EBDD4}"/>
              </a:ext>
            </a:extLst>
          </p:cNvPr>
          <p:cNvSpPr>
            <a:spLocks noGrp="1"/>
          </p:cNvSpPr>
          <p:nvPr>
            <p:ph type="title"/>
          </p:nvPr>
        </p:nvSpPr>
        <p:spPr>
          <a:xfrm>
            <a:off x="952499" y="526777"/>
            <a:ext cx="10287001" cy="869089"/>
          </a:xfrm>
        </p:spPr>
        <p:txBody>
          <a:bodyPr/>
          <a:lstStyle/>
          <a:p>
            <a:r>
              <a:rPr lang="en-US" dirty="0"/>
              <a:t>Agenda</a:t>
            </a:r>
          </a:p>
        </p:txBody>
      </p:sp>
      <p:sp>
        <p:nvSpPr>
          <p:cNvPr id="3" name="Content Placeholder 2">
            <a:extLst>
              <a:ext uri="{FF2B5EF4-FFF2-40B4-BE49-F238E27FC236}">
                <a16:creationId xmlns:a16="http://schemas.microsoft.com/office/drawing/2014/main" id="{9113FCDE-F6D7-41FF-9845-D3893750EB08}"/>
              </a:ext>
            </a:extLst>
          </p:cNvPr>
          <p:cNvSpPr>
            <a:spLocks noGrp="1"/>
          </p:cNvSpPr>
          <p:nvPr>
            <p:ph idx="10"/>
          </p:nvPr>
        </p:nvSpPr>
        <p:spPr>
          <a:xfrm>
            <a:off x="952498" y="1686757"/>
            <a:ext cx="10251527" cy="4256843"/>
          </a:xfrm>
        </p:spPr>
        <p:txBody>
          <a:bodyPr>
            <a:normAutofit lnSpcReduction="10000"/>
          </a:bodyPr>
          <a:lstStyle/>
          <a:p>
            <a:pPr marL="514350" indent="-514350">
              <a:buFont typeface="+mj-lt"/>
              <a:buAutoNum type="arabicPeriod"/>
            </a:pPr>
            <a:r>
              <a:rPr lang="en-US" dirty="0"/>
              <a:t>Project Motivation</a:t>
            </a:r>
          </a:p>
          <a:p>
            <a:pPr marL="514350" indent="-514350">
              <a:buFont typeface="+mj-lt"/>
              <a:buAutoNum type="arabicPeriod"/>
            </a:pPr>
            <a:r>
              <a:rPr lang="en-US" dirty="0"/>
              <a:t>Protocols</a:t>
            </a:r>
          </a:p>
          <a:p>
            <a:pPr marL="914400" lvl="1" indent="-457200">
              <a:buFont typeface="+mj-lt"/>
              <a:buAutoNum type="alphaLcParenR"/>
            </a:pPr>
            <a:r>
              <a:rPr lang="en-US" dirty="0"/>
              <a:t>Thread</a:t>
            </a:r>
          </a:p>
          <a:p>
            <a:pPr marL="914400" lvl="1" indent="-457200">
              <a:buFont typeface="+mj-lt"/>
              <a:buAutoNum type="alphaLcParenR"/>
            </a:pPr>
            <a:r>
              <a:rPr lang="en-US" dirty="0"/>
              <a:t>Zigbee</a:t>
            </a:r>
          </a:p>
          <a:p>
            <a:pPr marL="914400" lvl="1" indent="-457200">
              <a:buFont typeface="+mj-lt"/>
              <a:buAutoNum type="alphaLcParenR"/>
            </a:pPr>
            <a:r>
              <a:rPr lang="en-US" dirty="0"/>
              <a:t>Z-Wave</a:t>
            </a:r>
          </a:p>
          <a:p>
            <a:pPr marL="514350" indent="-514350">
              <a:buFont typeface="+mj-lt"/>
              <a:buAutoNum type="arabicPeriod"/>
            </a:pPr>
            <a:r>
              <a:rPr lang="en-US" dirty="0"/>
              <a:t>Comparison</a:t>
            </a:r>
          </a:p>
          <a:p>
            <a:pPr marL="514350" indent="-514350">
              <a:buFont typeface="+mj-lt"/>
              <a:buAutoNum type="arabicPeriod"/>
            </a:pPr>
            <a:r>
              <a:rPr lang="en-US" dirty="0"/>
              <a:t>Future Work (an automation I will build)</a:t>
            </a:r>
          </a:p>
          <a:p>
            <a:pPr marL="514350" indent="-514350">
              <a:buFont typeface="+mj-lt"/>
              <a:buAutoNum type="arabicPeriod"/>
            </a:pPr>
            <a:r>
              <a:rPr lang="en-US" dirty="0"/>
              <a:t>Conclusion</a:t>
            </a:r>
          </a:p>
          <a:p>
            <a:pPr marL="514350" indent="-514350">
              <a:buFont typeface="+mj-lt"/>
              <a:buAutoNum type="arabicPeriod"/>
            </a:pPr>
            <a:r>
              <a:rPr lang="en-US" dirty="0"/>
              <a:t>Thank You!</a:t>
            </a:r>
          </a:p>
        </p:txBody>
      </p:sp>
      <p:sp>
        <p:nvSpPr>
          <p:cNvPr id="5" name="Footer Placeholder 3">
            <a:extLst>
              <a:ext uri="{FF2B5EF4-FFF2-40B4-BE49-F238E27FC236}">
                <a16:creationId xmlns:a16="http://schemas.microsoft.com/office/drawing/2014/main" id="{68BCB527-2259-FA40-8DB3-056BA3C1B22F}"/>
              </a:ext>
            </a:extLst>
          </p:cNvPr>
          <p:cNvSpPr>
            <a:spLocks noGrp="1"/>
          </p:cNvSpPr>
          <p:nvPr>
            <p:ph type="ftr" sz="quarter" idx="3"/>
          </p:nvPr>
        </p:nvSpPr>
        <p:spPr>
          <a:xfrm>
            <a:off x="2519853" y="6441192"/>
            <a:ext cx="8684173" cy="365125"/>
          </a:xfrm>
        </p:spPr>
        <p:txBody>
          <a:bodyPr/>
          <a:lstStyle/>
          <a:p>
            <a:r>
              <a:rPr lang="en-US"/>
              <a:t>Final Project | Topics in Computer Science II | Fall 2025, University of Iowa</a:t>
            </a:r>
            <a:endParaRPr lang="en-US" dirty="0"/>
          </a:p>
        </p:txBody>
      </p:sp>
    </p:spTree>
    <p:extLst>
      <p:ext uri="{BB962C8B-B14F-4D97-AF65-F5344CB8AC3E}">
        <p14:creationId xmlns:p14="http://schemas.microsoft.com/office/powerpoint/2010/main" val="21478758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0D1F8-DB97-19D2-D3B2-E190407D8A3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920D236-499B-EC83-A79E-ED558BDEB03B}"/>
              </a:ext>
            </a:extLst>
          </p:cNvPr>
          <p:cNvSpPr>
            <a:spLocks noGrp="1"/>
          </p:cNvSpPr>
          <p:nvPr>
            <p:ph type="ctrTitle"/>
          </p:nvPr>
        </p:nvSpPr>
        <p:spPr>
          <a:xfrm>
            <a:off x="952500" y="2805221"/>
            <a:ext cx="10286999" cy="759906"/>
          </a:xfrm>
        </p:spPr>
        <p:txBody>
          <a:bodyPr>
            <a:normAutofit fontScale="90000"/>
          </a:bodyPr>
          <a:lstStyle/>
          <a:p>
            <a:r>
              <a:rPr lang="en-US" dirty="0"/>
              <a:t>Project Motivation</a:t>
            </a:r>
          </a:p>
        </p:txBody>
      </p:sp>
      <p:sp>
        <p:nvSpPr>
          <p:cNvPr id="5" name="Subtitle 4">
            <a:extLst>
              <a:ext uri="{FF2B5EF4-FFF2-40B4-BE49-F238E27FC236}">
                <a16:creationId xmlns:a16="http://schemas.microsoft.com/office/drawing/2014/main" id="{E84FD66A-4F50-1AB7-F300-80D8EAD2081C}"/>
              </a:ext>
            </a:extLst>
          </p:cNvPr>
          <p:cNvSpPr>
            <a:spLocks noGrp="1"/>
          </p:cNvSpPr>
          <p:nvPr>
            <p:ph type="subTitle" idx="1"/>
          </p:nvPr>
        </p:nvSpPr>
        <p:spPr>
          <a:xfrm>
            <a:off x="952500" y="3791876"/>
            <a:ext cx="10286999" cy="407460"/>
          </a:xfrm>
        </p:spPr>
        <p:txBody>
          <a:bodyPr/>
          <a:lstStyle/>
          <a:p>
            <a:r>
              <a:rPr lang="en-US" dirty="0"/>
              <a:t>What am I trying to achieve</a:t>
            </a:r>
          </a:p>
        </p:txBody>
      </p:sp>
    </p:spTree>
    <p:extLst>
      <p:ext uri="{BB962C8B-B14F-4D97-AF65-F5344CB8AC3E}">
        <p14:creationId xmlns:p14="http://schemas.microsoft.com/office/powerpoint/2010/main" val="7805837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12E64-AC50-3247-784A-6E671667DE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5F0A39-C4AC-7E83-676F-E253E47D06B1}"/>
              </a:ext>
            </a:extLst>
          </p:cNvPr>
          <p:cNvSpPr>
            <a:spLocks noGrp="1"/>
          </p:cNvSpPr>
          <p:nvPr>
            <p:ph type="title"/>
          </p:nvPr>
        </p:nvSpPr>
        <p:spPr>
          <a:xfrm>
            <a:off x="952499" y="526777"/>
            <a:ext cx="10287001" cy="869089"/>
          </a:xfrm>
        </p:spPr>
        <p:txBody>
          <a:bodyPr/>
          <a:lstStyle/>
          <a:p>
            <a:r>
              <a:rPr lang="en-US" dirty="0"/>
              <a:t>Motivation pt1</a:t>
            </a:r>
          </a:p>
        </p:txBody>
      </p:sp>
      <p:sp>
        <p:nvSpPr>
          <p:cNvPr id="3" name="Content Placeholder 2">
            <a:extLst>
              <a:ext uri="{FF2B5EF4-FFF2-40B4-BE49-F238E27FC236}">
                <a16:creationId xmlns:a16="http://schemas.microsoft.com/office/drawing/2014/main" id="{F06A3F05-626A-205D-E748-680C39955120}"/>
              </a:ext>
            </a:extLst>
          </p:cNvPr>
          <p:cNvSpPr>
            <a:spLocks noGrp="1"/>
          </p:cNvSpPr>
          <p:nvPr>
            <p:ph idx="10"/>
          </p:nvPr>
        </p:nvSpPr>
        <p:spPr>
          <a:xfrm>
            <a:off x="952498" y="1686757"/>
            <a:ext cx="4486931" cy="4256843"/>
          </a:xfrm>
        </p:spPr>
        <p:txBody>
          <a:bodyPr>
            <a:normAutofit/>
          </a:bodyPr>
          <a:lstStyle/>
          <a:p>
            <a:pPr marL="0" indent="0">
              <a:buNone/>
            </a:pPr>
            <a:r>
              <a:rPr lang="en-US" sz="1800" dirty="0"/>
              <a:t>After taking </a:t>
            </a:r>
            <a:r>
              <a:rPr lang="en-US" sz="1800" i="1" dirty="0"/>
              <a:t>Embedded Systems </a:t>
            </a:r>
            <a:r>
              <a:rPr lang="en-US" sz="1800" dirty="0"/>
              <a:t>course at the University of Iowa, I was opened to the possibilities of using microcontrollers to </a:t>
            </a:r>
            <a:r>
              <a:rPr lang="en-US" sz="1800" b="1" dirty="0"/>
              <a:t>develop smart home automations for my future apartment.</a:t>
            </a:r>
          </a:p>
          <a:p>
            <a:pPr marL="0" indent="0">
              <a:buNone/>
            </a:pPr>
            <a:endParaRPr lang="en-US" sz="1800" dirty="0"/>
          </a:p>
          <a:p>
            <a:pPr marL="0" indent="0">
              <a:buNone/>
            </a:pPr>
            <a:r>
              <a:rPr lang="en-US" sz="1800" dirty="0"/>
              <a:t>Last summer, I collected an assortment of different devices with the intention of experimenting with wireless area networks and simple automations. Unfortunately, work was busy and</a:t>
            </a:r>
            <a:r>
              <a:rPr lang="en-US" sz="1800" b="1" dirty="0"/>
              <a:t> I never got around to accomplish anything meaningful with these devices.</a:t>
            </a:r>
          </a:p>
        </p:txBody>
      </p:sp>
      <p:sp>
        <p:nvSpPr>
          <p:cNvPr id="5" name="Footer Placeholder 3">
            <a:extLst>
              <a:ext uri="{FF2B5EF4-FFF2-40B4-BE49-F238E27FC236}">
                <a16:creationId xmlns:a16="http://schemas.microsoft.com/office/drawing/2014/main" id="{E0223CD4-7C98-5D58-6415-4C79863553B3}"/>
              </a:ext>
            </a:extLst>
          </p:cNvPr>
          <p:cNvSpPr>
            <a:spLocks noGrp="1"/>
          </p:cNvSpPr>
          <p:nvPr>
            <p:ph type="ftr" sz="quarter" idx="3"/>
          </p:nvPr>
        </p:nvSpPr>
        <p:spPr>
          <a:xfrm>
            <a:off x="2519853" y="6441192"/>
            <a:ext cx="8684173" cy="365125"/>
          </a:xfrm>
        </p:spPr>
        <p:txBody>
          <a:bodyPr/>
          <a:lstStyle/>
          <a:p>
            <a:r>
              <a:rPr lang="en-US"/>
              <a:t>Final Project | Topics in Computer Science II | Fall 2025, University of Iowa</a:t>
            </a:r>
            <a:endParaRPr lang="en-US" dirty="0"/>
          </a:p>
        </p:txBody>
      </p:sp>
      <p:pic>
        <p:nvPicPr>
          <p:cNvPr id="8" name="Picture 7">
            <a:extLst>
              <a:ext uri="{FF2B5EF4-FFF2-40B4-BE49-F238E27FC236}">
                <a16:creationId xmlns:a16="http://schemas.microsoft.com/office/drawing/2014/main" id="{C7DF703D-761D-D9B8-A38C-D1EA5A611BA3}"/>
              </a:ext>
            </a:extLst>
          </p:cNvPr>
          <p:cNvPicPr>
            <a:picLocks noChangeAspect="1"/>
          </p:cNvPicPr>
          <p:nvPr/>
        </p:nvPicPr>
        <p:blipFill>
          <a:blip r:embed="rId2"/>
          <a:stretch>
            <a:fillRect/>
          </a:stretch>
        </p:blipFill>
        <p:spPr>
          <a:xfrm>
            <a:off x="6312266" y="2114188"/>
            <a:ext cx="1516900" cy="1299258"/>
          </a:xfrm>
          <a:prstGeom prst="rect">
            <a:avLst/>
          </a:prstGeom>
        </p:spPr>
      </p:pic>
      <p:pic>
        <p:nvPicPr>
          <p:cNvPr id="9" name="Picture 8">
            <a:extLst>
              <a:ext uri="{FF2B5EF4-FFF2-40B4-BE49-F238E27FC236}">
                <a16:creationId xmlns:a16="http://schemas.microsoft.com/office/drawing/2014/main" id="{3DD72A1F-5285-D615-AF48-7FC19734E611}"/>
              </a:ext>
            </a:extLst>
          </p:cNvPr>
          <p:cNvPicPr>
            <a:picLocks noChangeAspect="1"/>
          </p:cNvPicPr>
          <p:nvPr/>
        </p:nvPicPr>
        <p:blipFill>
          <a:blip r:embed="rId3"/>
          <a:stretch>
            <a:fillRect/>
          </a:stretch>
        </p:blipFill>
        <p:spPr>
          <a:xfrm>
            <a:off x="8439296" y="1237270"/>
            <a:ext cx="1369271" cy="1149038"/>
          </a:xfrm>
          <a:prstGeom prst="rect">
            <a:avLst/>
          </a:prstGeom>
        </p:spPr>
      </p:pic>
      <p:pic>
        <p:nvPicPr>
          <p:cNvPr id="10" name="Picture 9">
            <a:extLst>
              <a:ext uri="{FF2B5EF4-FFF2-40B4-BE49-F238E27FC236}">
                <a16:creationId xmlns:a16="http://schemas.microsoft.com/office/drawing/2014/main" id="{C71FA20A-61C2-B3D1-F487-B60C05538EEB}"/>
              </a:ext>
            </a:extLst>
          </p:cNvPr>
          <p:cNvPicPr>
            <a:picLocks noChangeAspect="1"/>
          </p:cNvPicPr>
          <p:nvPr/>
        </p:nvPicPr>
        <p:blipFill>
          <a:blip r:embed="rId4"/>
          <a:stretch>
            <a:fillRect/>
          </a:stretch>
        </p:blipFill>
        <p:spPr>
          <a:xfrm>
            <a:off x="10384096" y="4055872"/>
            <a:ext cx="1197505" cy="914761"/>
          </a:xfrm>
          <a:prstGeom prst="rect">
            <a:avLst/>
          </a:prstGeom>
        </p:spPr>
      </p:pic>
      <p:pic>
        <p:nvPicPr>
          <p:cNvPr id="11" name="Picture 10">
            <a:extLst>
              <a:ext uri="{FF2B5EF4-FFF2-40B4-BE49-F238E27FC236}">
                <a16:creationId xmlns:a16="http://schemas.microsoft.com/office/drawing/2014/main" id="{D109DBEA-C1A3-FCC4-6B1C-82A16DFC034E}"/>
              </a:ext>
            </a:extLst>
          </p:cNvPr>
          <p:cNvPicPr>
            <a:picLocks noChangeAspect="1"/>
          </p:cNvPicPr>
          <p:nvPr/>
        </p:nvPicPr>
        <p:blipFill>
          <a:blip r:embed="rId5"/>
          <a:stretch>
            <a:fillRect/>
          </a:stretch>
        </p:blipFill>
        <p:spPr>
          <a:xfrm>
            <a:off x="8167451" y="4491098"/>
            <a:ext cx="1445097" cy="1445097"/>
          </a:xfrm>
          <a:prstGeom prst="rect">
            <a:avLst/>
          </a:prstGeom>
        </p:spPr>
      </p:pic>
      <p:grpSp>
        <p:nvGrpSpPr>
          <p:cNvPr id="12" name="Group 11">
            <a:extLst>
              <a:ext uri="{FF2B5EF4-FFF2-40B4-BE49-F238E27FC236}">
                <a16:creationId xmlns:a16="http://schemas.microsoft.com/office/drawing/2014/main" id="{5701C627-1B5C-F92C-F63A-F46BFD4BBE5B}"/>
              </a:ext>
            </a:extLst>
          </p:cNvPr>
          <p:cNvGrpSpPr/>
          <p:nvPr/>
        </p:nvGrpSpPr>
        <p:grpSpPr>
          <a:xfrm>
            <a:off x="10269227" y="2273680"/>
            <a:ext cx="1511234" cy="1280119"/>
            <a:chOff x="6898961" y="1975017"/>
            <a:chExt cx="2236675" cy="1975355"/>
          </a:xfrm>
        </p:grpSpPr>
        <p:pic>
          <p:nvPicPr>
            <p:cNvPr id="13" name="Picture 12">
              <a:extLst>
                <a:ext uri="{FF2B5EF4-FFF2-40B4-BE49-F238E27FC236}">
                  <a16:creationId xmlns:a16="http://schemas.microsoft.com/office/drawing/2014/main" id="{04F3858B-8DE3-4943-6168-B29353A5DDA7}"/>
                </a:ext>
              </a:extLst>
            </p:cNvPr>
            <p:cNvPicPr>
              <a:picLocks noChangeAspect="1"/>
            </p:cNvPicPr>
            <p:nvPr/>
          </p:nvPicPr>
          <p:blipFill>
            <a:blip r:embed="rId6"/>
            <a:stretch>
              <a:fillRect/>
            </a:stretch>
          </p:blipFill>
          <p:spPr>
            <a:xfrm>
              <a:off x="6898961" y="1975017"/>
              <a:ext cx="1975355" cy="1975355"/>
            </a:xfrm>
            <a:prstGeom prst="rect">
              <a:avLst/>
            </a:prstGeom>
          </p:spPr>
        </p:pic>
        <mc:AlternateContent xmlns:mc="http://schemas.openxmlformats.org/markup-compatibility/2006" xmlns:p14="http://schemas.microsoft.com/office/powerpoint/2010/main">
          <mc:Choice Requires="p14">
            <p:contentPart p14:bwMode="auto" r:id="rId7">
              <p14:nvContentPartPr>
                <p14:cNvPr id="14" name="Ink 13">
                  <a:extLst>
                    <a:ext uri="{FF2B5EF4-FFF2-40B4-BE49-F238E27FC236}">
                      <a16:creationId xmlns:a16="http://schemas.microsoft.com/office/drawing/2014/main" id="{54295E50-5BDE-834F-44A2-22C7A4EE050F}"/>
                    </a:ext>
                  </a:extLst>
                </p14:cNvPr>
                <p14:cNvContentPartPr/>
                <p14:nvPr/>
              </p14:nvContentPartPr>
              <p14:xfrm>
                <a:off x="8261916" y="3757794"/>
                <a:ext cx="873720" cy="164160"/>
              </p14:xfrm>
            </p:contentPart>
          </mc:Choice>
          <mc:Fallback xmlns="">
            <p:pic>
              <p:nvPicPr>
                <p:cNvPr id="17" name="Ink 16">
                  <a:extLst>
                    <a:ext uri="{FF2B5EF4-FFF2-40B4-BE49-F238E27FC236}">
                      <a16:creationId xmlns:a16="http://schemas.microsoft.com/office/drawing/2014/main" id="{98C5CD22-667C-812D-72C0-D9A53856E36E}"/>
                    </a:ext>
                  </a:extLst>
                </p:cNvPr>
                <p:cNvPicPr/>
                <p:nvPr/>
              </p:nvPicPr>
              <p:blipFill>
                <a:blip r:embed="rId8"/>
                <a:stretch>
                  <a:fillRect/>
                </a:stretch>
              </p:blipFill>
              <p:spPr>
                <a:xfrm>
                  <a:off x="8200853" y="3694460"/>
                  <a:ext cx="995496" cy="291193"/>
                </a:xfrm>
                <a:prstGeom prst="rect">
                  <a:avLst/>
                </a:prstGeom>
              </p:spPr>
            </p:pic>
          </mc:Fallback>
        </mc:AlternateContent>
      </p:grpSp>
      <p:pic>
        <p:nvPicPr>
          <p:cNvPr id="15" name="Picture 14">
            <a:extLst>
              <a:ext uri="{FF2B5EF4-FFF2-40B4-BE49-F238E27FC236}">
                <a16:creationId xmlns:a16="http://schemas.microsoft.com/office/drawing/2014/main" id="{6899A2C8-912B-0ACE-840B-7AB368C66C57}"/>
              </a:ext>
            </a:extLst>
          </p:cNvPr>
          <p:cNvPicPr>
            <a:picLocks noChangeAspect="1"/>
          </p:cNvPicPr>
          <p:nvPr/>
        </p:nvPicPr>
        <p:blipFill>
          <a:blip r:embed="rId9"/>
          <a:stretch>
            <a:fillRect/>
          </a:stretch>
        </p:blipFill>
        <p:spPr>
          <a:xfrm>
            <a:off x="6521428" y="3820606"/>
            <a:ext cx="1075202" cy="1094436"/>
          </a:xfrm>
          <a:prstGeom prst="rect">
            <a:avLst/>
          </a:prstGeom>
        </p:spPr>
      </p:pic>
      <p:pic>
        <p:nvPicPr>
          <p:cNvPr id="16" name="Picture 15">
            <a:extLst>
              <a:ext uri="{FF2B5EF4-FFF2-40B4-BE49-F238E27FC236}">
                <a16:creationId xmlns:a16="http://schemas.microsoft.com/office/drawing/2014/main" id="{F7ECB1E6-01C2-070F-D75C-29D7C635D2D1}"/>
              </a:ext>
            </a:extLst>
          </p:cNvPr>
          <p:cNvPicPr>
            <a:picLocks noChangeAspect="1"/>
          </p:cNvPicPr>
          <p:nvPr/>
        </p:nvPicPr>
        <p:blipFill>
          <a:blip r:embed="rId10"/>
          <a:stretch>
            <a:fillRect/>
          </a:stretch>
        </p:blipFill>
        <p:spPr>
          <a:xfrm>
            <a:off x="8439296" y="2763817"/>
            <a:ext cx="1334670" cy="1330365"/>
          </a:xfrm>
          <a:prstGeom prst="rect">
            <a:avLst/>
          </a:prstGeom>
        </p:spPr>
      </p:pic>
    </p:spTree>
    <p:extLst>
      <p:ext uri="{BB962C8B-B14F-4D97-AF65-F5344CB8AC3E}">
        <p14:creationId xmlns:p14="http://schemas.microsoft.com/office/powerpoint/2010/main" val="22878070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1BE23D-F0F5-1D09-75EE-68F0FCAACB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0AAF76-016C-793B-2033-795717282FD9}"/>
              </a:ext>
            </a:extLst>
          </p:cNvPr>
          <p:cNvSpPr>
            <a:spLocks noGrp="1"/>
          </p:cNvSpPr>
          <p:nvPr>
            <p:ph type="title"/>
          </p:nvPr>
        </p:nvSpPr>
        <p:spPr>
          <a:xfrm>
            <a:off x="952499" y="526777"/>
            <a:ext cx="10287001" cy="869089"/>
          </a:xfrm>
        </p:spPr>
        <p:txBody>
          <a:bodyPr/>
          <a:lstStyle/>
          <a:p>
            <a:r>
              <a:rPr lang="en-US" dirty="0"/>
              <a:t>Motivation pt2</a:t>
            </a:r>
          </a:p>
        </p:txBody>
      </p:sp>
      <p:sp>
        <p:nvSpPr>
          <p:cNvPr id="3" name="Content Placeholder 2">
            <a:extLst>
              <a:ext uri="{FF2B5EF4-FFF2-40B4-BE49-F238E27FC236}">
                <a16:creationId xmlns:a16="http://schemas.microsoft.com/office/drawing/2014/main" id="{E4BC29C2-E681-67B9-BB60-2756651CAA47}"/>
              </a:ext>
            </a:extLst>
          </p:cNvPr>
          <p:cNvSpPr>
            <a:spLocks noGrp="1"/>
          </p:cNvSpPr>
          <p:nvPr>
            <p:ph idx="10"/>
          </p:nvPr>
        </p:nvSpPr>
        <p:spPr>
          <a:xfrm>
            <a:off x="952498" y="1686757"/>
            <a:ext cx="10251527" cy="4256843"/>
          </a:xfrm>
        </p:spPr>
        <p:txBody>
          <a:bodyPr>
            <a:normAutofit fontScale="85000" lnSpcReduction="20000"/>
          </a:bodyPr>
          <a:lstStyle/>
          <a:p>
            <a:pPr marL="0" indent="0">
              <a:buNone/>
            </a:pPr>
            <a:r>
              <a:rPr lang="en-US" dirty="0"/>
              <a:t>Fortunately,</a:t>
            </a:r>
            <a:r>
              <a:rPr lang="en-US" i="1" dirty="0"/>
              <a:t> Topics in Computer Science II: Real-Time Cyber Physical Systems </a:t>
            </a:r>
            <a:r>
              <a:rPr lang="en-US" dirty="0"/>
              <a:t>was offered during the fall semester, which immediately caught my eye. </a:t>
            </a:r>
          </a:p>
          <a:p>
            <a:pPr marL="0" indent="0">
              <a:buNone/>
            </a:pPr>
            <a:endParaRPr lang="en-US" i="1" dirty="0"/>
          </a:p>
          <a:p>
            <a:pPr marL="0" indent="0">
              <a:buNone/>
            </a:pPr>
            <a:r>
              <a:rPr lang="en-US" dirty="0"/>
              <a:t>After </a:t>
            </a:r>
            <a:r>
              <a:rPr lang="en-US" b="1" dirty="0"/>
              <a:t>learning the theory behind wireless network systems </a:t>
            </a:r>
            <a:r>
              <a:rPr lang="en-US" dirty="0"/>
              <a:t>from 802.11, 802.15.4, and 5G, participating in literary analysis through presentations, and reading multiple academic papers we were assigned a final project. The project goals are either a study or an implementation. </a:t>
            </a:r>
          </a:p>
          <a:p>
            <a:pPr marL="0" indent="0">
              <a:buNone/>
            </a:pPr>
            <a:endParaRPr lang="en-US" dirty="0"/>
          </a:p>
          <a:p>
            <a:pPr marL="0" indent="0">
              <a:buNone/>
            </a:pPr>
            <a:r>
              <a:rPr lang="en-US" dirty="0"/>
              <a:t>Having already purchased many of the necessary devices, I thought that there was </a:t>
            </a:r>
            <a:r>
              <a:rPr lang="en-US" b="1" dirty="0"/>
              <a:t>no better time study smart home protocols </a:t>
            </a:r>
            <a:r>
              <a:rPr lang="en-US" dirty="0"/>
              <a:t>to serve as </a:t>
            </a:r>
            <a:r>
              <a:rPr lang="en-US" b="1" dirty="0"/>
              <a:t>preliminary research </a:t>
            </a:r>
            <a:r>
              <a:rPr lang="en-US" dirty="0"/>
              <a:t>for my future personal smart home. </a:t>
            </a:r>
          </a:p>
        </p:txBody>
      </p:sp>
      <p:sp>
        <p:nvSpPr>
          <p:cNvPr id="5" name="Footer Placeholder 3">
            <a:extLst>
              <a:ext uri="{FF2B5EF4-FFF2-40B4-BE49-F238E27FC236}">
                <a16:creationId xmlns:a16="http://schemas.microsoft.com/office/drawing/2014/main" id="{05A4672F-642C-8020-809F-E983B8E65817}"/>
              </a:ext>
            </a:extLst>
          </p:cNvPr>
          <p:cNvSpPr>
            <a:spLocks noGrp="1"/>
          </p:cNvSpPr>
          <p:nvPr>
            <p:ph type="ftr" sz="quarter" idx="3"/>
          </p:nvPr>
        </p:nvSpPr>
        <p:spPr>
          <a:xfrm>
            <a:off x="2519853" y="6441192"/>
            <a:ext cx="8684173" cy="365125"/>
          </a:xfrm>
        </p:spPr>
        <p:txBody>
          <a:bodyPr/>
          <a:lstStyle/>
          <a:p>
            <a:r>
              <a:rPr lang="en-US"/>
              <a:t>Final Project | Topics in Computer Science II | Fall 2025, University of Iowa</a:t>
            </a:r>
            <a:endParaRPr lang="en-US" dirty="0"/>
          </a:p>
        </p:txBody>
      </p:sp>
    </p:spTree>
    <p:extLst>
      <p:ext uri="{BB962C8B-B14F-4D97-AF65-F5344CB8AC3E}">
        <p14:creationId xmlns:p14="http://schemas.microsoft.com/office/powerpoint/2010/main" val="35086131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4659F-974D-986B-61E8-038936988D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360B5A-DD62-F866-5B75-4ADA8E8C3D6C}"/>
              </a:ext>
            </a:extLst>
          </p:cNvPr>
          <p:cNvSpPr>
            <a:spLocks noGrp="1"/>
          </p:cNvSpPr>
          <p:nvPr>
            <p:ph type="title"/>
          </p:nvPr>
        </p:nvSpPr>
        <p:spPr>
          <a:xfrm>
            <a:off x="952499" y="526777"/>
            <a:ext cx="10287001" cy="869089"/>
          </a:xfrm>
        </p:spPr>
        <p:txBody>
          <a:bodyPr/>
          <a:lstStyle/>
          <a:p>
            <a:r>
              <a:rPr lang="en-US" dirty="0"/>
              <a:t>Project Goals</a:t>
            </a:r>
          </a:p>
        </p:txBody>
      </p:sp>
      <p:sp>
        <p:nvSpPr>
          <p:cNvPr id="3" name="Content Placeholder 2">
            <a:extLst>
              <a:ext uri="{FF2B5EF4-FFF2-40B4-BE49-F238E27FC236}">
                <a16:creationId xmlns:a16="http://schemas.microsoft.com/office/drawing/2014/main" id="{354668E9-847E-312D-F4F9-F819867A9118}"/>
              </a:ext>
            </a:extLst>
          </p:cNvPr>
          <p:cNvSpPr>
            <a:spLocks noGrp="1"/>
          </p:cNvSpPr>
          <p:nvPr>
            <p:ph idx="10"/>
          </p:nvPr>
        </p:nvSpPr>
        <p:spPr>
          <a:xfrm>
            <a:off x="952498" y="1686757"/>
            <a:ext cx="10718802" cy="4256843"/>
          </a:xfrm>
        </p:spPr>
        <p:txBody>
          <a:bodyPr>
            <a:normAutofit fontScale="92500" lnSpcReduction="20000"/>
          </a:bodyPr>
          <a:lstStyle/>
          <a:p>
            <a:pPr marL="0" indent="0">
              <a:buNone/>
            </a:pPr>
            <a:r>
              <a:rPr lang="en-US" b="1" dirty="0"/>
              <a:t>My goals of this study were simple: </a:t>
            </a:r>
          </a:p>
          <a:p>
            <a:pPr>
              <a:buFontTx/>
              <a:buChar char="-"/>
            </a:pPr>
            <a:r>
              <a:rPr lang="en-US" i="1" dirty="0"/>
              <a:t>Compare OSI models of protocols</a:t>
            </a:r>
          </a:p>
          <a:p>
            <a:pPr>
              <a:buFontTx/>
              <a:buChar char="-"/>
            </a:pPr>
            <a:r>
              <a:rPr lang="en-US" i="1" dirty="0"/>
              <a:t>Compare protocol capabilities</a:t>
            </a:r>
          </a:p>
          <a:p>
            <a:pPr>
              <a:buFontTx/>
              <a:buChar char="-"/>
            </a:pPr>
            <a:r>
              <a:rPr lang="en-US" i="1" dirty="0"/>
              <a:t>Highlight major considerations for each protocol</a:t>
            </a:r>
          </a:p>
          <a:p>
            <a:pPr>
              <a:buFontTx/>
              <a:buChar char="-"/>
            </a:pPr>
            <a:r>
              <a:rPr lang="en-US" i="1" dirty="0"/>
              <a:t>Devise a simple automation that uses a suitable of choice </a:t>
            </a:r>
          </a:p>
          <a:p>
            <a:pPr>
              <a:buFontTx/>
              <a:buChar char="-"/>
            </a:pPr>
            <a:r>
              <a:rPr lang="en-US" i="1" dirty="0"/>
              <a:t>Create a slideshow to aid in my future smart home development</a:t>
            </a:r>
            <a:endParaRPr lang="en-US" dirty="0"/>
          </a:p>
          <a:p>
            <a:pPr marL="0" indent="0">
              <a:buNone/>
            </a:pPr>
            <a:endParaRPr lang="en-US" dirty="0"/>
          </a:p>
          <a:p>
            <a:pPr marL="0" indent="0">
              <a:buNone/>
            </a:pPr>
            <a:r>
              <a:rPr lang="en-US" b="1" dirty="0"/>
              <a:t>This project was intended to be a high-level comparison</a:t>
            </a:r>
            <a:r>
              <a:rPr lang="en-US" dirty="0"/>
              <a:t>, drawing from many different sources – both academic and non-academic – to get a holistic view of chosen protocols. </a:t>
            </a:r>
          </a:p>
        </p:txBody>
      </p:sp>
      <p:sp>
        <p:nvSpPr>
          <p:cNvPr id="5" name="Footer Placeholder 3">
            <a:extLst>
              <a:ext uri="{FF2B5EF4-FFF2-40B4-BE49-F238E27FC236}">
                <a16:creationId xmlns:a16="http://schemas.microsoft.com/office/drawing/2014/main" id="{E601ECFA-22A3-A2BA-90E2-4B8BC6E4EF65}"/>
              </a:ext>
            </a:extLst>
          </p:cNvPr>
          <p:cNvSpPr>
            <a:spLocks noGrp="1"/>
          </p:cNvSpPr>
          <p:nvPr>
            <p:ph type="ftr" sz="quarter" idx="3"/>
          </p:nvPr>
        </p:nvSpPr>
        <p:spPr>
          <a:xfrm>
            <a:off x="2519853" y="6441192"/>
            <a:ext cx="8684173" cy="365125"/>
          </a:xfrm>
        </p:spPr>
        <p:txBody>
          <a:bodyPr/>
          <a:lstStyle/>
          <a:p>
            <a:r>
              <a:rPr lang="en-US"/>
              <a:t>Final Project | Topics in Computer Science II | Fall 2025, University of Iowa</a:t>
            </a:r>
            <a:endParaRPr lang="en-US" dirty="0"/>
          </a:p>
        </p:txBody>
      </p:sp>
    </p:spTree>
    <p:extLst>
      <p:ext uri="{BB962C8B-B14F-4D97-AF65-F5344CB8AC3E}">
        <p14:creationId xmlns:p14="http://schemas.microsoft.com/office/powerpoint/2010/main" val="29523830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81032-5E5C-F07B-C3EE-AD35AB97F5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B489C9-0A86-3370-8764-38AD55DCA78F}"/>
              </a:ext>
            </a:extLst>
          </p:cNvPr>
          <p:cNvSpPr>
            <a:spLocks noGrp="1"/>
          </p:cNvSpPr>
          <p:nvPr>
            <p:ph type="title"/>
          </p:nvPr>
        </p:nvSpPr>
        <p:spPr>
          <a:xfrm>
            <a:off x="952499" y="526777"/>
            <a:ext cx="10287001" cy="869089"/>
          </a:xfrm>
        </p:spPr>
        <p:txBody>
          <a:bodyPr/>
          <a:lstStyle/>
          <a:p>
            <a:r>
              <a:rPr lang="en-US" dirty="0"/>
              <a:t>Protocols Chosen</a:t>
            </a:r>
          </a:p>
        </p:txBody>
      </p:sp>
      <p:sp>
        <p:nvSpPr>
          <p:cNvPr id="3" name="Content Placeholder 2">
            <a:extLst>
              <a:ext uri="{FF2B5EF4-FFF2-40B4-BE49-F238E27FC236}">
                <a16:creationId xmlns:a16="http://schemas.microsoft.com/office/drawing/2014/main" id="{E128F4B5-9E83-4AC0-733B-A725A4E63C4B}"/>
              </a:ext>
            </a:extLst>
          </p:cNvPr>
          <p:cNvSpPr>
            <a:spLocks noGrp="1"/>
          </p:cNvSpPr>
          <p:nvPr>
            <p:ph idx="10"/>
          </p:nvPr>
        </p:nvSpPr>
        <p:spPr>
          <a:xfrm>
            <a:off x="952498" y="1686757"/>
            <a:ext cx="10251527" cy="4256843"/>
          </a:xfrm>
        </p:spPr>
        <p:txBody>
          <a:bodyPr>
            <a:normAutofit fontScale="92500" lnSpcReduction="20000"/>
          </a:bodyPr>
          <a:lstStyle/>
          <a:p>
            <a:pPr marL="0" indent="0">
              <a:buNone/>
            </a:pPr>
            <a:r>
              <a:rPr lang="en-US" dirty="0"/>
              <a:t>This project looks at the </a:t>
            </a:r>
            <a:r>
              <a:rPr lang="en-US" b="1" i="1" dirty="0"/>
              <a:t>architecture, usage, and personal </a:t>
            </a:r>
            <a:r>
              <a:rPr lang="en-US" dirty="0"/>
              <a:t>considerations of the following WLAN protocols:</a:t>
            </a:r>
          </a:p>
          <a:p>
            <a:pPr>
              <a:buFontTx/>
              <a:buChar char="-"/>
            </a:pPr>
            <a:r>
              <a:rPr lang="en-US" b="1" dirty="0"/>
              <a:t>Thread </a:t>
            </a:r>
          </a:p>
          <a:p>
            <a:pPr>
              <a:buFontTx/>
              <a:buChar char="-"/>
            </a:pPr>
            <a:r>
              <a:rPr lang="en-US" b="1" dirty="0"/>
              <a:t>Zigbee</a:t>
            </a:r>
          </a:p>
          <a:p>
            <a:pPr>
              <a:buFontTx/>
              <a:buChar char="-"/>
            </a:pPr>
            <a:r>
              <a:rPr lang="en-US" b="1" dirty="0"/>
              <a:t>Z-Wave</a:t>
            </a:r>
          </a:p>
          <a:p>
            <a:pPr>
              <a:buFontTx/>
              <a:buChar char="-"/>
            </a:pPr>
            <a:endParaRPr lang="en-US" dirty="0"/>
          </a:p>
          <a:p>
            <a:pPr marL="0" indent="0">
              <a:buNone/>
            </a:pPr>
            <a:r>
              <a:rPr lang="en-US" b="1" dirty="0"/>
              <a:t>Protocols that were not selected:</a:t>
            </a:r>
          </a:p>
          <a:p>
            <a:pPr marL="0" indent="0">
              <a:buNone/>
            </a:pPr>
            <a:r>
              <a:rPr lang="en-US" sz="2600" dirty="0"/>
              <a:t>- </a:t>
            </a:r>
            <a:r>
              <a:rPr lang="en-US" sz="2600" dirty="0" err="1"/>
              <a:t>WiFi</a:t>
            </a:r>
            <a:r>
              <a:rPr lang="en-US" sz="2600" dirty="0"/>
              <a:t>: I require a dedicated, local network</a:t>
            </a:r>
          </a:p>
          <a:p>
            <a:pPr marL="0" indent="0">
              <a:buNone/>
            </a:pPr>
            <a:r>
              <a:rPr lang="en-US" sz="2600" dirty="0"/>
              <a:t>- Bluetooth: limited by coverage range</a:t>
            </a:r>
          </a:p>
          <a:p>
            <a:pPr marL="0" indent="0">
              <a:buNone/>
            </a:pPr>
            <a:r>
              <a:rPr lang="en-US" sz="2600" dirty="0"/>
              <a:t>- Wired: far too cumbersome and obtrusive</a:t>
            </a:r>
          </a:p>
        </p:txBody>
      </p:sp>
      <p:sp>
        <p:nvSpPr>
          <p:cNvPr id="5" name="Footer Placeholder 3">
            <a:extLst>
              <a:ext uri="{FF2B5EF4-FFF2-40B4-BE49-F238E27FC236}">
                <a16:creationId xmlns:a16="http://schemas.microsoft.com/office/drawing/2014/main" id="{419AF503-1F5A-DB55-E689-EDE0FCE63ED6}"/>
              </a:ext>
            </a:extLst>
          </p:cNvPr>
          <p:cNvSpPr>
            <a:spLocks noGrp="1"/>
          </p:cNvSpPr>
          <p:nvPr>
            <p:ph type="ftr" sz="quarter" idx="3"/>
          </p:nvPr>
        </p:nvSpPr>
        <p:spPr>
          <a:xfrm>
            <a:off x="2519853" y="6441192"/>
            <a:ext cx="8684173" cy="365125"/>
          </a:xfrm>
        </p:spPr>
        <p:txBody>
          <a:bodyPr/>
          <a:lstStyle/>
          <a:p>
            <a:r>
              <a:rPr lang="en-US"/>
              <a:t>Final Project | Topics in Computer Science II | Fall 2025, University of Iowa</a:t>
            </a:r>
            <a:endParaRPr lang="en-US" dirty="0"/>
          </a:p>
        </p:txBody>
      </p:sp>
    </p:spTree>
    <p:extLst>
      <p:ext uri="{BB962C8B-B14F-4D97-AF65-F5344CB8AC3E}">
        <p14:creationId xmlns:p14="http://schemas.microsoft.com/office/powerpoint/2010/main" val="29340111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51FD1423-EF69-4C43-9403-3B2C2334DA10}"/>
              </a:ext>
            </a:extLst>
          </p:cNvPr>
          <p:cNvSpPr>
            <a:spLocks noGrp="1"/>
          </p:cNvSpPr>
          <p:nvPr>
            <p:ph type="title"/>
          </p:nvPr>
        </p:nvSpPr>
        <p:spPr>
          <a:xfrm>
            <a:off x="952499" y="526777"/>
            <a:ext cx="10287001" cy="869089"/>
          </a:xfrm>
        </p:spPr>
        <p:txBody>
          <a:bodyPr/>
          <a:lstStyle/>
          <a:p>
            <a:r>
              <a:rPr lang="en-US" dirty="0"/>
              <a:t>Summary of Protocols</a:t>
            </a:r>
          </a:p>
        </p:txBody>
      </p:sp>
      <p:sp>
        <p:nvSpPr>
          <p:cNvPr id="2" name="Content Placeholder 1">
            <a:extLst>
              <a:ext uri="{FF2B5EF4-FFF2-40B4-BE49-F238E27FC236}">
                <a16:creationId xmlns:a16="http://schemas.microsoft.com/office/drawing/2014/main" id="{71B75814-CA78-4990-B92F-D58A9492E46A}"/>
              </a:ext>
            </a:extLst>
          </p:cNvPr>
          <p:cNvSpPr>
            <a:spLocks noGrp="1"/>
          </p:cNvSpPr>
          <p:nvPr>
            <p:ph idx="1"/>
          </p:nvPr>
        </p:nvSpPr>
        <p:spPr>
          <a:xfrm>
            <a:off x="952500" y="3548916"/>
            <a:ext cx="3166740" cy="754602"/>
          </a:xfrm>
        </p:spPr>
        <p:txBody>
          <a:bodyPr/>
          <a:lstStyle/>
          <a:p>
            <a:r>
              <a:rPr lang="en-US" dirty="0"/>
              <a:t>Thread</a:t>
            </a:r>
          </a:p>
        </p:txBody>
      </p:sp>
      <p:sp>
        <p:nvSpPr>
          <p:cNvPr id="3" name="Content Placeholder 2">
            <a:extLst>
              <a:ext uri="{FF2B5EF4-FFF2-40B4-BE49-F238E27FC236}">
                <a16:creationId xmlns:a16="http://schemas.microsoft.com/office/drawing/2014/main" id="{7623F6F3-D3DF-4279-86A3-7F8CB799918C}"/>
              </a:ext>
            </a:extLst>
          </p:cNvPr>
          <p:cNvSpPr>
            <a:spLocks noGrp="1"/>
          </p:cNvSpPr>
          <p:nvPr>
            <p:ph idx="10"/>
          </p:nvPr>
        </p:nvSpPr>
        <p:spPr>
          <a:xfrm>
            <a:off x="961745" y="3996182"/>
            <a:ext cx="3321116" cy="1947418"/>
          </a:xfrm>
        </p:spPr>
        <p:txBody>
          <a:bodyPr>
            <a:normAutofit fontScale="92500" lnSpcReduction="10000"/>
          </a:bodyPr>
          <a:lstStyle/>
          <a:p>
            <a:pPr marL="285750" indent="-285750">
              <a:buFontTx/>
              <a:buChar char="-"/>
            </a:pPr>
            <a:r>
              <a:rPr lang="en-US" dirty="0"/>
              <a:t>Thread Alliance formed 2014</a:t>
            </a:r>
          </a:p>
          <a:p>
            <a:pPr marL="285750" indent="-285750">
              <a:buFontTx/>
              <a:buChar char="-"/>
            </a:pPr>
            <a:r>
              <a:rPr lang="en-US" dirty="0"/>
              <a:t>Mesh network</a:t>
            </a:r>
          </a:p>
          <a:p>
            <a:pPr marL="285750" indent="-285750">
              <a:buFontTx/>
              <a:buChar char="-"/>
            </a:pPr>
            <a:r>
              <a:rPr lang="en-US" dirty="0"/>
              <a:t>Supports ~16000 devices</a:t>
            </a:r>
          </a:p>
          <a:p>
            <a:pPr marL="285750" indent="-285750">
              <a:buFontTx/>
              <a:buChar char="-"/>
            </a:pPr>
            <a:r>
              <a:rPr lang="en-US" dirty="0"/>
              <a:t>Open standard</a:t>
            </a:r>
          </a:p>
          <a:p>
            <a:pPr marL="285750" indent="-285750">
              <a:buFontTx/>
              <a:buChar char="-"/>
            </a:pPr>
            <a:r>
              <a:rPr lang="en-US" dirty="0"/>
              <a:t>Low power smart home devices</a:t>
            </a:r>
          </a:p>
        </p:txBody>
      </p:sp>
      <p:sp>
        <p:nvSpPr>
          <p:cNvPr id="4" name="Content Placeholder 3">
            <a:extLst>
              <a:ext uri="{FF2B5EF4-FFF2-40B4-BE49-F238E27FC236}">
                <a16:creationId xmlns:a16="http://schemas.microsoft.com/office/drawing/2014/main" id="{EB4D859F-8AAA-4CD2-B46F-EC628FBC80FB}"/>
              </a:ext>
            </a:extLst>
          </p:cNvPr>
          <p:cNvSpPr>
            <a:spLocks noGrp="1"/>
          </p:cNvSpPr>
          <p:nvPr>
            <p:ph idx="11"/>
          </p:nvPr>
        </p:nvSpPr>
        <p:spPr>
          <a:xfrm>
            <a:off x="4616385" y="3537679"/>
            <a:ext cx="2973372" cy="754602"/>
          </a:xfrm>
        </p:spPr>
        <p:txBody>
          <a:bodyPr/>
          <a:lstStyle/>
          <a:p>
            <a:r>
              <a:rPr lang="en-US" dirty="0"/>
              <a:t>Zigbee</a:t>
            </a:r>
          </a:p>
          <a:p>
            <a:endParaRPr lang="en-US" dirty="0"/>
          </a:p>
        </p:txBody>
      </p:sp>
      <p:sp>
        <p:nvSpPr>
          <p:cNvPr id="5" name="Content Placeholder 4">
            <a:extLst>
              <a:ext uri="{FF2B5EF4-FFF2-40B4-BE49-F238E27FC236}">
                <a16:creationId xmlns:a16="http://schemas.microsoft.com/office/drawing/2014/main" id="{CB3307FC-8F50-4F47-A294-FED5621237BA}"/>
              </a:ext>
            </a:extLst>
          </p:cNvPr>
          <p:cNvSpPr>
            <a:spLocks noGrp="1"/>
          </p:cNvSpPr>
          <p:nvPr>
            <p:ph idx="12"/>
          </p:nvPr>
        </p:nvSpPr>
        <p:spPr>
          <a:xfrm>
            <a:off x="4609313" y="3996182"/>
            <a:ext cx="2973372" cy="1958654"/>
          </a:xfrm>
        </p:spPr>
        <p:txBody>
          <a:bodyPr>
            <a:normAutofit fontScale="92500" lnSpcReduction="10000"/>
          </a:bodyPr>
          <a:lstStyle/>
          <a:p>
            <a:pPr marL="285750" indent="-285750">
              <a:buFontTx/>
              <a:buChar char="-"/>
            </a:pPr>
            <a:r>
              <a:rPr lang="en-US" dirty="0"/>
              <a:t>Introduced 2005</a:t>
            </a:r>
          </a:p>
          <a:p>
            <a:pPr marL="285750" indent="-285750">
              <a:buFontTx/>
              <a:buChar char="-"/>
            </a:pPr>
            <a:r>
              <a:rPr lang="en-US" dirty="0"/>
              <a:t>Mesh network</a:t>
            </a:r>
          </a:p>
          <a:p>
            <a:pPr marL="285750" indent="-285750">
              <a:buFontTx/>
              <a:buChar char="-"/>
            </a:pPr>
            <a:r>
              <a:rPr lang="en-US" dirty="0"/>
              <a:t>Supports ~65000 devices</a:t>
            </a:r>
          </a:p>
          <a:p>
            <a:pPr marL="285750" indent="-285750">
              <a:buFontTx/>
              <a:buChar char="-"/>
            </a:pPr>
            <a:r>
              <a:rPr lang="en-US" dirty="0"/>
              <a:t>Open standard</a:t>
            </a:r>
          </a:p>
          <a:p>
            <a:pPr marL="285750" indent="-285750">
              <a:buFontTx/>
              <a:buChar char="-"/>
            </a:pPr>
            <a:r>
              <a:rPr lang="en-US" dirty="0"/>
              <a:t>Home automation, medical device data collection</a:t>
            </a:r>
          </a:p>
        </p:txBody>
      </p:sp>
      <p:sp>
        <p:nvSpPr>
          <p:cNvPr id="6" name="Content Placeholder 5">
            <a:extLst>
              <a:ext uri="{FF2B5EF4-FFF2-40B4-BE49-F238E27FC236}">
                <a16:creationId xmlns:a16="http://schemas.microsoft.com/office/drawing/2014/main" id="{BA39EB02-FDF3-4647-81D9-E19EDEFB2BA5}"/>
              </a:ext>
            </a:extLst>
          </p:cNvPr>
          <p:cNvSpPr>
            <a:spLocks noGrp="1"/>
          </p:cNvSpPr>
          <p:nvPr>
            <p:ph idx="13"/>
          </p:nvPr>
        </p:nvSpPr>
        <p:spPr>
          <a:xfrm>
            <a:off x="8063514" y="3537679"/>
            <a:ext cx="3166740" cy="754602"/>
          </a:xfrm>
        </p:spPr>
        <p:txBody>
          <a:bodyPr/>
          <a:lstStyle/>
          <a:p>
            <a:r>
              <a:rPr lang="en-US" dirty="0"/>
              <a:t>Z-Wave</a:t>
            </a:r>
          </a:p>
        </p:txBody>
      </p:sp>
      <p:sp>
        <p:nvSpPr>
          <p:cNvPr id="7" name="Content Placeholder 6">
            <a:extLst>
              <a:ext uri="{FF2B5EF4-FFF2-40B4-BE49-F238E27FC236}">
                <a16:creationId xmlns:a16="http://schemas.microsoft.com/office/drawing/2014/main" id="{75330018-79E4-41FB-A265-8C0D9891AAA3}"/>
              </a:ext>
            </a:extLst>
          </p:cNvPr>
          <p:cNvSpPr>
            <a:spLocks noGrp="1"/>
          </p:cNvSpPr>
          <p:nvPr>
            <p:ph idx="14"/>
          </p:nvPr>
        </p:nvSpPr>
        <p:spPr>
          <a:xfrm>
            <a:off x="8086902" y="3996182"/>
            <a:ext cx="3166740" cy="1958655"/>
          </a:xfrm>
        </p:spPr>
        <p:txBody>
          <a:bodyPr>
            <a:normAutofit fontScale="92500" lnSpcReduction="20000"/>
          </a:bodyPr>
          <a:lstStyle/>
          <a:p>
            <a:pPr marL="285750" indent="-285750">
              <a:buFontTx/>
              <a:buChar char="-"/>
            </a:pPr>
            <a:r>
              <a:rPr lang="en-US" dirty="0"/>
              <a:t>Introduced 1999</a:t>
            </a:r>
          </a:p>
          <a:p>
            <a:pPr marL="285750" indent="-285750">
              <a:buFontTx/>
              <a:buChar char="-"/>
            </a:pPr>
            <a:r>
              <a:rPr lang="en-US" dirty="0"/>
              <a:t>Mesh network</a:t>
            </a:r>
          </a:p>
          <a:p>
            <a:pPr marL="285750" indent="-285750">
              <a:buFontTx/>
              <a:buChar char="-"/>
            </a:pPr>
            <a:r>
              <a:rPr lang="en-US" dirty="0"/>
              <a:t>Supports 232 devices</a:t>
            </a:r>
          </a:p>
          <a:p>
            <a:pPr marL="285750" indent="-285750">
              <a:buFontTx/>
              <a:buChar char="-"/>
            </a:pPr>
            <a:r>
              <a:rPr lang="en-US" dirty="0"/>
              <a:t>Proprietary (Silicon Labs)</a:t>
            </a:r>
          </a:p>
          <a:p>
            <a:pPr marL="285750" indent="-285750">
              <a:buFontTx/>
              <a:buChar char="-"/>
            </a:pPr>
            <a:r>
              <a:rPr lang="en-US" dirty="0"/>
              <a:t>Residential and commercial</a:t>
            </a:r>
          </a:p>
          <a:p>
            <a:r>
              <a:rPr lang="en-US" dirty="0"/>
              <a:t>      building automation</a:t>
            </a:r>
          </a:p>
        </p:txBody>
      </p:sp>
      <p:sp>
        <p:nvSpPr>
          <p:cNvPr id="13" name="Footer Placeholder 3">
            <a:extLst>
              <a:ext uri="{FF2B5EF4-FFF2-40B4-BE49-F238E27FC236}">
                <a16:creationId xmlns:a16="http://schemas.microsoft.com/office/drawing/2014/main" id="{8365D369-335C-1B42-80D2-229BD756D359}"/>
              </a:ext>
            </a:extLst>
          </p:cNvPr>
          <p:cNvSpPr>
            <a:spLocks noGrp="1"/>
          </p:cNvSpPr>
          <p:nvPr>
            <p:ph type="ftr" sz="quarter" idx="3"/>
          </p:nvPr>
        </p:nvSpPr>
        <p:spPr>
          <a:xfrm>
            <a:off x="2519853" y="6441192"/>
            <a:ext cx="8684173" cy="365125"/>
          </a:xfrm>
        </p:spPr>
        <p:txBody>
          <a:bodyPr/>
          <a:lstStyle/>
          <a:p>
            <a:r>
              <a:rPr lang="en-US"/>
              <a:t>Final Project | Topics in Computer Science II | Fall 2025, University of Iowa</a:t>
            </a:r>
            <a:endParaRPr lang="en-US" dirty="0"/>
          </a:p>
        </p:txBody>
      </p:sp>
      <p:pic>
        <p:nvPicPr>
          <p:cNvPr id="1028" name="Picture 4" descr="An Introduction to Thread | Symmetry Electronics">
            <a:extLst>
              <a:ext uri="{FF2B5EF4-FFF2-40B4-BE49-F238E27FC236}">
                <a16:creationId xmlns:a16="http://schemas.microsoft.com/office/drawing/2014/main" id="{47D1BEAD-F2C6-1D19-6C39-8DEC7A19EC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9325" y="1724010"/>
            <a:ext cx="3064928" cy="153246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Zigbee 101 - Tout ce que vous devez savoir – Sinopé Technologies">
            <a:extLst>
              <a:ext uri="{FF2B5EF4-FFF2-40B4-BE49-F238E27FC236}">
                <a16:creationId xmlns:a16="http://schemas.microsoft.com/office/drawing/2014/main" id="{7EA8E433-2A92-2613-D590-32B4A0F0529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391" t="21490" r="6818" b="27263"/>
          <a:stretch>
            <a:fillRect/>
          </a:stretch>
        </p:blipFill>
        <p:spPr bwMode="auto">
          <a:xfrm>
            <a:off x="4491787" y="1807200"/>
            <a:ext cx="3208426" cy="132403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Z-Wave - Wikipedia">
            <a:extLst>
              <a:ext uri="{FF2B5EF4-FFF2-40B4-BE49-F238E27FC236}">
                <a16:creationId xmlns:a16="http://schemas.microsoft.com/office/drawing/2014/main" id="{48AE2CAF-CE4D-CC3F-B165-4ADAEAE085B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70099" y="1948005"/>
            <a:ext cx="2084909" cy="929521"/>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9981011F-C079-424F-4490-F72D9DC91A90}"/>
              </a:ext>
            </a:extLst>
          </p:cNvPr>
          <p:cNvSpPr txBox="1"/>
          <p:nvPr/>
        </p:nvSpPr>
        <p:spPr>
          <a:xfrm>
            <a:off x="8897530" y="113752"/>
            <a:ext cx="3114955" cy="307777"/>
          </a:xfrm>
          <a:prstGeom prst="rect">
            <a:avLst/>
          </a:prstGeom>
          <a:noFill/>
        </p:spPr>
        <p:txBody>
          <a:bodyPr wrap="none" rtlCol="0">
            <a:spAutoFit/>
          </a:bodyPr>
          <a:lstStyle/>
          <a:p>
            <a:r>
              <a:rPr lang="en-US" sz="1400" dirty="0">
                <a:hlinkClick r:id="rId5" action="ppaction://hlinksldjump"/>
              </a:rPr>
              <a:t>Sources:</a:t>
            </a:r>
            <a:r>
              <a:rPr lang="en-US" sz="1400" dirty="0"/>
              <a:t> [10], [11], [12], [13], [14], [15]</a:t>
            </a:r>
          </a:p>
        </p:txBody>
      </p:sp>
    </p:spTree>
    <p:extLst>
      <p:ext uri="{BB962C8B-B14F-4D97-AF65-F5344CB8AC3E}">
        <p14:creationId xmlns:p14="http://schemas.microsoft.com/office/powerpoint/2010/main" val="38036662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5589BD6-5E46-4036-A049-8F11582D499A}"/>
              </a:ext>
            </a:extLst>
          </p:cNvPr>
          <p:cNvSpPr>
            <a:spLocks noGrp="1"/>
          </p:cNvSpPr>
          <p:nvPr>
            <p:ph type="ctrTitle"/>
          </p:nvPr>
        </p:nvSpPr>
        <p:spPr>
          <a:xfrm>
            <a:off x="952500" y="2805221"/>
            <a:ext cx="10286999" cy="759906"/>
          </a:xfrm>
        </p:spPr>
        <p:txBody>
          <a:bodyPr>
            <a:normAutofit fontScale="90000"/>
          </a:bodyPr>
          <a:lstStyle/>
          <a:p>
            <a:r>
              <a:rPr lang="en-US" dirty="0"/>
              <a:t>Thread</a:t>
            </a:r>
          </a:p>
        </p:txBody>
      </p:sp>
      <p:sp>
        <p:nvSpPr>
          <p:cNvPr id="5" name="Subtitle 4">
            <a:extLst>
              <a:ext uri="{FF2B5EF4-FFF2-40B4-BE49-F238E27FC236}">
                <a16:creationId xmlns:a16="http://schemas.microsoft.com/office/drawing/2014/main" id="{BDE47C94-F342-4CEB-9D1D-CA267093F73F}"/>
              </a:ext>
            </a:extLst>
          </p:cNvPr>
          <p:cNvSpPr>
            <a:spLocks noGrp="1"/>
          </p:cNvSpPr>
          <p:nvPr>
            <p:ph type="subTitle" idx="1"/>
          </p:nvPr>
        </p:nvSpPr>
        <p:spPr>
          <a:xfrm>
            <a:off x="952500" y="3791876"/>
            <a:ext cx="10286999" cy="407460"/>
          </a:xfrm>
        </p:spPr>
        <p:txBody>
          <a:bodyPr/>
          <a:lstStyle/>
          <a:p>
            <a:r>
              <a:rPr lang="en-US" dirty="0"/>
              <a:t>Protocol 1/3</a:t>
            </a:r>
          </a:p>
        </p:txBody>
      </p:sp>
    </p:spTree>
    <p:extLst>
      <p:ext uri="{BB962C8B-B14F-4D97-AF65-F5344CB8AC3E}">
        <p14:creationId xmlns:p14="http://schemas.microsoft.com/office/powerpoint/2010/main" val="23267673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BE32C-28BD-4497-24FD-8A528536EB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4AF4A4-79F4-998E-BF40-647876E4A03C}"/>
              </a:ext>
            </a:extLst>
          </p:cNvPr>
          <p:cNvSpPr>
            <a:spLocks noGrp="1"/>
          </p:cNvSpPr>
          <p:nvPr>
            <p:ph type="title"/>
          </p:nvPr>
        </p:nvSpPr>
        <p:spPr>
          <a:xfrm>
            <a:off x="949325" y="498296"/>
            <a:ext cx="5260975" cy="896116"/>
          </a:xfrm>
        </p:spPr>
        <p:txBody>
          <a:bodyPr/>
          <a:lstStyle/>
          <a:p>
            <a:r>
              <a:rPr lang="en-US" dirty="0"/>
              <a:t>Thread Background</a:t>
            </a:r>
          </a:p>
        </p:txBody>
      </p:sp>
      <p:sp>
        <p:nvSpPr>
          <p:cNvPr id="5" name="Content Placeholder 4">
            <a:extLst>
              <a:ext uri="{FF2B5EF4-FFF2-40B4-BE49-F238E27FC236}">
                <a16:creationId xmlns:a16="http://schemas.microsoft.com/office/drawing/2014/main" id="{8F5AD805-1BAD-57ED-D6B2-D48BFD98AC50}"/>
              </a:ext>
            </a:extLst>
          </p:cNvPr>
          <p:cNvSpPr>
            <a:spLocks noGrp="1"/>
          </p:cNvSpPr>
          <p:nvPr>
            <p:ph idx="1"/>
          </p:nvPr>
        </p:nvSpPr>
        <p:spPr>
          <a:xfrm>
            <a:off x="952499" y="1686757"/>
            <a:ext cx="10655301" cy="4256843"/>
          </a:xfrm>
        </p:spPr>
        <p:txBody>
          <a:bodyPr>
            <a:normAutofit fontScale="92500" lnSpcReduction="20000"/>
          </a:bodyPr>
          <a:lstStyle/>
          <a:p>
            <a:r>
              <a:rPr lang="en-US" b="1" dirty="0"/>
              <a:t>Thread Group: </a:t>
            </a:r>
            <a:r>
              <a:rPr lang="en-US" dirty="0"/>
              <a:t>July 15, 2014 </a:t>
            </a:r>
            <a:r>
              <a:rPr lang="en-US" sz="2000" dirty="0"/>
              <a:t>(Founded by Silicon Labs + six others)</a:t>
            </a:r>
          </a:p>
          <a:p>
            <a:r>
              <a:rPr lang="en-US" b="1" dirty="0" err="1"/>
              <a:t>OpenThread</a:t>
            </a:r>
            <a:r>
              <a:rPr lang="en-US" b="1" dirty="0"/>
              <a:t>: </a:t>
            </a:r>
            <a:r>
              <a:rPr lang="en-US" dirty="0"/>
              <a:t>open source implementation </a:t>
            </a:r>
            <a:r>
              <a:rPr lang="en-US" sz="2000" dirty="0"/>
              <a:t>(Founded by Google)</a:t>
            </a:r>
          </a:p>
          <a:p>
            <a:pPr lvl="1"/>
            <a:r>
              <a:rPr lang="en-US" dirty="0"/>
              <a:t>Protocol used for </a:t>
            </a:r>
            <a:r>
              <a:rPr lang="en-US" dirty="0">
                <a:hlinkClick r:id="rId2"/>
              </a:rPr>
              <a:t>Google Nest</a:t>
            </a:r>
            <a:endParaRPr lang="en-US" dirty="0"/>
          </a:p>
          <a:p>
            <a:pPr lvl="1"/>
            <a:endParaRPr lang="en-US" dirty="0"/>
          </a:p>
          <a:p>
            <a:pPr marL="0" indent="0">
              <a:buNone/>
            </a:pPr>
            <a:r>
              <a:rPr lang="en-US" b="1" dirty="0"/>
              <a:t>Features:</a:t>
            </a:r>
          </a:p>
          <a:p>
            <a:r>
              <a:rPr lang="en-US" dirty="0"/>
              <a:t>IPv6 Over Low Power Wireless Personal Networks (6LoWPAN)</a:t>
            </a:r>
          </a:p>
          <a:p>
            <a:r>
              <a:rPr lang="en-US" dirty="0"/>
              <a:t>Several to 100s of devices, scalable to 10,000s of devices</a:t>
            </a:r>
          </a:p>
          <a:p>
            <a:r>
              <a:rPr lang="en-US" dirty="0"/>
              <a:t>Life Expectancy: years under typical conditions(powered by AA batteries or main power)</a:t>
            </a:r>
          </a:p>
          <a:p>
            <a:r>
              <a:rPr lang="en-US" dirty="0"/>
              <a:t>Network can additionally function using </a:t>
            </a:r>
            <a:r>
              <a:rPr lang="en-US" dirty="0" err="1"/>
              <a:t>WiFi</a:t>
            </a:r>
            <a:r>
              <a:rPr lang="en-US" dirty="0"/>
              <a:t> or Ethernet </a:t>
            </a:r>
          </a:p>
        </p:txBody>
      </p:sp>
      <p:sp>
        <p:nvSpPr>
          <p:cNvPr id="6" name="Footer Placeholder 3">
            <a:extLst>
              <a:ext uri="{FF2B5EF4-FFF2-40B4-BE49-F238E27FC236}">
                <a16:creationId xmlns:a16="http://schemas.microsoft.com/office/drawing/2014/main" id="{1C72807D-928C-5C3E-FB4F-56EE9ADE6444}"/>
              </a:ext>
            </a:extLst>
          </p:cNvPr>
          <p:cNvSpPr>
            <a:spLocks noGrp="1"/>
          </p:cNvSpPr>
          <p:nvPr>
            <p:ph type="ftr" sz="quarter" idx="3"/>
          </p:nvPr>
        </p:nvSpPr>
        <p:spPr>
          <a:xfrm>
            <a:off x="2519853" y="6441192"/>
            <a:ext cx="8684173" cy="365125"/>
          </a:xfrm>
        </p:spPr>
        <p:txBody>
          <a:bodyPr/>
          <a:lstStyle/>
          <a:p>
            <a:r>
              <a:rPr lang="en-US"/>
              <a:t>Final Project | Topics in Computer Science II | Fall 2025, University of Iowa</a:t>
            </a:r>
            <a:endParaRPr lang="en-US" dirty="0"/>
          </a:p>
        </p:txBody>
      </p:sp>
      <p:pic>
        <p:nvPicPr>
          <p:cNvPr id="3" name="Picture 4" descr="An Introduction to Thread | Symmetry Electronics">
            <a:extLst>
              <a:ext uri="{FF2B5EF4-FFF2-40B4-BE49-F238E27FC236}">
                <a16:creationId xmlns:a16="http://schemas.microsoft.com/office/drawing/2014/main" id="{A341B5B5-D6ED-D2EA-4CFC-C6A116AB1A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27072" y="51683"/>
            <a:ext cx="3064928" cy="153246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A09A35E-0B1A-5364-2402-906080627C81}"/>
              </a:ext>
            </a:extLst>
          </p:cNvPr>
          <p:cNvSpPr txBox="1"/>
          <p:nvPr/>
        </p:nvSpPr>
        <p:spPr>
          <a:xfrm>
            <a:off x="9978373" y="96819"/>
            <a:ext cx="1500732" cy="307777"/>
          </a:xfrm>
          <a:prstGeom prst="rect">
            <a:avLst/>
          </a:prstGeom>
          <a:noFill/>
        </p:spPr>
        <p:txBody>
          <a:bodyPr wrap="none" rtlCol="0">
            <a:spAutoFit/>
          </a:bodyPr>
          <a:lstStyle/>
          <a:p>
            <a:r>
              <a:rPr lang="en-US" sz="1400" dirty="0">
                <a:hlinkClick r:id="rId4" action="ppaction://hlinksldjump"/>
              </a:rPr>
              <a:t>Sources:</a:t>
            </a:r>
            <a:r>
              <a:rPr lang="en-US" sz="1400" dirty="0"/>
              <a:t> [12], [1]</a:t>
            </a:r>
          </a:p>
        </p:txBody>
      </p:sp>
    </p:spTree>
    <p:extLst>
      <p:ext uri="{BB962C8B-B14F-4D97-AF65-F5344CB8AC3E}">
        <p14:creationId xmlns:p14="http://schemas.microsoft.com/office/powerpoint/2010/main" val="6283184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F86EC-B837-D17F-8C5F-F2CD9AA84B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D7E9AE-EF25-6BD1-DC8B-C0E9ABB27E7D}"/>
              </a:ext>
            </a:extLst>
          </p:cNvPr>
          <p:cNvSpPr>
            <a:spLocks noGrp="1"/>
          </p:cNvSpPr>
          <p:nvPr>
            <p:ph type="title"/>
          </p:nvPr>
        </p:nvSpPr>
        <p:spPr>
          <a:xfrm>
            <a:off x="949325" y="498296"/>
            <a:ext cx="10254701" cy="896116"/>
          </a:xfrm>
        </p:spPr>
        <p:txBody>
          <a:bodyPr/>
          <a:lstStyle/>
          <a:p>
            <a:r>
              <a:rPr lang="en-US" dirty="0"/>
              <a:t>Thread Device Nomenclature</a:t>
            </a:r>
          </a:p>
        </p:txBody>
      </p:sp>
      <p:sp>
        <p:nvSpPr>
          <p:cNvPr id="5" name="Content Placeholder 4">
            <a:extLst>
              <a:ext uri="{FF2B5EF4-FFF2-40B4-BE49-F238E27FC236}">
                <a16:creationId xmlns:a16="http://schemas.microsoft.com/office/drawing/2014/main" id="{18CA4252-FC2D-84D4-558C-B601C497109F}"/>
              </a:ext>
            </a:extLst>
          </p:cNvPr>
          <p:cNvSpPr>
            <a:spLocks noGrp="1"/>
          </p:cNvSpPr>
          <p:nvPr>
            <p:ph idx="1"/>
          </p:nvPr>
        </p:nvSpPr>
        <p:spPr>
          <a:xfrm>
            <a:off x="952499" y="1686757"/>
            <a:ext cx="10655301" cy="4256843"/>
          </a:xfrm>
        </p:spPr>
        <p:txBody>
          <a:bodyPr>
            <a:normAutofit/>
          </a:bodyPr>
          <a:lstStyle/>
          <a:p>
            <a:pPr marL="514350" indent="-514350">
              <a:buFont typeface="+mj-lt"/>
              <a:buAutoNum type="arabicPeriod"/>
            </a:pPr>
            <a:r>
              <a:rPr lang="en-US" sz="2000" b="1" dirty="0"/>
              <a:t>Border Routers: </a:t>
            </a:r>
            <a:r>
              <a:rPr lang="en-US" sz="2000" dirty="0"/>
              <a:t>connect 802.15.4 to external </a:t>
            </a:r>
            <a:r>
              <a:rPr lang="en-US" sz="2000" dirty="0" err="1"/>
              <a:t>WiFi</a:t>
            </a:r>
            <a:r>
              <a:rPr lang="en-US" sz="2000" dirty="0"/>
              <a:t>/Ethernet  networks</a:t>
            </a:r>
            <a:endParaRPr lang="en-US" sz="2000" b="1" dirty="0"/>
          </a:p>
          <a:p>
            <a:pPr marL="514350" indent="-514350">
              <a:buFont typeface="+mj-lt"/>
              <a:buAutoNum type="arabicPeriod"/>
            </a:pPr>
            <a:r>
              <a:rPr lang="en-US" sz="2000" b="1" dirty="0"/>
              <a:t>Leader: </a:t>
            </a:r>
            <a:r>
              <a:rPr lang="en-US" sz="2000" dirty="0"/>
              <a:t>manages Thread network, assigns  router IDs, and selects routers</a:t>
            </a:r>
            <a:endParaRPr lang="en-US" sz="2000" b="1" dirty="0"/>
          </a:p>
          <a:p>
            <a:pPr marL="514350" indent="-514350">
              <a:buFont typeface="+mj-lt"/>
              <a:buAutoNum type="arabicPeriod"/>
            </a:pPr>
            <a:r>
              <a:rPr lang="en-US" sz="2000" b="1" dirty="0"/>
              <a:t>Thread Routers: </a:t>
            </a:r>
            <a:r>
              <a:rPr lang="en-US" sz="2000" dirty="0"/>
              <a:t>provides routing, joining, and security to network devices; cannot sleep</a:t>
            </a:r>
            <a:endParaRPr lang="en-US" sz="2000" b="1" dirty="0"/>
          </a:p>
          <a:p>
            <a:pPr marL="514350" indent="-514350">
              <a:buFont typeface="+mj-lt"/>
              <a:buAutoNum type="arabicPeriod"/>
            </a:pPr>
            <a:r>
              <a:rPr lang="en-US" sz="2000" b="1" dirty="0"/>
              <a:t>Router-Eligible End Devices (REED): </a:t>
            </a:r>
            <a:r>
              <a:rPr lang="en-US" sz="2000" dirty="0"/>
              <a:t>can become Thread Router or Leader, however they cannot route messages</a:t>
            </a:r>
            <a:endParaRPr lang="en-US" sz="2000" b="1" dirty="0"/>
          </a:p>
          <a:p>
            <a:pPr marL="514350" indent="-514350">
              <a:buFont typeface="+mj-lt"/>
              <a:buAutoNum type="arabicPeriod"/>
            </a:pPr>
            <a:r>
              <a:rPr lang="en-US" sz="2000" b="1" dirty="0"/>
              <a:t>End Devices: </a:t>
            </a:r>
            <a:r>
              <a:rPr lang="en-US" sz="2000" dirty="0"/>
              <a:t>not router-eligible; can be full end or minimal end devices</a:t>
            </a:r>
            <a:endParaRPr lang="en-US" sz="2000" b="1" dirty="0"/>
          </a:p>
          <a:p>
            <a:pPr marL="514350" indent="-514350">
              <a:buFont typeface="+mj-lt"/>
              <a:buAutoNum type="arabicPeriod"/>
            </a:pPr>
            <a:r>
              <a:rPr lang="en-US" sz="2000" b="1" dirty="0"/>
              <a:t>Sleepy End Devices: </a:t>
            </a:r>
            <a:r>
              <a:rPr lang="en-US" sz="2000" dirty="0"/>
              <a:t>can communicate only through their Thread Router parent; cannot relay messages to other devices</a:t>
            </a:r>
            <a:endParaRPr lang="en-US" sz="2000" b="1" dirty="0"/>
          </a:p>
          <a:p>
            <a:pPr marL="514350" indent="-514350">
              <a:buFont typeface="+mj-lt"/>
              <a:buAutoNum type="arabicPeriod"/>
            </a:pPr>
            <a:r>
              <a:rPr lang="en-US" sz="2000" b="1" dirty="0"/>
              <a:t>Synchronized Sleep End Devices: </a:t>
            </a:r>
            <a:r>
              <a:rPr lang="en-US" sz="2000" dirty="0"/>
              <a:t>Sleepy End Devices that use </a:t>
            </a:r>
            <a:r>
              <a:rPr lang="en-US" sz="2000" i="1" dirty="0"/>
              <a:t>CSL</a:t>
            </a:r>
            <a:r>
              <a:rPr lang="en-US" sz="2000" dirty="0"/>
              <a:t> for synchronized, low-power communication</a:t>
            </a:r>
            <a:endParaRPr lang="en-US" sz="2000" b="1" dirty="0"/>
          </a:p>
        </p:txBody>
      </p:sp>
      <p:sp>
        <p:nvSpPr>
          <p:cNvPr id="6" name="Footer Placeholder 3">
            <a:extLst>
              <a:ext uri="{FF2B5EF4-FFF2-40B4-BE49-F238E27FC236}">
                <a16:creationId xmlns:a16="http://schemas.microsoft.com/office/drawing/2014/main" id="{DCDA0CFB-4531-28C7-1393-95D904A69059}"/>
              </a:ext>
            </a:extLst>
          </p:cNvPr>
          <p:cNvSpPr>
            <a:spLocks noGrp="1"/>
          </p:cNvSpPr>
          <p:nvPr>
            <p:ph type="ftr" sz="quarter" idx="3"/>
          </p:nvPr>
        </p:nvSpPr>
        <p:spPr>
          <a:xfrm>
            <a:off x="2519853" y="6441192"/>
            <a:ext cx="8684173" cy="365125"/>
          </a:xfrm>
        </p:spPr>
        <p:txBody>
          <a:bodyPr/>
          <a:lstStyle/>
          <a:p>
            <a:r>
              <a:rPr lang="en-US"/>
              <a:t>Final Project | Topics in Computer Science II | Fall 2025, University of Iowa</a:t>
            </a:r>
            <a:endParaRPr lang="en-US" dirty="0"/>
          </a:p>
        </p:txBody>
      </p:sp>
      <p:sp>
        <p:nvSpPr>
          <p:cNvPr id="3" name="TextBox 2">
            <a:extLst>
              <a:ext uri="{FF2B5EF4-FFF2-40B4-BE49-F238E27FC236}">
                <a16:creationId xmlns:a16="http://schemas.microsoft.com/office/drawing/2014/main" id="{97FAD33F-9B5A-55DE-7412-240D7D3BDA7C}"/>
              </a:ext>
            </a:extLst>
          </p:cNvPr>
          <p:cNvSpPr txBox="1"/>
          <p:nvPr/>
        </p:nvSpPr>
        <p:spPr>
          <a:xfrm>
            <a:off x="9978373" y="96819"/>
            <a:ext cx="1122423" cy="307777"/>
          </a:xfrm>
          <a:prstGeom prst="rect">
            <a:avLst/>
          </a:prstGeom>
          <a:noFill/>
        </p:spPr>
        <p:txBody>
          <a:bodyPr wrap="none" rtlCol="0">
            <a:spAutoFit/>
          </a:bodyPr>
          <a:lstStyle/>
          <a:p>
            <a:r>
              <a:rPr lang="en-US" sz="1400" dirty="0">
                <a:hlinkClick r:id="rId2" action="ppaction://hlinksldjump"/>
              </a:rPr>
              <a:t>Sources:</a:t>
            </a:r>
            <a:r>
              <a:rPr lang="en-US" sz="1400" dirty="0"/>
              <a:t> [1]</a:t>
            </a:r>
          </a:p>
        </p:txBody>
      </p:sp>
    </p:spTree>
    <p:extLst>
      <p:ext uri="{BB962C8B-B14F-4D97-AF65-F5344CB8AC3E}">
        <p14:creationId xmlns:p14="http://schemas.microsoft.com/office/powerpoint/2010/main" val="27398174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BEFA4-ACFE-9F99-2938-EFC7515E62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E5994C-3465-C2A2-6BA5-84F8F48DD5D0}"/>
              </a:ext>
            </a:extLst>
          </p:cNvPr>
          <p:cNvSpPr>
            <a:spLocks noGrp="1"/>
          </p:cNvSpPr>
          <p:nvPr>
            <p:ph type="title"/>
          </p:nvPr>
        </p:nvSpPr>
        <p:spPr>
          <a:xfrm>
            <a:off x="949325" y="498296"/>
            <a:ext cx="7559675" cy="896116"/>
          </a:xfrm>
        </p:spPr>
        <p:txBody>
          <a:bodyPr>
            <a:normAutofit/>
          </a:bodyPr>
          <a:lstStyle/>
          <a:p>
            <a:r>
              <a:rPr lang="en-US" dirty="0"/>
              <a:t>Thread Architecture – Diagram </a:t>
            </a:r>
          </a:p>
        </p:txBody>
      </p:sp>
      <p:sp>
        <p:nvSpPr>
          <p:cNvPr id="6" name="Footer Placeholder 3">
            <a:extLst>
              <a:ext uri="{FF2B5EF4-FFF2-40B4-BE49-F238E27FC236}">
                <a16:creationId xmlns:a16="http://schemas.microsoft.com/office/drawing/2014/main" id="{A8625A81-B038-646B-A431-BA6168A2D769}"/>
              </a:ext>
            </a:extLst>
          </p:cNvPr>
          <p:cNvSpPr>
            <a:spLocks noGrp="1"/>
          </p:cNvSpPr>
          <p:nvPr>
            <p:ph type="ftr" sz="quarter" idx="3"/>
          </p:nvPr>
        </p:nvSpPr>
        <p:spPr>
          <a:xfrm>
            <a:off x="2519853" y="6441192"/>
            <a:ext cx="8684173" cy="365125"/>
          </a:xfrm>
        </p:spPr>
        <p:txBody>
          <a:bodyPr/>
          <a:lstStyle/>
          <a:p>
            <a:r>
              <a:rPr lang="en-US"/>
              <a:t>Final Project | Topics in Computer Science II | Fall 2025, University of Iowa</a:t>
            </a:r>
            <a:endParaRPr lang="en-US" dirty="0"/>
          </a:p>
        </p:txBody>
      </p:sp>
      <p:pic>
        <p:nvPicPr>
          <p:cNvPr id="3" name="Picture 2">
            <a:extLst>
              <a:ext uri="{FF2B5EF4-FFF2-40B4-BE49-F238E27FC236}">
                <a16:creationId xmlns:a16="http://schemas.microsoft.com/office/drawing/2014/main" id="{97A04B49-C254-A126-7AF8-B4E27CED988A}"/>
              </a:ext>
            </a:extLst>
          </p:cNvPr>
          <p:cNvPicPr>
            <a:picLocks noChangeAspect="1"/>
          </p:cNvPicPr>
          <p:nvPr/>
        </p:nvPicPr>
        <p:blipFill>
          <a:blip r:embed="rId2"/>
          <a:srcRect b="6923"/>
          <a:stretch>
            <a:fillRect/>
          </a:stretch>
        </p:blipFill>
        <p:spPr>
          <a:xfrm>
            <a:off x="3171264" y="1394412"/>
            <a:ext cx="5849471" cy="4610100"/>
          </a:xfrm>
          <a:prstGeom prst="rect">
            <a:avLst/>
          </a:prstGeom>
        </p:spPr>
      </p:pic>
      <p:sp>
        <p:nvSpPr>
          <p:cNvPr id="4" name="TextBox 3">
            <a:extLst>
              <a:ext uri="{FF2B5EF4-FFF2-40B4-BE49-F238E27FC236}">
                <a16:creationId xmlns:a16="http://schemas.microsoft.com/office/drawing/2014/main" id="{B22D56CE-EC66-4485-9A75-FECAFAC53898}"/>
              </a:ext>
            </a:extLst>
          </p:cNvPr>
          <p:cNvSpPr txBox="1"/>
          <p:nvPr/>
        </p:nvSpPr>
        <p:spPr>
          <a:xfrm>
            <a:off x="9978373" y="96819"/>
            <a:ext cx="1122423" cy="307777"/>
          </a:xfrm>
          <a:prstGeom prst="rect">
            <a:avLst/>
          </a:prstGeom>
          <a:noFill/>
        </p:spPr>
        <p:txBody>
          <a:bodyPr wrap="none" rtlCol="0">
            <a:spAutoFit/>
          </a:bodyPr>
          <a:lstStyle/>
          <a:p>
            <a:r>
              <a:rPr lang="en-US" sz="1400" dirty="0">
                <a:hlinkClick r:id="rId3" action="ppaction://hlinksldjump"/>
              </a:rPr>
              <a:t>Sources:</a:t>
            </a:r>
            <a:r>
              <a:rPr lang="en-US" sz="1400" dirty="0"/>
              <a:t> [1]</a:t>
            </a:r>
          </a:p>
        </p:txBody>
      </p:sp>
    </p:spTree>
    <p:extLst>
      <p:ext uri="{BB962C8B-B14F-4D97-AF65-F5344CB8AC3E}">
        <p14:creationId xmlns:p14="http://schemas.microsoft.com/office/powerpoint/2010/main" val="10611493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4C118-291A-CAA1-106D-979EAC8FD1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A4E63F-0768-BD7C-764A-F94694E6962C}"/>
              </a:ext>
            </a:extLst>
          </p:cNvPr>
          <p:cNvSpPr>
            <a:spLocks noGrp="1"/>
          </p:cNvSpPr>
          <p:nvPr>
            <p:ph type="title"/>
          </p:nvPr>
        </p:nvSpPr>
        <p:spPr>
          <a:xfrm>
            <a:off x="949325" y="498296"/>
            <a:ext cx="7699375" cy="896116"/>
          </a:xfrm>
        </p:spPr>
        <p:txBody>
          <a:bodyPr>
            <a:normAutofit/>
          </a:bodyPr>
          <a:lstStyle/>
          <a:p>
            <a:r>
              <a:rPr lang="en-US" dirty="0"/>
              <a:t>Thread Architecture – High Level</a:t>
            </a:r>
          </a:p>
        </p:txBody>
      </p:sp>
      <p:sp>
        <p:nvSpPr>
          <p:cNvPr id="5" name="Content Placeholder 4">
            <a:extLst>
              <a:ext uri="{FF2B5EF4-FFF2-40B4-BE49-F238E27FC236}">
                <a16:creationId xmlns:a16="http://schemas.microsoft.com/office/drawing/2014/main" id="{16D5BF65-93E8-182F-07A5-C30E017AEA92}"/>
              </a:ext>
            </a:extLst>
          </p:cNvPr>
          <p:cNvSpPr>
            <a:spLocks noGrp="1"/>
          </p:cNvSpPr>
          <p:nvPr>
            <p:ph idx="1"/>
          </p:nvPr>
        </p:nvSpPr>
        <p:spPr>
          <a:xfrm>
            <a:off x="952499" y="3276600"/>
            <a:ext cx="11036300" cy="2791004"/>
          </a:xfrm>
        </p:spPr>
        <p:txBody>
          <a:bodyPr>
            <a:normAutofit lnSpcReduction="10000"/>
          </a:bodyPr>
          <a:lstStyle/>
          <a:p>
            <a:pPr marL="0" indent="0">
              <a:buNone/>
            </a:pPr>
            <a:r>
              <a:rPr lang="en-US" sz="2000" b="1" dirty="0"/>
              <a:t>Thread’s Optimizations:</a:t>
            </a:r>
          </a:p>
          <a:p>
            <a:r>
              <a:rPr lang="en-US" sz="2000" i="1" dirty="0"/>
              <a:t>Enhanced Frame Pending </a:t>
            </a:r>
            <a:r>
              <a:rPr lang="en-US" sz="2000" dirty="0"/>
              <a:t>– Acknowledges data with ‘pending’ status to save sleepy device battery </a:t>
            </a:r>
          </a:p>
          <a:p>
            <a:r>
              <a:rPr lang="en-US" sz="2000" i="1" dirty="0"/>
              <a:t>Enhanced Keepalive </a:t>
            </a:r>
            <a:r>
              <a:rPr lang="en-US" sz="2000" dirty="0"/>
              <a:t>– Data messages function as ‘keepalives’ reducing link maintenance traffic </a:t>
            </a:r>
          </a:p>
          <a:p>
            <a:r>
              <a:rPr lang="en-US" sz="2000" i="1" dirty="0"/>
              <a:t>Coordinated Sampled Listening (CSL) </a:t>
            </a:r>
            <a:r>
              <a:rPr lang="en-US" sz="2000" dirty="0"/>
              <a:t>– Synchronized transmit/receive </a:t>
            </a:r>
            <a:r>
              <a:rPr lang="en-US" sz="2000" dirty="0" err="1"/>
              <a:t>perieds</a:t>
            </a:r>
            <a:r>
              <a:rPr lang="en-US" sz="2000" dirty="0"/>
              <a:t> for improved synchronicity and reduced power</a:t>
            </a:r>
          </a:p>
          <a:p>
            <a:r>
              <a:rPr lang="en-US" sz="2000" i="1" dirty="0"/>
              <a:t>Enhanced ACK Probing </a:t>
            </a:r>
            <a:r>
              <a:rPr lang="en-US" sz="2000" dirty="0"/>
              <a:t>–Reuses data for link metrics to provide granular control and to save energy</a:t>
            </a:r>
          </a:p>
        </p:txBody>
      </p:sp>
      <p:sp>
        <p:nvSpPr>
          <p:cNvPr id="6" name="Footer Placeholder 3">
            <a:extLst>
              <a:ext uri="{FF2B5EF4-FFF2-40B4-BE49-F238E27FC236}">
                <a16:creationId xmlns:a16="http://schemas.microsoft.com/office/drawing/2014/main" id="{727AC5B1-8DE5-75E5-EF44-46D2DBAE083E}"/>
              </a:ext>
            </a:extLst>
          </p:cNvPr>
          <p:cNvSpPr>
            <a:spLocks noGrp="1"/>
          </p:cNvSpPr>
          <p:nvPr>
            <p:ph type="ftr" sz="quarter" idx="3"/>
          </p:nvPr>
        </p:nvSpPr>
        <p:spPr>
          <a:xfrm>
            <a:off x="2519853" y="6441192"/>
            <a:ext cx="8684173" cy="365125"/>
          </a:xfrm>
        </p:spPr>
        <p:txBody>
          <a:bodyPr/>
          <a:lstStyle/>
          <a:p>
            <a:r>
              <a:rPr lang="en-US"/>
              <a:t>Final Project | Topics in Computer Science II | Fall 2025, University of Iowa</a:t>
            </a:r>
            <a:endParaRPr lang="en-US" dirty="0"/>
          </a:p>
        </p:txBody>
      </p:sp>
      <p:sp>
        <p:nvSpPr>
          <p:cNvPr id="4" name="Content Placeholder 4">
            <a:extLst>
              <a:ext uri="{FF2B5EF4-FFF2-40B4-BE49-F238E27FC236}">
                <a16:creationId xmlns:a16="http://schemas.microsoft.com/office/drawing/2014/main" id="{73AE6EFE-B5B2-4288-C7F8-EFC92B26284F}"/>
              </a:ext>
            </a:extLst>
          </p:cNvPr>
          <p:cNvSpPr txBox="1">
            <a:spLocks/>
          </p:cNvSpPr>
          <p:nvPr/>
        </p:nvSpPr>
        <p:spPr>
          <a:xfrm>
            <a:off x="987975" y="1676400"/>
            <a:ext cx="5260976" cy="2170406"/>
          </a:xfrm>
          <a:prstGeom prst="rect">
            <a:avLst/>
          </a:prstGeom>
        </p:spPr>
        <p:txBody>
          <a:bodyPr vert="horz" lIns="0" tIns="0" rIns="0" bIns="0" rtlCol="0">
            <a:normAutofit/>
          </a:bodyPr>
          <a:lstStyle>
            <a:lvl1pPr marL="228600" indent="-228600" algn="l" defTabSz="914400" rtl="0" eaLnBrk="1" latinLnBrk="0" hangingPunct="1">
              <a:lnSpc>
                <a:spcPct val="100000"/>
              </a:lnSpc>
              <a:spcBef>
                <a:spcPts val="1000"/>
              </a:spcBef>
              <a:buClr>
                <a:schemeClr val="tx2"/>
              </a:buClr>
              <a:buSzPct val="95000"/>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Arial" panose="020B0604020202020204" pitchFamily="34" charset="0"/>
              </a:defRPr>
            </a:lvl1pPr>
            <a:lvl2pPr marL="685800" indent="-228600" algn="l" defTabSz="914400" rtl="0" eaLnBrk="1" latinLnBrk="0" hangingPunct="1">
              <a:lnSpc>
                <a:spcPct val="100000"/>
              </a:lnSpc>
              <a:spcBef>
                <a:spcPts val="500"/>
              </a:spcBef>
              <a:buClr>
                <a:schemeClr val="tx2"/>
              </a:buClr>
              <a:buSzPct val="100000"/>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Arial" panose="020B0604020202020204" pitchFamily="34" charset="0"/>
              </a:defRPr>
            </a:lvl2pPr>
            <a:lvl3pPr marL="1143000" indent="-228600" algn="l" defTabSz="914400" rtl="0" eaLnBrk="1" latinLnBrk="0" hangingPunct="1">
              <a:lnSpc>
                <a:spcPct val="100000"/>
              </a:lnSpc>
              <a:spcBef>
                <a:spcPts val="500"/>
              </a:spcBef>
              <a:buClr>
                <a:schemeClr val="tx2"/>
              </a:buClr>
              <a:buSzPct val="100000"/>
              <a:buFont typeface="Roboto" panose="02000000000000000000" pitchFamily="2" charset="0"/>
              <a:buChar char="•"/>
              <a:defRPr sz="2000" kern="1200">
                <a:solidFill>
                  <a:schemeClr val="tx1"/>
                </a:solidFill>
                <a:latin typeface="Roboto" panose="02000000000000000000" pitchFamily="2" charset="0"/>
                <a:ea typeface="Roboto" panose="02000000000000000000" pitchFamily="2" charset="0"/>
                <a:cs typeface="Arial" panose="020B0604020202020204" pitchFamily="34" charset="0"/>
              </a:defRPr>
            </a:lvl3pPr>
            <a:lvl4pPr marL="1600200" indent="-228600" algn="l" defTabSz="914400" rtl="0" eaLnBrk="1" latinLnBrk="0" hangingPunct="1">
              <a:lnSpc>
                <a:spcPct val="100000"/>
              </a:lnSpc>
              <a:spcBef>
                <a:spcPts val="500"/>
              </a:spcBef>
              <a:buClr>
                <a:schemeClr val="tx2"/>
              </a:buClr>
              <a:buSzPct val="100000"/>
              <a:buFont typeface="Roboto" panose="02000000000000000000" pitchFamily="2"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4pPr>
            <a:lvl5pPr marL="2057400" indent="-228600" algn="l" defTabSz="914400" rtl="0" eaLnBrk="1" latinLnBrk="0" hangingPunct="1">
              <a:lnSpc>
                <a:spcPct val="100000"/>
              </a:lnSpc>
              <a:spcBef>
                <a:spcPts val="500"/>
              </a:spcBef>
              <a:buClr>
                <a:schemeClr val="tx2"/>
              </a:buClr>
              <a:buSzPct val="100000"/>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t>IEEE 802.15.4 PHYS:</a:t>
            </a:r>
          </a:p>
          <a:p>
            <a:r>
              <a:rPr lang="en-US" sz="2000" dirty="0"/>
              <a:t>2.4 GHz</a:t>
            </a:r>
          </a:p>
          <a:p>
            <a:r>
              <a:rPr lang="en-US" sz="2000" dirty="0"/>
              <a:t>250 kbps</a:t>
            </a:r>
          </a:p>
        </p:txBody>
      </p:sp>
      <p:sp>
        <p:nvSpPr>
          <p:cNvPr id="7" name="Content Placeholder 4">
            <a:extLst>
              <a:ext uri="{FF2B5EF4-FFF2-40B4-BE49-F238E27FC236}">
                <a16:creationId xmlns:a16="http://schemas.microsoft.com/office/drawing/2014/main" id="{56BAAF56-A4E9-BB69-CAD3-A4A89EE00AAC}"/>
              </a:ext>
            </a:extLst>
          </p:cNvPr>
          <p:cNvSpPr txBox="1">
            <a:spLocks/>
          </p:cNvSpPr>
          <p:nvPr/>
        </p:nvSpPr>
        <p:spPr>
          <a:xfrm>
            <a:off x="6248950" y="1676400"/>
            <a:ext cx="5739849" cy="2170406"/>
          </a:xfrm>
          <a:prstGeom prst="rect">
            <a:avLst/>
          </a:prstGeom>
        </p:spPr>
        <p:txBody>
          <a:bodyPr vert="horz" lIns="0" tIns="0" rIns="0" bIns="0" rtlCol="0">
            <a:normAutofit/>
          </a:bodyPr>
          <a:lstStyle>
            <a:lvl1pPr marL="228600" indent="-228600" algn="l" defTabSz="914400" rtl="0" eaLnBrk="1" latinLnBrk="0" hangingPunct="1">
              <a:lnSpc>
                <a:spcPct val="100000"/>
              </a:lnSpc>
              <a:spcBef>
                <a:spcPts val="1000"/>
              </a:spcBef>
              <a:buClr>
                <a:schemeClr val="tx2"/>
              </a:buClr>
              <a:buSzPct val="95000"/>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Arial" panose="020B0604020202020204" pitchFamily="34" charset="0"/>
              </a:defRPr>
            </a:lvl1pPr>
            <a:lvl2pPr marL="685800" indent="-228600" algn="l" defTabSz="914400" rtl="0" eaLnBrk="1" latinLnBrk="0" hangingPunct="1">
              <a:lnSpc>
                <a:spcPct val="100000"/>
              </a:lnSpc>
              <a:spcBef>
                <a:spcPts val="500"/>
              </a:spcBef>
              <a:buClr>
                <a:schemeClr val="tx2"/>
              </a:buClr>
              <a:buSzPct val="100000"/>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Arial" panose="020B0604020202020204" pitchFamily="34" charset="0"/>
              </a:defRPr>
            </a:lvl2pPr>
            <a:lvl3pPr marL="1143000" indent="-228600" algn="l" defTabSz="914400" rtl="0" eaLnBrk="1" latinLnBrk="0" hangingPunct="1">
              <a:lnSpc>
                <a:spcPct val="100000"/>
              </a:lnSpc>
              <a:spcBef>
                <a:spcPts val="500"/>
              </a:spcBef>
              <a:buClr>
                <a:schemeClr val="tx2"/>
              </a:buClr>
              <a:buSzPct val="100000"/>
              <a:buFont typeface="Roboto" panose="02000000000000000000" pitchFamily="2" charset="0"/>
              <a:buChar char="•"/>
              <a:defRPr sz="2000" kern="1200">
                <a:solidFill>
                  <a:schemeClr val="tx1"/>
                </a:solidFill>
                <a:latin typeface="Roboto" panose="02000000000000000000" pitchFamily="2" charset="0"/>
                <a:ea typeface="Roboto" panose="02000000000000000000" pitchFamily="2" charset="0"/>
                <a:cs typeface="Arial" panose="020B0604020202020204" pitchFamily="34" charset="0"/>
              </a:defRPr>
            </a:lvl3pPr>
            <a:lvl4pPr marL="1600200" indent="-228600" algn="l" defTabSz="914400" rtl="0" eaLnBrk="1" latinLnBrk="0" hangingPunct="1">
              <a:lnSpc>
                <a:spcPct val="100000"/>
              </a:lnSpc>
              <a:spcBef>
                <a:spcPts val="500"/>
              </a:spcBef>
              <a:buClr>
                <a:schemeClr val="tx2"/>
              </a:buClr>
              <a:buSzPct val="100000"/>
              <a:buFont typeface="Roboto" panose="02000000000000000000" pitchFamily="2"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4pPr>
            <a:lvl5pPr marL="2057400" indent="-228600" algn="l" defTabSz="914400" rtl="0" eaLnBrk="1" latinLnBrk="0" hangingPunct="1">
              <a:lnSpc>
                <a:spcPct val="100000"/>
              </a:lnSpc>
              <a:spcBef>
                <a:spcPts val="500"/>
              </a:spcBef>
              <a:buClr>
                <a:schemeClr val="tx2"/>
              </a:buClr>
              <a:buSzPct val="100000"/>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t>IEEE 802.15.4 MAC:</a:t>
            </a:r>
          </a:p>
          <a:p>
            <a:r>
              <a:rPr lang="en-US" sz="2000" dirty="0"/>
              <a:t>Carrier Sense Multiple Access (CSMA)</a:t>
            </a:r>
          </a:p>
          <a:p>
            <a:r>
              <a:rPr lang="en-US" sz="2000" dirty="0"/>
              <a:t>MAC layer encryption enabled by higher layers</a:t>
            </a:r>
          </a:p>
        </p:txBody>
      </p:sp>
      <p:sp>
        <p:nvSpPr>
          <p:cNvPr id="3" name="TextBox 2">
            <a:extLst>
              <a:ext uri="{FF2B5EF4-FFF2-40B4-BE49-F238E27FC236}">
                <a16:creationId xmlns:a16="http://schemas.microsoft.com/office/drawing/2014/main" id="{5A089766-BA59-8511-996C-1E9C9B0C5964}"/>
              </a:ext>
            </a:extLst>
          </p:cNvPr>
          <p:cNvSpPr txBox="1"/>
          <p:nvPr/>
        </p:nvSpPr>
        <p:spPr>
          <a:xfrm>
            <a:off x="9978373" y="96819"/>
            <a:ext cx="1500732" cy="307777"/>
          </a:xfrm>
          <a:prstGeom prst="rect">
            <a:avLst/>
          </a:prstGeom>
          <a:noFill/>
        </p:spPr>
        <p:txBody>
          <a:bodyPr wrap="none" rtlCol="0">
            <a:spAutoFit/>
          </a:bodyPr>
          <a:lstStyle/>
          <a:p>
            <a:r>
              <a:rPr lang="en-US" sz="1400" dirty="0">
                <a:hlinkClick r:id="rId2" action="ppaction://hlinksldjump"/>
              </a:rPr>
              <a:t>Sources:</a:t>
            </a:r>
            <a:r>
              <a:rPr lang="en-US" sz="1400" dirty="0"/>
              <a:t> [1], [12]</a:t>
            </a:r>
          </a:p>
        </p:txBody>
      </p:sp>
    </p:spTree>
    <p:extLst>
      <p:ext uri="{BB962C8B-B14F-4D97-AF65-F5344CB8AC3E}">
        <p14:creationId xmlns:p14="http://schemas.microsoft.com/office/powerpoint/2010/main" val="1376660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FB8C4-F72C-7AED-46A7-96DC5A25DB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8AF882-111C-2BB2-436C-90A4699B3115}"/>
              </a:ext>
            </a:extLst>
          </p:cNvPr>
          <p:cNvSpPr>
            <a:spLocks noGrp="1"/>
          </p:cNvSpPr>
          <p:nvPr>
            <p:ph type="title"/>
          </p:nvPr>
        </p:nvSpPr>
        <p:spPr>
          <a:xfrm>
            <a:off x="949325" y="498296"/>
            <a:ext cx="10810875" cy="896116"/>
          </a:xfrm>
        </p:spPr>
        <p:txBody>
          <a:bodyPr>
            <a:normAutofit fontScale="90000"/>
          </a:bodyPr>
          <a:lstStyle/>
          <a:p>
            <a:r>
              <a:rPr lang="en-US" dirty="0"/>
              <a:t>Thread Architecture – What Makes Thread Unique?</a:t>
            </a:r>
          </a:p>
        </p:txBody>
      </p:sp>
      <p:sp>
        <p:nvSpPr>
          <p:cNvPr id="5" name="Content Placeholder 4">
            <a:extLst>
              <a:ext uri="{FF2B5EF4-FFF2-40B4-BE49-F238E27FC236}">
                <a16:creationId xmlns:a16="http://schemas.microsoft.com/office/drawing/2014/main" id="{37B86BB4-1741-C5F2-3FEC-A1C28137BAB9}"/>
              </a:ext>
            </a:extLst>
          </p:cNvPr>
          <p:cNvSpPr>
            <a:spLocks noGrp="1"/>
          </p:cNvSpPr>
          <p:nvPr>
            <p:ph idx="1"/>
          </p:nvPr>
        </p:nvSpPr>
        <p:spPr>
          <a:xfrm>
            <a:off x="952499" y="1686757"/>
            <a:ext cx="10655301" cy="4256843"/>
          </a:xfrm>
        </p:spPr>
        <p:txBody>
          <a:bodyPr>
            <a:normAutofit/>
          </a:bodyPr>
          <a:lstStyle/>
          <a:p>
            <a:pPr marL="0" indent="0">
              <a:buNone/>
            </a:pPr>
            <a:r>
              <a:rPr lang="en-US" b="1" dirty="0">
                <a:solidFill>
                  <a:srgbClr val="00B050"/>
                </a:solidFill>
              </a:rPr>
              <a:t>Thread is unique in that it provides IPv6 addressing!</a:t>
            </a:r>
          </a:p>
          <a:p>
            <a:pPr marL="0" indent="0">
              <a:buNone/>
            </a:pPr>
            <a:r>
              <a:rPr lang="en-US" sz="2000" b="1" dirty="0"/>
              <a:t>Native IPv6 Support: </a:t>
            </a:r>
          </a:p>
          <a:p>
            <a:r>
              <a:rPr lang="en-US" sz="2000" dirty="0"/>
              <a:t>End-to-end IPv6 addressing with no application layer translation</a:t>
            </a:r>
          </a:p>
          <a:p>
            <a:r>
              <a:rPr lang="en-US" sz="2000" dirty="0"/>
              <a:t>Devices can communicate directly via IP</a:t>
            </a:r>
          </a:p>
          <a:p>
            <a:r>
              <a:rPr lang="en-US" sz="2000" dirty="0">
                <a:sym typeface="Wingdings" pitchFamily="2" charset="2"/>
              </a:rPr>
              <a:t>Interoperability with IP-based ecosystems like </a:t>
            </a:r>
            <a:r>
              <a:rPr lang="en-US" sz="2000" dirty="0" err="1">
                <a:sym typeface="Wingdings" pitchFamily="2" charset="2"/>
              </a:rPr>
              <a:t>WiFi</a:t>
            </a:r>
            <a:r>
              <a:rPr lang="en-US" sz="2000" dirty="0">
                <a:sym typeface="Wingdings" pitchFamily="2" charset="2"/>
              </a:rPr>
              <a:t> and Ethernet</a:t>
            </a:r>
          </a:p>
          <a:p>
            <a:pPr marL="0" indent="0">
              <a:buNone/>
            </a:pPr>
            <a:r>
              <a:rPr lang="en-US" sz="2000" b="1" dirty="0"/>
              <a:t>6LoWPAN  Link Layer Forwarding: </a:t>
            </a:r>
          </a:p>
          <a:p>
            <a:r>
              <a:rPr lang="en-US" sz="2000" dirty="0"/>
              <a:t>Header compression and fragmentation optimized for </a:t>
            </a:r>
            <a:r>
              <a:rPr lang="en-US" sz="2000" dirty="0" err="1"/>
              <a:t>lowpower</a:t>
            </a:r>
            <a:r>
              <a:rPr lang="en-US" sz="2000" dirty="0"/>
              <a:t>/constrained devices</a:t>
            </a:r>
          </a:p>
          <a:p>
            <a:r>
              <a:rPr lang="en-US" sz="2000" dirty="0"/>
              <a:t>Efficient multi-hop forwarding </a:t>
            </a:r>
          </a:p>
        </p:txBody>
      </p:sp>
      <p:sp>
        <p:nvSpPr>
          <p:cNvPr id="6" name="Footer Placeholder 3">
            <a:extLst>
              <a:ext uri="{FF2B5EF4-FFF2-40B4-BE49-F238E27FC236}">
                <a16:creationId xmlns:a16="http://schemas.microsoft.com/office/drawing/2014/main" id="{C92C4C9D-3ABE-3443-5C83-4940FA07AF13}"/>
              </a:ext>
            </a:extLst>
          </p:cNvPr>
          <p:cNvSpPr>
            <a:spLocks noGrp="1"/>
          </p:cNvSpPr>
          <p:nvPr>
            <p:ph type="ftr" sz="quarter" idx="3"/>
          </p:nvPr>
        </p:nvSpPr>
        <p:spPr>
          <a:xfrm>
            <a:off x="2519853" y="6441192"/>
            <a:ext cx="8684173" cy="365125"/>
          </a:xfrm>
        </p:spPr>
        <p:txBody>
          <a:bodyPr/>
          <a:lstStyle/>
          <a:p>
            <a:r>
              <a:rPr lang="en-US"/>
              <a:t>Final Project | Topics in Computer Science II | Fall 2025, University of Iowa</a:t>
            </a:r>
            <a:endParaRPr lang="en-US" dirty="0"/>
          </a:p>
        </p:txBody>
      </p:sp>
      <p:pic>
        <p:nvPicPr>
          <p:cNvPr id="3" name="Picture 2">
            <a:extLst>
              <a:ext uri="{FF2B5EF4-FFF2-40B4-BE49-F238E27FC236}">
                <a16:creationId xmlns:a16="http://schemas.microsoft.com/office/drawing/2014/main" id="{19F2B4EE-4AFC-64C1-D388-9D6BD0A39FD8}"/>
              </a:ext>
            </a:extLst>
          </p:cNvPr>
          <p:cNvPicPr>
            <a:picLocks noChangeAspect="1"/>
          </p:cNvPicPr>
          <p:nvPr/>
        </p:nvPicPr>
        <p:blipFill>
          <a:blip r:embed="rId2"/>
          <a:stretch>
            <a:fillRect/>
          </a:stretch>
        </p:blipFill>
        <p:spPr>
          <a:xfrm>
            <a:off x="6861939" y="5125596"/>
            <a:ext cx="4737100" cy="1066800"/>
          </a:xfrm>
          <a:prstGeom prst="rect">
            <a:avLst/>
          </a:prstGeom>
        </p:spPr>
      </p:pic>
      <p:sp>
        <p:nvSpPr>
          <p:cNvPr id="4" name="TextBox 3">
            <a:extLst>
              <a:ext uri="{FF2B5EF4-FFF2-40B4-BE49-F238E27FC236}">
                <a16:creationId xmlns:a16="http://schemas.microsoft.com/office/drawing/2014/main" id="{9A4539E7-0671-139A-6175-F3DBEFD716A8}"/>
              </a:ext>
            </a:extLst>
          </p:cNvPr>
          <p:cNvSpPr txBox="1"/>
          <p:nvPr/>
        </p:nvSpPr>
        <p:spPr>
          <a:xfrm>
            <a:off x="9978373" y="79886"/>
            <a:ext cx="1122423" cy="307777"/>
          </a:xfrm>
          <a:prstGeom prst="rect">
            <a:avLst/>
          </a:prstGeom>
          <a:noFill/>
        </p:spPr>
        <p:txBody>
          <a:bodyPr wrap="none" rtlCol="0">
            <a:spAutoFit/>
          </a:bodyPr>
          <a:lstStyle/>
          <a:p>
            <a:r>
              <a:rPr lang="en-US" sz="1400" dirty="0">
                <a:hlinkClick r:id="rId3" action="ppaction://hlinksldjump"/>
              </a:rPr>
              <a:t>Sources:</a:t>
            </a:r>
            <a:r>
              <a:rPr lang="en-US" sz="1400" dirty="0"/>
              <a:t> [1]</a:t>
            </a:r>
          </a:p>
        </p:txBody>
      </p:sp>
    </p:spTree>
    <p:extLst>
      <p:ext uri="{BB962C8B-B14F-4D97-AF65-F5344CB8AC3E}">
        <p14:creationId xmlns:p14="http://schemas.microsoft.com/office/powerpoint/2010/main" val="3046864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66AFA-2828-8C0B-7F97-3A64FF3995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8A3352-BCF6-3A02-2984-FC54745D3907}"/>
              </a:ext>
            </a:extLst>
          </p:cNvPr>
          <p:cNvSpPr>
            <a:spLocks noGrp="1"/>
          </p:cNvSpPr>
          <p:nvPr>
            <p:ph type="title"/>
          </p:nvPr>
        </p:nvSpPr>
        <p:spPr>
          <a:xfrm>
            <a:off x="949325" y="498296"/>
            <a:ext cx="10254701" cy="896116"/>
          </a:xfrm>
        </p:spPr>
        <p:txBody>
          <a:bodyPr/>
          <a:lstStyle/>
          <a:p>
            <a:r>
              <a:rPr lang="en-US" dirty="0"/>
              <a:t>Thread Routing</a:t>
            </a:r>
          </a:p>
        </p:txBody>
      </p:sp>
      <p:sp>
        <p:nvSpPr>
          <p:cNvPr id="5" name="Content Placeholder 4">
            <a:extLst>
              <a:ext uri="{FF2B5EF4-FFF2-40B4-BE49-F238E27FC236}">
                <a16:creationId xmlns:a16="http://schemas.microsoft.com/office/drawing/2014/main" id="{22C87EEF-9F74-CC5A-2F9F-A60C3A9B163C}"/>
              </a:ext>
            </a:extLst>
          </p:cNvPr>
          <p:cNvSpPr>
            <a:spLocks noGrp="1"/>
          </p:cNvSpPr>
          <p:nvPr>
            <p:ph idx="1"/>
          </p:nvPr>
        </p:nvSpPr>
        <p:spPr>
          <a:xfrm>
            <a:off x="952499" y="1458542"/>
            <a:ext cx="10655301" cy="4739057"/>
          </a:xfrm>
        </p:spPr>
        <p:txBody>
          <a:bodyPr>
            <a:normAutofit lnSpcReduction="10000"/>
          </a:bodyPr>
          <a:lstStyle/>
          <a:p>
            <a:pPr marL="0" indent="0">
              <a:buNone/>
            </a:pPr>
            <a:r>
              <a:rPr lang="en-US" sz="1600" b="1" dirty="0"/>
              <a:t>1. Distance-Vector Routing:</a:t>
            </a:r>
          </a:p>
          <a:p>
            <a:r>
              <a:rPr lang="en-US" sz="1600" b="1" dirty="0"/>
              <a:t>Next-Hop Selection: </a:t>
            </a:r>
            <a:r>
              <a:rPr lang="en-US" sz="1600" dirty="0"/>
              <a:t>each router maintains a table containing the best “next-hop” to another router</a:t>
            </a:r>
          </a:p>
          <a:p>
            <a:r>
              <a:rPr lang="en-US" sz="1600" b="1" dirty="0"/>
              <a:t>Hop Count Metric: </a:t>
            </a:r>
            <a:r>
              <a:rPr lang="en-US" sz="1600" dirty="0"/>
              <a:t>”distance” is measured as the number of hops between devices. Maximum is typically set by manager to ensure network efficiency</a:t>
            </a:r>
          </a:p>
          <a:p>
            <a:r>
              <a:rPr lang="en-US" sz="1600" b="1" dirty="0"/>
              <a:t>Periodic Updates: </a:t>
            </a:r>
            <a:r>
              <a:rPr lang="en-US" sz="1600" dirty="0"/>
              <a:t>routers regularly update routing costs for direct neighbors</a:t>
            </a:r>
          </a:p>
          <a:p>
            <a:endParaRPr lang="en-US" sz="1600" dirty="0"/>
          </a:p>
          <a:p>
            <a:pPr marL="0" indent="0">
              <a:buNone/>
            </a:pPr>
            <a:r>
              <a:rPr lang="en-US" sz="1600" b="1" dirty="0"/>
              <a:t>2. Mesh Link Establishment (MLE): </a:t>
            </a:r>
          </a:p>
          <a:p>
            <a:r>
              <a:rPr lang="en-US" sz="1600" b="1" dirty="0"/>
              <a:t>Link Quality Sensing: </a:t>
            </a:r>
            <a:r>
              <a:rPr lang="en-US" sz="1600" dirty="0"/>
              <a:t>measures RSSI of incoming messages to assign ”quality” [0-3]; 0 unknown cost</a:t>
            </a:r>
          </a:p>
          <a:p>
            <a:r>
              <a:rPr lang="en-US" sz="1600" b="1" dirty="0"/>
              <a:t>Bidirectional Verification: </a:t>
            </a:r>
            <a:r>
              <a:rPr lang="en-US" sz="1600" dirty="0"/>
              <a:t>ensures link is reliable in BOTH directions before including in routing table</a:t>
            </a:r>
          </a:p>
          <a:p>
            <a:r>
              <a:rPr lang="en-US" sz="1600" b="1" dirty="0"/>
              <a:t>Route Propagation: </a:t>
            </a:r>
            <a:r>
              <a:rPr lang="en-US" sz="1600" dirty="0"/>
              <a:t>Leader sends advertisement messages containing routing costs disseminated every few seconds</a:t>
            </a:r>
          </a:p>
          <a:p>
            <a:endParaRPr lang="en-US" sz="1600" dirty="0"/>
          </a:p>
          <a:p>
            <a:pPr marL="0" indent="0">
              <a:buNone/>
            </a:pPr>
            <a:r>
              <a:rPr lang="en-US" sz="1600" b="1" dirty="0"/>
              <a:t>3. Retries (**note Thread uses UDP**)</a:t>
            </a:r>
          </a:p>
          <a:p>
            <a:r>
              <a:rPr lang="en-US" sz="1600" dirty="0"/>
              <a:t>Employs MAC level retries and Application level retries</a:t>
            </a:r>
          </a:p>
        </p:txBody>
      </p:sp>
      <p:sp>
        <p:nvSpPr>
          <p:cNvPr id="6" name="Footer Placeholder 3">
            <a:extLst>
              <a:ext uri="{FF2B5EF4-FFF2-40B4-BE49-F238E27FC236}">
                <a16:creationId xmlns:a16="http://schemas.microsoft.com/office/drawing/2014/main" id="{56164589-7275-3AD8-0683-72B2B890114B}"/>
              </a:ext>
            </a:extLst>
          </p:cNvPr>
          <p:cNvSpPr>
            <a:spLocks noGrp="1"/>
          </p:cNvSpPr>
          <p:nvPr>
            <p:ph type="ftr" sz="quarter" idx="3"/>
          </p:nvPr>
        </p:nvSpPr>
        <p:spPr>
          <a:xfrm>
            <a:off x="2519853" y="6441192"/>
            <a:ext cx="8684173" cy="365125"/>
          </a:xfrm>
        </p:spPr>
        <p:txBody>
          <a:bodyPr/>
          <a:lstStyle/>
          <a:p>
            <a:r>
              <a:rPr lang="en-US"/>
              <a:t>Final Project | Topics in Computer Science II | Fall 2025, University of Iowa</a:t>
            </a:r>
            <a:endParaRPr lang="en-US" dirty="0"/>
          </a:p>
        </p:txBody>
      </p:sp>
      <p:sp>
        <p:nvSpPr>
          <p:cNvPr id="3" name="TextBox 2">
            <a:extLst>
              <a:ext uri="{FF2B5EF4-FFF2-40B4-BE49-F238E27FC236}">
                <a16:creationId xmlns:a16="http://schemas.microsoft.com/office/drawing/2014/main" id="{EBBB78DD-3F2C-C13B-259F-F32112BFF60F}"/>
              </a:ext>
            </a:extLst>
          </p:cNvPr>
          <p:cNvSpPr txBox="1"/>
          <p:nvPr/>
        </p:nvSpPr>
        <p:spPr>
          <a:xfrm>
            <a:off x="7962900" y="6007730"/>
            <a:ext cx="4121641" cy="369332"/>
          </a:xfrm>
          <a:prstGeom prst="rect">
            <a:avLst/>
          </a:prstGeom>
          <a:noFill/>
        </p:spPr>
        <p:txBody>
          <a:bodyPr wrap="none" rtlCol="0">
            <a:spAutoFit/>
          </a:bodyPr>
          <a:lstStyle/>
          <a:p>
            <a:r>
              <a:rPr lang="en-US" dirty="0"/>
              <a:t>Currently, Thread supports &lt;32 routers</a:t>
            </a:r>
          </a:p>
        </p:txBody>
      </p:sp>
      <p:sp>
        <p:nvSpPr>
          <p:cNvPr id="4" name="TextBox 3">
            <a:extLst>
              <a:ext uri="{FF2B5EF4-FFF2-40B4-BE49-F238E27FC236}">
                <a16:creationId xmlns:a16="http://schemas.microsoft.com/office/drawing/2014/main" id="{723BC931-733F-41BE-31F7-C4826EAF5016}"/>
              </a:ext>
            </a:extLst>
          </p:cNvPr>
          <p:cNvSpPr txBox="1"/>
          <p:nvPr/>
        </p:nvSpPr>
        <p:spPr>
          <a:xfrm>
            <a:off x="9978373" y="96819"/>
            <a:ext cx="1122423" cy="307777"/>
          </a:xfrm>
          <a:prstGeom prst="rect">
            <a:avLst/>
          </a:prstGeom>
          <a:noFill/>
        </p:spPr>
        <p:txBody>
          <a:bodyPr wrap="none" rtlCol="0">
            <a:spAutoFit/>
          </a:bodyPr>
          <a:lstStyle/>
          <a:p>
            <a:r>
              <a:rPr lang="en-US" sz="1400" dirty="0">
                <a:hlinkClick r:id="rId2" action="ppaction://hlinksldjump"/>
              </a:rPr>
              <a:t>Sources:</a:t>
            </a:r>
            <a:r>
              <a:rPr lang="en-US" sz="1400" dirty="0"/>
              <a:t> [</a:t>
            </a:r>
            <a:r>
              <a:rPr lang="en-US" sz="1400"/>
              <a:t>1]</a:t>
            </a:r>
            <a:endParaRPr lang="en-US" sz="1400" dirty="0"/>
          </a:p>
        </p:txBody>
      </p:sp>
    </p:spTree>
    <p:extLst>
      <p:ext uri="{BB962C8B-B14F-4D97-AF65-F5344CB8AC3E}">
        <p14:creationId xmlns:p14="http://schemas.microsoft.com/office/powerpoint/2010/main" val="35245885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A4F22-8CD5-8307-1F81-D7531A3ED1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D0669B-7CDF-F378-E2F3-C1CAF07E280C}"/>
              </a:ext>
            </a:extLst>
          </p:cNvPr>
          <p:cNvSpPr>
            <a:spLocks noGrp="1"/>
          </p:cNvSpPr>
          <p:nvPr>
            <p:ph type="title"/>
          </p:nvPr>
        </p:nvSpPr>
        <p:spPr>
          <a:xfrm>
            <a:off x="949325" y="498296"/>
            <a:ext cx="10254701" cy="896116"/>
          </a:xfrm>
        </p:spPr>
        <p:txBody>
          <a:bodyPr/>
          <a:lstStyle/>
          <a:p>
            <a:r>
              <a:rPr lang="en-US" dirty="0"/>
              <a:t>Thread Joining &amp; Network Operation</a:t>
            </a:r>
          </a:p>
        </p:txBody>
      </p:sp>
      <p:sp>
        <p:nvSpPr>
          <p:cNvPr id="5" name="Content Placeholder 4">
            <a:extLst>
              <a:ext uri="{FF2B5EF4-FFF2-40B4-BE49-F238E27FC236}">
                <a16:creationId xmlns:a16="http://schemas.microsoft.com/office/drawing/2014/main" id="{1828B5A6-B1EA-DF83-9CDC-179E9AD44002}"/>
              </a:ext>
            </a:extLst>
          </p:cNvPr>
          <p:cNvSpPr>
            <a:spLocks noGrp="1"/>
          </p:cNvSpPr>
          <p:nvPr>
            <p:ph idx="1"/>
          </p:nvPr>
        </p:nvSpPr>
        <p:spPr>
          <a:xfrm>
            <a:off x="952499" y="1458542"/>
            <a:ext cx="10655301" cy="4739057"/>
          </a:xfrm>
        </p:spPr>
        <p:txBody>
          <a:bodyPr>
            <a:normAutofit/>
          </a:bodyPr>
          <a:lstStyle/>
          <a:p>
            <a:pPr marL="0" indent="0">
              <a:buNone/>
            </a:pPr>
            <a:r>
              <a:rPr lang="en-US" sz="2000" b="1" dirty="0"/>
              <a:t>ALL JOINING IS USER INITIATED OVER </a:t>
            </a:r>
            <a:r>
              <a:rPr lang="en-US" sz="2000" b="1" dirty="0" err="1"/>
              <a:t>WiFi</a:t>
            </a:r>
            <a:r>
              <a:rPr lang="en-US" sz="2000" b="1" dirty="0"/>
              <a:t> </a:t>
            </a:r>
          </a:p>
          <a:p>
            <a:pPr marL="0" indent="0">
              <a:buNone/>
            </a:pPr>
            <a:r>
              <a:rPr lang="en-US" sz="2000" dirty="0"/>
              <a:t>A device joins a Thread network using credentials via user mobile device. This authenticates securely and ensures device </a:t>
            </a:r>
            <a:r>
              <a:rPr lang="en-US" sz="2000" dirty="0" err="1"/>
              <a:t>recievs</a:t>
            </a:r>
            <a:r>
              <a:rPr lang="en-US" sz="2000" dirty="0"/>
              <a:t> network parameters and security material.</a:t>
            </a:r>
          </a:p>
          <a:p>
            <a:pPr marL="0" indent="0">
              <a:buNone/>
            </a:pPr>
            <a:endParaRPr lang="en-US" sz="2000" dirty="0"/>
          </a:p>
          <a:p>
            <a:pPr marL="0" indent="0">
              <a:buNone/>
            </a:pPr>
            <a:r>
              <a:rPr lang="en-US" sz="2000" dirty="0">
                <a:solidFill>
                  <a:srgbClr val="FF0000"/>
                </a:solidFill>
              </a:rPr>
              <a:t>Again, this is not something which I would like in my network as there is security threat for some remote access/authentication of devices which I did not authorize. </a:t>
            </a:r>
          </a:p>
          <a:p>
            <a:pPr marL="0" indent="0">
              <a:buNone/>
            </a:pPr>
            <a:endParaRPr lang="en-US" sz="2000" dirty="0">
              <a:solidFill>
                <a:srgbClr val="FF0000"/>
              </a:solidFill>
            </a:endParaRPr>
          </a:p>
          <a:p>
            <a:pPr marL="0" indent="0">
              <a:buNone/>
            </a:pPr>
            <a:r>
              <a:rPr lang="en-US" sz="2000" dirty="0"/>
              <a:t>Once a device has joined, it uses MLE exchange to configure or exchange information about neighbors, device capabilities and device type, link costs, and security information.</a:t>
            </a:r>
          </a:p>
          <a:p>
            <a:pPr marL="0" indent="0">
              <a:buNone/>
            </a:pPr>
            <a:endParaRPr lang="en-US" sz="2000" dirty="0"/>
          </a:p>
          <a:p>
            <a:pPr marL="0" indent="0">
              <a:buNone/>
            </a:pPr>
            <a:r>
              <a:rPr lang="en-US" sz="2000" dirty="0"/>
              <a:t>After the joining and configuration process is complete, the mesh network is built.</a:t>
            </a:r>
          </a:p>
        </p:txBody>
      </p:sp>
      <p:sp>
        <p:nvSpPr>
          <p:cNvPr id="6" name="Footer Placeholder 3">
            <a:extLst>
              <a:ext uri="{FF2B5EF4-FFF2-40B4-BE49-F238E27FC236}">
                <a16:creationId xmlns:a16="http://schemas.microsoft.com/office/drawing/2014/main" id="{F1B2ED21-5691-8FBE-5395-C32421E4B7FB}"/>
              </a:ext>
            </a:extLst>
          </p:cNvPr>
          <p:cNvSpPr>
            <a:spLocks noGrp="1"/>
          </p:cNvSpPr>
          <p:nvPr>
            <p:ph type="ftr" sz="quarter" idx="3"/>
          </p:nvPr>
        </p:nvSpPr>
        <p:spPr>
          <a:xfrm>
            <a:off x="2519853" y="6441192"/>
            <a:ext cx="8684173" cy="365125"/>
          </a:xfrm>
        </p:spPr>
        <p:txBody>
          <a:bodyPr/>
          <a:lstStyle/>
          <a:p>
            <a:r>
              <a:rPr lang="en-US"/>
              <a:t>Final Project | Topics in Computer Science II | Fall 2025, University of Iowa</a:t>
            </a:r>
            <a:endParaRPr lang="en-US" dirty="0"/>
          </a:p>
        </p:txBody>
      </p:sp>
      <p:sp>
        <p:nvSpPr>
          <p:cNvPr id="3" name="TextBox 2">
            <a:extLst>
              <a:ext uri="{FF2B5EF4-FFF2-40B4-BE49-F238E27FC236}">
                <a16:creationId xmlns:a16="http://schemas.microsoft.com/office/drawing/2014/main" id="{D5036883-3F99-E19A-E20C-1A8B6F68E2D0}"/>
              </a:ext>
            </a:extLst>
          </p:cNvPr>
          <p:cNvSpPr txBox="1"/>
          <p:nvPr/>
        </p:nvSpPr>
        <p:spPr>
          <a:xfrm>
            <a:off x="9978373" y="96819"/>
            <a:ext cx="1122423" cy="307777"/>
          </a:xfrm>
          <a:prstGeom prst="rect">
            <a:avLst/>
          </a:prstGeom>
          <a:noFill/>
        </p:spPr>
        <p:txBody>
          <a:bodyPr wrap="none" rtlCol="0">
            <a:spAutoFit/>
          </a:bodyPr>
          <a:lstStyle/>
          <a:p>
            <a:r>
              <a:rPr lang="en-US" sz="1400" dirty="0">
                <a:hlinkClick r:id="rId2" action="ppaction://hlinksldjump"/>
              </a:rPr>
              <a:t>Sources:</a:t>
            </a:r>
            <a:r>
              <a:rPr lang="en-US" sz="1400" dirty="0"/>
              <a:t> [1]</a:t>
            </a:r>
          </a:p>
        </p:txBody>
      </p:sp>
    </p:spTree>
    <p:extLst>
      <p:ext uri="{BB962C8B-B14F-4D97-AF65-F5344CB8AC3E}">
        <p14:creationId xmlns:p14="http://schemas.microsoft.com/office/powerpoint/2010/main" val="10677606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E0A10-6B6C-957A-8795-98EA48FFCB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29819C-5CBD-ECF0-36B3-A0B09FE84FB0}"/>
              </a:ext>
            </a:extLst>
          </p:cNvPr>
          <p:cNvSpPr>
            <a:spLocks noGrp="1"/>
          </p:cNvSpPr>
          <p:nvPr>
            <p:ph type="title"/>
          </p:nvPr>
        </p:nvSpPr>
        <p:spPr>
          <a:xfrm>
            <a:off x="949325" y="498296"/>
            <a:ext cx="10254701" cy="896116"/>
          </a:xfrm>
        </p:spPr>
        <p:txBody>
          <a:bodyPr>
            <a:normAutofit/>
          </a:bodyPr>
          <a:lstStyle/>
          <a:p>
            <a:r>
              <a:rPr lang="en-US" dirty="0"/>
              <a:t>Thread Usage – Home Mesh Network </a:t>
            </a:r>
          </a:p>
        </p:txBody>
      </p:sp>
      <p:sp>
        <p:nvSpPr>
          <p:cNvPr id="5" name="Content Placeholder 4">
            <a:extLst>
              <a:ext uri="{FF2B5EF4-FFF2-40B4-BE49-F238E27FC236}">
                <a16:creationId xmlns:a16="http://schemas.microsoft.com/office/drawing/2014/main" id="{D74C3AB7-1FF1-91F1-3CDA-51CD824FA55D}"/>
              </a:ext>
            </a:extLst>
          </p:cNvPr>
          <p:cNvSpPr>
            <a:spLocks noGrp="1"/>
          </p:cNvSpPr>
          <p:nvPr>
            <p:ph idx="1"/>
          </p:nvPr>
        </p:nvSpPr>
        <p:spPr>
          <a:xfrm>
            <a:off x="952499" y="1686757"/>
            <a:ext cx="6343424" cy="4505639"/>
          </a:xfrm>
        </p:spPr>
        <p:txBody>
          <a:bodyPr>
            <a:normAutofit fontScale="92500" lnSpcReduction="10000"/>
          </a:bodyPr>
          <a:lstStyle/>
          <a:p>
            <a:pPr marL="0" indent="0">
              <a:buNone/>
            </a:pPr>
            <a:r>
              <a:rPr lang="en-US" sz="2000" b="1" dirty="0"/>
              <a:t>External Connectivity: </a:t>
            </a:r>
          </a:p>
          <a:p>
            <a:pPr lvl="1"/>
            <a:r>
              <a:rPr lang="en-US" sz="1600" dirty="0"/>
              <a:t>Border Routers bridge the Thread network to Wi-Fi or Ethernet</a:t>
            </a:r>
          </a:p>
          <a:p>
            <a:pPr marL="0" indent="0">
              <a:buNone/>
            </a:pPr>
            <a:r>
              <a:rPr lang="en-US" sz="2000" b="1" dirty="0"/>
              <a:t>Network Management:</a:t>
            </a:r>
          </a:p>
          <a:p>
            <a:pPr lvl="1"/>
            <a:r>
              <a:rPr lang="en-US" sz="1600" dirty="0"/>
              <a:t>A Leader manages router IDs and assigns network addresses</a:t>
            </a:r>
          </a:p>
          <a:p>
            <a:pPr marL="0" indent="0">
              <a:buNone/>
            </a:pPr>
            <a:r>
              <a:rPr lang="en-US" sz="2000" b="1" dirty="0"/>
              <a:t>Message Routing: </a:t>
            </a:r>
          </a:p>
          <a:p>
            <a:pPr lvl="1"/>
            <a:r>
              <a:rPr lang="en-US" sz="1600" dirty="0"/>
              <a:t>Thread Routers provide security services and relay data packets</a:t>
            </a:r>
          </a:p>
          <a:p>
            <a:pPr marL="0" indent="0">
              <a:buNone/>
            </a:pPr>
            <a:r>
              <a:rPr lang="en-US" sz="2000" b="1" dirty="0"/>
              <a:t>Dynamic Roles: </a:t>
            </a:r>
          </a:p>
          <a:p>
            <a:pPr lvl="1"/>
            <a:r>
              <a:rPr lang="en-US" sz="1600" dirty="0"/>
              <a:t>REEDs can automatically become routers if the network needs expansion</a:t>
            </a:r>
          </a:p>
          <a:p>
            <a:pPr marL="0" indent="0">
              <a:buNone/>
            </a:pPr>
            <a:r>
              <a:rPr lang="en-US" sz="2000" b="1" dirty="0"/>
              <a:t>Device Communication: </a:t>
            </a:r>
          </a:p>
          <a:p>
            <a:pPr lvl="1"/>
            <a:r>
              <a:rPr lang="en-US" sz="1600" dirty="0"/>
              <a:t>End devices communicate through a parent router to save power</a:t>
            </a:r>
          </a:p>
          <a:p>
            <a:pPr marL="0" indent="0">
              <a:buNone/>
            </a:pPr>
            <a:r>
              <a:rPr lang="en-US" sz="2000" b="1" dirty="0"/>
              <a:t>Power Efficiency:</a:t>
            </a:r>
          </a:p>
          <a:p>
            <a:pPr lvl="1"/>
            <a:r>
              <a:rPr lang="en-US" sz="1600" dirty="0"/>
              <a:t>Sleepy devices use synchronized schedules to minimize radio usage</a:t>
            </a:r>
          </a:p>
        </p:txBody>
      </p:sp>
      <p:sp>
        <p:nvSpPr>
          <p:cNvPr id="6" name="Footer Placeholder 3">
            <a:extLst>
              <a:ext uri="{FF2B5EF4-FFF2-40B4-BE49-F238E27FC236}">
                <a16:creationId xmlns:a16="http://schemas.microsoft.com/office/drawing/2014/main" id="{A84F59E7-4637-B418-7090-6857D54939F8}"/>
              </a:ext>
            </a:extLst>
          </p:cNvPr>
          <p:cNvSpPr>
            <a:spLocks noGrp="1"/>
          </p:cNvSpPr>
          <p:nvPr>
            <p:ph type="ftr" sz="quarter" idx="3"/>
          </p:nvPr>
        </p:nvSpPr>
        <p:spPr>
          <a:xfrm>
            <a:off x="2519853" y="6441192"/>
            <a:ext cx="8684173" cy="365125"/>
          </a:xfrm>
        </p:spPr>
        <p:txBody>
          <a:bodyPr/>
          <a:lstStyle/>
          <a:p>
            <a:r>
              <a:rPr lang="en-US"/>
              <a:t>Final Project | Topics in Computer Science II | Fall 2025, University of Iowa</a:t>
            </a:r>
            <a:endParaRPr lang="en-US" dirty="0"/>
          </a:p>
        </p:txBody>
      </p:sp>
      <p:pic>
        <p:nvPicPr>
          <p:cNvPr id="3" name="Picture 2">
            <a:extLst>
              <a:ext uri="{FF2B5EF4-FFF2-40B4-BE49-F238E27FC236}">
                <a16:creationId xmlns:a16="http://schemas.microsoft.com/office/drawing/2014/main" id="{A08961B9-9D98-7EE3-2121-E92AD104664D}"/>
              </a:ext>
            </a:extLst>
          </p:cNvPr>
          <p:cNvPicPr>
            <a:picLocks noChangeAspect="1"/>
          </p:cNvPicPr>
          <p:nvPr/>
        </p:nvPicPr>
        <p:blipFill>
          <a:blip r:embed="rId2"/>
          <a:stretch>
            <a:fillRect/>
          </a:stretch>
        </p:blipFill>
        <p:spPr>
          <a:xfrm>
            <a:off x="7473723" y="1304484"/>
            <a:ext cx="3908103" cy="4887912"/>
          </a:xfrm>
          <a:prstGeom prst="rect">
            <a:avLst/>
          </a:prstGeom>
        </p:spPr>
      </p:pic>
      <p:sp>
        <p:nvSpPr>
          <p:cNvPr id="4" name="TextBox 3">
            <a:extLst>
              <a:ext uri="{FF2B5EF4-FFF2-40B4-BE49-F238E27FC236}">
                <a16:creationId xmlns:a16="http://schemas.microsoft.com/office/drawing/2014/main" id="{5247B68E-D34E-827E-0C70-82E24878B805}"/>
              </a:ext>
            </a:extLst>
          </p:cNvPr>
          <p:cNvSpPr txBox="1"/>
          <p:nvPr/>
        </p:nvSpPr>
        <p:spPr>
          <a:xfrm>
            <a:off x="9978373" y="96819"/>
            <a:ext cx="1122423" cy="307777"/>
          </a:xfrm>
          <a:prstGeom prst="rect">
            <a:avLst/>
          </a:prstGeom>
          <a:noFill/>
        </p:spPr>
        <p:txBody>
          <a:bodyPr wrap="none" rtlCol="0">
            <a:spAutoFit/>
          </a:bodyPr>
          <a:lstStyle/>
          <a:p>
            <a:r>
              <a:rPr lang="en-US" sz="1400" dirty="0">
                <a:hlinkClick r:id="rId3" action="ppaction://hlinksldjump"/>
              </a:rPr>
              <a:t>Sources:</a:t>
            </a:r>
            <a:r>
              <a:rPr lang="en-US" sz="1400" dirty="0"/>
              <a:t> [1]</a:t>
            </a:r>
          </a:p>
        </p:txBody>
      </p:sp>
    </p:spTree>
    <p:extLst>
      <p:ext uri="{BB962C8B-B14F-4D97-AF65-F5344CB8AC3E}">
        <p14:creationId xmlns:p14="http://schemas.microsoft.com/office/powerpoint/2010/main" val="14433445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6935F9-41C8-FA65-71A9-418E28A74A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2E017D-3487-71D5-6224-13A04881344B}"/>
              </a:ext>
            </a:extLst>
          </p:cNvPr>
          <p:cNvSpPr>
            <a:spLocks noGrp="1"/>
          </p:cNvSpPr>
          <p:nvPr>
            <p:ph type="title"/>
          </p:nvPr>
        </p:nvSpPr>
        <p:spPr>
          <a:xfrm>
            <a:off x="949325" y="498296"/>
            <a:ext cx="10254701" cy="896116"/>
          </a:xfrm>
        </p:spPr>
        <p:txBody>
          <a:bodyPr>
            <a:normAutofit/>
          </a:bodyPr>
          <a:lstStyle/>
          <a:p>
            <a:r>
              <a:rPr lang="en-US" dirty="0"/>
              <a:t>Thread Usage – Home Mesh Network </a:t>
            </a:r>
          </a:p>
        </p:txBody>
      </p:sp>
      <p:sp>
        <p:nvSpPr>
          <p:cNvPr id="5" name="Content Placeholder 4">
            <a:extLst>
              <a:ext uri="{FF2B5EF4-FFF2-40B4-BE49-F238E27FC236}">
                <a16:creationId xmlns:a16="http://schemas.microsoft.com/office/drawing/2014/main" id="{71BEFB4A-0E5D-5BFE-46D8-54A0857C26E6}"/>
              </a:ext>
            </a:extLst>
          </p:cNvPr>
          <p:cNvSpPr>
            <a:spLocks noGrp="1"/>
          </p:cNvSpPr>
          <p:nvPr>
            <p:ph idx="1"/>
          </p:nvPr>
        </p:nvSpPr>
        <p:spPr>
          <a:xfrm>
            <a:off x="952499" y="1686757"/>
            <a:ext cx="6343424" cy="4256843"/>
          </a:xfrm>
        </p:spPr>
        <p:txBody>
          <a:bodyPr>
            <a:normAutofit fontScale="92500" lnSpcReduction="10000"/>
          </a:bodyPr>
          <a:lstStyle/>
          <a:p>
            <a:pPr marL="0" indent="0">
              <a:buNone/>
            </a:pPr>
            <a:r>
              <a:rPr lang="en-US" sz="2000" b="1" dirty="0"/>
              <a:t>External Connectivity: </a:t>
            </a:r>
          </a:p>
          <a:p>
            <a:pPr lvl="1"/>
            <a:r>
              <a:rPr lang="en-US" sz="1600" dirty="0"/>
              <a:t>Border Routers bridge the Thread network to Wi-Fi or Ethernet</a:t>
            </a:r>
          </a:p>
          <a:p>
            <a:pPr marL="0" indent="0">
              <a:buNone/>
            </a:pPr>
            <a:r>
              <a:rPr lang="en-US" sz="2000" b="1" dirty="0"/>
              <a:t>Network Management:</a:t>
            </a:r>
          </a:p>
          <a:p>
            <a:pPr lvl="1"/>
            <a:r>
              <a:rPr lang="en-US" sz="1600" dirty="0"/>
              <a:t>A Leader manages router IDs and assigns network addresses</a:t>
            </a:r>
          </a:p>
          <a:p>
            <a:pPr marL="0" indent="0">
              <a:buNone/>
            </a:pPr>
            <a:r>
              <a:rPr lang="en-US" sz="2000" b="1" dirty="0"/>
              <a:t>Message Routing: </a:t>
            </a:r>
          </a:p>
          <a:p>
            <a:pPr lvl="1"/>
            <a:r>
              <a:rPr lang="en-US" sz="1600" dirty="0"/>
              <a:t>Thread Routers provide security services and relay data packets</a:t>
            </a:r>
          </a:p>
          <a:p>
            <a:pPr marL="0" indent="0">
              <a:buNone/>
            </a:pPr>
            <a:r>
              <a:rPr lang="en-US" sz="2000" b="1" dirty="0"/>
              <a:t>Dynamic Roles: </a:t>
            </a:r>
          </a:p>
          <a:p>
            <a:pPr lvl="1"/>
            <a:r>
              <a:rPr lang="en-US" sz="1600" dirty="0"/>
              <a:t>REEDs can automatically become routers if the network needs expansion</a:t>
            </a:r>
          </a:p>
          <a:p>
            <a:pPr marL="0" indent="0">
              <a:buNone/>
            </a:pPr>
            <a:r>
              <a:rPr lang="en-US" sz="2000" b="1" dirty="0"/>
              <a:t>Device Communication: </a:t>
            </a:r>
          </a:p>
          <a:p>
            <a:pPr lvl="1"/>
            <a:r>
              <a:rPr lang="en-US" sz="1600" dirty="0"/>
              <a:t>End devices communicate through a parent router to save power</a:t>
            </a:r>
          </a:p>
          <a:p>
            <a:pPr marL="0" indent="0">
              <a:buNone/>
            </a:pPr>
            <a:r>
              <a:rPr lang="en-US" sz="2000" b="1" dirty="0"/>
              <a:t>Power Efficiency:</a:t>
            </a:r>
          </a:p>
          <a:p>
            <a:pPr lvl="1"/>
            <a:r>
              <a:rPr lang="en-US" sz="1600" dirty="0"/>
              <a:t>Sleepy devices use synchronized schedules to minimize radio usage</a:t>
            </a:r>
          </a:p>
        </p:txBody>
      </p:sp>
      <p:sp>
        <p:nvSpPr>
          <p:cNvPr id="6" name="Footer Placeholder 3">
            <a:extLst>
              <a:ext uri="{FF2B5EF4-FFF2-40B4-BE49-F238E27FC236}">
                <a16:creationId xmlns:a16="http://schemas.microsoft.com/office/drawing/2014/main" id="{5CC4B142-9FFA-0C7E-342C-45A2340D09DE}"/>
              </a:ext>
            </a:extLst>
          </p:cNvPr>
          <p:cNvSpPr>
            <a:spLocks noGrp="1"/>
          </p:cNvSpPr>
          <p:nvPr>
            <p:ph type="ftr" sz="quarter" idx="3"/>
          </p:nvPr>
        </p:nvSpPr>
        <p:spPr>
          <a:xfrm>
            <a:off x="2519853" y="6441192"/>
            <a:ext cx="8684173" cy="365125"/>
          </a:xfrm>
        </p:spPr>
        <p:txBody>
          <a:bodyPr/>
          <a:lstStyle/>
          <a:p>
            <a:r>
              <a:rPr lang="en-US"/>
              <a:t>Final Project | Topics in Computer Science II | Fall 2025, University of Iowa</a:t>
            </a:r>
            <a:endParaRPr lang="en-US" dirty="0"/>
          </a:p>
        </p:txBody>
      </p:sp>
      <p:pic>
        <p:nvPicPr>
          <p:cNvPr id="3" name="Picture 2">
            <a:extLst>
              <a:ext uri="{FF2B5EF4-FFF2-40B4-BE49-F238E27FC236}">
                <a16:creationId xmlns:a16="http://schemas.microsoft.com/office/drawing/2014/main" id="{19266123-50B7-2315-A4A9-3B2466911EBA}"/>
              </a:ext>
            </a:extLst>
          </p:cNvPr>
          <p:cNvPicPr>
            <a:picLocks noChangeAspect="1"/>
          </p:cNvPicPr>
          <p:nvPr/>
        </p:nvPicPr>
        <p:blipFill>
          <a:blip r:embed="rId2"/>
          <a:stretch>
            <a:fillRect/>
          </a:stretch>
        </p:blipFill>
        <p:spPr>
          <a:xfrm>
            <a:off x="7473723" y="1304484"/>
            <a:ext cx="3908103" cy="4887912"/>
          </a:xfrm>
          <a:prstGeom prst="rect">
            <a:avLst/>
          </a:prstGeom>
        </p:spPr>
      </p:pic>
      <p:sp>
        <p:nvSpPr>
          <p:cNvPr id="4" name="Rectangle 3">
            <a:extLst>
              <a:ext uri="{FF2B5EF4-FFF2-40B4-BE49-F238E27FC236}">
                <a16:creationId xmlns:a16="http://schemas.microsoft.com/office/drawing/2014/main" id="{DFA52EF0-A900-E83B-2EB4-2EB319ABA767}"/>
              </a:ext>
            </a:extLst>
          </p:cNvPr>
          <p:cNvSpPr/>
          <p:nvPr/>
        </p:nvSpPr>
        <p:spPr>
          <a:xfrm>
            <a:off x="2781300" y="2628900"/>
            <a:ext cx="3581400" cy="1905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User can control the Thread Network using a mobile device over internet! </a:t>
            </a:r>
          </a:p>
          <a:p>
            <a:pPr algn="ctr"/>
            <a:endParaRPr lang="en-US" sz="2000" dirty="0">
              <a:solidFill>
                <a:schemeClr val="tx1"/>
              </a:solidFill>
            </a:endParaRPr>
          </a:p>
          <a:p>
            <a:pPr algn="ctr"/>
            <a:r>
              <a:rPr lang="en-US" sz="2000" dirty="0">
                <a:solidFill>
                  <a:srgbClr val="FF0000"/>
                </a:solidFill>
              </a:rPr>
              <a:t>This is concerning to me!</a:t>
            </a:r>
          </a:p>
        </p:txBody>
      </p:sp>
      <p:cxnSp>
        <p:nvCxnSpPr>
          <p:cNvPr id="8" name="Straight Arrow Connector 7">
            <a:extLst>
              <a:ext uri="{FF2B5EF4-FFF2-40B4-BE49-F238E27FC236}">
                <a16:creationId xmlns:a16="http://schemas.microsoft.com/office/drawing/2014/main" id="{2CEB385E-3774-1943-1C34-2188C778E0EF}"/>
              </a:ext>
            </a:extLst>
          </p:cNvPr>
          <p:cNvCxnSpPr>
            <a:cxnSpLocks/>
            <a:stCxn id="4" idx="3"/>
          </p:cNvCxnSpPr>
          <p:nvPr/>
        </p:nvCxnSpPr>
        <p:spPr>
          <a:xfrm>
            <a:off x="6362700" y="3581400"/>
            <a:ext cx="2463800" cy="171450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CA0D127-20D5-F5C3-14D7-5526F8148B0E}"/>
              </a:ext>
            </a:extLst>
          </p:cNvPr>
          <p:cNvSpPr txBox="1"/>
          <p:nvPr/>
        </p:nvSpPr>
        <p:spPr>
          <a:xfrm>
            <a:off x="9978373" y="96819"/>
            <a:ext cx="1122423" cy="307777"/>
          </a:xfrm>
          <a:prstGeom prst="rect">
            <a:avLst/>
          </a:prstGeom>
          <a:noFill/>
        </p:spPr>
        <p:txBody>
          <a:bodyPr wrap="none" rtlCol="0">
            <a:spAutoFit/>
          </a:bodyPr>
          <a:lstStyle/>
          <a:p>
            <a:r>
              <a:rPr lang="en-US" sz="1400" dirty="0">
                <a:hlinkClick r:id="rId3" action="ppaction://hlinksldjump"/>
              </a:rPr>
              <a:t>Sources:</a:t>
            </a:r>
            <a:r>
              <a:rPr lang="en-US" sz="1400" dirty="0"/>
              <a:t> [1]</a:t>
            </a:r>
          </a:p>
        </p:txBody>
      </p:sp>
    </p:spTree>
    <p:extLst>
      <p:ext uri="{BB962C8B-B14F-4D97-AF65-F5344CB8AC3E}">
        <p14:creationId xmlns:p14="http://schemas.microsoft.com/office/powerpoint/2010/main" val="13229207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1E9AC-BD07-7803-01AD-CDB281FC20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FEFC51-8C93-A600-2847-1865CBABD893}"/>
              </a:ext>
            </a:extLst>
          </p:cNvPr>
          <p:cNvSpPr>
            <a:spLocks noGrp="1"/>
          </p:cNvSpPr>
          <p:nvPr>
            <p:ph type="title"/>
          </p:nvPr>
        </p:nvSpPr>
        <p:spPr>
          <a:xfrm>
            <a:off x="949325" y="498296"/>
            <a:ext cx="10254701" cy="896116"/>
          </a:xfrm>
        </p:spPr>
        <p:txBody>
          <a:bodyPr>
            <a:normAutofit fontScale="90000"/>
          </a:bodyPr>
          <a:lstStyle/>
          <a:p>
            <a:r>
              <a:rPr lang="en-US" dirty="0"/>
              <a:t>Thread – My Concerns + Security Guarantee?</a:t>
            </a:r>
          </a:p>
        </p:txBody>
      </p:sp>
      <p:sp>
        <p:nvSpPr>
          <p:cNvPr id="5" name="Content Placeholder 4">
            <a:extLst>
              <a:ext uri="{FF2B5EF4-FFF2-40B4-BE49-F238E27FC236}">
                <a16:creationId xmlns:a16="http://schemas.microsoft.com/office/drawing/2014/main" id="{09C4C6D8-7B78-CF3F-1FBC-D2ECC8ECCBDB}"/>
              </a:ext>
            </a:extLst>
          </p:cNvPr>
          <p:cNvSpPr>
            <a:spLocks noGrp="1"/>
          </p:cNvSpPr>
          <p:nvPr>
            <p:ph idx="1"/>
          </p:nvPr>
        </p:nvSpPr>
        <p:spPr>
          <a:xfrm>
            <a:off x="952499" y="1686757"/>
            <a:ext cx="10071101" cy="4256843"/>
          </a:xfrm>
        </p:spPr>
        <p:txBody>
          <a:bodyPr>
            <a:normAutofit lnSpcReduction="10000"/>
          </a:bodyPr>
          <a:lstStyle/>
          <a:p>
            <a:pPr marL="0" indent="0">
              <a:buNone/>
            </a:pPr>
            <a:r>
              <a:rPr lang="en-US" sz="1800" dirty="0"/>
              <a:t>As the </a:t>
            </a:r>
            <a:r>
              <a:rPr lang="en-US" sz="1800" b="1" dirty="0"/>
              <a:t>Thread Border Router</a:t>
            </a:r>
            <a:r>
              <a:rPr lang="en-US" sz="1800" dirty="0"/>
              <a:t> is accessed over </a:t>
            </a:r>
            <a:r>
              <a:rPr lang="en-US" sz="1800" dirty="0" err="1"/>
              <a:t>WiFi</a:t>
            </a:r>
            <a:r>
              <a:rPr lang="en-US" sz="1800" dirty="0"/>
              <a:t>, there is the inherent ability for an attacker to access my home network and thus all of my smart Thread devices. (not that it would be that catastrophic, but I would like control over my smart devices, </a:t>
            </a:r>
            <a:r>
              <a:rPr lang="en-US" sz="1800" dirty="0" err="1"/>
              <a:t>etc</a:t>
            </a:r>
            <a:r>
              <a:rPr lang="en-US" sz="1800" dirty="0"/>
              <a:t> </a:t>
            </a:r>
            <a:r>
              <a:rPr lang="en-US" sz="1800" dirty="0">
                <a:sym typeface="Wingdings" pitchFamily="2" charset="2"/>
              </a:rPr>
              <a:t></a:t>
            </a:r>
            <a:r>
              <a:rPr lang="en-US" sz="1800" dirty="0"/>
              <a:t>)</a:t>
            </a:r>
          </a:p>
          <a:p>
            <a:pPr marL="0" indent="0">
              <a:buNone/>
            </a:pPr>
            <a:endParaRPr lang="en-US" sz="1800" b="1" i="1" dirty="0"/>
          </a:p>
          <a:p>
            <a:pPr marL="0" indent="0">
              <a:buNone/>
            </a:pPr>
            <a:r>
              <a:rPr lang="en-US" sz="1800" b="1" dirty="0"/>
              <a:t>The Border Router is the main threat, as IPv6 != Open Access. Additionally, Thread protocol provides the following security assurances:</a:t>
            </a:r>
            <a:endParaRPr lang="en-US" sz="1800" dirty="0"/>
          </a:p>
          <a:p>
            <a:pPr marL="342900" indent="-342900">
              <a:buAutoNum type="arabicPeriod"/>
            </a:pPr>
            <a:r>
              <a:rPr lang="en-US" sz="1800" dirty="0"/>
              <a:t>Secure against Over-the-Air (OTA) wireless attacks outside of the network, protected by 802.15.4-2006. Thread enhances this by exchanging frame counters in MLE handshaking.</a:t>
            </a:r>
          </a:p>
          <a:p>
            <a:pPr marL="342900" indent="-342900">
              <a:buAutoNum type="arabicPeriod"/>
            </a:pPr>
            <a:r>
              <a:rPr lang="en-US" sz="1800" dirty="0"/>
              <a:t>Internet-Based Attacks: the network manager is protected by Datagram Transport Layer Security (DTLS) connection to the Border Router. Protected by passphrase</a:t>
            </a:r>
          </a:p>
          <a:p>
            <a:pPr marL="342900" indent="-342900">
              <a:buAutoNum type="arabicPeriod"/>
            </a:pPr>
            <a:endParaRPr lang="en-US" sz="1800" dirty="0"/>
          </a:p>
          <a:p>
            <a:pPr marL="0" indent="0">
              <a:buNone/>
            </a:pPr>
            <a:r>
              <a:rPr lang="en-US" sz="1800" dirty="0">
                <a:solidFill>
                  <a:srgbClr val="C00000"/>
                </a:solidFill>
              </a:rPr>
              <a:t>Yet, if my home network is compromised, I would hope my entire house isn’t compromised too… This is a dealbreaker for me; I want my devices and automations to be controlled locally by me only.</a:t>
            </a:r>
          </a:p>
        </p:txBody>
      </p:sp>
      <p:sp>
        <p:nvSpPr>
          <p:cNvPr id="6" name="Footer Placeholder 3">
            <a:extLst>
              <a:ext uri="{FF2B5EF4-FFF2-40B4-BE49-F238E27FC236}">
                <a16:creationId xmlns:a16="http://schemas.microsoft.com/office/drawing/2014/main" id="{786CB3EB-3566-8741-4202-9A1B33C33830}"/>
              </a:ext>
            </a:extLst>
          </p:cNvPr>
          <p:cNvSpPr>
            <a:spLocks noGrp="1"/>
          </p:cNvSpPr>
          <p:nvPr>
            <p:ph type="ftr" sz="quarter" idx="3"/>
          </p:nvPr>
        </p:nvSpPr>
        <p:spPr>
          <a:xfrm>
            <a:off x="2519853" y="6441192"/>
            <a:ext cx="8684173" cy="365125"/>
          </a:xfrm>
        </p:spPr>
        <p:txBody>
          <a:bodyPr/>
          <a:lstStyle/>
          <a:p>
            <a:r>
              <a:rPr lang="en-US"/>
              <a:t>Final Project | Topics in Computer Science II | Fall 2025, University of Iowa</a:t>
            </a:r>
            <a:endParaRPr lang="en-US" dirty="0"/>
          </a:p>
        </p:txBody>
      </p:sp>
      <p:sp>
        <p:nvSpPr>
          <p:cNvPr id="3" name="TextBox 2">
            <a:extLst>
              <a:ext uri="{FF2B5EF4-FFF2-40B4-BE49-F238E27FC236}">
                <a16:creationId xmlns:a16="http://schemas.microsoft.com/office/drawing/2014/main" id="{3EE5837F-6CCD-D74B-7064-1C4C34396DB4}"/>
              </a:ext>
            </a:extLst>
          </p:cNvPr>
          <p:cNvSpPr txBox="1"/>
          <p:nvPr/>
        </p:nvSpPr>
        <p:spPr>
          <a:xfrm>
            <a:off x="9978373" y="62953"/>
            <a:ext cx="1500732" cy="307777"/>
          </a:xfrm>
          <a:prstGeom prst="rect">
            <a:avLst/>
          </a:prstGeom>
          <a:noFill/>
        </p:spPr>
        <p:txBody>
          <a:bodyPr wrap="none" rtlCol="0">
            <a:spAutoFit/>
          </a:bodyPr>
          <a:lstStyle/>
          <a:p>
            <a:r>
              <a:rPr lang="en-US" sz="1400" dirty="0">
                <a:hlinkClick r:id="rId2" action="ppaction://hlinksldjump"/>
              </a:rPr>
              <a:t>Sources:</a:t>
            </a:r>
            <a:r>
              <a:rPr lang="en-US" sz="1400" dirty="0"/>
              <a:t> [1], [12]</a:t>
            </a:r>
          </a:p>
        </p:txBody>
      </p:sp>
    </p:spTree>
    <p:extLst>
      <p:ext uri="{BB962C8B-B14F-4D97-AF65-F5344CB8AC3E}">
        <p14:creationId xmlns:p14="http://schemas.microsoft.com/office/powerpoint/2010/main" val="15802835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49225-55DF-CAE5-55FE-5C7072766A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3A7DE9-B22B-8674-BD70-C9D46C60D798}"/>
              </a:ext>
            </a:extLst>
          </p:cNvPr>
          <p:cNvSpPr>
            <a:spLocks noGrp="1"/>
          </p:cNvSpPr>
          <p:nvPr>
            <p:ph type="title"/>
          </p:nvPr>
        </p:nvSpPr>
        <p:spPr>
          <a:xfrm>
            <a:off x="949325" y="498296"/>
            <a:ext cx="10254701" cy="896116"/>
          </a:xfrm>
        </p:spPr>
        <p:txBody>
          <a:bodyPr>
            <a:normAutofit/>
          </a:bodyPr>
          <a:lstStyle/>
          <a:p>
            <a:r>
              <a:rPr lang="en-US" dirty="0"/>
              <a:t>Thread Performance</a:t>
            </a:r>
          </a:p>
        </p:txBody>
      </p:sp>
      <p:sp>
        <p:nvSpPr>
          <p:cNvPr id="5" name="Content Placeholder 4">
            <a:extLst>
              <a:ext uri="{FF2B5EF4-FFF2-40B4-BE49-F238E27FC236}">
                <a16:creationId xmlns:a16="http://schemas.microsoft.com/office/drawing/2014/main" id="{6C40E25C-485C-ABDE-CDAA-E5D89EBC4DA2}"/>
              </a:ext>
            </a:extLst>
          </p:cNvPr>
          <p:cNvSpPr>
            <a:spLocks noGrp="1"/>
          </p:cNvSpPr>
          <p:nvPr>
            <p:ph idx="1"/>
          </p:nvPr>
        </p:nvSpPr>
        <p:spPr>
          <a:xfrm>
            <a:off x="952499" y="1686757"/>
            <a:ext cx="10071101" cy="4256843"/>
          </a:xfrm>
        </p:spPr>
        <p:txBody>
          <a:bodyPr>
            <a:normAutofit/>
          </a:bodyPr>
          <a:lstStyle/>
          <a:p>
            <a:pPr marL="0" indent="0">
              <a:buNone/>
            </a:pPr>
            <a:r>
              <a:rPr lang="en-US" sz="1800" b="1" dirty="0"/>
              <a:t>Latency (shown in figure): </a:t>
            </a:r>
            <a:r>
              <a:rPr lang="en-US" sz="1800" dirty="0"/>
              <a:t>&lt;200ms (this is super fast, “instant-on” human interaction)</a:t>
            </a:r>
          </a:p>
          <a:p>
            <a:pPr marL="0" indent="0">
              <a:buNone/>
            </a:pPr>
            <a:r>
              <a:rPr lang="en-US" sz="1800" b="1" dirty="0"/>
              <a:t>Reliability: </a:t>
            </a:r>
            <a:r>
              <a:rPr lang="en-US" sz="1800" dirty="0"/>
              <a:t>stable even in high-traffic multicast environments</a:t>
            </a:r>
          </a:p>
          <a:p>
            <a:pPr marL="0" indent="0">
              <a:buNone/>
            </a:pPr>
            <a:r>
              <a:rPr lang="en-US" sz="1800" b="1" dirty="0"/>
              <a:t>Scalability: </a:t>
            </a:r>
            <a:r>
              <a:rPr lang="en-US" sz="1800" dirty="0"/>
              <a:t>performance unwavering even as network grows</a:t>
            </a:r>
          </a:p>
        </p:txBody>
      </p:sp>
      <p:sp>
        <p:nvSpPr>
          <p:cNvPr id="6" name="Footer Placeholder 3">
            <a:extLst>
              <a:ext uri="{FF2B5EF4-FFF2-40B4-BE49-F238E27FC236}">
                <a16:creationId xmlns:a16="http://schemas.microsoft.com/office/drawing/2014/main" id="{99BCAF08-4373-471B-D729-47B991C2230E}"/>
              </a:ext>
            </a:extLst>
          </p:cNvPr>
          <p:cNvSpPr>
            <a:spLocks noGrp="1"/>
          </p:cNvSpPr>
          <p:nvPr>
            <p:ph type="ftr" sz="quarter" idx="3"/>
          </p:nvPr>
        </p:nvSpPr>
        <p:spPr>
          <a:xfrm>
            <a:off x="2519853" y="6441192"/>
            <a:ext cx="8684173" cy="365125"/>
          </a:xfrm>
        </p:spPr>
        <p:txBody>
          <a:bodyPr/>
          <a:lstStyle/>
          <a:p>
            <a:r>
              <a:rPr lang="en-US"/>
              <a:t>Final Project | Topics in Computer Science II | Fall 2025, University of Iowa</a:t>
            </a:r>
            <a:endParaRPr lang="en-US" dirty="0"/>
          </a:p>
        </p:txBody>
      </p:sp>
      <p:pic>
        <p:nvPicPr>
          <p:cNvPr id="3" name="Picture 2">
            <a:extLst>
              <a:ext uri="{FF2B5EF4-FFF2-40B4-BE49-F238E27FC236}">
                <a16:creationId xmlns:a16="http://schemas.microsoft.com/office/drawing/2014/main" id="{F1F1ED03-0ADE-F0EE-EF34-677BABAD85BA}"/>
              </a:ext>
            </a:extLst>
          </p:cNvPr>
          <p:cNvPicPr>
            <a:picLocks noChangeAspect="1"/>
          </p:cNvPicPr>
          <p:nvPr/>
        </p:nvPicPr>
        <p:blipFill>
          <a:blip r:embed="rId2"/>
          <a:stretch>
            <a:fillRect/>
          </a:stretch>
        </p:blipFill>
        <p:spPr>
          <a:xfrm>
            <a:off x="1951865" y="2966596"/>
            <a:ext cx="4036184" cy="3225800"/>
          </a:xfrm>
          <a:prstGeom prst="rect">
            <a:avLst/>
          </a:prstGeom>
        </p:spPr>
      </p:pic>
      <p:sp>
        <p:nvSpPr>
          <p:cNvPr id="4" name="TextBox 3">
            <a:extLst>
              <a:ext uri="{FF2B5EF4-FFF2-40B4-BE49-F238E27FC236}">
                <a16:creationId xmlns:a16="http://schemas.microsoft.com/office/drawing/2014/main" id="{866D137E-9EF8-59A7-1F69-E951000DD11A}"/>
              </a:ext>
            </a:extLst>
          </p:cNvPr>
          <p:cNvSpPr txBox="1"/>
          <p:nvPr/>
        </p:nvSpPr>
        <p:spPr>
          <a:xfrm>
            <a:off x="6782429" y="3445846"/>
            <a:ext cx="5256567" cy="646331"/>
          </a:xfrm>
          <a:prstGeom prst="rect">
            <a:avLst/>
          </a:prstGeom>
          <a:noFill/>
        </p:spPr>
        <p:txBody>
          <a:bodyPr wrap="none" rtlCol="0">
            <a:spAutoFit/>
          </a:bodyPr>
          <a:lstStyle/>
          <a:p>
            <a:r>
              <a:rPr lang="en-US" dirty="0"/>
              <a:t>This is the summary of extensive testing done by</a:t>
            </a:r>
          </a:p>
          <a:p>
            <a:r>
              <a:rPr lang="en-US" dirty="0"/>
              <a:t>Silicon Labs: </a:t>
            </a:r>
            <a:r>
              <a:rPr lang="en-US" dirty="0">
                <a:hlinkClick r:id="rId3"/>
              </a:rPr>
              <a:t>Thread Mesh Network Performance</a:t>
            </a:r>
            <a:r>
              <a:rPr lang="en-US" dirty="0"/>
              <a:t> </a:t>
            </a:r>
          </a:p>
        </p:txBody>
      </p:sp>
      <p:sp>
        <p:nvSpPr>
          <p:cNvPr id="7" name="TextBox 6">
            <a:extLst>
              <a:ext uri="{FF2B5EF4-FFF2-40B4-BE49-F238E27FC236}">
                <a16:creationId xmlns:a16="http://schemas.microsoft.com/office/drawing/2014/main" id="{A61DF3C1-2C66-A403-AD6D-DA3A577B32D2}"/>
              </a:ext>
            </a:extLst>
          </p:cNvPr>
          <p:cNvSpPr txBox="1"/>
          <p:nvPr/>
        </p:nvSpPr>
        <p:spPr>
          <a:xfrm>
            <a:off x="9978373" y="96819"/>
            <a:ext cx="1122423" cy="307777"/>
          </a:xfrm>
          <a:prstGeom prst="rect">
            <a:avLst/>
          </a:prstGeom>
          <a:noFill/>
        </p:spPr>
        <p:txBody>
          <a:bodyPr wrap="none" rtlCol="0">
            <a:spAutoFit/>
          </a:bodyPr>
          <a:lstStyle/>
          <a:p>
            <a:r>
              <a:rPr lang="en-US" sz="1400" dirty="0">
                <a:hlinkClick r:id="rId4" action="ppaction://hlinksldjump"/>
              </a:rPr>
              <a:t>Sources:</a:t>
            </a:r>
            <a:r>
              <a:rPr lang="en-US" sz="1400" dirty="0"/>
              <a:t> [2]</a:t>
            </a:r>
          </a:p>
        </p:txBody>
      </p:sp>
    </p:spTree>
    <p:extLst>
      <p:ext uri="{BB962C8B-B14F-4D97-AF65-F5344CB8AC3E}">
        <p14:creationId xmlns:p14="http://schemas.microsoft.com/office/powerpoint/2010/main" val="13283959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5FF84-B399-0D81-101C-B39CDB41E1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C05CF6-8EDC-BCCE-0820-F2D2BF3C1D60}"/>
              </a:ext>
            </a:extLst>
          </p:cNvPr>
          <p:cNvSpPr>
            <a:spLocks noGrp="1"/>
          </p:cNvSpPr>
          <p:nvPr>
            <p:ph type="title"/>
          </p:nvPr>
        </p:nvSpPr>
        <p:spPr>
          <a:xfrm>
            <a:off x="949325" y="498296"/>
            <a:ext cx="10254701" cy="896116"/>
          </a:xfrm>
        </p:spPr>
        <p:txBody>
          <a:bodyPr>
            <a:normAutofit/>
          </a:bodyPr>
          <a:lstStyle/>
          <a:p>
            <a:r>
              <a:rPr lang="en-US" dirty="0"/>
              <a:t>Thread Membership</a:t>
            </a:r>
          </a:p>
        </p:txBody>
      </p:sp>
      <p:pic>
        <p:nvPicPr>
          <p:cNvPr id="7" name="Content Placeholder 6">
            <a:extLst>
              <a:ext uri="{FF2B5EF4-FFF2-40B4-BE49-F238E27FC236}">
                <a16:creationId xmlns:a16="http://schemas.microsoft.com/office/drawing/2014/main" id="{4DB3AD25-0AD8-6F0A-9B31-F74EABC6C9A9}"/>
              </a:ext>
            </a:extLst>
          </p:cNvPr>
          <p:cNvPicPr>
            <a:picLocks noGrp="1" noChangeAspect="1"/>
          </p:cNvPicPr>
          <p:nvPr>
            <p:ph idx="1"/>
          </p:nvPr>
        </p:nvPicPr>
        <p:blipFill>
          <a:blip r:embed="rId2"/>
          <a:stretch>
            <a:fillRect/>
          </a:stretch>
        </p:blipFill>
        <p:spPr>
          <a:xfrm>
            <a:off x="5572125" y="1308878"/>
            <a:ext cx="6467712" cy="5002243"/>
          </a:xfrm>
          <a:prstGeom prst="rect">
            <a:avLst/>
          </a:prstGeom>
        </p:spPr>
      </p:pic>
      <p:sp>
        <p:nvSpPr>
          <p:cNvPr id="6" name="Footer Placeholder 3">
            <a:extLst>
              <a:ext uri="{FF2B5EF4-FFF2-40B4-BE49-F238E27FC236}">
                <a16:creationId xmlns:a16="http://schemas.microsoft.com/office/drawing/2014/main" id="{AD006CF0-11DB-782C-AB7B-22CA1285FD79}"/>
              </a:ext>
            </a:extLst>
          </p:cNvPr>
          <p:cNvSpPr>
            <a:spLocks noGrp="1"/>
          </p:cNvSpPr>
          <p:nvPr>
            <p:ph type="ftr" sz="quarter" idx="3"/>
          </p:nvPr>
        </p:nvSpPr>
        <p:spPr>
          <a:xfrm>
            <a:off x="2519853" y="6441192"/>
            <a:ext cx="8684173" cy="365125"/>
          </a:xfrm>
        </p:spPr>
        <p:txBody>
          <a:bodyPr/>
          <a:lstStyle/>
          <a:p>
            <a:r>
              <a:rPr lang="en-US"/>
              <a:t>Final Project | Topics in Computer Science II | Fall 2025, University of Iowa</a:t>
            </a:r>
            <a:endParaRPr lang="en-US" dirty="0"/>
          </a:p>
        </p:txBody>
      </p:sp>
      <p:sp>
        <p:nvSpPr>
          <p:cNvPr id="9" name="TextBox 8">
            <a:extLst>
              <a:ext uri="{FF2B5EF4-FFF2-40B4-BE49-F238E27FC236}">
                <a16:creationId xmlns:a16="http://schemas.microsoft.com/office/drawing/2014/main" id="{07F6D67A-99D1-E6EE-D336-D0FF05EA5D3C}"/>
              </a:ext>
            </a:extLst>
          </p:cNvPr>
          <p:cNvSpPr txBox="1"/>
          <p:nvPr/>
        </p:nvSpPr>
        <p:spPr>
          <a:xfrm>
            <a:off x="952500" y="1611313"/>
            <a:ext cx="4619625" cy="2862322"/>
          </a:xfrm>
          <a:prstGeom prst="rect">
            <a:avLst/>
          </a:prstGeom>
          <a:noFill/>
        </p:spPr>
        <p:txBody>
          <a:bodyPr wrap="square">
            <a:spAutoFit/>
          </a:bodyPr>
          <a:lstStyle/>
          <a:p>
            <a:pPr marL="0" indent="0">
              <a:buNone/>
            </a:pPr>
            <a:r>
              <a:rPr lang="en-US" sz="1800" dirty="0"/>
              <a:t>This is not a concern for me as I would be simply developing a smart home using Thread devices, however the </a:t>
            </a:r>
            <a:r>
              <a:rPr lang="en-US" sz="1800" b="1" dirty="0">
                <a:hlinkClick r:id="rId3"/>
              </a:rPr>
              <a:t>Thread Group</a:t>
            </a:r>
            <a:r>
              <a:rPr lang="en-US" sz="1800" b="1" dirty="0"/>
              <a:t> </a:t>
            </a:r>
            <a:r>
              <a:rPr lang="en-US" sz="1800" dirty="0"/>
              <a:t>provides a six-tier membership.</a:t>
            </a:r>
          </a:p>
          <a:p>
            <a:pPr marL="0" indent="0">
              <a:buNone/>
            </a:pPr>
            <a:endParaRPr lang="en-US" sz="1800" dirty="0"/>
          </a:p>
          <a:p>
            <a:pPr marL="0" indent="0">
              <a:buNone/>
            </a:pPr>
            <a:r>
              <a:rPr lang="en-US" sz="1800" dirty="0"/>
              <a:t>The tiers distinguish organizations by how deeply they participate in Thread development and how much influence they have over specification, certification processes, and standard.</a:t>
            </a:r>
          </a:p>
        </p:txBody>
      </p:sp>
      <p:sp>
        <p:nvSpPr>
          <p:cNvPr id="10" name="TextBox 9">
            <a:extLst>
              <a:ext uri="{FF2B5EF4-FFF2-40B4-BE49-F238E27FC236}">
                <a16:creationId xmlns:a16="http://schemas.microsoft.com/office/drawing/2014/main" id="{4A1DA90F-F64F-1290-0118-A774D9B68973}"/>
              </a:ext>
            </a:extLst>
          </p:cNvPr>
          <p:cNvSpPr txBox="1"/>
          <p:nvPr/>
        </p:nvSpPr>
        <p:spPr>
          <a:xfrm>
            <a:off x="9978373" y="113752"/>
            <a:ext cx="1601721" cy="307777"/>
          </a:xfrm>
          <a:prstGeom prst="rect">
            <a:avLst/>
          </a:prstGeom>
          <a:noFill/>
        </p:spPr>
        <p:txBody>
          <a:bodyPr wrap="none" rtlCol="0">
            <a:spAutoFit/>
          </a:bodyPr>
          <a:lstStyle/>
          <a:p>
            <a:r>
              <a:rPr lang="en-US" sz="1400" dirty="0">
                <a:hlinkClick r:id="rId4" action="ppaction://hlinksldjump"/>
              </a:rPr>
              <a:t>Sources:</a:t>
            </a:r>
            <a:r>
              <a:rPr lang="en-US" sz="1400" dirty="0"/>
              <a:t> [12], [15]</a:t>
            </a:r>
          </a:p>
        </p:txBody>
      </p:sp>
    </p:spTree>
    <p:extLst>
      <p:ext uri="{BB962C8B-B14F-4D97-AF65-F5344CB8AC3E}">
        <p14:creationId xmlns:p14="http://schemas.microsoft.com/office/powerpoint/2010/main" val="25655758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406F7-35BF-C2E3-89F5-BDAC2F3BC6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C9B86F-466D-6890-4E89-B59998880804}"/>
              </a:ext>
            </a:extLst>
          </p:cNvPr>
          <p:cNvSpPr>
            <a:spLocks noGrp="1"/>
          </p:cNvSpPr>
          <p:nvPr>
            <p:ph type="title"/>
          </p:nvPr>
        </p:nvSpPr>
        <p:spPr>
          <a:xfrm>
            <a:off x="949325" y="498296"/>
            <a:ext cx="5260975" cy="896116"/>
          </a:xfrm>
        </p:spPr>
        <p:txBody>
          <a:bodyPr/>
          <a:lstStyle/>
          <a:p>
            <a:r>
              <a:rPr lang="en-US" dirty="0"/>
              <a:t>Thread Summary</a:t>
            </a:r>
          </a:p>
        </p:txBody>
      </p:sp>
      <p:sp>
        <p:nvSpPr>
          <p:cNvPr id="5" name="Content Placeholder 4">
            <a:extLst>
              <a:ext uri="{FF2B5EF4-FFF2-40B4-BE49-F238E27FC236}">
                <a16:creationId xmlns:a16="http://schemas.microsoft.com/office/drawing/2014/main" id="{BA4EEC65-EA94-E7ED-E43E-A08092D06AE7}"/>
              </a:ext>
            </a:extLst>
          </p:cNvPr>
          <p:cNvSpPr>
            <a:spLocks noGrp="1"/>
          </p:cNvSpPr>
          <p:nvPr>
            <p:ph idx="1"/>
          </p:nvPr>
        </p:nvSpPr>
        <p:spPr>
          <a:xfrm>
            <a:off x="952499" y="1686757"/>
            <a:ext cx="10922001" cy="4256843"/>
          </a:xfrm>
        </p:spPr>
        <p:txBody>
          <a:bodyPr>
            <a:normAutofit fontScale="77500" lnSpcReduction="20000"/>
          </a:bodyPr>
          <a:lstStyle/>
          <a:p>
            <a:pPr marL="0" indent="0">
              <a:buNone/>
            </a:pPr>
            <a:r>
              <a:rPr lang="en-US" b="1" dirty="0"/>
              <a:t>Architecture:</a:t>
            </a:r>
          </a:p>
          <a:p>
            <a:r>
              <a:rPr lang="en-US" dirty="0"/>
              <a:t>802.15.4 + IPv6</a:t>
            </a:r>
          </a:p>
          <a:p>
            <a:endParaRPr lang="en-US" dirty="0"/>
          </a:p>
          <a:p>
            <a:pPr marL="0" indent="0">
              <a:buNone/>
            </a:pPr>
            <a:r>
              <a:rPr lang="en-US" b="1" dirty="0"/>
              <a:t>Security:</a:t>
            </a:r>
          </a:p>
          <a:p>
            <a:r>
              <a:rPr lang="en-US" dirty="0"/>
              <a:t>Thread Border Router accessible via internet</a:t>
            </a:r>
          </a:p>
          <a:p>
            <a:pPr marL="0" indent="0">
              <a:buNone/>
            </a:pPr>
            <a:endParaRPr lang="en-US" dirty="0"/>
          </a:p>
          <a:p>
            <a:pPr marL="0" indent="0">
              <a:buNone/>
            </a:pPr>
            <a:r>
              <a:rPr lang="en-US" b="1" dirty="0"/>
              <a:t>Performance:</a:t>
            </a:r>
          </a:p>
          <a:p>
            <a:r>
              <a:rPr lang="en-US" dirty="0"/>
              <a:t>Extremely fast and scalable</a:t>
            </a:r>
          </a:p>
          <a:p>
            <a:pPr marL="0" indent="0">
              <a:buNone/>
            </a:pPr>
            <a:endParaRPr lang="en-US" dirty="0"/>
          </a:p>
          <a:p>
            <a:pPr marL="0" indent="0">
              <a:buNone/>
            </a:pPr>
            <a:r>
              <a:rPr lang="en-US" b="1" dirty="0"/>
              <a:t>Personal Comment: </a:t>
            </a:r>
          </a:p>
          <a:p>
            <a:r>
              <a:rPr lang="en-US" dirty="0"/>
              <a:t>At this point in time, I do not want </a:t>
            </a:r>
            <a:r>
              <a:rPr lang="en-US" dirty="0" err="1"/>
              <a:t>WiFi</a:t>
            </a:r>
            <a:r>
              <a:rPr lang="en-US" dirty="0"/>
              <a:t> enabled smart devices. </a:t>
            </a:r>
            <a:r>
              <a:rPr lang="en-US" b="1" dirty="0">
                <a:solidFill>
                  <a:srgbClr val="C00000"/>
                </a:solidFill>
              </a:rPr>
              <a:t>Thread is not for me</a:t>
            </a:r>
          </a:p>
          <a:p>
            <a:endParaRPr lang="en-US" dirty="0"/>
          </a:p>
        </p:txBody>
      </p:sp>
      <p:sp>
        <p:nvSpPr>
          <p:cNvPr id="6" name="Footer Placeholder 3">
            <a:extLst>
              <a:ext uri="{FF2B5EF4-FFF2-40B4-BE49-F238E27FC236}">
                <a16:creationId xmlns:a16="http://schemas.microsoft.com/office/drawing/2014/main" id="{AA05C29E-FAC7-554D-256C-F3CE921884EB}"/>
              </a:ext>
            </a:extLst>
          </p:cNvPr>
          <p:cNvSpPr>
            <a:spLocks noGrp="1"/>
          </p:cNvSpPr>
          <p:nvPr>
            <p:ph type="ftr" sz="quarter" idx="3"/>
          </p:nvPr>
        </p:nvSpPr>
        <p:spPr>
          <a:xfrm>
            <a:off x="2519853" y="6441192"/>
            <a:ext cx="8684173" cy="365125"/>
          </a:xfrm>
        </p:spPr>
        <p:txBody>
          <a:bodyPr/>
          <a:lstStyle/>
          <a:p>
            <a:r>
              <a:rPr lang="en-US"/>
              <a:t>Final Project | Topics in Computer Science II | Fall 2025, University of Iowa</a:t>
            </a:r>
            <a:endParaRPr lang="en-US" dirty="0"/>
          </a:p>
        </p:txBody>
      </p:sp>
      <p:pic>
        <p:nvPicPr>
          <p:cNvPr id="7" name="Picture 4" descr="An Introduction to Thread | Symmetry Electronics">
            <a:extLst>
              <a:ext uri="{FF2B5EF4-FFF2-40B4-BE49-F238E27FC236}">
                <a16:creationId xmlns:a16="http://schemas.microsoft.com/office/drawing/2014/main" id="{C49E6149-D40F-32C3-02B3-E44C2AFD87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10525" y="1896536"/>
            <a:ext cx="3064928" cy="153246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2EA5A5B-78C4-5BBD-5156-A5C771793F9B}"/>
              </a:ext>
            </a:extLst>
          </p:cNvPr>
          <p:cNvSpPr txBox="1"/>
          <p:nvPr/>
        </p:nvSpPr>
        <p:spPr>
          <a:xfrm>
            <a:off x="9657332" y="88919"/>
            <a:ext cx="2534668" cy="307777"/>
          </a:xfrm>
          <a:prstGeom prst="rect">
            <a:avLst/>
          </a:prstGeom>
          <a:noFill/>
        </p:spPr>
        <p:txBody>
          <a:bodyPr wrap="none" rtlCol="0">
            <a:spAutoFit/>
          </a:bodyPr>
          <a:lstStyle/>
          <a:p>
            <a:r>
              <a:rPr lang="en-US" sz="1400" dirty="0">
                <a:hlinkClick r:id="rId3" action="ppaction://hlinksldjump"/>
              </a:rPr>
              <a:t>Sources:</a:t>
            </a:r>
            <a:r>
              <a:rPr lang="en-US" sz="1400" dirty="0"/>
              <a:t> [1], [2], [12], [15], [16]</a:t>
            </a:r>
          </a:p>
        </p:txBody>
      </p:sp>
    </p:spTree>
    <p:extLst>
      <p:ext uri="{BB962C8B-B14F-4D97-AF65-F5344CB8AC3E}">
        <p14:creationId xmlns:p14="http://schemas.microsoft.com/office/powerpoint/2010/main" val="42426887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CE7EC-6601-D979-BA31-9FD08ED9F9C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44438AD-2003-9C51-A507-4AD843071552}"/>
              </a:ext>
            </a:extLst>
          </p:cNvPr>
          <p:cNvSpPr>
            <a:spLocks noGrp="1"/>
          </p:cNvSpPr>
          <p:nvPr>
            <p:ph type="ctrTitle"/>
          </p:nvPr>
        </p:nvSpPr>
        <p:spPr>
          <a:xfrm>
            <a:off x="952500" y="2805221"/>
            <a:ext cx="10286999" cy="759906"/>
          </a:xfrm>
        </p:spPr>
        <p:txBody>
          <a:bodyPr>
            <a:normAutofit fontScale="90000"/>
          </a:bodyPr>
          <a:lstStyle/>
          <a:p>
            <a:r>
              <a:rPr lang="en-US" dirty="0"/>
              <a:t>Zigbee</a:t>
            </a:r>
          </a:p>
        </p:txBody>
      </p:sp>
      <p:sp>
        <p:nvSpPr>
          <p:cNvPr id="5" name="Subtitle 4">
            <a:extLst>
              <a:ext uri="{FF2B5EF4-FFF2-40B4-BE49-F238E27FC236}">
                <a16:creationId xmlns:a16="http://schemas.microsoft.com/office/drawing/2014/main" id="{6F31C325-CCFF-A561-D1ED-95A846200BEB}"/>
              </a:ext>
            </a:extLst>
          </p:cNvPr>
          <p:cNvSpPr>
            <a:spLocks noGrp="1"/>
          </p:cNvSpPr>
          <p:nvPr>
            <p:ph type="subTitle" idx="1"/>
          </p:nvPr>
        </p:nvSpPr>
        <p:spPr>
          <a:xfrm>
            <a:off x="952500" y="3791876"/>
            <a:ext cx="10286999" cy="407460"/>
          </a:xfrm>
        </p:spPr>
        <p:txBody>
          <a:bodyPr/>
          <a:lstStyle/>
          <a:p>
            <a:r>
              <a:rPr lang="en-US" dirty="0"/>
              <a:t>Protocol 2/3</a:t>
            </a:r>
          </a:p>
        </p:txBody>
      </p:sp>
    </p:spTree>
    <p:extLst>
      <p:ext uri="{BB962C8B-B14F-4D97-AF65-F5344CB8AC3E}">
        <p14:creationId xmlns:p14="http://schemas.microsoft.com/office/powerpoint/2010/main" val="26176823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E2641-0A28-0297-9779-7838C429CF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541A99-2937-AA96-6711-B230452072D5}"/>
              </a:ext>
            </a:extLst>
          </p:cNvPr>
          <p:cNvSpPr>
            <a:spLocks noGrp="1"/>
          </p:cNvSpPr>
          <p:nvPr>
            <p:ph type="title"/>
          </p:nvPr>
        </p:nvSpPr>
        <p:spPr>
          <a:xfrm>
            <a:off x="949325" y="498296"/>
            <a:ext cx="5260975" cy="896116"/>
          </a:xfrm>
        </p:spPr>
        <p:txBody>
          <a:bodyPr/>
          <a:lstStyle/>
          <a:p>
            <a:r>
              <a:rPr lang="en-US" dirty="0"/>
              <a:t>Zigbee Background</a:t>
            </a:r>
          </a:p>
        </p:txBody>
      </p:sp>
      <p:sp>
        <p:nvSpPr>
          <p:cNvPr id="5" name="Content Placeholder 4">
            <a:extLst>
              <a:ext uri="{FF2B5EF4-FFF2-40B4-BE49-F238E27FC236}">
                <a16:creationId xmlns:a16="http://schemas.microsoft.com/office/drawing/2014/main" id="{E54ECB3C-FB54-29ED-A4B5-7075A391885D}"/>
              </a:ext>
            </a:extLst>
          </p:cNvPr>
          <p:cNvSpPr>
            <a:spLocks noGrp="1"/>
          </p:cNvSpPr>
          <p:nvPr>
            <p:ph idx="1"/>
          </p:nvPr>
        </p:nvSpPr>
        <p:spPr>
          <a:xfrm>
            <a:off x="952499" y="1686757"/>
            <a:ext cx="10251527" cy="4256843"/>
          </a:xfrm>
        </p:spPr>
        <p:txBody>
          <a:bodyPr>
            <a:normAutofit fontScale="92500" lnSpcReduction="20000"/>
          </a:bodyPr>
          <a:lstStyle/>
          <a:p>
            <a:r>
              <a:rPr lang="en-US" b="1" dirty="0"/>
              <a:t>Introduced: </a:t>
            </a:r>
            <a:r>
              <a:rPr lang="en-US" dirty="0"/>
              <a:t>June 13, 2005 </a:t>
            </a:r>
            <a:r>
              <a:rPr lang="en-US" sz="2000" dirty="0"/>
              <a:t>(Founded by Silicon Labs + six others)</a:t>
            </a:r>
          </a:p>
          <a:p>
            <a:r>
              <a:rPr lang="en-US" b="1" dirty="0"/>
              <a:t>Connectivity Standards Alliance: </a:t>
            </a:r>
            <a:r>
              <a:rPr lang="en-US" dirty="0"/>
              <a:t>maintain and publish Zigbee and Matter standard (formed 2002, formerly Zigbee Alliance)</a:t>
            </a:r>
          </a:p>
          <a:p>
            <a:pPr lvl="1"/>
            <a:endParaRPr lang="en-US" dirty="0"/>
          </a:p>
          <a:p>
            <a:pPr marL="0" indent="0">
              <a:buNone/>
            </a:pPr>
            <a:r>
              <a:rPr lang="en-US" b="1" dirty="0"/>
              <a:t>Features:</a:t>
            </a:r>
          </a:p>
          <a:p>
            <a:r>
              <a:rPr lang="en-US" dirty="0"/>
              <a:t>Chips are integrated with radios and microcontrollers </a:t>
            </a:r>
          </a:p>
          <a:p>
            <a:r>
              <a:rPr lang="en-US" dirty="0"/>
              <a:t>Includes network and application layers</a:t>
            </a:r>
          </a:p>
          <a:p>
            <a:r>
              <a:rPr lang="en-US" dirty="0"/>
              <a:t>Zigbee Device Object (ZDO) provided to manage devices, keys, and policies</a:t>
            </a:r>
          </a:p>
          <a:p>
            <a:r>
              <a:rPr lang="en-US" dirty="0"/>
              <a:t>Source routing</a:t>
            </a:r>
          </a:p>
        </p:txBody>
      </p:sp>
      <p:sp>
        <p:nvSpPr>
          <p:cNvPr id="6" name="Footer Placeholder 3">
            <a:extLst>
              <a:ext uri="{FF2B5EF4-FFF2-40B4-BE49-F238E27FC236}">
                <a16:creationId xmlns:a16="http://schemas.microsoft.com/office/drawing/2014/main" id="{FC7B02B6-1FAF-68D4-C3F9-C9AB94B74C48}"/>
              </a:ext>
            </a:extLst>
          </p:cNvPr>
          <p:cNvSpPr>
            <a:spLocks noGrp="1"/>
          </p:cNvSpPr>
          <p:nvPr>
            <p:ph type="ftr" sz="quarter" idx="3"/>
          </p:nvPr>
        </p:nvSpPr>
        <p:spPr>
          <a:xfrm>
            <a:off x="2519853" y="6441192"/>
            <a:ext cx="8684173" cy="365125"/>
          </a:xfrm>
        </p:spPr>
        <p:txBody>
          <a:bodyPr/>
          <a:lstStyle/>
          <a:p>
            <a:r>
              <a:rPr lang="en-US"/>
              <a:t>Final Project | Topics in Computer Science II | Fall 2025, University of Iowa</a:t>
            </a:r>
            <a:endParaRPr lang="en-US" dirty="0"/>
          </a:p>
        </p:txBody>
      </p:sp>
      <p:pic>
        <p:nvPicPr>
          <p:cNvPr id="3" name="Picture 6" descr="Zigbee 101 - Tout ce que vous devez savoir – Sinopé Technologies">
            <a:extLst>
              <a:ext uri="{FF2B5EF4-FFF2-40B4-BE49-F238E27FC236}">
                <a16:creationId xmlns:a16="http://schemas.microsoft.com/office/drawing/2014/main" id="{8365032E-6E5C-0B26-85A4-535CD1A2146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391" t="21490" r="6818" b="27263"/>
          <a:stretch>
            <a:fillRect/>
          </a:stretch>
        </p:blipFill>
        <p:spPr bwMode="auto">
          <a:xfrm>
            <a:off x="8983574" y="51683"/>
            <a:ext cx="3208426" cy="132403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43144DF5-817D-AC29-C86B-D891A1662EAE}"/>
              </a:ext>
            </a:extLst>
          </p:cNvPr>
          <p:cNvSpPr txBox="1"/>
          <p:nvPr/>
        </p:nvSpPr>
        <p:spPr>
          <a:xfrm>
            <a:off x="9978373" y="96819"/>
            <a:ext cx="1535998" cy="307777"/>
          </a:xfrm>
          <a:prstGeom prst="rect">
            <a:avLst/>
          </a:prstGeom>
          <a:noFill/>
        </p:spPr>
        <p:txBody>
          <a:bodyPr wrap="none" rtlCol="0">
            <a:spAutoFit/>
          </a:bodyPr>
          <a:lstStyle/>
          <a:p>
            <a:r>
              <a:rPr lang="en-US" sz="1400" dirty="0">
                <a:hlinkClick r:id="rId3" action="ppaction://hlinksldjump"/>
              </a:rPr>
              <a:t>Sources:</a:t>
            </a:r>
            <a:r>
              <a:rPr lang="en-US" sz="1400" dirty="0"/>
              <a:t> [10], [6]</a:t>
            </a:r>
          </a:p>
        </p:txBody>
      </p:sp>
    </p:spTree>
    <p:extLst>
      <p:ext uri="{BB962C8B-B14F-4D97-AF65-F5344CB8AC3E}">
        <p14:creationId xmlns:p14="http://schemas.microsoft.com/office/powerpoint/2010/main" val="42843791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C422A-C7D1-8565-78CE-E0CF384C0E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2C68F6-8111-1AD5-49DA-114297541825}"/>
              </a:ext>
            </a:extLst>
          </p:cNvPr>
          <p:cNvSpPr>
            <a:spLocks noGrp="1"/>
          </p:cNvSpPr>
          <p:nvPr>
            <p:ph type="title"/>
          </p:nvPr>
        </p:nvSpPr>
        <p:spPr>
          <a:xfrm>
            <a:off x="949325" y="498296"/>
            <a:ext cx="8347075" cy="896116"/>
          </a:xfrm>
        </p:spPr>
        <p:txBody>
          <a:bodyPr>
            <a:normAutofit/>
          </a:bodyPr>
          <a:lstStyle/>
          <a:p>
            <a:r>
              <a:rPr lang="en-US" dirty="0"/>
              <a:t>Zigbee Device Nomenclature</a:t>
            </a:r>
          </a:p>
        </p:txBody>
      </p:sp>
      <p:sp>
        <p:nvSpPr>
          <p:cNvPr id="5" name="Content Placeholder 4">
            <a:extLst>
              <a:ext uri="{FF2B5EF4-FFF2-40B4-BE49-F238E27FC236}">
                <a16:creationId xmlns:a16="http://schemas.microsoft.com/office/drawing/2014/main" id="{0A3C3DE5-B592-54E3-C5CC-C7EE5614E810}"/>
              </a:ext>
            </a:extLst>
          </p:cNvPr>
          <p:cNvSpPr>
            <a:spLocks noGrp="1"/>
          </p:cNvSpPr>
          <p:nvPr>
            <p:ph idx="1"/>
          </p:nvPr>
        </p:nvSpPr>
        <p:spPr>
          <a:xfrm>
            <a:off x="952499" y="1686757"/>
            <a:ext cx="10251527" cy="4256843"/>
          </a:xfrm>
        </p:spPr>
        <p:txBody>
          <a:bodyPr>
            <a:normAutofit/>
          </a:bodyPr>
          <a:lstStyle/>
          <a:p>
            <a:pPr marL="514350" indent="-514350">
              <a:buAutoNum type="arabicPeriod"/>
            </a:pPr>
            <a:r>
              <a:rPr lang="en-US" sz="2000" b="1" dirty="0"/>
              <a:t>Coordinator: </a:t>
            </a:r>
            <a:r>
              <a:rPr lang="en-US" sz="2000" dirty="0"/>
              <a:t>configures Zigbee network. Assigns and manages network addresses. Always-on “brain”.</a:t>
            </a:r>
          </a:p>
          <a:p>
            <a:pPr marL="514350" indent="-514350">
              <a:buAutoNum type="arabicPeriod"/>
            </a:pPr>
            <a:r>
              <a:rPr lang="en-US" sz="2000" b="1" dirty="0"/>
              <a:t>Router (relay): </a:t>
            </a:r>
            <a:r>
              <a:rPr lang="en-US" sz="2000" dirty="0"/>
              <a:t>full-function node that forwards packets to extend coverage and redundancy.</a:t>
            </a:r>
          </a:p>
          <a:p>
            <a:pPr marL="514350" indent="-514350">
              <a:buAutoNum type="arabicPeriod"/>
            </a:pPr>
            <a:r>
              <a:rPr lang="en-US" sz="2000" b="1" dirty="0"/>
              <a:t>End Device (leaf): </a:t>
            </a:r>
            <a:r>
              <a:rPr lang="en-US" sz="2000" dirty="0"/>
              <a:t>simple node that only sends and receives data via its parent (coordinator or router). Never forwards traffic for others.  </a:t>
            </a:r>
          </a:p>
          <a:p>
            <a:pPr marL="514350" indent="-514350">
              <a:buAutoNum type="arabicPeriod"/>
            </a:pPr>
            <a:r>
              <a:rPr lang="en-US" sz="2000" b="1" dirty="0"/>
              <a:t>Gateway/Hub: </a:t>
            </a:r>
            <a:r>
              <a:rPr lang="en-US" sz="2000" dirty="0"/>
              <a:t>border device that combines Zigbee coordinator with IP interface to expose Zigbee mesh to external systems </a:t>
            </a:r>
          </a:p>
        </p:txBody>
      </p:sp>
      <p:sp>
        <p:nvSpPr>
          <p:cNvPr id="6" name="Footer Placeholder 3">
            <a:extLst>
              <a:ext uri="{FF2B5EF4-FFF2-40B4-BE49-F238E27FC236}">
                <a16:creationId xmlns:a16="http://schemas.microsoft.com/office/drawing/2014/main" id="{57A06ADF-0901-314C-C2FF-7677EF818ABE}"/>
              </a:ext>
            </a:extLst>
          </p:cNvPr>
          <p:cNvSpPr>
            <a:spLocks noGrp="1"/>
          </p:cNvSpPr>
          <p:nvPr>
            <p:ph type="ftr" sz="quarter" idx="3"/>
          </p:nvPr>
        </p:nvSpPr>
        <p:spPr>
          <a:xfrm>
            <a:off x="2519853" y="6441192"/>
            <a:ext cx="8684173" cy="365125"/>
          </a:xfrm>
        </p:spPr>
        <p:txBody>
          <a:bodyPr/>
          <a:lstStyle/>
          <a:p>
            <a:r>
              <a:rPr lang="en-US"/>
              <a:t>Final Project | Topics in Computer Science II | Fall 2025, University of Iowa</a:t>
            </a:r>
            <a:endParaRPr lang="en-US" dirty="0"/>
          </a:p>
        </p:txBody>
      </p:sp>
      <p:sp>
        <p:nvSpPr>
          <p:cNvPr id="4" name="TextBox 3">
            <a:extLst>
              <a:ext uri="{FF2B5EF4-FFF2-40B4-BE49-F238E27FC236}">
                <a16:creationId xmlns:a16="http://schemas.microsoft.com/office/drawing/2014/main" id="{1638A3B6-B71A-8836-A91B-AD17FBD3A3AE}"/>
              </a:ext>
            </a:extLst>
          </p:cNvPr>
          <p:cNvSpPr txBox="1"/>
          <p:nvPr/>
        </p:nvSpPr>
        <p:spPr>
          <a:xfrm>
            <a:off x="9978373" y="96819"/>
            <a:ext cx="1122423" cy="307777"/>
          </a:xfrm>
          <a:prstGeom prst="rect">
            <a:avLst/>
          </a:prstGeom>
          <a:noFill/>
        </p:spPr>
        <p:txBody>
          <a:bodyPr wrap="none" rtlCol="0">
            <a:spAutoFit/>
          </a:bodyPr>
          <a:lstStyle/>
          <a:p>
            <a:r>
              <a:rPr lang="en-US" sz="1400" dirty="0">
                <a:hlinkClick r:id="rId2" action="ppaction://hlinksldjump"/>
              </a:rPr>
              <a:t>Sources:</a:t>
            </a:r>
            <a:r>
              <a:rPr lang="en-US" sz="1400" dirty="0"/>
              <a:t> [6]</a:t>
            </a:r>
          </a:p>
        </p:txBody>
      </p:sp>
    </p:spTree>
    <p:extLst>
      <p:ext uri="{BB962C8B-B14F-4D97-AF65-F5344CB8AC3E}">
        <p14:creationId xmlns:p14="http://schemas.microsoft.com/office/powerpoint/2010/main" val="39113133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B90F6-8140-AF2D-69E2-1A470026B3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0D1150-6ECD-F652-58A5-0E6D39F90EFF}"/>
              </a:ext>
            </a:extLst>
          </p:cNvPr>
          <p:cNvSpPr>
            <a:spLocks noGrp="1"/>
          </p:cNvSpPr>
          <p:nvPr>
            <p:ph type="title"/>
          </p:nvPr>
        </p:nvSpPr>
        <p:spPr>
          <a:xfrm>
            <a:off x="949325" y="498296"/>
            <a:ext cx="7945293" cy="896116"/>
          </a:xfrm>
        </p:spPr>
        <p:txBody>
          <a:bodyPr>
            <a:normAutofit/>
          </a:bodyPr>
          <a:lstStyle/>
          <a:p>
            <a:r>
              <a:rPr lang="en-US" dirty="0"/>
              <a:t>Zigbee Architecture - Diagram</a:t>
            </a:r>
          </a:p>
        </p:txBody>
      </p:sp>
      <p:sp>
        <p:nvSpPr>
          <p:cNvPr id="6" name="Footer Placeholder 3">
            <a:extLst>
              <a:ext uri="{FF2B5EF4-FFF2-40B4-BE49-F238E27FC236}">
                <a16:creationId xmlns:a16="http://schemas.microsoft.com/office/drawing/2014/main" id="{44F9B46E-F031-25BA-6E4B-CCFFC947C65D}"/>
              </a:ext>
            </a:extLst>
          </p:cNvPr>
          <p:cNvSpPr>
            <a:spLocks noGrp="1"/>
          </p:cNvSpPr>
          <p:nvPr>
            <p:ph type="ftr" sz="quarter" idx="3"/>
          </p:nvPr>
        </p:nvSpPr>
        <p:spPr>
          <a:xfrm>
            <a:off x="2519853" y="6441192"/>
            <a:ext cx="8684173" cy="365125"/>
          </a:xfrm>
        </p:spPr>
        <p:txBody>
          <a:bodyPr/>
          <a:lstStyle/>
          <a:p>
            <a:r>
              <a:rPr lang="en-US"/>
              <a:t>Final Project | Topics in Computer Science II | Fall 2025, University of Iowa</a:t>
            </a:r>
            <a:endParaRPr lang="en-US" dirty="0"/>
          </a:p>
        </p:txBody>
      </p:sp>
      <p:pic>
        <p:nvPicPr>
          <p:cNvPr id="3" name="Picture 2">
            <a:extLst>
              <a:ext uri="{FF2B5EF4-FFF2-40B4-BE49-F238E27FC236}">
                <a16:creationId xmlns:a16="http://schemas.microsoft.com/office/drawing/2014/main" id="{394A59DC-9FF5-5FF4-1A10-707A1378CDCC}"/>
              </a:ext>
            </a:extLst>
          </p:cNvPr>
          <p:cNvPicPr>
            <a:picLocks noChangeAspect="1"/>
          </p:cNvPicPr>
          <p:nvPr/>
        </p:nvPicPr>
        <p:blipFill>
          <a:blip r:embed="rId2"/>
          <a:stretch>
            <a:fillRect/>
          </a:stretch>
        </p:blipFill>
        <p:spPr>
          <a:xfrm>
            <a:off x="2209800" y="1394412"/>
            <a:ext cx="7772400" cy="4756754"/>
          </a:xfrm>
          <a:prstGeom prst="rect">
            <a:avLst/>
          </a:prstGeom>
        </p:spPr>
      </p:pic>
      <p:sp>
        <p:nvSpPr>
          <p:cNvPr id="4" name="TextBox 3">
            <a:extLst>
              <a:ext uri="{FF2B5EF4-FFF2-40B4-BE49-F238E27FC236}">
                <a16:creationId xmlns:a16="http://schemas.microsoft.com/office/drawing/2014/main" id="{ACB6A864-8A7D-31EF-10E9-A08FB0687E34}"/>
              </a:ext>
            </a:extLst>
          </p:cNvPr>
          <p:cNvSpPr txBox="1"/>
          <p:nvPr/>
        </p:nvSpPr>
        <p:spPr>
          <a:xfrm>
            <a:off x="9978373" y="96819"/>
            <a:ext cx="1122423" cy="307777"/>
          </a:xfrm>
          <a:prstGeom prst="rect">
            <a:avLst/>
          </a:prstGeom>
          <a:noFill/>
        </p:spPr>
        <p:txBody>
          <a:bodyPr wrap="none" rtlCol="0">
            <a:spAutoFit/>
          </a:bodyPr>
          <a:lstStyle/>
          <a:p>
            <a:r>
              <a:rPr lang="en-US" sz="1400" dirty="0">
                <a:hlinkClick r:id="rId3" action="ppaction://hlinksldjump"/>
              </a:rPr>
              <a:t>Sources:</a:t>
            </a:r>
            <a:r>
              <a:rPr lang="en-US" sz="1400" dirty="0"/>
              <a:t> [6]</a:t>
            </a:r>
          </a:p>
        </p:txBody>
      </p:sp>
    </p:spTree>
    <p:extLst>
      <p:ext uri="{BB962C8B-B14F-4D97-AF65-F5344CB8AC3E}">
        <p14:creationId xmlns:p14="http://schemas.microsoft.com/office/powerpoint/2010/main" val="22970260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283C7-AE5E-CE38-6FAD-F591409FE0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CFDF70-1B51-C67E-7A71-CEBCED4223E5}"/>
              </a:ext>
            </a:extLst>
          </p:cNvPr>
          <p:cNvSpPr>
            <a:spLocks noGrp="1"/>
          </p:cNvSpPr>
          <p:nvPr>
            <p:ph type="title"/>
          </p:nvPr>
        </p:nvSpPr>
        <p:spPr>
          <a:xfrm>
            <a:off x="949325" y="498296"/>
            <a:ext cx="7699375" cy="896116"/>
          </a:xfrm>
        </p:spPr>
        <p:txBody>
          <a:bodyPr>
            <a:normAutofit/>
          </a:bodyPr>
          <a:lstStyle/>
          <a:p>
            <a:r>
              <a:rPr lang="en-US" dirty="0"/>
              <a:t>Zigbee Architecture – High Level</a:t>
            </a:r>
          </a:p>
        </p:txBody>
      </p:sp>
      <p:sp>
        <p:nvSpPr>
          <p:cNvPr id="5" name="Content Placeholder 4">
            <a:extLst>
              <a:ext uri="{FF2B5EF4-FFF2-40B4-BE49-F238E27FC236}">
                <a16:creationId xmlns:a16="http://schemas.microsoft.com/office/drawing/2014/main" id="{EAED2B09-C98F-F600-5153-69F57B4CE315}"/>
              </a:ext>
            </a:extLst>
          </p:cNvPr>
          <p:cNvSpPr>
            <a:spLocks noGrp="1"/>
          </p:cNvSpPr>
          <p:nvPr>
            <p:ph idx="1"/>
          </p:nvPr>
        </p:nvSpPr>
        <p:spPr>
          <a:xfrm>
            <a:off x="952499" y="3276600"/>
            <a:ext cx="11036300" cy="2791004"/>
          </a:xfrm>
        </p:spPr>
        <p:txBody>
          <a:bodyPr>
            <a:normAutofit/>
          </a:bodyPr>
          <a:lstStyle/>
          <a:p>
            <a:pPr marL="0" indent="0">
              <a:buNone/>
            </a:pPr>
            <a:r>
              <a:rPr lang="en-US" sz="2000" b="1" dirty="0"/>
              <a:t>Zigbee’s Optimizations:</a:t>
            </a:r>
          </a:p>
          <a:p>
            <a:pPr marL="0" indent="0">
              <a:buNone/>
            </a:pPr>
            <a:r>
              <a:rPr lang="en-US" sz="2000" i="1" dirty="0"/>
              <a:t>Network Layer Mesh &amp; Routing </a:t>
            </a:r>
            <a:r>
              <a:rPr lang="en-US" sz="2000" dirty="0"/>
              <a:t>– adds multi-hop networking, address assignment, and self-healing routes</a:t>
            </a:r>
          </a:p>
          <a:p>
            <a:pPr marL="0" indent="0">
              <a:buNone/>
            </a:pPr>
            <a:r>
              <a:rPr lang="en-US" sz="2000" i="1" dirty="0"/>
              <a:t>Application Support Sublayer </a:t>
            </a:r>
            <a:r>
              <a:rPr lang="en-US" sz="2000" dirty="0"/>
              <a:t>– provides binding, addressing, mapping, and reliable delivery services. Acts as service bus for all applications and ZDO.</a:t>
            </a:r>
            <a:endParaRPr lang="en-US" sz="2000" i="1" dirty="0"/>
          </a:p>
          <a:p>
            <a:pPr marL="0" indent="0">
              <a:buNone/>
            </a:pPr>
            <a:r>
              <a:rPr lang="en-US" sz="2000" i="1" dirty="0"/>
              <a:t>Zigbee Device Object (ZDO) </a:t>
            </a:r>
            <a:r>
              <a:rPr lang="en-US" sz="2000" dirty="0"/>
              <a:t>– handles device and service discovery and role assignment. Central point for network management and security control.</a:t>
            </a:r>
            <a:r>
              <a:rPr lang="en-US" sz="2000" i="1" dirty="0"/>
              <a:t> </a:t>
            </a:r>
            <a:endParaRPr lang="en-US" sz="2000" dirty="0"/>
          </a:p>
        </p:txBody>
      </p:sp>
      <p:sp>
        <p:nvSpPr>
          <p:cNvPr id="6" name="Footer Placeholder 3">
            <a:extLst>
              <a:ext uri="{FF2B5EF4-FFF2-40B4-BE49-F238E27FC236}">
                <a16:creationId xmlns:a16="http://schemas.microsoft.com/office/drawing/2014/main" id="{4E3B42C2-268C-1187-7655-C9103B4A8A23}"/>
              </a:ext>
            </a:extLst>
          </p:cNvPr>
          <p:cNvSpPr>
            <a:spLocks noGrp="1"/>
          </p:cNvSpPr>
          <p:nvPr>
            <p:ph type="ftr" sz="quarter" idx="3"/>
          </p:nvPr>
        </p:nvSpPr>
        <p:spPr>
          <a:xfrm>
            <a:off x="2519853" y="6441192"/>
            <a:ext cx="8684173" cy="365125"/>
          </a:xfrm>
        </p:spPr>
        <p:txBody>
          <a:bodyPr/>
          <a:lstStyle/>
          <a:p>
            <a:r>
              <a:rPr lang="en-US"/>
              <a:t>Final Project | Topics in Computer Science II | Fall 2025, University of Iowa</a:t>
            </a:r>
            <a:endParaRPr lang="en-US" dirty="0"/>
          </a:p>
        </p:txBody>
      </p:sp>
      <p:sp>
        <p:nvSpPr>
          <p:cNvPr id="4" name="Content Placeholder 4">
            <a:extLst>
              <a:ext uri="{FF2B5EF4-FFF2-40B4-BE49-F238E27FC236}">
                <a16:creationId xmlns:a16="http://schemas.microsoft.com/office/drawing/2014/main" id="{A797E720-0B3B-4B54-D4A3-CE6776601073}"/>
              </a:ext>
            </a:extLst>
          </p:cNvPr>
          <p:cNvSpPr txBox="1">
            <a:spLocks/>
          </p:cNvSpPr>
          <p:nvPr/>
        </p:nvSpPr>
        <p:spPr>
          <a:xfrm>
            <a:off x="987975" y="1676400"/>
            <a:ext cx="5260976" cy="2170406"/>
          </a:xfrm>
          <a:prstGeom prst="rect">
            <a:avLst/>
          </a:prstGeom>
        </p:spPr>
        <p:txBody>
          <a:bodyPr vert="horz" lIns="0" tIns="0" rIns="0" bIns="0" rtlCol="0">
            <a:normAutofit/>
          </a:bodyPr>
          <a:lstStyle>
            <a:lvl1pPr marL="228600" indent="-228600" algn="l" defTabSz="914400" rtl="0" eaLnBrk="1" latinLnBrk="0" hangingPunct="1">
              <a:lnSpc>
                <a:spcPct val="100000"/>
              </a:lnSpc>
              <a:spcBef>
                <a:spcPts val="1000"/>
              </a:spcBef>
              <a:buClr>
                <a:schemeClr val="tx2"/>
              </a:buClr>
              <a:buSzPct val="95000"/>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Arial" panose="020B0604020202020204" pitchFamily="34" charset="0"/>
              </a:defRPr>
            </a:lvl1pPr>
            <a:lvl2pPr marL="685800" indent="-228600" algn="l" defTabSz="914400" rtl="0" eaLnBrk="1" latinLnBrk="0" hangingPunct="1">
              <a:lnSpc>
                <a:spcPct val="100000"/>
              </a:lnSpc>
              <a:spcBef>
                <a:spcPts val="500"/>
              </a:spcBef>
              <a:buClr>
                <a:schemeClr val="tx2"/>
              </a:buClr>
              <a:buSzPct val="100000"/>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Arial" panose="020B0604020202020204" pitchFamily="34" charset="0"/>
              </a:defRPr>
            </a:lvl2pPr>
            <a:lvl3pPr marL="1143000" indent="-228600" algn="l" defTabSz="914400" rtl="0" eaLnBrk="1" latinLnBrk="0" hangingPunct="1">
              <a:lnSpc>
                <a:spcPct val="100000"/>
              </a:lnSpc>
              <a:spcBef>
                <a:spcPts val="500"/>
              </a:spcBef>
              <a:buClr>
                <a:schemeClr val="tx2"/>
              </a:buClr>
              <a:buSzPct val="100000"/>
              <a:buFont typeface="Roboto" panose="02000000000000000000" pitchFamily="2" charset="0"/>
              <a:buChar char="•"/>
              <a:defRPr sz="2000" kern="1200">
                <a:solidFill>
                  <a:schemeClr val="tx1"/>
                </a:solidFill>
                <a:latin typeface="Roboto" panose="02000000000000000000" pitchFamily="2" charset="0"/>
                <a:ea typeface="Roboto" panose="02000000000000000000" pitchFamily="2" charset="0"/>
                <a:cs typeface="Arial" panose="020B0604020202020204" pitchFamily="34" charset="0"/>
              </a:defRPr>
            </a:lvl3pPr>
            <a:lvl4pPr marL="1600200" indent="-228600" algn="l" defTabSz="914400" rtl="0" eaLnBrk="1" latinLnBrk="0" hangingPunct="1">
              <a:lnSpc>
                <a:spcPct val="100000"/>
              </a:lnSpc>
              <a:spcBef>
                <a:spcPts val="500"/>
              </a:spcBef>
              <a:buClr>
                <a:schemeClr val="tx2"/>
              </a:buClr>
              <a:buSzPct val="100000"/>
              <a:buFont typeface="Roboto" panose="02000000000000000000" pitchFamily="2"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4pPr>
            <a:lvl5pPr marL="2057400" indent="-228600" algn="l" defTabSz="914400" rtl="0" eaLnBrk="1" latinLnBrk="0" hangingPunct="1">
              <a:lnSpc>
                <a:spcPct val="100000"/>
              </a:lnSpc>
              <a:spcBef>
                <a:spcPts val="500"/>
              </a:spcBef>
              <a:buClr>
                <a:schemeClr val="tx2"/>
              </a:buClr>
              <a:buSzPct val="100000"/>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t>IEEE 802.15.4 PHYS:</a:t>
            </a:r>
          </a:p>
          <a:p>
            <a:r>
              <a:rPr lang="en-US" sz="2000" dirty="0"/>
              <a:t>2.4 GHz</a:t>
            </a:r>
          </a:p>
          <a:p>
            <a:r>
              <a:rPr lang="en-US" sz="2000" dirty="0"/>
              <a:t>250 kbps</a:t>
            </a:r>
          </a:p>
        </p:txBody>
      </p:sp>
      <p:sp>
        <p:nvSpPr>
          <p:cNvPr id="7" name="Content Placeholder 4">
            <a:extLst>
              <a:ext uri="{FF2B5EF4-FFF2-40B4-BE49-F238E27FC236}">
                <a16:creationId xmlns:a16="http://schemas.microsoft.com/office/drawing/2014/main" id="{A88116DA-724B-3AD2-DF3D-DBCCF371D89F}"/>
              </a:ext>
            </a:extLst>
          </p:cNvPr>
          <p:cNvSpPr txBox="1">
            <a:spLocks/>
          </p:cNvSpPr>
          <p:nvPr/>
        </p:nvSpPr>
        <p:spPr>
          <a:xfrm>
            <a:off x="6248950" y="1676400"/>
            <a:ext cx="5739849" cy="2170406"/>
          </a:xfrm>
          <a:prstGeom prst="rect">
            <a:avLst/>
          </a:prstGeom>
        </p:spPr>
        <p:txBody>
          <a:bodyPr vert="horz" lIns="0" tIns="0" rIns="0" bIns="0" rtlCol="0">
            <a:normAutofit/>
          </a:bodyPr>
          <a:lstStyle>
            <a:lvl1pPr marL="228600" indent="-228600" algn="l" defTabSz="914400" rtl="0" eaLnBrk="1" latinLnBrk="0" hangingPunct="1">
              <a:lnSpc>
                <a:spcPct val="100000"/>
              </a:lnSpc>
              <a:spcBef>
                <a:spcPts val="1000"/>
              </a:spcBef>
              <a:buClr>
                <a:schemeClr val="tx2"/>
              </a:buClr>
              <a:buSzPct val="95000"/>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Arial" panose="020B0604020202020204" pitchFamily="34" charset="0"/>
              </a:defRPr>
            </a:lvl1pPr>
            <a:lvl2pPr marL="685800" indent="-228600" algn="l" defTabSz="914400" rtl="0" eaLnBrk="1" latinLnBrk="0" hangingPunct="1">
              <a:lnSpc>
                <a:spcPct val="100000"/>
              </a:lnSpc>
              <a:spcBef>
                <a:spcPts val="500"/>
              </a:spcBef>
              <a:buClr>
                <a:schemeClr val="tx2"/>
              </a:buClr>
              <a:buSzPct val="100000"/>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Arial" panose="020B0604020202020204" pitchFamily="34" charset="0"/>
              </a:defRPr>
            </a:lvl2pPr>
            <a:lvl3pPr marL="1143000" indent="-228600" algn="l" defTabSz="914400" rtl="0" eaLnBrk="1" latinLnBrk="0" hangingPunct="1">
              <a:lnSpc>
                <a:spcPct val="100000"/>
              </a:lnSpc>
              <a:spcBef>
                <a:spcPts val="500"/>
              </a:spcBef>
              <a:buClr>
                <a:schemeClr val="tx2"/>
              </a:buClr>
              <a:buSzPct val="100000"/>
              <a:buFont typeface="Roboto" panose="02000000000000000000" pitchFamily="2" charset="0"/>
              <a:buChar char="•"/>
              <a:defRPr sz="2000" kern="1200">
                <a:solidFill>
                  <a:schemeClr val="tx1"/>
                </a:solidFill>
                <a:latin typeface="Roboto" panose="02000000000000000000" pitchFamily="2" charset="0"/>
                <a:ea typeface="Roboto" panose="02000000000000000000" pitchFamily="2" charset="0"/>
                <a:cs typeface="Arial" panose="020B0604020202020204" pitchFamily="34" charset="0"/>
              </a:defRPr>
            </a:lvl3pPr>
            <a:lvl4pPr marL="1600200" indent="-228600" algn="l" defTabSz="914400" rtl="0" eaLnBrk="1" latinLnBrk="0" hangingPunct="1">
              <a:lnSpc>
                <a:spcPct val="100000"/>
              </a:lnSpc>
              <a:spcBef>
                <a:spcPts val="500"/>
              </a:spcBef>
              <a:buClr>
                <a:schemeClr val="tx2"/>
              </a:buClr>
              <a:buSzPct val="100000"/>
              <a:buFont typeface="Roboto" panose="02000000000000000000" pitchFamily="2"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4pPr>
            <a:lvl5pPr marL="2057400" indent="-228600" algn="l" defTabSz="914400" rtl="0" eaLnBrk="1" latinLnBrk="0" hangingPunct="1">
              <a:lnSpc>
                <a:spcPct val="100000"/>
              </a:lnSpc>
              <a:spcBef>
                <a:spcPts val="500"/>
              </a:spcBef>
              <a:buClr>
                <a:schemeClr val="tx2"/>
              </a:buClr>
              <a:buSzPct val="100000"/>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t>IEEE 802.15.4 MAC:</a:t>
            </a:r>
          </a:p>
          <a:p>
            <a:r>
              <a:rPr lang="en-US" sz="2000" dirty="0"/>
              <a:t>Carrier Sense Multiple Access (CSMA)</a:t>
            </a:r>
          </a:p>
        </p:txBody>
      </p:sp>
      <p:sp>
        <p:nvSpPr>
          <p:cNvPr id="3" name="TextBox 2">
            <a:extLst>
              <a:ext uri="{FF2B5EF4-FFF2-40B4-BE49-F238E27FC236}">
                <a16:creationId xmlns:a16="http://schemas.microsoft.com/office/drawing/2014/main" id="{FD15D084-387A-3277-0C4C-3845983A1001}"/>
              </a:ext>
            </a:extLst>
          </p:cNvPr>
          <p:cNvSpPr txBox="1"/>
          <p:nvPr/>
        </p:nvSpPr>
        <p:spPr>
          <a:xfrm>
            <a:off x="9978373" y="96819"/>
            <a:ext cx="1778051" cy="307777"/>
          </a:xfrm>
          <a:prstGeom prst="rect">
            <a:avLst/>
          </a:prstGeom>
          <a:noFill/>
        </p:spPr>
        <p:txBody>
          <a:bodyPr wrap="none" rtlCol="0">
            <a:spAutoFit/>
          </a:bodyPr>
          <a:lstStyle/>
          <a:p>
            <a:r>
              <a:rPr lang="en-US" sz="1400" dirty="0">
                <a:hlinkClick r:id="rId2" action="ppaction://hlinksldjump"/>
              </a:rPr>
              <a:t>Sources:</a:t>
            </a:r>
            <a:r>
              <a:rPr lang="en-US" sz="1400" dirty="0"/>
              <a:t> [3], [</a:t>
            </a:r>
            <a:r>
              <a:rPr lang="en-US" sz="1400"/>
              <a:t>6], [13]</a:t>
            </a:r>
            <a:endParaRPr lang="en-US" sz="1400" dirty="0"/>
          </a:p>
        </p:txBody>
      </p:sp>
    </p:spTree>
    <p:extLst>
      <p:ext uri="{BB962C8B-B14F-4D97-AF65-F5344CB8AC3E}">
        <p14:creationId xmlns:p14="http://schemas.microsoft.com/office/powerpoint/2010/main" val="25082044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2D148-E3A3-1B07-5C5F-1186BBE1E6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252095-38D9-C76F-43C5-0F7C00028AAC}"/>
              </a:ext>
            </a:extLst>
          </p:cNvPr>
          <p:cNvSpPr>
            <a:spLocks noGrp="1"/>
          </p:cNvSpPr>
          <p:nvPr>
            <p:ph type="title"/>
          </p:nvPr>
        </p:nvSpPr>
        <p:spPr>
          <a:xfrm>
            <a:off x="949325" y="498296"/>
            <a:ext cx="10813184" cy="896116"/>
          </a:xfrm>
        </p:spPr>
        <p:txBody>
          <a:bodyPr>
            <a:normAutofit fontScale="90000"/>
          </a:bodyPr>
          <a:lstStyle/>
          <a:p>
            <a:r>
              <a:rPr lang="en-US" dirty="0"/>
              <a:t>Zigbee Architecture – What Makes Zigbee Unique?</a:t>
            </a:r>
          </a:p>
        </p:txBody>
      </p:sp>
      <p:sp>
        <p:nvSpPr>
          <p:cNvPr id="5" name="Content Placeholder 4">
            <a:extLst>
              <a:ext uri="{FF2B5EF4-FFF2-40B4-BE49-F238E27FC236}">
                <a16:creationId xmlns:a16="http://schemas.microsoft.com/office/drawing/2014/main" id="{6B040492-1C64-E2FD-2C67-55D07A037DDD}"/>
              </a:ext>
            </a:extLst>
          </p:cNvPr>
          <p:cNvSpPr>
            <a:spLocks noGrp="1"/>
          </p:cNvSpPr>
          <p:nvPr>
            <p:ph idx="1"/>
          </p:nvPr>
        </p:nvSpPr>
        <p:spPr>
          <a:xfrm>
            <a:off x="952499" y="1686757"/>
            <a:ext cx="10810010" cy="4256843"/>
          </a:xfrm>
        </p:spPr>
        <p:txBody>
          <a:bodyPr>
            <a:normAutofit fontScale="85000" lnSpcReduction="10000"/>
          </a:bodyPr>
          <a:lstStyle/>
          <a:p>
            <a:pPr marL="0" indent="0">
              <a:buNone/>
            </a:pPr>
            <a:r>
              <a:rPr lang="en-US" b="1" dirty="0">
                <a:solidFill>
                  <a:srgbClr val="00B050"/>
                </a:solidFill>
              </a:rPr>
              <a:t>Zigbee provides a comprehensive application layer! (It is also very mature)</a:t>
            </a:r>
          </a:p>
          <a:p>
            <a:pPr marL="0" indent="0">
              <a:buNone/>
            </a:pPr>
            <a:endParaRPr lang="en-US" dirty="0">
              <a:solidFill>
                <a:srgbClr val="00B050"/>
              </a:solidFill>
            </a:endParaRPr>
          </a:p>
          <a:p>
            <a:pPr marL="0" indent="0">
              <a:buNone/>
            </a:pPr>
            <a:r>
              <a:rPr lang="en-US" b="1" dirty="0"/>
              <a:t>Zigbee utilizes the Zigbee Cluster Library (ZCL) </a:t>
            </a:r>
            <a:endParaRPr lang="en-US" dirty="0"/>
          </a:p>
          <a:p>
            <a:r>
              <a:rPr lang="en-US" i="1" dirty="0"/>
              <a:t>Built-in logic </a:t>
            </a:r>
            <a:r>
              <a:rPr lang="en-US" dirty="0"/>
              <a:t>– define behaviors for lights, sensors, and other devices</a:t>
            </a:r>
          </a:p>
          <a:p>
            <a:r>
              <a:rPr lang="en-US" i="1" dirty="0"/>
              <a:t>Direct Device Binding </a:t>
            </a:r>
            <a:r>
              <a:rPr lang="en-US" dirty="0"/>
              <a:t>– allows switches to control lights without a hub</a:t>
            </a:r>
          </a:p>
          <a:p>
            <a:r>
              <a:rPr lang="en-US" i="1" dirty="0"/>
              <a:t>Out-of-the-Box-Interoperability </a:t>
            </a:r>
            <a:r>
              <a:rPr lang="en-US" dirty="0"/>
              <a:t>– devices from different brands understand each other natively under ZCL </a:t>
            </a:r>
            <a:endParaRPr lang="en-US" i="1" dirty="0"/>
          </a:p>
          <a:p>
            <a:pPr marL="0" indent="0">
              <a:buNone/>
            </a:pPr>
            <a:endParaRPr lang="en-US" dirty="0"/>
          </a:p>
          <a:p>
            <a:pPr marL="0" indent="0">
              <a:buNone/>
            </a:pPr>
            <a:r>
              <a:rPr lang="en-US" dirty="0"/>
              <a:t>Ultimately, this </a:t>
            </a:r>
            <a:r>
              <a:rPr lang="en-US" b="1" dirty="0">
                <a:solidFill>
                  <a:srgbClr val="00B050"/>
                </a:solidFill>
              </a:rPr>
              <a:t>reduces the software complexity</a:t>
            </a:r>
            <a:r>
              <a:rPr lang="en-US" dirty="0">
                <a:solidFill>
                  <a:srgbClr val="00B050"/>
                </a:solidFill>
              </a:rPr>
              <a:t> </a:t>
            </a:r>
            <a:r>
              <a:rPr lang="en-US" dirty="0"/>
              <a:t>as developers do not need to define custom formats or schemas. </a:t>
            </a:r>
          </a:p>
          <a:p>
            <a:pPr marL="0" indent="0">
              <a:buNone/>
            </a:pPr>
            <a:endParaRPr lang="en-US" b="1" dirty="0">
              <a:solidFill>
                <a:srgbClr val="00B050"/>
              </a:solidFill>
            </a:endParaRPr>
          </a:p>
        </p:txBody>
      </p:sp>
      <p:sp>
        <p:nvSpPr>
          <p:cNvPr id="6" name="Footer Placeholder 3">
            <a:extLst>
              <a:ext uri="{FF2B5EF4-FFF2-40B4-BE49-F238E27FC236}">
                <a16:creationId xmlns:a16="http://schemas.microsoft.com/office/drawing/2014/main" id="{311805B9-A750-2C33-87C1-A7BC122753FA}"/>
              </a:ext>
            </a:extLst>
          </p:cNvPr>
          <p:cNvSpPr>
            <a:spLocks noGrp="1"/>
          </p:cNvSpPr>
          <p:nvPr>
            <p:ph type="ftr" sz="quarter" idx="3"/>
          </p:nvPr>
        </p:nvSpPr>
        <p:spPr>
          <a:xfrm>
            <a:off x="2519853" y="6441192"/>
            <a:ext cx="8684173" cy="365125"/>
          </a:xfrm>
        </p:spPr>
        <p:txBody>
          <a:bodyPr/>
          <a:lstStyle/>
          <a:p>
            <a:r>
              <a:rPr lang="en-US"/>
              <a:t>Final Project | Topics in Computer Science II | Fall 2025, University of Iowa</a:t>
            </a:r>
            <a:endParaRPr lang="en-US" dirty="0"/>
          </a:p>
        </p:txBody>
      </p:sp>
      <p:sp>
        <p:nvSpPr>
          <p:cNvPr id="3" name="TextBox 2">
            <a:extLst>
              <a:ext uri="{FF2B5EF4-FFF2-40B4-BE49-F238E27FC236}">
                <a16:creationId xmlns:a16="http://schemas.microsoft.com/office/drawing/2014/main" id="{99365952-0BD8-949D-9A88-E723EEC948C7}"/>
              </a:ext>
            </a:extLst>
          </p:cNvPr>
          <p:cNvSpPr txBox="1"/>
          <p:nvPr/>
        </p:nvSpPr>
        <p:spPr>
          <a:xfrm>
            <a:off x="9978373" y="96819"/>
            <a:ext cx="1500732" cy="307777"/>
          </a:xfrm>
          <a:prstGeom prst="rect">
            <a:avLst/>
          </a:prstGeom>
          <a:noFill/>
        </p:spPr>
        <p:txBody>
          <a:bodyPr wrap="none" rtlCol="0">
            <a:spAutoFit/>
          </a:bodyPr>
          <a:lstStyle/>
          <a:p>
            <a:r>
              <a:rPr lang="en-US" sz="1400" dirty="0">
                <a:hlinkClick r:id="rId2" action="ppaction://hlinksldjump"/>
              </a:rPr>
              <a:t>Sources:</a:t>
            </a:r>
            <a:r>
              <a:rPr lang="en-US" sz="1400" dirty="0"/>
              <a:t> [6], [13]</a:t>
            </a:r>
          </a:p>
        </p:txBody>
      </p:sp>
    </p:spTree>
    <p:extLst>
      <p:ext uri="{BB962C8B-B14F-4D97-AF65-F5344CB8AC3E}">
        <p14:creationId xmlns:p14="http://schemas.microsoft.com/office/powerpoint/2010/main" val="18839003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BAEC7-ABBC-3A53-EE6D-E87E67C3FC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122C38-98EB-1DA2-A7C8-3104D8589623}"/>
              </a:ext>
            </a:extLst>
          </p:cNvPr>
          <p:cNvSpPr>
            <a:spLocks noGrp="1"/>
          </p:cNvSpPr>
          <p:nvPr>
            <p:ph type="title"/>
          </p:nvPr>
        </p:nvSpPr>
        <p:spPr>
          <a:xfrm>
            <a:off x="949325" y="498296"/>
            <a:ext cx="5260975" cy="896116"/>
          </a:xfrm>
        </p:spPr>
        <p:txBody>
          <a:bodyPr/>
          <a:lstStyle/>
          <a:p>
            <a:r>
              <a:rPr lang="en-US" dirty="0"/>
              <a:t>Zigbee Routing</a:t>
            </a:r>
          </a:p>
        </p:txBody>
      </p:sp>
      <p:sp>
        <p:nvSpPr>
          <p:cNvPr id="5" name="Content Placeholder 4">
            <a:extLst>
              <a:ext uri="{FF2B5EF4-FFF2-40B4-BE49-F238E27FC236}">
                <a16:creationId xmlns:a16="http://schemas.microsoft.com/office/drawing/2014/main" id="{7739EF3D-F063-2FCB-3E81-2583D943386E}"/>
              </a:ext>
            </a:extLst>
          </p:cNvPr>
          <p:cNvSpPr>
            <a:spLocks noGrp="1"/>
          </p:cNvSpPr>
          <p:nvPr>
            <p:ph idx="1"/>
          </p:nvPr>
        </p:nvSpPr>
        <p:spPr>
          <a:xfrm>
            <a:off x="952499" y="1686757"/>
            <a:ext cx="10251527" cy="4256843"/>
          </a:xfrm>
        </p:spPr>
        <p:txBody>
          <a:bodyPr/>
          <a:lstStyle/>
          <a:p>
            <a:r>
              <a:rPr lang="en-US" b="1" dirty="0"/>
              <a:t>Reactive AODV Protocol: </a:t>
            </a:r>
            <a:r>
              <a:rPr lang="en-US" dirty="0"/>
              <a:t>ad-hoc on demand routing to find paths</a:t>
            </a:r>
          </a:p>
          <a:p>
            <a:r>
              <a:rPr lang="en-US" b="1" dirty="0"/>
              <a:t>Route Discovery (Broadcast): </a:t>
            </a:r>
            <a:r>
              <a:rPr lang="en-US" dirty="0"/>
              <a:t>source broadcasts requests to all neighbors to find destinations</a:t>
            </a:r>
          </a:p>
          <a:p>
            <a:r>
              <a:rPr lang="en-US" b="1" dirty="0"/>
              <a:t>Route Reply (Unicast): </a:t>
            </a:r>
            <a:r>
              <a:rPr lang="en-US" dirty="0"/>
              <a:t>nodes stores the next hop address and path costs</a:t>
            </a:r>
          </a:p>
          <a:p>
            <a:r>
              <a:rPr lang="en-US" b="1" dirty="0"/>
              <a:t>Source Routing: </a:t>
            </a:r>
            <a:r>
              <a:rPr lang="en-US" dirty="0"/>
              <a:t>packets carry full list of relays to destination</a:t>
            </a:r>
          </a:p>
        </p:txBody>
      </p:sp>
      <p:sp>
        <p:nvSpPr>
          <p:cNvPr id="6" name="Footer Placeholder 3">
            <a:extLst>
              <a:ext uri="{FF2B5EF4-FFF2-40B4-BE49-F238E27FC236}">
                <a16:creationId xmlns:a16="http://schemas.microsoft.com/office/drawing/2014/main" id="{5BC661B8-F5D4-753F-9AE7-E63444C799AF}"/>
              </a:ext>
            </a:extLst>
          </p:cNvPr>
          <p:cNvSpPr>
            <a:spLocks noGrp="1"/>
          </p:cNvSpPr>
          <p:nvPr>
            <p:ph type="ftr" sz="quarter" idx="3"/>
          </p:nvPr>
        </p:nvSpPr>
        <p:spPr>
          <a:xfrm>
            <a:off x="2519853" y="6441192"/>
            <a:ext cx="8684173" cy="365125"/>
          </a:xfrm>
        </p:spPr>
        <p:txBody>
          <a:bodyPr/>
          <a:lstStyle/>
          <a:p>
            <a:r>
              <a:rPr lang="en-US"/>
              <a:t>Final Project | Topics in Computer Science II | Fall 2025, University of Iowa</a:t>
            </a:r>
            <a:endParaRPr lang="en-US" dirty="0"/>
          </a:p>
        </p:txBody>
      </p:sp>
      <p:sp>
        <p:nvSpPr>
          <p:cNvPr id="3" name="TextBox 2">
            <a:extLst>
              <a:ext uri="{FF2B5EF4-FFF2-40B4-BE49-F238E27FC236}">
                <a16:creationId xmlns:a16="http://schemas.microsoft.com/office/drawing/2014/main" id="{D4DEC870-DD98-2850-A9CC-3109492A1AF7}"/>
              </a:ext>
            </a:extLst>
          </p:cNvPr>
          <p:cNvSpPr txBox="1"/>
          <p:nvPr/>
        </p:nvSpPr>
        <p:spPr>
          <a:xfrm>
            <a:off x="9978373" y="96819"/>
            <a:ext cx="1399742" cy="307777"/>
          </a:xfrm>
          <a:prstGeom prst="rect">
            <a:avLst/>
          </a:prstGeom>
          <a:noFill/>
        </p:spPr>
        <p:txBody>
          <a:bodyPr wrap="none" rtlCol="0">
            <a:spAutoFit/>
          </a:bodyPr>
          <a:lstStyle/>
          <a:p>
            <a:r>
              <a:rPr lang="en-US" sz="1400" dirty="0">
                <a:hlinkClick r:id="rId3" action="ppaction://hlinksldjump"/>
              </a:rPr>
              <a:t>Sources:</a:t>
            </a:r>
            <a:r>
              <a:rPr lang="en-US" sz="1400" dirty="0"/>
              <a:t> [3], [6]</a:t>
            </a:r>
          </a:p>
        </p:txBody>
      </p:sp>
    </p:spTree>
    <p:extLst>
      <p:ext uri="{BB962C8B-B14F-4D97-AF65-F5344CB8AC3E}">
        <p14:creationId xmlns:p14="http://schemas.microsoft.com/office/powerpoint/2010/main" val="38999471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1B938-F580-779F-8B86-8C2F92607E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94B52E-1079-17FF-B338-110920D74F90}"/>
              </a:ext>
            </a:extLst>
          </p:cNvPr>
          <p:cNvSpPr>
            <a:spLocks noGrp="1"/>
          </p:cNvSpPr>
          <p:nvPr>
            <p:ph type="title"/>
          </p:nvPr>
        </p:nvSpPr>
        <p:spPr>
          <a:xfrm>
            <a:off x="949325" y="498296"/>
            <a:ext cx="8360930" cy="896116"/>
          </a:xfrm>
        </p:spPr>
        <p:txBody>
          <a:bodyPr>
            <a:normAutofit fontScale="90000"/>
          </a:bodyPr>
          <a:lstStyle/>
          <a:p>
            <a:r>
              <a:rPr lang="en-US" dirty="0"/>
              <a:t>Zigbee Usage – Home Mesh Network</a:t>
            </a:r>
          </a:p>
        </p:txBody>
      </p:sp>
      <p:sp>
        <p:nvSpPr>
          <p:cNvPr id="6" name="Footer Placeholder 3">
            <a:extLst>
              <a:ext uri="{FF2B5EF4-FFF2-40B4-BE49-F238E27FC236}">
                <a16:creationId xmlns:a16="http://schemas.microsoft.com/office/drawing/2014/main" id="{4541A014-7440-4E2E-5D05-244BAAC003B8}"/>
              </a:ext>
            </a:extLst>
          </p:cNvPr>
          <p:cNvSpPr>
            <a:spLocks noGrp="1"/>
          </p:cNvSpPr>
          <p:nvPr>
            <p:ph type="ftr" sz="quarter" idx="3"/>
          </p:nvPr>
        </p:nvSpPr>
        <p:spPr>
          <a:xfrm>
            <a:off x="2519853" y="6441192"/>
            <a:ext cx="8684173" cy="365125"/>
          </a:xfrm>
        </p:spPr>
        <p:txBody>
          <a:bodyPr/>
          <a:lstStyle/>
          <a:p>
            <a:r>
              <a:rPr lang="en-US"/>
              <a:t>Final Project | Topics in Computer Science II | Fall 2025, University of Iowa</a:t>
            </a:r>
            <a:endParaRPr lang="en-US" dirty="0"/>
          </a:p>
        </p:txBody>
      </p:sp>
      <p:pic>
        <p:nvPicPr>
          <p:cNvPr id="4" name="Picture 3">
            <a:extLst>
              <a:ext uri="{FF2B5EF4-FFF2-40B4-BE49-F238E27FC236}">
                <a16:creationId xmlns:a16="http://schemas.microsoft.com/office/drawing/2014/main" id="{4E4DA2D5-E678-2E17-0CA0-8B72C1E709CD}"/>
              </a:ext>
            </a:extLst>
          </p:cNvPr>
          <p:cNvPicPr>
            <a:picLocks noChangeAspect="1"/>
          </p:cNvPicPr>
          <p:nvPr/>
        </p:nvPicPr>
        <p:blipFill>
          <a:blip r:embed="rId2"/>
          <a:stretch>
            <a:fillRect/>
          </a:stretch>
        </p:blipFill>
        <p:spPr>
          <a:xfrm>
            <a:off x="2519853" y="1605244"/>
            <a:ext cx="7183437" cy="4338356"/>
          </a:xfrm>
          <a:prstGeom prst="rect">
            <a:avLst/>
          </a:prstGeom>
        </p:spPr>
      </p:pic>
      <p:sp>
        <p:nvSpPr>
          <p:cNvPr id="7" name="TextBox 6">
            <a:extLst>
              <a:ext uri="{FF2B5EF4-FFF2-40B4-BE49-F238E27FC236}">
                <a16:creationId xmlns:a16="http://schemas.microsoft.com/office/drawing/2014/main" id="{E20C97E5-4E36-0694-0EE0-DB85E326FCA8}"/>
              </a:ext>
            </a:extLst>
          </p:cNvPr>
          <p:cNvSpPr txBox="1"/>
          <p:nvPr/>
        </p:nvSpPr>
        <p:spPr>
          <a:xfrm>
            <a:off x="9978373" y="96819"/>
            <a:ext cx="1122423" cy="307777"/>
          </a:xfrm>
          <a:prstGeom prst="rect">
            <a:avLst/>
          </a:prstGeom>
          <a:noFill/>
        </p:spPr>
        <p:txBody>
          <a:bodyPr wrap="none" rtlCol="0">
            <a:spAutoFit/>
          </a:bodyPr>
          <a:lstStyle/>
          <a:p>
            <a:r>
              <a:rPr lang="en-US" sz="1400" dirty="0">
                <a:hlinkClick r:id="rId3" action="ppaction://hlinksldjump"/>
              </a:rPr>
              <a:t>Sources:</a:t>
            </a:r>
            <a:r>
              <a:rPr lang="en-US" sz="1400" dirty="0"/>
              <a:t> [6]</a:t>
            </a:r>
          </a:p>
        </p:txBody>
      </p:sp>
    </p:spTree>
    <p:extLst>
      <p:ext uri="{BB962C8B-B14F-4D97-AF65-F5344CB8AC3E}">
        <p14:creationId xmlns:p14="http://schemas.microsoft.com/office/powerpoint/2010/main" val="3056664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11F35-D90C-57F9-C2B1-53FE6D8232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536F55-C7AA-E597-E01F-DE9E90533655}"/>
              </a:ext>
            </a:extLst>
          </p:cNvPr>
          <p:cNvSpPr>
            <a:spLocks noGrp="1"/>
          </p:cNvSpPr>
          <p:nvPr>
            <p:ph type="title"/>
          </p:nvPr>
        </p:nvSpPr>
        <p:spPr>
          <a:xfrm>
            <a:off x="952499" y="466342"/>
            <a:ext cx="8360930" cy="896116"/>
          </a:xfrm>
        </p:spPr>
        <p:txBody>
          <a:bodyPr>
            <a:normAutofit/>
          </a:bodyPr>
          <a:lstStyle/>
          <a:p>
            <a:r>
              <a:rPr lang="en-US" dirty="0"/>
              <a:t>Zigbee Security</a:t>
            </a:r>
          </a:p>
        </p:txBody>
      </p:sp>
      <p:sp>
        <p:nvSpPr>
          <p:cNvPr id="5" name="Content Placeholder 4">
            <a:extLst>
              <a:ext uri="{FF2B5EF4-FFF2-40B4-BE49-F238E27FC236}">
                <a16:creationId xmlns:a16="http://schemas.microsoft.com/office/drawing/2014/main" id="{45A2F8E5-5166-E840-8A5B-EAE4E379C747}"/>
              </a:ext>
            </a:extLst>
          </p:cNvPr>
          <p:cNvSpPr>
            <a:spLocks noGrp="1"/>
          </p:cNvSpPr>
          <p:nvPr>
            <p:ph idx="1"/>
          </p:nvPr>
        </p:nvSpPr>
        <p:spPr>
          <a:xfrm>
            <a:off x="952499" y="1686757"/>
            <a:ext cx="10251527" cy="4256843"/>
          </a:xfrm>
        </p:spPr>
        <p:txBody>
          <a:bodyPr>
            <a:normAutofit/>
          </a:bodyPr>
          <a:lstStyle/>
          <a:p>
            <a:pPr marL="0" indent="0">
              <a:buNone/>
            </a:pPr>
            <a:r>
              <a:rPr lang="en-US" sz="1600" b="1" dirty="0"/>
              <a:t>Strong AES-128 Cryptography:</a:t>
            </a:r>
          </a:p>
          <a:p>
            <a:r>
              <a:rPr lang="en-US" sz="1600" dirty="0"/>
              <a:t>Zigbee secures data using symmetric AES-128 encryption in CCM* mode to provide confidentiality, integrity, authentication, and replay protection in network</a:t>
            </a:r>
          </a:p>
          <a:p>
            <a:pPr marL="0" indent="0">
              <a:buNone/>
            </a:pPr>
            <a:r>
              <a:rPr lang="en-US" sz="1600" b="1" dirty="0"/>
              <a:t>Centralized Trust Center (TC):</a:t>
            </a:r>
          </a:p>
          <a:p>
            <a:r>
              <a:rPr lang="en-US" sz="1600" dirty="0"/>
              <a:t>A trust center manages device authentication, key distribution, and access control</a:t>
            </a:r>
          </a:p>
          <a:p>
            <a:pPr marL="0" indent="0">
              <a:buNone/>
            </a:pPr>
            <a:r>
              <a:rPr lang="en-US" sz="1600" b="1" dirty="0"/>
              <a:t>Key Hierarchy and Scope:</a:t>
            </a:r>
          </a:p>
          <a:p>
            <a:r>
              <a:rPr lang="en-US" sz="1600" dirty="0"/>
              <a:t>Security relies on network keys (broadcast), link keys (unicast), and optional master keys for key establishment; improper key handling directly weakens network security</a:t>
            </a:r>
          </a:p>
          <a:p>
            <a:pPr marL="0" indent="0">
              <a:buNone/>
            </a:pPr>
            <a:endParaRPr lang="en-US" sz="1600" dirty="0"/>
          </a:p>
          <a:p>
            <a:pPr marL="0" indent="0">
              <a:buNone/>
            </a:pPr>
            <a:r>
              <a:rPr lang="en-US" sz="1600" b="1" dirty="0"/>
              <a:t>** Key Management is the Main Weakness **</a:t>
            </a:r>
          </a:p>
          <a:p>
            <a:r>
              <a:rPr lang="en-US" sz="1600" dirty="0"/>
              <a:t>Compromise of a shared Network Key </a:t>
            </a:r>
            <a:r>
              <a:rPr lang="en-US" sz="1600" dirty="0">
                <a:solidFill>
                  <a:srgbClr val="FF0000"/>
                </a:solidFill>
              </a:rPr>
              <a:t>can expose the entire network </a:t>
            </a:r>
            <a:r>
              <a:rPr lang="en-US" sz="1600" dirty="0">
                <a:solidFill>
                  <a:srgbClr val="FF0000"/>
                </a:solidFill>
                <a:sym typeface="Wingdings" pitchFamily="2" charset="2"/>
              </a:rPr>
              <a:t></a:t>
            </a:r>
          </a:p>
          <a:p>
            <a:pPr marL="0" indent="0">
              <a:buNone/>
            </a:pPr>
            <a:endParaRPr lang="en-US" sz="1600" dirty="0">
              <a:sym typeface="Wingdings" pitchFamily="2" charset="2"/>
            </a:endParaRPr>
          </a:p>
          <a:p>
            <a:pPr marL="0" indent="0">
              <a:buNone/>
            </a:pPr>
            <a:endParaRPr lang="en-US" sz="1600" dirty="0"/>
          </a:p>
        </p:txBody>
      </p:sp>
      <p:sp>
        <p:nvSpPr>
          <p:cNvPr id="6" name="Footer Placeholder 3">
            <a:extLst>
              <a:ext uri="{FF2B5EF4-FFF2-40B4-BE49-F238E27FC236}">
                <a16:creationId xmlns:a16="http://schemas.microsoft.com/office/drawing/2014/main" id="{B870215C-692D-6E2B-4906-3B951A66BB30}"/>
              </a:ext>
            </a:extLst>
          </p:cNvPr>
          <p:cNvSpPr>
            <a:spLocks noGrp="1"/>
          </p:cNvSpPr>
          <p:nvPr>
            <p:ph type="ftr" sz="quarter" idx="3"/>
          </p:nvPr>
        </p:nvSpPr>
        <p:spPr>
          <a:xfrm>
            <a:off x="2519853" y="6441192"/>
            <a:ext cx="8684173" cy="365125"/>
          </a:xfrm>
        </p:spPr>
        <p:txBody>
          <a:bodyPr/>
          <a:lstStyle/>
          <a:p>
            <a:r>
              <a:rPr lang="en-US"/>
              <a:t>Final Project | Topics in Computer Science II | Fall 2025, University of Iowa</a:t>
            </a:r>
            <a:endParaRPr lang="en-US" dirty="0"/>
          </a:p>
        </p:txBody>
      </p:sp>
      <p:sp>
        <p:nvSpPr>
          <p:cNvPr id="7" name="TextBox 6">
            <a:extLst>
              <a:ext uri="{FF2B5EF4-FFF2-40B4-BE49-F238E27FC236}">
                <a16:creationId xmlns:a16="http://schemas.microsoft.com/office/drawing/2014/main" id="{94479419-C767-B7F7-49CB-206E6DBD7DA0}"/>
              </a:ext>
            </a:extLst>
          </p:cNvPr>
          <p:cNvSpPr txBox="1"/>
          <p:nvPr/>
        </p:nvSpPr>
        <p:spPr>
          <a:xfrm>
            <a:off x="9978373" y="96819"/>
            <a:ext cx="1122423" cy="307777"/>
          </a:xfrm>
          <a:prstGeom prst="rect">
            <a:avLst/>
          </a:prstGeom>
          <a:noFill/>
        </p:spPr>
        <p:txBody>
          <a:bodyPr wrap="none" rtlCol="0">
            <a:spAutoFit/>
          </a:bodyPr>
          <a:lstStyle/>
          <a:p>
            <a:r>
              <a:rPr lang="en-US" sz="1400" dirty="0">
                <a:hlinkClick r:id="rId2" action="ppaction://hlinksldjump"/>
              </a:rPr>
              <a:t>Sources:</a:t>
            </a:r>
            <a:r>
              <a:rPr lang="en-US" sz="1400" dirty="0"/>
              <a:t> [5]</a:t>
            </a:r>
          </a:p>
        </p:txBody>
      </p:sp>
    </p:spTree>
    <p:extLst>
      <p:ext uri="{BB962C8B-B14F-4D97-AF65-F5344CB8AC3E}">
        <p14:creationId xmlns:p14="http://schemas.microsoft.com/office/powerpoint/2010/main" val="5720017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DA143-9366-6395-30AB-9471B2C2BF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049B91-316F-2BF1-E8F9-2B3A9720BFE3}"/>
              </a:ext>
            </a:extLst>
          </p:cNvPr>
          <p:cNvSpPr>
            <a:spLocks noGrp="1"/>
          </p:cNvSpPr>
          <p:nvPr>
            <p:ph type="title"/>
          </p:nvPr>
        </p:nvSpPr>
        <p:spPr>
          <a:xfrm>
            <a:off x="952499" y="466342"/>
            <a:ext cx="8360930" cy="896116"/>
          </a:xfrm>
        </p:spPr>
        <p:txBody>
          <a:bodyPr>
            <a:normAutofit/>
          </a:bodyPr>
          <a:lstStyle/>
          <a:p>
            <a:r>
              <a:rPr lang="en-US" dirty="0"/>
              <a:t>Zigbee Performance</a:t>
            </a:r>
          </a:p>
        </p:txBody>
      </p:sp>
      <p:sp>
        <p:nvSpPr>
          <p:cNvPr id="5" name="Content Placeholder 4">
            <a:extLst>
              <a:ext uri="{FF2B5EF4-FFF2-40B4-BE49-F238E27FC236}">
                <a16:creationId xmlns:a16="http://schemas.microsoft.com/office/drawing/2014/main" id="{A4DEE34B-294C-C53D-79A6-A48985FA3F25}"/>
              </a:ext>
            </a:extLst>
          </p:cNvPr>
          <p:cNvSpPr>
            <a:spLocks noGrp="1"/>
          </p:cNvSpPr>
          <p:nvPr>
            <p:ph idx="1"/>
          </p:nvPr>
        </p:nvSpPr>
        <p:spPr>
          <a:xfrm>
            <a:off x="952499" y="1686757"/>
            <a:ext cx="10251527" cy="4256843"/>
          </a:xfrm>
        </p:spPr>
        <p:txBody>
          <a:bodyPr>
            <a:normAutofit/>
          </a:bodyPr>
          <a:lstStyle/>
          <a:p>
            <a:pPr marL="0" indent="0">
              <a:buNone/>
            </a:pPr>
            <a:r>
              <a:rPr lang="en-US" sz="1600" b="1" dirty="0">
                <a:solidFill>
                  <a:srgbClr val="00B050"/>
                </a:solidFill>
              </a:rPr>
              <a:t>Zigbee shows similar performance to Thread</a:t>
            </a:r>
          </a:p>
          <a:p>
            <a:pPr marL="0" indent="0">
              <a:buNone/>
            </a:pPr>
            <a:r>
              <a:rPr lang="en-US" sz="1600" b="1" dirty="0"/>
              <a:t>Latency (shown in figure): </a:t>
            </a:r>
            <a:r>
              <a:rPr lang="en-US" sz="1600" dirty="0"/>
              <a:t>&lt;200ms (this is super fast, “instant-on” human interaction)</a:t>
            </a:r>
          </a:p>
          <a:p>
            <a:pPr marL="0" indent="0">
              <a:buNone/>
            </a:pPr>
            <a:r>
              <a:rPr lang="en-US" sz="1600" b="1" dirty="0"/>
              <a:t>Reliability: </a:t>
            </a:r>
            <a:r>
              <a:rPr lang="en-US" sz="1600" dirty="0"/>
              <a:t>latency increases as packet payload increases (in contrast to Thread)</a:t>
            </a:r>
          </a:p>
          <a:p>
            <a:pPr marL="0" indent="0">
              <a:buNone/>
            </a:pPr>
            <a:r>
              <a:rPr lang="en-US" sz="1600" b="1" dirty="0"/>
              <a:t>Scalability: </a:t>
            </a:r>
            <a:r>
              <a:rPr lang="en-US" sz="1600" dirty="0"/>
              <a:t>performant up to 192 nodes, which is plenty for home networks</a:t>
            </a:r>
          </a:p>
        </p:txBody>
      </p:sp>
      <p:sp>
        <p:nvSpPr>
          <p:cNvPr id="6" name="Footer Placeholder 3">
            <a:extLst>
              <a:ext uri="{FF2B5EF4-FFF2-40B4-BE49-F238E27FC236}">
                <a16:creationId xmlns:a16="http://schemas.microsoft.com/office/drawing/2014/main" id="{A3C9EFA0-B44F-C27D-F7E5-EB93591F618C}"/>
              </a:ext>
            </a:extLst>
          </p:cNvPr>
          <p:cNvSpPr>
            <a:spLocks noGrp="1"/>
          </p:cNvSpPr>
          <p:nvPr>
            <p:ph type="ftr" sz="quarter" idx="3"/>
          </p:nvPr>
        </p:nvSpPr>
        <p:spPr>
          <a:xfrm>
            <a:off x="2519853" y="6441192"/>
            <a:ext cx="8684173" cy="365125"/>
          </a:xfrm>
        </p:spPr>
        <p:txBody>
          <a:bodyPr/>
          <a:lstStyle/>
          <a:p>
            <a:r>
              <a:rPr lang="en-US"/>
              <a:t>Final Project | Topics in Computer Science II | Fall 2025, University of Iowa</a:t>
            </a:r>
            <a:endParaRPr lang="en-US" dirty="0"/>
          </a:p>
        </p:txBody>
      </p:sp>
      <p:pic>
        <p:nvPicPr>
          <p:cNvPr id="3" name="Picture 2">
            <a:extLst>
              <a:ext uri="{FF2B5EF4-FFF2-40B4-BE49-F238E27FC236}">
                <a16:creationId xmlns:a16="http://schemas.microsoft.com/office/drawing/2014/main" id="{7B4B11C2-6906-FB18-BE7B-8D95E7753AB8}"/>
              </a:ext>
            </a:extLst>
          </p:cNvPr>
          <p:cNvPicPr>
            <a:picLocks noChangeAspect="1"/>
          </p:cNvPicPr>
          <p:nvPr/>
        </p:nvPicPr>
        <p:blipFill>
          <a:blip r:embed="rId2"/>
          <a:stretch>
            <a:fillRect/>
          </a:stretch>
        </p:blipFill>
        <p:spPr>
          <a:xfrm>
            <a:off x="2519853" y="3048000"/>
            <a:ext cx="3950600" cy="3219899"/>
          </a:xfrm>
          <a:prstGeom prst="rect">
            <a:avLst/>
          </a:prstGeom>
        </p:spPr>
      </p:pic>
      <p:sp>
        <p:nvSpPr>
          <p:cNvPr id="4" name="TextBox 3">
            <a:extLst>
              <a:ext uri="{FF2B5EF4-FFF2-40B4-BE49-F238E27FC236}">
                <a16:creationId xmlns:a16="http://schemas.microsoft.com/office/drawing/2014/main" id="{DC10D33A-55A5-4E24-86C5-CF76EAE1A65F}"/>
              </a:ext>
            </a:extLst>
          </p:cNvPr>
          <p:cNvSpPr txBox="1"/>
          <p:nvPr/>
        </p:nvSpPr>
        <p:spPr>
          <a:xfrm>
            <a:off x="6782429" y="3445846"/>
            <a:ext cx="5256567" cy="646331"/>
          </a:xfrm>
          <a:prstGeom prst="rect">
            <a:avLst/>
          </a:prstGeom>
          <a:noFill/>
        </p:spPr>
        <p:txBody>
          <a:bodyPr wrap="none" rtlCol="0">
            <a:spAutoFit/>
          </a:bodyPr>
          <a:lstStyle/>
          <a:p>
            <a:r>
              <a:rPr lang="en-US" dirty="0"/>
              <a:t>This is the summary of extensive testing done by</a:t>
            </a:r>
          </a:p>
          <a:p>
            <a:r>
              <a:rPr lang="en-US" dirty="0"/>
              <a:t>Silicon Labs:  </a:t>
            </a:r>
            <a:r>
              <a:rPr lang="en-US" dirty="0">
                <a:hlinkClick r:id="rId3"/>
              </a:rPr>
              <a:t>Zigbee Mesh Network Performance</a:t>
            </a:r>
            <a:endParaRPr lang="en-US" dirty="0"/>
          </a:p>
        </p:txBody>
      </p:sp>
      <p:sp>
        <p:nvSpPr>
          <p:cNvPr id="7" name="TextBox 6">
            <a:extLst>
              <a:ext uri="{FF2B5EF4-FFF2-40B4-BE49-F238E27FC236}">
                <a16:creationId xmlns:a16="http://schemas.microsoft.com/office/drawing/2014/main" id="{50E8081F-1A47-3F64-8D89-229C890AD0CA}"/>
              </a:ext>
            </a:extLst>
          </p:cNvPr>
          <p:cNvSpPr txBox="1"/>
          <p:nvPr/>
        </p:nvSpPr>
        <p:spPr>
          <a:xfrm>
            <a:off x="9978373" y="96819"/>
            <a:ext cx="1122423" cy="307777"/>
          </a:xfrm>
          <a:prstGeom prst="rect">
            <a:avLst/>
          </a:prstGeom>
          <a:noFill/>
        </p:spPr>
        <p:txBody>
          <a:bodyPr wrap="none" rtlCol="0">
            <a:spAutoFit/>
          </a:bodyPr>
          <a:lstStyle/>
          <a:p>
            <a:r>
              <a:rPr lang="en-US" sz="1400" dirty="0">
                <a:hlinkClick r:id="rId4" action="ppaction://hlinksldjump"/>
              </a:rPr>
              <a:t>Sources:</a:t>
            </a:r>
            <a:r>
              <a:rPr lang="en-US" sz="1400" dirty="0"/>
              <a:t> [4]</a:t>
            </a:r>
          </a:p>
        </p:txBody>
      </p:sp>
    </p:spTree>
    <p:extLst>
      <p:ext uri="{BB962C8B-B14F-4D97-AF65-F5344CB8AC3E}">
        <p14:creationId xmlns:p14="http://schemas.microsoft.com/office/powerpoint/2010/main" val="5947296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D97CC-8E8D-B1E2-F671-83DB1FC80C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E10DA8-FE7B-04BD-5628-55ABFF150988}"/>
              </a:ext>
            </a:extLst>
          </p:cNvPr>
          <p:cNvSpPr>
            <a:spLocks noGrp="1"/>
          </p:cNvSpPr>
          <p:nvPr>
            <p:ph type="title"/>
          </p:nvPr>
        </p:nvSpPr>
        <p:spPr>
          <a:xfrm>
            <a:off x="952499" y="466342"/>
            <a:ext cx="8360930" cy="896116"/>
          </a:xfrm>
        </p:spPr>
        <p:txBody>
          <a:bodyPr>
            <a:normAutofit/>
          </a:bodyPr>
          <a:lstStyle/>
          <a:p>
            <a:r>
              <a:rPr lang="en-US" dirty="0"/>
              <a:t>Zigbee Membership</a:t>
            </a:r>
          </a:p>
        </p:txBody>
      </p:sp>
      <p:sp>
        <p:nvSpPr>
          <p:cNvPr id="5" name="Content Placeholder 4">
            <a:extLst>
              <a:ext uri="{FF2B5EF4-FFF2-40B4-BE49-F238E27FC236}">
                <a16:creationId xmlns:a16="http://schemas.microsoft.com/office/drawing/2014/main" id="{A3072DC8-5E00-FD3A-AF2E-07D7813F37E8}"/>
              </a:ext>
            </a:extLst>
          </p:cNvPr>
          <p:cNvSpPr>
            <a:spLocks noGrp="1"/>
          </p:cNvSpPr>
          <p:nvPr>
            <p:ph idx="1"/>
          </p:nvPr>
        </p:nvSpPr>
        <p:spPr>
          <a:xfrm>
            <a:off x="952499" y="1686757"/>
            <a:ext cx="10251527" cy="4256843"/>
          </a:xfrm>
        </p:spPr>
        <p:txBody>
          <a:bodyPr>
            <a:normAutofit lnSpcReduction="10000"/>
          </a:bodyPr>
          <a:lstStyle/>
          <a:p>
            <a:pPr marL="0" indent="0">
              <a:buNone/>
            </a:pPr>
            <a:r>
              <a:rPr lang="en-US" sz="1600" dirty="0"/>
              <a:t>This is not a concern for me as I would be simply developing a smart home using Zigbee devices, however the </a:t>
            </a:r>
            <a:r>
              <a:rPr lang="en-US" sz="1600" b="1" dirty="0">
                <a:hlinkClick r:id="rId2"/>
              </a:rPr>
              <a:t>Connectivity Standards Alliance</a:t>
            </a:r>
            <a:r>
              <a:rPr lang="en-US" sz="1600" dirty="0"/>
              <a:t> provides a four-tier membership.</a:t>
            </a:r>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r>
              <a:rPr lang="en-US" sz="1600" dirty="0"/>
              <a:t>The tiers distinguish members by how much influence they have over the Matter (another protocol) and Zigbee standards and how deeply they can participate.</a:t>
            </a:r>
          </a:p>
        </p:txBody>
      </p:sp>
      <p:sp>
        <p:nvSpPr>
          <p:cNvPr id="6" name="Footer Placeholder 3">
            <a:extLst>
              <a:ext uri="{FF2B5EF4-FFF2-40B4-BE49-F238E27FC236}">
                <a16:creationId xmlns:a16="http://schemas.microsoft.com/office/drawing/2014/main" id="{6921BCB9-D80A-CC0D-3ADA-F4225FFEFEAC}"/>
              </a:ext>
            </a:extLst>
          </p:cNvPr>
          <p:cNvSpPr>
            <a:spLocks noGrp="1"/>
          </p:cNvSpPr>
          <p:nvPr>
            <p:ph type="ftr" sz="quarter" idx="3"/>
          </p:nvPr>
        </p:nvSpPr>
        <p:spPr>
          <a:xfrm>
            <a:off x="2519853" y="6441192"/>
            <a:ext cx="8684173" cy="365125"/>
          </a:xfrm>
        </p:spPr>
        <p:txBody>
          <a:bodyPr/>
          <a:lstStyle/>
          <a:p>
            <a:r>
              <a:rPr lang="en-US" dirty="0"/>
              <a:t>Final Project | Topics in Computer Science II | Fall 2025, University of Iowa</a:t>
            </a:r>
          </a:p>
        </p:txBody>
      </p:sp>
      <p:pic>
        <p:nvPicPr>
          <p:cNvPr id="7" name="Picture 6">
            <a:extLst>
              <a:ext uri="{FF2B5EF4-FFF2-40B4-BE49-F238E27FC236}">
                <a16:creationId xmlns:a16="http://schemas.microsoft.com/office/drawing/2014/main" id="{FA2C80CF-E2E8-90C9-7DA4-9576EA4D69C8}"/>
              </a:ext>
            </a:extLst>
          </p:cNvPr>
          <p:cNvPicPr>
            <a:picLocks noChangeAspect="1"/>
          </p:cNvPicPr>
          <p:nvPr/>
        </p:nvPicPr>
        <p:blipFill>
          <a:blip r:embed="rId3"/>
          <a:stretch>
            <a:fillRect/>
          </a:stretch>
        </p:blipFill>
        <p:spPr>
          <a:xfrm>
            <a:off x="1798784" y="2253476"/>
            <a:ext cx="8516791" cy="3084926"/>
          </a:xfrm>
          <a:prstGeom prst="rect">
            <a:avLst/>
          </a:prstGeom>
        </p:spPr>
      </p:pic>
      <p:sp>
        <p:nvSpPr>
          <p:cNvPr id="8" name="TextBox 7">
            <a:extLst>
              <a:ext uri="{FF2B5EF4-FFF2-40B4-BE49-F238E27FC236}">
                <a16:creationId xmlns:a16="http://schemas.microsoft.com/office/drawing/2014/main" id="{D117DA54-2EF9-6B45-50BF-E0FC87E2846A}"/>
              </a:ext>
            </a:extLst>
          </p:cNvPr>
          <p:cNvSpPr txBox="1"/>
          <p:nvPr/>
        </p:nvSpPr>
        <p:spPr>
          <a:xfrm>
            <a:off x="9978373" y="96819"/>
            <a:ext cx="1258678" cy="307777"/>
          </a:xfrm>
          <a:prstGeom prst="rect">
            <a:avLst/>
          </a:prstGeom>
          <a:noFill/>
        </p:spPr>
        <p:txBody>
          <a:bodyPr wrap="none" rtlCol="0">
            <a:spAutoFit/>
          </a:bodyPr>
          <a:lstStyle/>
          <a:p>
            <a:r>
              <a:rPr lang="en-US" sz="1400" dirty="0">
                <a:hlinkClick r:id="rId4" action="ppaction://hlinksldjump"/>
              </a:rPr>
              <a:t>Sources:</a:t>
            </a:r>
            <a:r>
              <a:rPr lang="en-US" sz="1400" dirty="0"/>
              <a:t> [13]</a:t>
            </a:r>
          </a:p>
        </p:txBody>
      </p:sp>
    </p:spTree>
    <p:extLst>
      <p:ext uri="{BB962C8B-B14F-4D97-AF65-F5344CB8AC3E}">
        <p14:creationId xmlns:p14="http://schemas.microsoft.com/office/powerpoint/2010/main" val="12729712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72DE15-4148-0D6E-BCDB-F76F6358AA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1A2237-19EE-BBE5-7B2C-7790C8B63ED5}"/>
              </a:ext>
            </a:extLst>
          </p:cNvPr>
          <p:cNvSpPr>
            <a:spLocks noGrp="1"/>
          </p:cNvSpPr>
          <p:nvPr>
            <p:ph type="title"/>
          </p:nvPr>
        </p:nvSpPr>
        <p:spPr>
          <a:xfrm>
            <a:off x="952499" y="466342"/>
            <a:ext cx="8360930" cy="896116"/>
          </a:xfrm>
        </p:spPr>
        <p:txBody>
          <a:bodyPr>
            <a:normAutofit/>
          </a:bodyPr>
          <a:lstStyle/>
          <a:p>
            <a:r>
              <a:rPr lang="en-US" dirty="0"/>
              <a:t>Zigbee Summary</a:t>
            </a:r>
          </a:p>
        </p:txBody>
      </p:sp>
      <p:sp>
        <p:nvSpPr>
          <p:cNvPr id="5" name="Content Placeholder 4">
            <a:extLst>
              <a:ext uri="{FF2B5EF4-FFF2-40B4-BE49-F238E27FC236}">
                <a16:creationId xmlns:a16="http://schemas.microsoft.com/office/drawing/2014/main" id="{13735AF8-2373-1267-64C9-3E2EF1EAB656}"/>
              </a:ext>
            </a:extLst>
          </p:cNvPr>
          <p:cNvSpPr>
            <a:spLocks noGrp="1"/>
          </p:cNvSpPr>
          <p:nvPr>
            <p:ph idx="1"/>
          </p:nvPr>
        </p:nvSpPr>
        <p:spPr>
          <a:xfrm>
            <a:off x="952498" y="1686757"/>
            <a:ext cx="10251527" cy="4256843"/>
          </a:xfrm>
        </p:spPr>
        <p:txBody>
          <a:bodyPr>
            <a:normAutofit fontScale="70000" lnSpcReduction="20000"/>
          </a:bodyPr>
          <a:lstStyle/>
          <a:p>
            <a:pPr marL="0" indent="0">
              <a:buNone/>
            </a:pPr>
            <a:r>
              <a:rPr lang="en-US" b="1" dirty="0"/>
              <a:t>Architecture:</a:t>
            </a:r>
          </a:p>
          <a:p>
            <a:r>
              <a:rPr lang="en-US" dirty="0"/>
              <a:t>802.15.4 + application layer</a:t>
            </a:r>
          </a:p>
          <a:p>
            <a:endParaRPr lang="en-US" dirty="0"/>
          </a:p>
          <a:p>
            <a:pPr marL="0" indent="0">
              <a:buNone/>
            </a:pPr>
            <a:r>
              <a:rPr lang="en-US" b="1" dirty="0"/>
              <a:t>Security:</a:t>
            </a:r>
          </a:p>
          <a:p>
            <a:r>
              <a:rPr lang="en-US" dirty="0"/>
              <a:t>Strong cryptography, but network key can compromise entire network</a:t>
            </a:r>
          </a:p>
          <a:p>
            <a:pPr marL="0" indent="0">
              <a:buNone/>
            </a:pPr>
            <a:endParaRPr lang="en-US" dirty="0"/>
          </a:p>
          <a:p>
            <a:pPr marL="0" indent="0">
              <a:buNone/>
            </a:pPr>
            <a:r>
              <a:rPr lang="en-US" b="1" dirty="0"/>
              <a:t>Performance:</a:t>
            </a:r>
          </a:p>
          <a:p>
            <a:r>
              <a:rPr lang="en-US" dirty="0"/>
              <a:t>As fast as Thread, but not as scalable as Thread</a:t>
            </a:r>
          </a:p>
          <a:p>
            <a:pPr marL="0" indent="0">
              <a:buNone/>
            </a:pPr>
            <a:endParaRPr lang="en-US" dirty="0"/>
          </a:p>
          <a:p>
            <a:pPr marL="0" indent="0">
              <a:buNone/>
            </a:pPr>
            <a:r>
              <a:rPr lang="en-US" b="1" dirty="0"/>
              <a:t>Personal Comment: </a:t>
            </a:r>
          </a:p>
          <a:p>
            <a:r>
              <a:rPr lang="en-US" dirty="0"/>
              <a:t>Zigbee satisfies my needs. Additionally, the provided application layer is an </a:t>
            </a:r>
            <a:r>
              <a:rPr lang="en-US" dirty="0">
                <a:solidFill>
                  <a:srgbClr val="00B050"/>
                </a:solidFill>
              </a:rPr>
              <a:t>added benefit</a:t>
            </a:r>
            <a:endParaRPr lang="en-US" b="1" dirty="0">
              <a:solidFill>
                <a:srgbClr val="00B050"/>
              </a:solidFill>
            </a:endParaRPr>
          </a:p>
          <a:p>
            <a:endParaRPr lang="en-US" dirty="0"/>
          </a:p>
        </p:txBody>
      </p:sp>
      <p:sp>
        <p:nvSpPr>
          <p:cNvPr id="6" name="Footer Placeholder 3">
            <a:extLst>
              <a:ext uri="{FF2B5EF4-FFF2-40B4-BE49-F238E27FC236}">
                <a16:creationId xmlns:a16="http://schemas.microsoft.com/office/drawing/2014/main" id="{E08C36D3-DA14-E765-E8D0-2031251CFAD2}"/>
              </a:ext>
            </a:extLst>
          </p:cNvPr>
          <p:cNvSpPr>
            <a:spLocks noGrp="1"/>
          </p:cNvSpPr>
          <p:nvPr>
            <p:ph type="ftr" sz="quarter" idx="3"/>
          </p:nvPr>
        </p:nvSpPr>
        <p:spPr>
          <a:xfrm>
            <a:off x="2519853" y="6441192"/>
            <a:ext cx="8684173" cy="365125"/>
          </a:xfrm>
        </p:spPr>
        <p:txBody>
          <a:bodyPr/>
          <a:lstStyle/>
          <a:p>
            <a:r>
              <a:rPr lang="en-US" dirty="0"/>
              <a:t>Final Project | Topics in Computer Science II | Fall 2025, University of Iowa</a:t>
            </a:r>
          </a:p>
        </p:txBody>
      </p:sp>
      <p:sp>
        <p:nvSpPr>
          <p:cNvPr id="4" name="TextBox 3">
            <a:extLst>
              <a:ext uri="{FF2B5EF4-FFF2-40B4-BE49-F238E27FC236}">
                <a16:creationId xmlns:a16="http://schemas.microsoft.com/office/drawing/2014/main" id="{048A7E97-6945-1AA4-86BD-438A1C40366D}"/>
              </a:ext>
            </a:extLst>
          </p:cNvPr>
          <p:cNvSpPr txBox="1"/>
          <p:nvPr/>
        </p:nvSpPr>
        <p:spPr>
          <a:xfrm>
            <a:off x="9057809" y="108176"/>
            <a:ext cx="3134191" cy="307777"/>
          </a:xfrm>
          <a:prstGeom prst="rect">
            <a:avLst/>
          </a:prstGeom>
          <a:noFill/>
        </p:spPr>
        <p:txBody>
          <a:bodyPr wrap="none" rtlCol="0">
            <a:spAutoFit/>
          </a:bodyPr>
          <a:lstStyle/>
          <a:p>
            <a:r>
              <a:rPr lang="en-US" sz="1400" dirty="0">
                <a:hlinkClick r:id="rId2" action="ppaction://hlinksldjump"/>
              </a:rPr>
              <a:t>Sources:</a:t>
            </a:r>
            <a:r>
              <a:rPr lang="en-US" sz="1400" dirty="0"/>
              <a:t> [3], [4], [5], [6], [10], [13], [17] </a:t>
            </a:r>
          </a:p>
        </p:txBody>
      </p:sp>
    </p:spTree>
    <p:extLst>
      <p:ext uri="{BB962C8B-B14F-4D97-AF65-F5344CB8AC3E}">
        <p14:creationId xmlns:p14="http://schemas.microsoft.com/office/powerpoint/2010/main" val="38050274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AC4C85-84DA-F459-1E71-A8E8A7C9937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7DD36D0-5522-8F47-A00D-9E66483FED24}"/>
              </a:ext>
            </a:extLst>
          </p:cNvPr>
          <p:cNvSpPr>
            <a:spLocks noGrp="1"/>
          </p:cNvSpPr>
          <p:nvPr>
            <p:ph type="ctrTitle"/>
          </p:nvPr>
        </p:nvSpPr>
        <p:spPr>
          <a:xfrm>
            <a:off x="952500" y="2805221"/>
            <a:ext cx="10286999" cy="759906"/>
          </a:xfrm>
        </p:spPr>
        <p:txBody>
          <a:bodyPr>
            <a:normAutofit fontScale="90000"/>
          </a:bodyPr>
          <a:lstStyle/>
          <a:p>
            <a:r>
              <a:rPr lang="en-US" dirty="0"/>
              <a:t>Z-Wave</a:t>
            </a:r>
          </a:p>
        </p:txBody>
      </p:sp>
      <p:sp>
        <p:nvSpPr>
          <p:cNvPr id="5" name="Subtitle 4">
            <a:extLst>
              <a:ext uri="{FF2B5EF4-FFF2-40B4-BE49-F238E27FC236}">
                <a16:creationId xmlns:a16="http://schemas.microsoft.com/office/drawing/2014/main" id="{62B3B849-8BE0-BC1E-8496-D6F2A1B43463}"/>
              </a:ext>
            </a:extLst>
          </p:cNvPr>
          <p:cNvSpPr>
            <a:spLocks noGrp="1"/>
          </p:cNvSpPr>
          <p:nvPr>
            <p:ph type="subTitle" idx="1"/>
          </p:nvPr>
        </p:nvSpPr>
        <p:spPr>
          <a:xfrm>
            <a:off x="952500" y="3791876"/>
            <a:ext cx="10286999" cy="407460"/>
          </a:xfrm>
        </p:spPr>
        <p:txBody>
          <a:bodyPr/>
          <a:lstStyle/>
          <a:p>
            <a:r>
              <a:rPr lang="en-US" dirty="0"/>
              <a:t>Protocol 3/3</a:t>
            </a:r>
          </a:p>
        </p:txBody>
      </p:sp>
    </p:spTree>
    <p:extLst>
      <p:ext uri="{BB962C8B-B14F-4D97-AF65-F5344CB8AC3E}">
        <p14:creationId xmlns:p14="http://schemas.microsoft.com/office/powerpoint/2010/main" val="17413189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2607A-A15E-5314-00E2-B2DB49DBB4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A0C47A-0DB5-B114-8463-EB394FD7106D}"/>
              </a:ext>
            </a:extLst>
          </p:cNvPr>
          <p:cNvSpPr>
            <a:spLocks noGrp="1"/>
          </p:cNvSpPr>
          <p:nvPr>
            <p:ph type="title"/>
          </p:nvPr>
        </p:nvSpPr>
        <p:spPr>
          <a:xfrm>
            <a:off x="949325" y="498296"/>
            <a:ext cx="5260975" cy="896116"/>
          </a:xfrm>
        </p:spPr>
        <p:txBody>
          <a:bodyPr/>
          <a:lstStyle/>
          <a:p>
            <a:r>
              <a:rPr lang="en-US" dirty="0"/>
              <a:t>Z-Wave Background</a:t>
            </a:r>
          </a:p>
        </p:txBody>
      </p:sp>
      <p:sp>
        <p:nvSpPr>
          <p:cNvPr id="5" name="Content Placeholder 4">
            <a:extLst>
              <a:ext uri="{FF2B5EF4-FFF2-40B4-BE49-F238E27FC236}">
                <a16:creationId xmlns:a16="http://schemas.microsoft.com/office/drawing/2014/main" id="{6A9AEDDD-402B-CEB5-DBDE-65A4FC49DC98}"/>
              </a:ext>
            </a:extLst>
          </p:cNvPr>
          <p:cNvSpPr>
            <a:spLocks noGrp="1"/>
          </p:cNvSpPr>
          <p:nvPr>
            <p:ph idx="1"/>
          </p:nvPr>
        </p:nvSpPr>
        <p:spPr>
          <a:xfrm>
            <a:off x="952499" y="1686757"/>
            <a:ext cx="10251527" cy="4256843"/>
          </a:xfrm>
        </p:spPr>
        <p:txBody>
          <a:bodyPr>
            <a:normAutofit/>
          </a:bodyPr>
          <a:lstStyle/>
          <a:p>
            <a:r>
              <a:rPr lang="en-US" b="1" dirty="0"/>
              <a:t>Introduced:</a:t>
            </a:r>
            <a:r>
              <a:rPr lang="en-US" dirty="0"/>
              <a:t> 1999 (developed by </a:t>
            </a:r>
            <a:r>
              <a:rPr lang="en-US" dirty="0" err="1"/>
              <a:t>Zensys</a:t>
            </a:r>
            <a:r>
              <a:rPr lang="en-US" dirty="0"/>
              <a:t>, acquired by Silicon Labs in 2018)</a:t>
            </a:r>
          </a:p>
          <a:p>
            <a:r>
              <a:rPr lang="en-US" b="1" dirty="0"/>
              <a:t>Z-Wave Alliance: </a:t>
            </a:r>
            <a:r>
              <a:rPr lang="en-US" dirty="0"/>
              <a:t>maintains and certifies the Z-Wave standard</a:t>
            </a:r>
          </a:p>
          <a:p>
            <a:endParaRPr lang="en-US" b="1" dirty="0"/>
          </a:p>
          <a:p>
            <a:pPr marL="0" indent="0">
              <a:buNone/>
            </a:pPr>
            <a:r>
              <a:rPr lang="en-US" b="1" dirty="0"/>
              <a:t>Features:</a:t>
            </a:r>
          </a:p>
          <a:p>
            <a:r>
              <a:rPr lang="en-US" dirty="0"/>
              <a:t>Integrated RF transceiver with embedded protocol stack</a:t>
            </a:r>
          </a:p>
          <a:p>
            <a:r>
              <a:rPr lang="en-US" dirty="0"/>
              <a:t>Includes MAC, networking, application layers</a:t>
            </a:r>
          </a:p>
          <a:p>
            <a:r>
              <a:rPr lang="en-US" dirty="0"/>
              <a:t>Can be long range (up to 1.5mi)</a:t>
            </a:r>
          </a:p>
        </p:txBody>
      </p:sp>
      <p:sp>
        <p:nvSpPr>
          <p:cNvPr id="6" name="Footer Placeholder 3">
            <a:extLst>
              <a:ext uri="{FF2B5EF4-FFF2-40B4-BE49-F238E27FC236}">
                <a16:creationId xmlns:a16="http://schemas.microsoft.com/office/drawing/2014/main" id="{3C965C09-FBA6-FC9D-4A5C-CADABD37F0E0}"/>
              </a:ext>
            </a:extLst>
          </p:cNvPr>
          <p:cNvSpPr>
            <a:spLocks noGrp="1"/>
          </p:cNvSpPr>
          <p:nvPr>
            <p:ph type="ftr" sz="quarter" idx="3"/>
          </p:nvPr>
        </p:nvSpPr>
        <p:spPr>
          <a:xfrm>
            <a:off x="2519853" y="6441192"/>
            <a:ext cx="8684173" cy="365125"/>
          </a:xfrm>
        </p:spPr>
        <p:txBody>
          <a:bodyPr/>
          <a:lstStyle/>
          <a:p>
            <a:r>
              <a:rPr lang="en-US"/>
              <a:t>Final Project | Topics in Computer Science II | Fall 2025, University of Iowa</a:t>
            </a:r>
            <a:endParaRPr lang="en-US" dirty="0"/>
          </a:p>
        </p:txBody>
      </p:sp>
      <p:sp>
        <p:nvSpPr>
          <p:cNvPr id="4" name="TextBox 3">
            <a:extLst>
              <a:ext uri="{FF2B5EF4-FFF2-40B4-BE49-F238E27FC236}">
                <a16:creationId xmlns:a16="http://schemas.microsoft.com/office/drawing/2014/main" id="{376C86AC-8919-69E5-62DF-173646D8CF91}"/>
              </a:ext>
            </a:extLst>
          </p:cNvPr>
          <p:cNvSpPr txBox="1"/>
          <p:nvPr/>
        </p:nvSpPr>
        <p:spPr>
          <a:xfrm>
            <a:off x="9978373" y="96819"/>
            <a:ext cx="2055371" cy="307777"/>
          </a:xfrm>
          <a:prstGeom prst="rect">
            <a:avLst/>
          </a:prstGeom>
          <a:noFill/>
        </p:spPr>
        <p:txBody>
          <a:bodyPr wrap="none" rtlCol="0">
            <a:spAutoFit/>
          </a:bodyPr>
          <a:lstStyle/>
          <a:p>
            <a:r>
              <a:rPr lang="en-US" sz="1400" dirty="0">
                <a:hlinkClick r:id="rId2" action="ppaction://hlinksldjump"/>
              </a:rPr>
              <a:t>Sources:</a:t>
            </a:r>
            <a:r>
              <a:rPr lang="en-US" sz="1400" dirty="0"/>
              <a:t> [11], [7], [8], [9]</a:t>
            </a:r>
          </a:p>
        </p:txBody>
      </p:sp>
      <p:pic>
        <p:nvPicPr>
          <p:cNvPr id="3" name="Picture 8" descr="Z-Wave - Wikipedia">
            <a:extLst>
              <a:ext uri="{FF2B5EF4-FFF2-40B4-BE49-F238E27FC236}">
                <a16:creationId xmlns:a16="http://schemas.microsoft.com/office/drawing/2014/main" id="{E071854E-5891-0F89-2069-D5FFF44B8C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50753" y="508440"/>
            <a:ext cx="2084909" cy="9295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30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45B2B-F8EA-5A91-5D20-AE6EA4D8EC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335447-CE73-2DE5-BA8F-72F6B98B0F87}"/>
              </a:ext>
            </a:extLst>
          </p:cNvPr>
          <p:cNvSpPr>
            <a:spLocks noGrp="1"/>
          </p:cNvSpPr>
          <p:nvPr>
            <p:ph type="title"/>
          </p:nvPr>
        </p:nvSpPr>
        <p:spPr>
          <a:xfrm>
            <a:off x="949325" y="498296"/>
            <a:ext cx="8347075" cy="896116"/>
          </a:xfrm>
        </p:spPr>
        <p:txBody>
          <a:bodyPr>
            <a:normAutofit/>
          </a:bodyPr>
          <a:lstStyle/>
          <a:p>
            <a:r>
              <a:rPr lang="en-US" dirty="0"/>
              <a:t>Z-Wave Device Nomenclature</a:t>
            </a:r>
          </a:p>
        </p:txBody>
      </p:sp>
      <p:sp>
        <p:nvSpPr>
          <p:cNvPr id="5" name="Content Placeholder 4">
            <a:extLst>
              <a:ext uri="{FF2B5EF4-FFF2-40B4-BE49-F238E27FC236}">
                <a16:creationId xmlns:a16="http://schemas.microsoft.com/office/drawing/2014/main" id="{CA609BD8-857E-8F05-5AB2-D97C5960F145}"/>
              </a:ext>
            </a:extLst>
          </p:cNvPr>
          <p:cNvSpPr>
            <a:spLocks noGrp="1"/>
          </p:cNvSpPr>
          <p:nvPr>
            <p:ph idx="1"/>
          </p:nvPr>
        </p:nvSpPr>
        <p:spPr>
          <a:xfrm>
            <a:off x="952499" y="1686757"/>
            <a:ext cx="10251527" cy="4256843"/>
          </a:xfrm>
        </p:spPr>
        <p:txBody>
          <a:bodyPr>
            <a:normAutofit/>
          </a:bodyPr>
          <a:lstStyle/>
          <a:p>
            <a:pPr marL="514350" indent="-514350">
              <a:buAutoNum type="arabicPeriod"/>
            </a:pPr>
            <a:r>
              <a:rPr lang="en-US" sz="2000" b="1" dirty="0"/>
              <a:t>Primary Controller: </a:t>
            </a:r>
            <a:r>
              <a:rPr lang="en-US" sz="2000" dirty="0"/>
              <a:t>configures and manages the Z-Wave network. There is only one primary controller that is always on. Assigns home ID and node IDs and maintains authoritative routing table. </a:t>
            </a:r>
          </a:p>
          <a:p>
            <a:pPr marL="514350" indent="-514350">
              <a:buAutoNum type="arabicPeriod"/>
            </a:pPr>
            <a:r>
              <a:rPr lang="en-US" sz="2000" b="1" dirty="0"/>
              <a:t>Slave Nodes: </a:t>
            </a:r>
            <a:r>
              <a:rPr lang="en-US" sz="2000" dirty="0"/>
              <a:t>execute commands and can additionally route traffic if always powered. However, battery powered slaves typically do not route.</a:t>
            </a:r>
          </a:p>
          <a:p>
            <a:pPr marL="514350" indent="-514350">
              <a:buAutoNum type="arabicPeriod"/>
            </a:pPr>
            <a:r>
              <a:rPr lang="en-US" sz="2000" b="1" dirty="0"/>
              <a:t>Gateway/Hub (VERA): </a:t>
            </a:r>
            <a:r>
              <a:rPr lang="en-US" sz="2000" dirty="0"/>
              <a:t>used to create scenes, events, timers. Used for remote control.</a:t>
            </a:r>
          </a:p>
        </p:txBody>
      </p:sp>
      <p:sp>
        <p:nvSpPr>
          <p:cNvPr id="6" name="Footer Placeholder 3">
            <a:extLst>
              <a:ext uri="{FF2B5EF4-FFF2-40B4-BE49-F238E27FC236}">
                <a16:creationId xmlns:a16="http://schemas.microsoft.com/office/drawing/2014/main" id="{55C97D9F-787D-8A28-328C-868316969F02}"/>
              </a:ext>
            </a:extLst>
          </p:cNvPr>
          <p:cNvSpPr>
            <a:spLocks noGrp="1"/>
          </p:cNvSpPr>
          <p:nvPr>
            <p:ph type="ftr" sz="quarter" idx="3"/>
          </p:nvPr>
        </p:nvSpPr>
        <p:spPr>
          <a:xfrm>
            <a:off x="2519853" y="6441192"/>
            <a:ext cx="8684173" cy="365125"/>
          </a:xfrm>
        </p:spPr>
        <p:txBody>
          <a:bodyPr/>
          <a:lstStyle/>
          <a:p>
            <a:r>
              <a:rPr lang="en-US"/>
              <a:t>Final Project | Topics in Computer Science II | Fall 2025, University of Iowa</a:t>
            </a:r>
            <a:endParaRPr lang="en-US" dirty="0"/>
          </a:p>
        </p:txBody>
      </p:sp>
      <p:sp>
        <p:nvSpPr>
          <p:cNvPr id="3" name="TextBox 2">
            <a:extLst>
              <a:ext uri="{FF2B5EF4-FFF2-40B4-BE49-F238E27FC236}">
                <a16:creationId xmlns:a16="http://schemas.microsoft.com/office/drawing/2014/main" id="{F50D5E96-AEDA-6FC8-250C-3EC9A72A1CE7}"/>
              </a:ext>
            </a:extLst>
          </p:cNvPr>
          <p:cNvSpPr txBox="1"/>
          <p:nvPr/>
        </p:nvSpPr>
        <p:spPr>
          <a:xfrm>
            <a:off x="9978373" y="96819"/>
            <a:ext cx="1399742" cy="307777"/>
          </a:xfrm>
          <a:prstGeom prst="rect">
            <a:avLst/>
          </a:prstGeom>
          <a:noFill/>
        </p:spPr>
        <p:txBody>
          <a:bodyPr wrap="none" rtlCol="0">
            <a:spAutoFit/>
          </a:bodyPr>
          <a:lstStyle/>
          <a:p>
            <a:r>
              <a:rPr lang="en-US" sz="1400" dirty="0">
                <a:hlinkClick r:id="rId2" action="ppaction://hlinksldjump"/>
              </a:rPr>
              <a:t>Sources:</a:t>
            </a:r>
            <a:r>
              <a:rPr lang="en-US" sz="1400" dirty="0"/>
              <a:t> [7], [8]</a:t>
            </a:r>
          </a:p>
        </p:txBody>
      </p:sp>
    </p:spTree>
    <p:extLst>
      <p:ext uri="{BB962C8B-B14F-4D97-AF65-F5344CB8AC3E}">
        <p14:creationId xmlns:p14="http://schemas.microsoft.com/office/powerpoint/2010/main" val="39246659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43717-5723-707F-9E78-1475445857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FE3D1E-2154-7C6B-83E5-B73108C24CA6}"/>
              </a:ext>
            </a:extLst>
          </p:cNvPr>
          <p:cNvSpPr>
            <a:spLocks noGrp="1"/>
          </p:cNvSpPr>
          <p:nvPr>
            <p:ph type="title"/>
          </p:nvPr>
        </p:nvSpPr>
        <p:spPr>
          <a:xfrm>
            <a:off x="949325" y="498296"/>
            <a:ext cx="7945293" cy="896116"/>
          </a:xfrm>
        </p:spPr>
        <p:txBody>
          <a:bodyPr>
            <a:normAutofit/>
          </a:bodyPr>
          <a:lstStyle/>
          <a:p>
            <a:r>
              <a:rPr lang="en-US" dirty="0"/>
              <a:t>Z-Wave Architecture - Diagram</a:t>
            </a:r>
          </a:p>
        </p:txBody>
      </p:sp>
      <p:sp>
        <p:nvSpPr>
          <p:cNvPr id="6" name="Footer Placeholder 3">
            <a:extLst>
              <a:ext uri="{FF2B5EF4-FFF2-40B4-BE49-F238E27FC236}">
                <a16:creationId xmlns:a16="http://schemas.microsoft.com/office/drawing/2014/main" id="{7E2DD2E4-FF0B-2D0E-09E7-8C3B0A198A05}"/>
              </a:ext>
            </a:extLst>
          </p:cNvPr>
          <p:cNvSpPr>
            <a:spLocks noGrp="1"/>
          </p:cNvSpPr>
          <p:nvPr>
            <p:ph type="ftr" sz="quarter" idx="3"/>
          </p:nvPr>
        </p:nvSpPr>
        <p:spPr>
          <a:xfrm>
            <a:off x="2519853" y="6441192"/>
            <a:ext cx="8684173" cy="365125"/>
          </a:xfrm>
        </p:spPr>
        <p:txBody>
          <a:bodyPr/>
          <a:lstStyle/>
          <a:p>
            <a:r>
              <a:rPr lang="en-US"/>
              <a:t>Final Project | Topics in Computer Science II | Fall 2025, University of Iowa</a:t>
            </a:r>
            <a:endParaRPr lang="en-US" dirty="0"/>
          </a:p>
        </p:txBody>
      </p:sp>
      <p:sp>
        <p:nvSpPr>
          <p:cNvPr id="4" name="TextBox 3">
            <a:extLst>
              <a:ext uri="{FF2B5EF4-FFF2-40B4-BE49-F238E27FC236}">
                <a16:creationId xmlns:a16="http://schemas.microsoft.com/office/drawing/2014/main" id="{266C2E33-6F54-42AA-0AD8-05DB682DB65E}"/>
              </a:ext>
            </a:extLst>
          </p:cNvPr>
          <p:cNvSpPr txBox="1"/>
          <p:nvPr/>
        </p:nvSpPr>
        <p:spPr>
          <a:xfrm>
            <a:off x="9978373" y="96819"/>
            <a:ext cx="1157689" cy="307777"/>
          </a:xfrm>
          <a:prstGeom prst="rect">
            <a:avLst/>
          </a:prstGeom>
          <a:noFill/>
        </p:spPr>
        <p:txBody>
          <a:bodyPr wrap="none" rtlCol="0">
            <a:spAutoFit/>
          </a:bodyPr>
          <a:lstStyle/>
          <a:p>
            <a:r>
              <a:rPr lang="en-US" sz="1400" dirty="0">
                <a:hlinkClick r:id="rId2" action="ppaction://hlinksldjump"/>
              </a:rPr>
              <a:t>Sources:</a:t>
            </a:r>
            <a:r>
              <a:rPr lang="en-US" sz="1400" dirty="0"/>
              <a:t> [7]</a:t>
            </a:r>
          </a:p>
        </p:txBody>
      </p:sp>
      <p:pic>
        <p:nvPicPr>
          <p:cNvPr id="3" name="Picture 2">
            <a:extLst>
              <a:ext uri="{FF2B5EF4-FFF2-40B4-BE49-F238E27FC236}">
                <a16:creationId xmlns:a16="http://schemas.microsoft.com/office/drawing/2014/main" id="{F4A695C0-FA9F-1AD6-3D26-78B2F221F7C5}"/>
              </a:ext>
            </a:extLst>
          </p:cNvPr>
          <p:cNvPicPr>
            <a:picLocks noChangeAspect="1"/>
          </p:cNvPicPr>
          <p:nvPr/>
        </p:nvPicPr>
        <p:blipFill>
          <a:blip r:embed="rId3"/>
          <a:stretch>
            <a:fillRect/>
          </a:stretch>
        </p:blipFill>
        <p:spPr>
          <a:xfrm>
            <a:off x="3488211" y="1244051"/>
            <a:ext cx="6490162" cy="5115653"/>
          </a:xfrm>
          <a:prstGeom prst="rect">
            <a:avLst/>
          </a:prstGeom>
        </p:spPr>
      </p:pic>
    </p:spTree>
    <p:extLst>
      <p:ext uri="{BB962C8B-B14F-4D97-AF65-F5344CB8AC3E}">
        <p14:creationId xmlns:p14="http://schemas.microsoft.com/office/powerpoint/2010/main" val="8404666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05008-1471-D664-A3E1-46FACDB23C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511661-94B1-8F92-D951-7978CDC0F39A}"/>
              </a:ext>
            </a:extLst>
          </p:cNvPr>
          <p:cNvSpPr>
            <a:spLocks noGrp="1"/>
          </p:cNvSpPr>
          <p:nvPr>
            <p:ph type="title"/>
          </p:nvPr>
        </p:nvSpPr>
        <p:spPr>
          <a:xfrm>
            <a:off x="949325" y="498296"/>
            <a:ext cx="7699375" cy="896116"/>
          </a:xfrm>
        </p:spPr>
        <p:txBody>
          <a:bodyPr>
            <a:normAutofit fontScale="90000"/>
          </a:bodyPr>
          <a:lstStyle/>
          <a:p>
            <a:r>
              <a:rPr lang="en-US" dirty="0"/>
              <a:t>Z-Wave Architecture – High Level</a:t>
            </a:r>
          </a:p>
        </p:txBody>
      </p:sp>
      <p:sp>
        <p:nvSpPr>
          <p:cNvPr id="5" name="Content Placeholder 4">
            <a:extLst>
              <a:ext uri="{FF2B5EF4-FFF2-40B4-BE49-F238E27FC236}">
                <a16:creationId xmlns:a16="http://schemas.microsoft.com/office/drawing/2014/main" id="{E021B895-5E3F-7FC8-6C58-99DF52E8FFF6}"/>
              </a:ext>
            </a:extLst>
          </p:cNvPr>
          <p:cNvSpPr>
            <a:spLocks noGrp="1"/>
          </p:cNvSpPr>
          <p:nvPr>
            <p:ph idx="1"/>
          </p:nvPr>
        </p:nvSpPr>
        <p:spPr>
          <a:xfrm>
            <a:off x="952499" y="3276600"/>
            <a:ext cx="11036300" cy="2791004"/>
          </a:xfrm>
        </p:spPr>
        <p:txBody>
          <a:bodyPr>
            <a:normAutofit/>
          </a:bodyPr>
          <a:lstStyle/>
          <a:p>
            <a:pPr marL="0" indent="0">
              <a:buNone/>
            </a:pPr>
            <a:r>
              <a:rPr lang="en-US" sz="2000" b="1" dirty="0"/>
              <a:t>Z-Wave Optimizations:</a:t>
            </a:r>
          </a:p>
          <a:p>
            <a:r>
              <a:rPr lang="en-US" sz="2000" i="1" dirty="0"/>
              <a:t>Mesh &amp; Routing </a:t>
            </a:r>
            <a:r>
              <a:rPr lang="en-US" sz="2000" dirty="0"/>
              <a:t>– provides multi-hop mesh networking using routing tables, automatic path discovery, and route repair (although maximum of 4 hops using source routing)</a:t>
            </a:r>
          </a:p>
          <a:p>
            <a:r>
              <a:rPr lang="en-US" sz="2000" i="1" dirty="0"/>
              <a:t>Transfer Layer </a:t>
            </a:r>
            <a:r>
              <a:rPr lang="en-US" sz="2000" dirty="0"/>
              <a:t>– ability for acks, retransmissions, checksum validation. Supports </a:t>
            </a:r>
            <a:r>
              <a:rPr lang="en-US" sz="2000" dirty="0" err="1"/>
              <a:t>singlecast</a:t>
            </a:r>
            <a:r>
              <a:rPr lang="en-US" sz="2000" dirty="0"/>
              <a:t>, multicast, and broadcast</a:t>
            </a:r>
          </a:p>
          <a:p>
            <a:r>
              <a:rPr lang="en-US" sz="2000" dirty="0"/>
              <a:t>Application Layer – executes Z-Wave command classes, decodes payloads, and perform device specific actions (e.g. light switch or lock)</a:t>
            </a:r>
          </a:p>
        </p:txBody>
      </p:sp>
      <p:sp>
        <p:nvSpPr>
          <p:cNvPr id="6" name="Footer Placeholder 3">
            <a:extLst>
              <a:ext uri="{FF2B5EF4-FFF2-40B4-BE49-F238E27FC236}">
                <a16:creationId xmlns:a16="http://schemas.microsoft.com/office/drawing/2014/main" id="{A39CCB17-52E5-1639-CE6C-F4947AE2C136}"/>
              </a:ext>
            </a:extLst>
          </p:cNvPr>
          <p:cNvSpPr>
            <a:spLocks noGrp="1"/>
          </p:cNvSpPr>
          <p:nvPr>
            <p:ph type="ftr" sz="quarter" idx="3"/>
          </p:nvPr>
        </p:nvSpPr>
        <p:spPr>
          <a:xfrm>
            <a:off x="2519853" y="6441192"/>
            <a:ext cx="8684173" cy="365125"/>
          </a:xfrm>
        </p:spPr>
        <p:txBody>
          <a:bodyPr/>
          <a:lstStyle/>
          <a:p>
            <a:r>
              <a:rPr lang="en-US"/>
              <a:t>Final Project | Topics in Computer Science II | Fall 2025, University of Iowa</a:t>
            </a:r>
            <a:endParaRPr lang="en-US" dirty="0"/>
          </a:p>
        </p:txBody>
      </p:sp>
      <p:sp>
        <p:nvSpPr>
          <p:cNvPr id="4" name="Content Placeholder 4">
            <a:extLst>
              <a:ext uri="{FF2B5EF4-FFF2-40B4-BE49-F238E27FC236}">
                <a16:creationId xmlns:a16="http://schemas.microsoft.com/office/drawing/2014/main" id="{F0C4621B-EC96-F0A6-606F-A274E0641635}"/>
              </a:ext>
            </a:extLst>
          </p:cNvPr>
          <p:cNvSpPr txBox="1">
            <a:spLocks/>
          </p:cNvSpPr>
          <p:nvPr/>
        </p:nvSpPr>
        <p:spPr>
          <a:xfrm>
            <a:off x="987975" y="1676400"/>
            <a:ext cx="5260976" cy="2170406"/>
          </a:xfrm>
          <a:prstGeom prst="rect">
            <a:avLst/>
          </a:prstGeom>
        </p:spPr>
        <p:txBody>
          <a:bodyPr vert="horz" lIns="0" tIns="0" rIns="0" bIns="0" rtlCol="0">
            <a:normAutofit/>
          </a:bodyPr>
          <a:lstStyle>
            <a:lvl1pPr marL="228600" indent="-228600" algn="l" defTabSz="914400" rtl="0" eaLnBrk="1" latinLnBrk="0" hangingPunct="1">
              <a:lnSpc>
                <a:spcPct val="100000"/>
              </a:lnSpc>
              <a:spcBef>
                <a:spcPts val="1000"/>
              </a:spcBef>
              <a:buClr>
                <a:schemeClr val="tx2"/>
              </a:buClr>
              <a:buSzPct val="95000"/>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Arial" panose="020B0604020202020204" pitchFamily="34" charset="0"/>
              </a:defRPr>
            </a:lvl1pPr>
            <a:lvl2pPr marL="685800" indent="-228600" algn="l" defTabSz="914400" rtl="0" eaLnBrk="1" latinLnBrk="0" hangingPunct="1">
              <a:lnSpc>
                <a:spcPct val="100000"/>
              </a:lnSpc>
              <a:spcBef>
                <a:spcPts val="500"/>
              </a:spcBef>
              <a:buClr>
                <a:schemeClr val="tx2"/>
              </a:buClr>
              <a:buSzPct val="100000"/>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Arial" panose="020B0604020202020204" pitchFamily="34" charset="0"/>
              </a:defRPr>
            </a:lvl2pPr>
            <a:lvl3pPr marL="1143000" indent="-228600" algn="l" defTabSz="914400" rtl="0" eaLnBrk="1" latinLnBrk="0" hangingPunct="1">
              <a:lnSpc>
                <a:spcPct val="100000"/>
              </a:lnSpc>
              <a:spcBef>
                <a:spcPts val="500"/>
              </a:spcBef>
              <a:buClr>
                <a:schemeClr val="tx2"/>
              </a:buClr>
              <a:buSzPct val="100000"/>
              <a:buFont typeface="Roboto" panose="02000000000000000000" pitchFamily="2" charset="0"/>
              <a:buChar char="•"/>
              <a:defRPr sz="2000" kern="1200">
                <a:solidFill>
                  <a:schemeClr val="tx1"/>
                </a:solidFill>
                <a:latin typeface="Roboto" panose="02000000000000000000" pitchFamily="2" charset="0"/>
                <a:ea typeface="Roboto" panose="02000000000000000000" pitchFamily="2" charset="0"/>
                <a:cs typeface="Arial" panose="020B0604020202020204" pitchFamily="34" charset="0"/>
              </a:defRPr>
            </a:lvl3pPr>
            <a:lvl4pPr marL="1600200" indent="-228600" algn="l" defTabSz="914400" rtl="0" eaLnBrk="1" latinLnBrk="0" hangingPunct="1">
              <a:lnSpc>
                <a:spcPct val="100000"/>
              </a:lnSpc>
              <a:spcBef>
                <a:spcPts val="500"/>
              </a:spcBef>
              <a:buClr>
                <a:schemeClr val="tx2"/>
              </a:buClr>
              <a:buSzPct val="100000"/>
              <a:buFont typeface="Roboto" panose="02000000000000000000" pitchFamily="2"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4pPr>
            <a:lvl5pPr marL="2057400" indent="-228600" algn="l" defTabSz="914400" rtl="0" eaLnBrk="1" latinLnBrk="0" hangingPunct="1">
              <a:lnSpc>
                <a:spcPct val="100000"/>
              </a:lnSpc>
              <a:spcBef>
                <a:spcPts val="500"/>
              </a:spcBef>
              <a:buClr>
                <a:schemeClr val="tx2"/>
              </a:buClr>
              <a:buSzPct val="100000"/>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t>Proprietary Z-Wave PHY/RF:</a:t>
            </a:r>
          </a:p>
          <a:p>
            <a:r>
              <a:rPr lang="en-US" sz="2000" dirty="0"/>
              <a:t>Sub-GHz ISM band RF </a:t>
            </a:r>
          </a:p>
          <a:p>
            <a:r>
              <a:rPr lang="en-US" sz="2000" dirty="0"/>
              <a:t>Optimized for reliable transmission through walls and floors</a:t>
            </a:r>
          </a:p>
        </p:txBody>
      </p:sp>
      <p:sp>
        <p:nvSpPr>
          <p:cNvPr id="7" name="Content Placeholder 4">
            <a:extLst>
              <a:ext uri="{FF2B5EF4-FFF2-40B4-BE49-F238E27FC236}">
                <a16:creationId xmlns:a16="http://schemas.microsoft.com/office/drawing/2014/main" id="{44526746-B737-CEBC-E7B5-436364141CFF}"/>
              </a:ext>
            </a:extLst>
          </p:cNvPr>
          <p:cNvSpPr txBox="1">
            <a:spLocks/>
          </p:cNvSpPr>
          <p:nvPr/>
        </p:nvSpPr>
        <p:spPr>
          <a:xfrm>
            <a:off x="6248950" y="1676400"/>
            <a:ext cx="5739849" cy="2170406"/>
          </a:xfrm>
          <a:prstGeom prst="rect">
            <a:avLst/>
          </a:prstGeom>
        </p:spPr>
        <p:txBody>
          <a:bodyPr vert="horz" lIns="0" tIns="0" rIns="0" bIns="0" rtlCol="0">
            <a:normAutofit/>
          </a:bodyPr>
          <a:lstStyle>
            <a:lvl1pPr marL="228600" indent="-228600" algn="l" defTabSz="914400" rtl="0" eaLnBrk="1" latinLnBrk="0" hangingPunct="1">
              <a:lnSpc>
                <a:spcPct val="100000"/>
              </a:lnSpc>
              <a:spcBef>
                <a:spcPts val="1000"/>
              </a:spcBef>
              <a:buClr>
                <a:schemeClr val="tx2"/>
              </a:buClr>
              <a:buSzPct val="95000"/>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Arial" panose="020B0604020202020204" pitchFamily="34" charset="0"/>
              </a:defRPr>
            </a:lvl1pPr>
            <a:lvl2pPr marL="685800" indent="-228600" algn="l" defTabSz="914400" rtl="0" eaLnBrk="1" latinLnBrk="0" hangingPunct="1">
              <a:lnSpc>
                <a:spcPct val="100000"/>
              </a:lnSpc>
              <a:spcBef>
                <a:spcPts val="500"/>
              </a:spcBef>
              <a:buClr>
                <a:schemeClr val="tx2"/>
              </a:buClr>
              <a:buSzPct val="100000"/>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Arial" panose="020B0604020202020204" pitchFamily="34" charset="0"/>
              </a:defRPr>
            </a:lvl2pPr>
            <a:lvl3pPr marL="1143000" indent="-228600" algn="l" defTabSz="914400" rtl="0" eaLnBrk="1" latinLnBrk="0" hangingPunct="1">
              <a:lnSpc>
                <a:spcPct val="100000"/>
              </a:lnSpc>
              <a:spcBef>
                <a:spcPts val="500"/>
              </a:spcBef>
              <a:buClr>
                <a:schemeClr val="tx2"/>
              </a:buClr>
              <a:buSzPct val="100000"/>
              <a:buFont typeface="Roboto" panose="02000000000000000000" pitchFamily="2" charset="0"/>
              <a:buChar char="•"/>
              <a:defRPr sz="2000" kern="1200">
                <a:solidFill>
                  <a:schemeClr val="tx1"/>
                </a:solidFill>
                <a:latin typeface="Roboto" panose="02000000000000000000" pitchFamily="2" charset="0"/>
                <a:ea typeface="Roboto" panose="02000000000000000000" pitchFamily="2" charset="0"/>
                <a:cs typeface="Arial" panose="020B0604020202020204" pitchFamily="34" charset="0"/>
              </a:defRPr>
            </a:lvl3pPr>
            <a:lvl4pPr marL="1600200" indent="-228600" algn="l" defTabSz="914400" rtl="0" eaLnBrk="1" latinLnBrk="0" hangingPunct="1">
              <a:lnSpc>
                <a:spcPct val="100000"/>
              </a:lnSpc>
              <a:spcBef>
                <a:spcPts val="500"/>
              </a:spcBef>
              <a:buClr>
                <a:schemeClr val="tx2"/>
              </a:buClr>
              <a:buSzPct val="100000"/>
              <a:buFont typeface="Roboto" panose="02000000000000000000" pitchFamily="2"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4pPr>
            <a:lvl5pPr marL="2057400" indent="-228600" algn="l" defTabSz="914400" rtl="0" eaLnBrk="1" latinLnBrk="0" hangingPunct="1">
              <a:lnSpc>
                <a:spcPct val="100000"/>
              </a:lnSpc>
              <a:spcBef>
                <a:spcPts val="500"/>
              </a:spcBef>
              <a:buClr>
                <a:schemeClr val="tx2"/>
              </a:buClr>
              <a:buSzPct val="100000"/>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t>Proprietary Z-Wave MAC:</a:t>
            </a:r>
          </a:p>
          <a:p>
            <a:r>
              <a:rPr lang="en-US" sz="2000" dirty="0"/>
              <a:t>Collision avoidance</a:t>
            </a:r>
          </a:p>
          <a:p>
            <a:r>
              <a:rPr lang="en-US" sz="2000" dirty="0"/>
              <a:t>Data encoded using Manchester or PE coding</a:t>
            </a:r>
          </a:p>
        </p:txBody>
      </p:sp>
      <p:sp>
        <p:nvSpPr>
          <p:cNvPr id="3" name="TextBox 2">
            <a:extLst>
              <a:ext uri="{FF2B5EF4-FFF2-40B4-BE49-F238E27FC236}">
                <a16:creationId xmlns:a16="http://schemas.microsoft.com/office/drawing/2014/main" id="{69FB3348-63B3-9B20-60AD-1F39ADE94336}"/>
              </a:ext>
            </a:extLst>
          </p:cNvPr>
          <p:cNvSpPr txBox="1"/>
          <p:nvPr/>
        </p:nvSpPr>
        <p:spPr>
          <a:xfrm>
            <a:off x="9978373" y="96819"/>
            <a:ext cx="1399742" cy="307777"/>
          </a:xfrm>
          <a:prstGeom prst="rect">
            <a:avLst/>
          </a:prstGeom>
          <a:noFill/>
        </p:spPr>
        <p:txBody>
          <a:bodyPr wrap="none" rtlCol="0">
            <a:spAutoFit/>
          </a:bodyPr>
          <a:lstStyle/>
          <a:p>
            <a:r>
              <a:rPr lang="en-US" sz="1400" dirty="0">
                <a:hlinkClick r:id="rId2" action="ppaction://hlinksldjump"/>
              </a:rPr>
              <a:t>Sources:</a:t>
            </a:r>
            <a:r>
              <a:rPr lang="en-US" sz="1400" dirty="0"/>
              <a:t> [7], [8]</a:t>
            </a:r>
          </a:p>
        </p:txBody>
      </p:sp>
    </p:spTree>
    <p:extLst>
      <p:ext uri="{BB962C8B-B14F-4D97-AF65-F5344CB8AC3E}">
        <p14:creationId xmlns:p14="http://schemas.microsoft.com/office/powerpoint/2010/main" val="35185154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4FB03-EE4B-4FBC-E107-905099F35C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B6E1F0-F01B-607C-B252-19497C7123F1}"/>
              </a:ext>
            </a:extLst>
          </p:cNvPr>
          <p:cNvSpPr>
            <a:spLocks noGrp="1"/>
          </p:cNvSpPr>
          <p:nvPr>
            <p:ph type="title"/>
          </p:nvPr>
        </p:nvSpPr>
        <p:spPr>
          <a:xfrm>
            <a:off x="949325" y="498296"/>
            <a:ext cx="11036300" cy="896116"/>
          </a:xfrm>
        </p:spPr>
        <p:txBody>
          <a:bodyPr>
            <a:normAutofit fontScale="90000"/>
          </a:bodyPr>
          <a:lstStyle/>
          <a:p>
            <a:r>
              <a:rPr lang="en-US" dirty="0"/>
              <a:t>Z-Wave Architecture – What Makes Z-Wave Unique?</a:t>
            </a:r>
          </a:p>
        </p:txBody>
      </p:sp>
      <p:sp>
        <p:nvSpPr>
          <p:cNvPr id="5" name="Content Placeholder 4">
            <a:extLst>
              <a:ext uri="{FF2B5EF4-FFF2-40B4-BE49-F238E27FC236}">
                <a16:creationId xmlns:a16="http://schemas.microsoft.com/office/drawing/2014/main" id="{07E0BEB5-3838-953B-CE6A-0E2B62B6679D}"/>
              </a:ext>
            </a:extLst>
          </p:cNvPr>
          <p:cNvSpPr>
            <a:spLocks noGrp="1"/>
          </p:cNvSpPr>
          <p:nvPr>
            <p:ph idx="1"/>
          </p:nvPr>
        </p:nvSpPr>
        <p:spPr>
          <a:xfrm>
            <a:off x="949325" y="1676400"/>
            <a:ext cx="11036300" cy="4267200"/>
          </a:xfrm>
        </p:spPr>
        <p:txBody>
          <a:bodyPr>
            <a:normAutofit fontScale="85000" lnSpcReduction="20000"/>
          </a:bodyPr>
          <a:lstStyle/>
          <a:p>
            <a:pPr marL="0" indent="0">
              <a:buNone/>
            </a:pPr>
            <a:r>
              <a:rPr lang="en-US" sz="2000" dirty="0"/>
              <a:t>In particular, there are two reasons that makes Z-Wave unique:</a:t>
            </a:r>
          </a:p>
          <a:p>
            <a:pPr marL="0" indent="0">
              <a:buNone/>
            </a:pPr>
            <a:endParaRPr lang="en-US" sz="2000" dirty="0"/>
          </a:p>
          <a:p>
            <a:pPr marL="457200" indent="-457200">
              <a:buAutoNum type="arabicPeriod"/>
            </a:pPr>
            <a:r>
              <a:rPr lang="en-US" sz="2000" b="1" dirty="0"/>
              <a:t>Long-</a:t>
            </a:r>
            <a:r>
              <a:rPr lang="en-US" sz="2000" b="1" dirty="0" err="1"/>
              <a:t>Ranze</a:t>
            </a:r>
            <a:r>
              <a:rPr lang="en-US" sz="2000" b="1" dirty="0"/>
              <a:t> Z-Wave (Z-Wave LR):</a:t>
            </a:r>
          </a:p>
          <a:p>
            <a:pPr marL="0" indent="0">
              <a:buNone/>
            </a:pPr>
            <a:r>
              <a:rPr lang="en-US" sz="2000" dirty="0"/>
              <a:t>Extends communication range well beyond classic Z-Wave mesh</a:t>
            </a:r>
          </a:p>
          <a:p>
            <a:pPr marL="0" indent="0">
              <a:buNone/>
            </a:pPr>
            <a:r>
              <a:rPr lang="en-US" sz="2000" dirty="0"/>
              <a:t>Larger addressing space to support up to 4000 nodes</a:t>
            </a:r>
          </a:p>
          <a:p>
            <a:pPr marL="0" indent="0">
              <a:buNone/>
            </a:pPr>
            <a:r>
              <a:rPr lang="en-US" sz="2000" dirty="0"/>
              <a:t>Very practical for automation within apartment complexes and hospitality markets</a:t>
            </a:r>
          </a:p>
          <a:p>
            <a:pPr marL="0" indent="0">
              <a:buNone/>
            </a:pPr>
            <a:endParaRPr lang="en-US" sz="2000" dirty="0"/>
          </a:p>
          <a:p>
            <a:pPr marL="0" indent="0">
              <a:buNone/>
            </a:pPr>
            <a:r>
              <a:rPr lang="en-US" sz="2000" b="1" dirty="0"/>
              <a:t>2. Z-Wave is a Close Source/Proprietary Protocol:</a:t>
            </a:r>
          </a:p>
          <a:p>
            <a:r>
              <a:rPr lang="en-US" sz="2000" dirty="0"/>
              <a:t>The standard is governed by the Z-Wave alliance</a:t>
            </a:r>
          </a:p>
          <a:p>
            <a:r>
              <a:rPr lang="en-US" sz="2000" dirty="0"/>
              <a:t>Strict certification and compliance testing</a:t>
            </a:r>
          </a:p>
          <a:p>
            <a:r>
              <a:rPr lang="en-US" sz="2000" dirty="0">
                <a:solidFill>
                  <a:srgbClr val="FF0000"/>
                </a:solidFill>
              </a:rPr>
              <a:t>A consequence of this is that it is also harder to understand/study – personal experience from this project</a:t>
            </a:r>
          </a:p>
          <a:p>
            <a:endParaRPr lang="en-US" sz="2000" dirty="0">
              <a:solidFill>
                <a:srgbClr val="FF0000"/>
              </a:solidFill>
            </a:endParaRPr>
          </a:p>
          <a:p>
            <a:pPr marL="0" indent="0">
              <a:buNone/>
            </a:pPr>
            <a:r>
              <a:rPr lang="en-US" sz="2000" dirty="0">
                <a:solidFill>
                  <a:srgbClr val="FF0000"/>
                </a:solidFill>
              </a:rPr>
              <a:t>Because I understand this protocol less (proprietary vs based on 802.15.4), this protocol is not for me </a:t>
            </a:r>
            <a:r>
              <a:rPr lang="en-US" sz="2000" dirty="0">
                <a:solidFill>
                  <a:srgbClr val="FF0000"/>
                </a:solidFill>
                <a:sym typeface="Wingdings" pitchFamily="2" charset="2"/>
              </a:rPr>
              <a:t></a:t>
            </a:r>
            <a:endParaRPr lang="en-US" sz="2000" dirty="0">
              <a:solidFill>
                <a:srgbClr val="FF0000"/>
              </a:solidFill>
            </a:endParaRPr>
          </a:p>
        </p:txBody>
      </p:sp>
      <p:sp>
        <p:nvSpPr>
          <p:cNvPr id="6" name="Footer Placeholder 3">
            <a:extLst>
              <a:ext uri="{FF2B5EF4-FFF2-40B4-BE49-F238E27FC236}">
                <a16:creationId xmlns:a16="http://schemas.microsoft.com/office/drawing/2014/main" id="{46D3602F-7FA3-EAA2-38B6-B5371FF51843}"/>
              </a:ext>
            </a:extLst>
          </p:cNvPr>
          <p:cNvSpPr>
            <a:spLocks noGrp="1"/>
          </p:cNvSpPr>
          <p:nvPr>
            <p:ph type="ftr" sz="quarter" idx="3"/>
          </p:nvPr>
        </p:nvSpPr>
        <p:spPr>
          <a:xfrm>
            <a:off x="2519853" y="6441192"/>
            <a:ext cx="8684173" cy="365125"/>
          </a:xfrm>
        </p:spPr>
        <p:txBody>
          <a:bodyPr/>
          <a:lstStyle/>
          <a:p>
            <a:r>
              <a:rPr lang="en-US"/>
              <a:t>Final Project | Topics in Computer Science II | Fall 2025, University of Iowa</a:t>
            </a:r>
            <a:endParaRPr lang="en-US" dirty="0"/>
          </a:p>
        </p:txBody>
      </p:sp>
      <p:sp>
        <p:nvSpPr>
          <p:cNvPr id="4" name="Content Placeholder 4">
            <a:extLst>
              <a:ext uri="{FF2B5EF4-FFF2-40B4-BE49-F238E27FC236}">
                <a16:creationId xmlns:a16="http://schemas.microsoft.com/office/drawing/2014/main" id="{EDB562F8-0BA4-D053-D495-60BC78E7682C}"/>
              </a:ext>
            </a:extLst>
          </p:cNvPr>
          <p:cNvSpPr txBox="1">
            <a:spLocks/>
          </p:cNvSpPr>
          <p:nvPr/>
        </p:nvSpPr>
        <p:spPr>
          <a:xfrm>
            <a:off x="987975" y="1676400"/>
            <a:ext cx="5260976" cy="2170406"/>
          </a:xfrm>
          <a:prstGeom prst="rect">
            <a:avLst/>
          </a:prstGeom>
        </p:spPr>
        <p:txBody>
          <a:bodyPr vert="horz" lIns="0" tIns="0" rIns="0" bIns="0" rtlCol="0">
            <a:normAutofit/>
          </a:bodyPr>
          <a:lstStyle>
            <a:lvl1pPr marL="228600" indent="-228600" algn="l" defTabSz="914400" rtl="0" eaLnBrk="1" latinLnBrk="0" hangingPunct="1">
              <a:lnSpc>
                <a:spcPct val="100000"/>
              </a:lnSpc>
              <a:spcBef>
                <a:spcPts val="1000"/>
              </a:spcBef>
              <a:buClr>
                <a:schemeClr val="tx2"/>
              </a:buClr>
              <a:buSzPct val="95000"/>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Arial" panose="020B0604020202020204" pitchFamily="34" charset="0"/>
              </a:defRPr>
            </a:lvl1pPr>
            <a:lvl2pPr marL="685800" indent="-228600" algn="l" defTabSz="914400" rtl="0" eaLnBrk="1" latinLnBrk="0" hangingPunct="1">
              <a:lnSpc>
                <a:spcPct val="100000"/>
              </a:lnSpc>
              <a:spcBef>
                <a:spcPts val="500"/>
              </a:spcBef>
              <a:buClr>
                <a:schemeClr val="tx2"/>
              </a:buClr>
              <a:buSzPct val="100000"/>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Arial" panose="020B0604020202020204" pitchFamily="34" charset="0"/>
              </a:defRPr>
            </a:lvl2pPr>
            <a:lvl3pPr marL="1143000" indent="-228600" algn="l" defTabSz="914400" rtl="0" eaLnBrk="1" latinLnBrk="0" hangingPunct="1">
              <a:lnSpc>
                <a:spcPct val="100000"/>
              </a:lnSpc>
              <a:spcBef>
                <a:spcPts val="500"/>
              </a:spcBef>
              <a:buClr>
                <a:schemeClr val="tx2"/>
              </a:buClr>
              <a:buSzPct val="100000"/>
              <a:buFont typeface="Roboto" panose="02000000000000000000" pitchFamily="2" charset="0"/>
              <a:buChar char="•"/>
              <a:defRPr sz="2000" kern="1200">
                <a:solidFill>
                  <a:schemeClr val="tx1"/>
                </a:solidFill>
                <a:latin typeface="Roboto" panose="02000000000000000000" pitchFamily="2" charset="0"/>
                <a:ea typeface="Roboto" panose="02000000000000000000" pitchFamily="2" charset="0"/>
                <a:cs typeface="Arial" panose="020B0604020202020204" pitchFamily="34" charset="0"/>
              </a:defRPr>
            </a:lvl3pPr>
            <a:lvl4pPr marL="1600200" indent="-228600" algn="l" defTabSz="914400" rtl="0" eaLnBrk="1" latinLnBrk="0" hangingPunct="1">
              <a:lnSpc>
                <a:spcPct val="100000"/>
              </a:lnSpc>
              <a:spcBef>
                <a:spcPts val="500"/>
              </a:spcBef>
              <a:buClr>
                <a:schemeClr val="tx2"/>
              </a:buClr>
              <a:buSzPct val="100000"/>
              <a:buFont typeface="Roboto" panose="02000000000000000000" pitchFamily="2"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4pPr>
            <a:lvl5pPr marL="2057400" indent="-228600" algn="l" defTabSz="914400" rtl="0" eaLnBrk="1" latinLnBrk="0" hangingPunct="1">
              <a:lnSpc>
                <a:spcPct val="100000"/>
              </a:lnSpc>
              <a:spcBef>
                <a:spcPts val="500"/>
              </a:spcBef>
              <a:buClr>
                <a:schemeClr val="tx2"/>
              </a:buClr>
              <a:buSzPct val="100000"/>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2000" dirty="0"/>
          </a:p>
        </p:txBody>
      </p:sp>
      <p:sp>
        <p:nvSpPr>
          <p:cNvPr id="7" name="Content Placeholder 4">
            <a:extLst>
              <a:ext uri="{FF2B5EF4-FFF2-40B4-BE49-F238E27FC236}">
                <a16:creationId xmlns:a16="http://schemas.microsoft.com/office/drawing/2014/main" id="{F563BC50-B79B-8C08-B364-B56083B33867}"/>
              </a:ext>
            </a:extLst>
          </p:cNvPr>
          <p:cNvSpPr txBox="1">
            <a:spLocks/>
          </p:cNvSpPr>
          <p:nvPr/>
        </p:nvSpPr>
        <p:spPr>
          <a:xfrm>
            <a:off x="6248950" y="1676400"/>
            <a:ext cx="5739849" cy="2170406"/>
          </a:xfrm>
          <a:prstGeom prst="rect">
            <a:avLst/>
          </a:prstGeom>
        </p:spPr>
        <p:txBody>
          <a:bodyPr vert="horz" lIns="0" tIns="0" rIns="0" bIns="0" rtlCol="0">
            <a:normAutofit/>
          </a:bodyPr>
          <a:lstStyle>
            <a:lvl1pPr marL="228600" indent="-228600" algn="l" defTabSz="914400" rtl="0" eaLnBrk="1" latinLnBrk="0" hangingPunct="1">
              <a:lnSpc>
                <a:spcPct val="100000"/>
              </a:lnSpc>
              <a:spcBef>
                <a:spcPts val="1000"/>
              </a:spcBef>
              <a:buClr>
                <a:schemeClr val="tx2"/>
              </a:buClr>
              <a:buSzPct val="95000"/>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Arial" panose="020B0604020202020204" pitchFamily="34" charset="0"/>
              </a:defRPr>
            </a:lvl1pPr>
            <a:lvl2pPr marL="685800" indent="-228600" algn="l" defTabSz="914400" rtl="0" eaLnBrk="1" latinLnBrk="0" hangingPunct="1">
              <a:lnSpc>
                <a:spcPct val="100000"/>
              </a:lnSpc>
              <a:spcBef>
                <a:spcPts val="500"/>
              </a:spcBef>
              <a:buClr>
                <a:schemeClr val="tx2"/>
              </a:buClr>
              <a:buSzPct val="100000"/>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Arial" panose="020B0604020202020204" pitchFamily="34" charset="0"/>
              </a:defRPr>
            </a:lvl2pPr>
            <a:lvl3pPr marL="1143000" indent="-228600" algn="l" defTabSz="914400" rtl="0" eaLnBrk="1" latinLnBrk="0" hangingPunct="1">
              <a:lnSpc>
                <a:spcPct val="100000"/>
              </a:lnSpc>
              <a:spcBef>
                <a:spcPts val="500"/>
              </a:spcBef>
              <a:buClr>
                <a:schemeClr val="tx2"/>
              </a:buClr>
              <a:buSzPct val="100000"/>
              <a:buFont typeface="Roboto" panose="02000000000000000000" pitchFamily="2" charset="0"/>
              <a:buChar char="•"/>
              <a:defRPr sz="2000" kern="1200">
                <a:solidFill>
                  <a:schemeClr val="tx1"/>
                </a:solidFill>
                <a:latin typeface="Roboto" panose="02000000000000000000" pitchFamily="2" charset="0"/>
                <a:ea typeface="Roboto" panose="02000000000000000000" pitchFamily="2" charset="0"/>
                <a:cs typeface="Arial" panose="020B0604020202020204" pitchFamily="34" charset="0"/>
              </a:defRPr>
            </a:lvl3pPr>
            <a:lvl4pPr marL="1600200" indent="-228600" algn="l" defTabSz="914400" rtl="0" eaLnBrk="1" latinLnBrk="0" hangingPunct="1">
              <a:lnSpc>
                <a:spcPct val="100000"/>
              </a:lnSpc>
              <a:spcBef>
                <a:spcPts val="500"/>
              </a:spcBef>
              <a:buClr>
                <a:schemeClr val="tx2"/>
              </a:buClr>
              <a:buSzPct val="100000"/>
              <a:buFont typeface="Roboto" panose="02000000000000000000" pitchFamily="2"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4pPr>
            <a:lvl5pPr marL="2057400" indent="-228600" algn="l" defTabSz="914400" rtl="0" eaLnBrk="1" latinLnBrk="0" hangingPunct="1">
              <a:lnSpc>
                <a:spcPct val="100000"/>
              </a:lnSpc>
              <a:spcBef>
                <a:spcPts val="500"/>
              </a:spcBef>
              <a:buClr>
                <a:schemeClr val="tx2"/>
              </a:buClr>
              <a:buSzPct val="100000"/>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2000" dirty="0"/>
          </a:p>
        </p:txBody>
      </p:sp>
      <p:sp>
        <p:nvSpPr>
          <p:cNvPr id="3" name="TextBox 2">
            <a:extLst>
              <a:ext uri="{FF2B5EF4-FFF2-40B4-BE49-F238E27FC236}">
                <a16:creationId xmlns:a16="http://schemas.microsoft.com/office/drawing/2014/main" id="{5D166A50-8253-4833-6831-9F53BDE94B80}"/>
              </a:ext>
            </a:extLst>
          </p:cNvPr>
          <p:cNvSpPr txBox="1"/>
          <p:nvPr/>
        </p:nvSpPr>
        <p:spPr>
          <a:xfrm>
            <a:off x="9978373" y="96819"/>
            <a:ext cx="1500732" cy="307777"/>
          </a:xfrm>
          <a:prstGeom prst="rect">
            <a:avLst/>
          </a:prstGeom>
          <a:noFill/>
        </p:spPr>
        <p:txBody>
          <a:bodyPr wrap="none" rtlCol="0">
            <a:spAutoFit/>
          </a:bodyPr>
          <a:lstStyle/>
          <a:p>
            <a:r>
              <a:rPr lang="en-US" sz="1400" dirty="0">
                <a:hlinkClick r:id="rId2" action="ppaction://hlinksldjump"/>
              </a:rPr>
              <a:t>Sources:</a:t>
            </a:r>
            <a:r>
              <a:rPr lang="en-US" sz="1400" dirty="0"/>
              <a:t> [9], [11]</a:t>
            </a:r>
          </a:p>
        </p:txBody>
      </p:sp>
    </p:spTree>
    <p:extLst>
      <p:ext uri="{BB962C8B-B14F-4D97-AF65-F5344CB8AC3E}">
        <p14:creationId xmlns:p14="http://schemas.microsoft.com/office/powerpoint/2010/main" val="10930573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5E443-41ED-99F6-FF8C-6F0F1627F1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5F48F7-D410-BC91-2ACF-E1B1B43B168A}"/>
              </a:ext>
            </a:extLst>
          </p:cNvPr>
          <p:cNvSpPr>
            <a:spLocks noGrp="1"/>
          </p:cNvSpPr>
          <p:nvPr>
            <p:ph type="title"/>
          </p:nvPr>
        </p:nvSpPr>
        <p:spPr>
          <a:xfrm>
            <a:off x="949325" y="498296"/>
            <a:ext cx="5260975" cy="896116"/>
          </a:xfrm>
        </p:spPr>
        <p:txBody>
          <a:bodyPr/>
          <a:lstStyle/>
          <a:p>
            <a:r>
              <a:rPr lang="en-US" dirty="0"/>
              <a:t>Z-Wave Routing</a:t>
            </a:r>
          </a:p>
        </p:txBody>
      </p:sp>
      <p:sp>
        <p:nvSpPr>
          <p:cNvPr id="5" name="Content Placeholder 4">
            <a:extLst>
              <a:ext uri="{FF2B5EF4-FFF2-40B4-BE49-F238E27FC236}">
                <a16:creationId xmlns:a16="http://schemas.microsoft.com/office/drawing/2014/main" id="{CF53B0D0-417C-33BE-B3C1-FFA98759B8AA}"/>
              </a:ext>
            </a:extLst>
          </p:cNvPr>
          <p:cNvSpPr>
            <a:spLocks noGrp="1"/>
          </p:cNvSpPr>
          <p:nvPr>
            <p:ph idx="1"/>
          </p:nvPr>
        </p:nvSpPr>
        <p:spPr>
          <a:xfrm>
            <a:off x="952499" y="1686757"/>
            <a:ext cx="6362701" cy="4256843"/>
          </a:xfrm>
        </p:spPr>
        <p:txBody>
          <a:bodyPr>
            <a:normAutofit/>
          </a:bodyPr>
          <a:lstStyle/>
          <a:p>
            <a:r>
              <a:rPr lang="en-US" sz="2000" b="1" dirty="0"/>
              <a:t>Mesh Routing Protocol: </a:t>
            </a:r>
            <a:r>
              <a:rPr lang="en-US" sz="2000" dirty="0"/>
              <a:t>uses multi-hop mesh routing to deliver frames beyond direct radio range</a:t>
            </a:r>
          </a:p>
          <a:p>
            <a:r>
              <a:rPr lang="en-US" sz="2000" b="1" dirty="0"/>
              <a:t>Controller-Based Path Discovery: </a:t>
            </a:r>
            <a:r>
              <a:rPr lang="en-US" sz="2000" dirty="0"/>
              <a:t>the primary controller maintains network topology and routing table built during analysis rather than on-demand</a:t>
            </a:r>
          </a:p>
          <a:p>
            <a:r>
              <a:rPr lang="en-US" sz="2000" b="1" dirty="0"/>
              <a:t>ACK-Based: </a:t>
            </a:r>
            <a:r>
              <a:rPr lang="en-US" sz="2000" dirty="0"/>
              <a:t>frames are forwarded hop-by-hop using routed </a:t>
            </a:r>
            <a:r>
              <a:rPr lang="en-US" sz="2000" dirty="0" err="1"/>
              <a:t>singlecast</a:t>
            </a:r>
            <a:r>
              <a:rPr lang="en-US" sz="2000" dirty="0"/>
              <a:t> with acknowledgments</a:t>
            </a:r>
          </a:p>
          <a:p>
            <a:r>
              <a:rPr lang="en-US" sz="2000" b="1" dirty="0"/>
              <a:t>Source Routing: </a:t>
            </a:r>
            <a:r>
              <a:rPr lang="en-US" sz="2000" dirty="0"/>
              <a:t>packets carry routing information defining the relay nodes to be used to reach the packet’s destination. Maximum of 4 hops (although sources disagree on 4 or 5. Silicon Labs says 4).</a:t>
            </a:r>
          </a:p>
        </p:txBody>
      </p:sp>
      <p:sp>
        <p:nvSpPr>
          <p:cNvPr id="6" name="Footer Placeholder 3">
            <a:extLst>
              <a:ext uri="{FF2B5EF4-FFF2-40B4-BE49-F238E27FC236}">
                <a16:creationId xmlns:a16="http://schemas.microsoft.com/office/drawing/2014/main" id="{320E953F-FBBB-6A85-C34E-DB82F7F8FAE2}"/>
              </a:ext>
            </a:extLst>
          </p:cNvPr>
          <p:cNvSpPr>
            <a:spLocks noGrp="1"/>
          </p:cNvSpPr>
          <p:nvPr>
            <p:ph type="ftr" sz="quarter" idx="3"/>
          </p:nvPr>
        </p:nvSpPr>
        <p:spPr>
          <a:xfrm>
            <a:off x="2519853" y="6441192"/>
            <a:ext cx="8684173" cy="365125"/>
          </a:xfrm>
        </p:spPr>
        <p:txBody>
          <a:bodyPr/>
          <a:lstStyle/>
          <a:p>
            <a:r>
              <a:rPr lang="en-US"/>
              <a:t>Final Project | Topics in Computer Science II | Fall 2025, University of Iowa</a:t>
            </a:r>
            <a:endParaRPr lang="en-US" dirty="0"/>
          </a:p>
        </p:txBody>
      </p:sp>
      <p:sp>
        <p:nvSpPr>
          <p:cNvPr id="10" name="TextBox 9">
            <a:extLst>
              <a:ext uri="{FF2B5EF4-FFF2-40B4-BE49-F238E27FC236}">
                <a16:creationId xmlns:a16="http://schemas.microsoft.com/office/drawing/2014/main" id="{7F0E2681-85DB-6B78-1C0C-6DB591930C3A}"/>
              </a:ext>
            </a:extLst>
          </p:cNvPr>
          <p:cNvSpPr txBox="1"/>
          <p:nvPr/>
        </p:nvSpPr>
        <p:spPr>
          <a:xfrm>
            <a:off x="9978373" y="96819"/>
            <a:ext cx="1399742" cy="307777"/>
          </a:xfrm>
          <a:prstGeom prst="rect">
            <a:avLst/>
          </a:prstGeom>
          <a:noFill/>
        </p:spPr>
        <p:txBody>
          <a:bodyPr wrap="none" rtlCol="0">
            <a:spAutoFit/>
          </a:bodyPr>
          <a:lstStyle/>
          <a:p>
            <a:r>
              <a:rPr lang="en-US" sz="1400" dirty="0">
                <a:hlinkClick r:id="rId2" action="ppaction://hlinksldjump"/>
              </a:rPr>
              <a:t>Sources:</a:t>
            </a:r>
            <a:r>
              <a:rPr lang="en-US" sz="1400" dirty="0"/>
              <a:t> [7], [8]</a:t>
            </a:r>
          </a:p>
        </p:txBody>
      </p:sp>
      <p:pic>
        <p:nvPicPr>
          <p:cNvPr id="3" name="Picture 2">
            <a:extLst>
              <a:ext uri="{FF2B5EF4-FFF2-40B4-BE49-F238E27FC236}">
                <a16:creationId xmlns:a16="http://schemas.microsoft.com/office/drawing/2014/main" id="{7A316A0A-BD84-6EE6-F4AB-5863123CF8A0}"/>
              </a:ext>
            </a:extLst>
          </p:cNvPr>
          <p:cNvPicPr>
            <a:picLocks noChangeAspect="1"/>
          </p:cNvPicPr>
          <p:nvPr/>
        </p:nvPicPr>
        <p:blipFill>
          <a:blip r:embed="rId3"/>
          <a:stretch>
            <a:fillRect/>
          </a:stretch>
        </p:blipFill>
        <p:spPr>
          <a:xfrm>
            <a:off x="7099069" y="2307613"/>
            <a:ext cx="4958719" cy="2150021"/>
          </a:xfrm>
          <a:prstGeom prst="rect">
            <a:avLst/>
          </a:prstGeom>
        </p:spPr>
      </p:pic>
    </p:spTree>
    <p:extLst>
      <p:ext uri="{BB962C8B-B14F-4D97-AF65-F5344CB8AC3E}">
        <p14:creationId xmlns:p14="http://schemas.microsoft.com/office/powerpoint/2010/main" val="23446221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4B0A4-C503-FF44-9327-E52440810D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83E21B-8192-7EB8-987E-AD2E0A834B46}"/>
              </a:ext>
            </a:extLst>
          </p:cNvPr>
          <p:cNvSpPr>
            <a:spLocks noGrp="1"/>
          </p:cNvSpPr>
          <p:nvPr>
            <p:ph type="title"/>
          </p:nvPr>
        </p:nvSpPr>
        <p:spPr>
          <a:xfrm>
            <a:off x="949325" y="498296"/>
            <a:ext cx="8360930" cy="896116"/>
          </a:xfrm>
        </p:spPr>
        <p:txBody>
          <a:bodyPr>
            <a:normAutofit fontScale="90000"/>
          </a:bodyPr>
          <a:lstStyle/>
          <a:p>
            <a:r>
              <a:rPr lang="en-US" dirty="0"/>
              <a:t>Z-Wave Usage – Home Mesh Network</a:t>
            </a:r>
          </a:p>
        </p:txBody>
      </p:sp>
      <p:sp>
        <p:nvSpPr>
          <p:cNvPr id="6" name="Footer Placeholder 3">
            <a:extLst>
              <a:ext uri="{FF2B5EF4-FFF2-40B4-BE49-F238E27FC236}">
                <a16:creationId xmlns:a16="http://schemas.microsoft.com/office/drawing/2014/main" id="{6F8EB323-3B4F-C81F-E2A1-7C1EF495E7B4}"/>
              </a:ext>
            </a:extLst>
          </p:cNvPr>
          <p:cNvSpPr>
            <a:spLocks noGrp="1"/>
          </p:cNvSpPr>
          <p:nvPr>
            <p:ph type="ftr" sz="quarter" idx="3"/>
          </p:nvPr>
        </p:nvSpPr>
        <p:spPr>
          <a:xfrm>
            <a:off x="2519853" y="6441192"/>
            <a:ext cx="8684173" cy="365125"/>
          </a:xfrm>
        </p:spPr>
        <p:txBody>
          <a:bodyPr/>
          <a:lstStyle/>
          <a:p>
            <a:r>
              <a:rPr lang="en-US"/>
              <a:t>Final Project | Topics in Computer Science II | Fall 2025, University of Iowa</a:t>
            </a:r>
            <a:endParaRPr lang="en-US" dirty="0"/>
          </a:p>
        </p:txBody>
      </p:sp>
      <p:sp>
        <p:nvSpPr>
          <p:cNvPr id="3" name="TextBox 2">
            <a:extLst>
              <a:ext uri="{FF2B5EF4-FFF2-40B4-BE49-F238E27FC236}">
                <a16:creationId xmlns:a16="http://schemas.microsoft.com/office/drawing/2014/main" id="{16C02914-6075-5A5B-4EF3-B08790A444E7}"/>
              </a:ext>
            </a:extLst>
          </p:cNvPr>
          <p:cNvSpPr txBox="1"/>
          <p:nvPr/>
        </p:nvSpPr>
        <p:spPr>
          <a:xfrm>
            <a:off x="9978373" y="96819"/>
            <a:ext cx="1122423" cy="307777"/>
          </a:xfrm>
          <a:prstGeom prst="rect">
            <a:avLst/>
          </a:prstGeom>
          <a:noFill/>
        </p:spPr>
        <p:txBody>
          <a:bodyPr wrap="none" rtlCol="0">
            <a:spAutoFit/>
          </a:bodyPr>
          <a:lstStyle/>
          <a:p>
            <a:r>
              <a:rPr lang="en-US" sz="1400" dirty="0">
                <a:hlinkClick r:id="rId2" action="ppaction://hlinksldjump"/>
              </a:rPr>
              <a:t>Sources:</a:t>
            </a:r>
            <a:r>
              <a:rPr lang="en-US" sz="1400" dirty="0"/>
              <a:t> [7]</a:t>
            </a:r>
          </a:p>
        </p:txBody>
      </p:sp>
      <p:pic>
        <p:nvPicPr>
          <p:cNvPr id="4" name="Picture 3">
            <a:extLst>
              <a:ext uri="{FF2B5EF4-FFF2-40B4-BE49-F238E27FC236}">
                <a16:creationId xmlns:a16="http://schemas.microsoft.com/office/drawing/2014/main" id="{81C29168-405B-DCEB-FED9-D95C56F672B8}"/>
              </a:ext>
            </a:extLst>
          </p:cNvPr>
          <p:cNvPicPr>
            <a:picLocks noChangeAspect="1"/>
          </p:cNvPicPr>
          <p:nvPr/>
        </p:nvPicPr>
        <p:blipFill>
          <a:blip r:embed="rId3"/>
          <a:stretch>
            <a:fillRect/>
          </a:stretch>
        </p:blipFill>
        <p:spPr>
          <a:xfrm>
            <a:off x="3448159" y="1427604"/>
            <a:ext cx="5524281" cy="4764792"/>
          </a:xfrm>
          <a:prstGeom prst="rect">
            <a:avLst/>
          </a:prstGeom>
        </p:spPr>
      </p:pic>
    </p:spTree>
    <p:extLst>
      <p:ext uri="{BB962C8B-B14F-4D97-AF65-F5344CB8AC3E}">
        <p14:creationId xmlns:p14="http://schemas.microsoft.com/office/powerpoint/2010/main" val="6751742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91FCC0-917D-227C-3F3D-B91DC3CAE7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0A69D2-278E-E4EC-B6D2-26CCA2C523C2}"/>
              </a:ext>
            </a:extLst>
          </p:cNvPr>
          <p:cNvSpPr>
            <a:spLocks noGrp="1"/>
          </p:cNvSpPr>
          <p:nvPr>
            <p:ph type="title"/>
          </p:nvPr>
        </p:nvSpPr>
        <p:spPr>
          <a:xfrm>
            <a:off x="949325" y="498296"/>
            <a:ext cx="8360930" cy="896116"/>
          </a:xfrm>
        </p:spPr>
        <p:txBody>
          <a:bodyPr>
            <a:normAutofit/>
          </a:bodyPr>
          <a:lstStyle/>
          <a:p>
            <a:r>
              <a:rPr lang="en-US" dirty="0"/>
              <a:t>Z-Wave Security</a:t>
            </a:r>
          </a:p>
        </p:txBody>
      </p:sp>
      <p:sp>
        <p:nvSpPr>
          <p:cNvPr id="5" name="Content Placeholder 4">
            <a:extLst>
              <a:ext uri="{FF2B5EF4-FFF2-40B4-BE49-F238E27FC236}">
                <a16:creationId xmlns:a16="http://schemas.microsoft.com/office/drawing/2014/main" id="{95846E41-9319-BE21-6FF1-56573DFAFAA5}"/>
              </a:ext>
            </a:extLst>
          </p:cNvPr>
          <p:cNvSpPr>
            <a:spLocks noGrp="1"/>
          </p:cNvSpPr>
          <p:nvPr>
            <p:ph idx="1"/>
          </p:nvPr>
        </p:nvSpPr>
        <p:spPr>
          <a:xfrm>
            <a:off x="952499" y="1686757"/>
            <a:ext cx="10251527" cy="4256843"/>
          </a:xfrm>
        </p:spPr>
        <p:txBody>
          <a:bodyPr/>
          <a:lstStyle/>
          <a:p>
            <a:pPr marL="0" indent="0">
              <a:buNone/>
            </a:pPr>
            <a:r>
              <a:rPr lang="en-US" b="1" dirty="0"/>
              <a:t>Application Layer Security: </a:t>
            </a:r>
            <a:r>
              <a:rPr lang="en-US" dirty="0"/>
              <a:t>there are two security command classes: Security 0 (S0) and Security 2 (S2). S0 uses single shared network key while S2 introduces an authenticated key exchange</a:t>
            </a:r>
          </a:p>
          <a:p>
            <a:pPr marL="0" indent="0">
              <a:buNone/>
            </a:pPr>
            <a:r>
              <a:rPr lang="en-US" b="1" dirty="0"/>
              <a:t>Secure Key Exchange: </a:t>
            </a:r>
            <a:r>
              <a:rPr lang="en-US" dirty="0"/>
              <a:t>during secure inclusion, devices perform security bootstrapping using PIN code, QR, or smart-start methods</a:t>
            </a:r>
          </a:p>
          <a:p>
            <a:pPr marL="0" indent="0">
              <a:buNone/>
            </a:pPr>
            <a:r>
              <a:rPr lang="en-US" b="1" dirty="0"/>
              <a:t>Access-Level Protection: </a:t>
            </a:r>
            <a:r>
              <a:rPr lang="en-US" dirty="0"/>
              <a:t>S2 defines different security levels to match risk profiles</a:t>
            </a:r>
          </a:p>
          <a:p>
            <a:pPr marL="0" indent="0">
              <a:buNone/>
            </a:pPr>
            <a:endParaRPr lang="en-US" dirty="0"/>
          </a:p>
        </p:txBody>
      </p:sp>
      <p:sp>
        <p:nvSpPr>
          <p:cNvPr id="6" name="Footer Placeholder 3">
            <a:extLst>
              <a:ext uri="{FF2B5EF4-FFF2-40B4-BE49-F238E27FC236}">
                <a16:creationId xmlns:a16="http://schemas.microsoft.com/office/drawing/2014/main" id="{72CCFC99-DD62-1203-F51F-2149E04F7697}"/>
              </a:ext>
            </a:extLst>
          </p:cNvPr>
          <p:cNvSpPr>
            <a:spLocks noGrp="1"/>
          </p:cNvSpPr>
          <p:nvPr>
            <p:ph type="ftr" sz="quarter" idx="3"/>
          </p:nvPr>
        </p:nvSpPr>
        <p:spPr>
          <a:xfrm>
            <a:off x="2519853" y="6441192"/>
            <a:ext cx="8684173" cy="365125"/>
          </a:xfrm>
        </p:spPr>
        <p:txBody>
          <a:bodyPr/>
          <a:lstStyle/>
          <a:p>
            <a:r>
              <a:rPr lang="en-US"/>
              <a:t>Final Project | Topics in Computer Science II | Fall 2025, University of Iowa</a:t>
            </a:r>
            <a:endParaRPr lang="en-US" dirty="0"/>
          </a:p>
        </p:txBody>
      </p:sp>
      <p:sp>
        <p:nvSpPr>
          <p:cNvPr id="3" name="TextBox 2">
            <a:extLst>
              <a:ext uri="{FF2B5EF4-FFF2-40B4-BE49-F238E27FC236}">
                <a16:creationId xmlns:a16="http://schemas.microsoft.com/office/drawing/2014/main" id="{DD02F0FC-46DE-602C-6851-3B383CEDAC14}"/>
              </a:ext>
            </a:extLst>
          </p:cNvPr>
          <p:cNvSpPr txBox="1"/>
          <p:nvPr/>
        </p:nvSpPr>
        <p:spPr>
          <a:xfrm>
            <a:off x="9978373" y="96819"/>
            <a:ext cx="1399742" cy="307777"/>
          </a:xfrm>
          <a:prstGeom prst="rect">
            <a:avLst/>
          </a:prstGeom>
          <a:noFill/>
        </p:spPr>
        <p:txBody>
          <a:bodyPr wrap="none" rtlCol="0">
            <a:spAutoFit/>
          </a:bodyPr>
          <a:lstStyle/>
          <a:p>
            <a:r>
              <a:rPr lang="en-US" sz="1400" dirty="0">
                <a:hlinkClick r:id="rId2" action="ppaction://hlinksldjump"/>
              </a:rPr>
              <a:t>Sources:</a:t>
            </a:r>
            <a:r>
              <a:rPr lang="en-US" sz="1400" dirty="0"/>
              <a:t> [7], [8]</a:t>
            </a:r>
          </a:p>
        </p:txBody>
      </p:sp>
    </p:spTree>
    <p:extLst>
      <p:ext uri="{BB962C8B-B14F-4D97-AF65-F5344CB8AC3E}">
        <p14:creationId xmlns:p14="http://schemas.microsoft.com/office/powerpoint/2010/main" val="19429208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5B968-4CC5-3D49-69D3-139571F60F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84848D-4DAB-92C7-1C02-2DADE985922D}"/>
              </a:ext>
            </a:extLst>
          </p:cNvPr>
          <p:cNvSpPr>
            <a:spLocks noGrp="1"/>
          </p:cNvSpPr>
          <p:nvPr>
            <p:ph type="title"/>
          </p:nvPr>
        </p:nvSpPr>
        <p:spPr>
          <a:xfrm>
            <a:off x="952499" y="466342"/>
            <a:ext cx="8360930" cy="896116"/>
          </a:xfrm>
        </p:spPr>
        <p:txBody>
          <a:bodyPr>
            <a:normAutofit/>
          </a:bodyPr>
          <a:lstStyle/>
          <a:p>
            <a:r>
              <a:rPr lang="en-US" dirty="0"/>
              <a:t>Z-Wave Performance</a:t>
            </a:r>
          </a:p>
        </p:txBody>
      </p:sp>
      <p:sp>
        <p:nvSpPr>
          <p:cNvPr id="5" name="Content Placeholder 4">
            <a:extLst>
              <a:ext uri="{FF2B5EF4-FFF2-40B4-BE49-F238E27FC236}">
                <a16:creationId xmlns:a16="http://schemas.microsoft.com/office/drawing/2014/main" id="{F74E6EB3-A942-78AE-E430-726A406F889D}"/>
              </a:ext>
            </a:extLst>
          </p:cNvPr>
          <p:cNvSpPr>
            <a:spLocks noGrp="1"/>
          </p:cNvSpPr>
          <p:nvPr>
            <p:ph idx="1"/>
          </p:nvPr>
        </p:nvSpPr>
        <p:spPr>
          <a:xfrm>
            <a:off x="952499" y="1686757"/>
            <a:ext cx="10251527" cy="4256843"/>
          </a:xfrm>
        </p:spPr>
        <p:txBody>
          <a:bodyPr>
            <a:normAutofit/>
          </a:bodyPr>
          <a:lstStyle/>
          <a:p>
            <a:pPr marL="0" indent="0">
              <a:buNone/>
            </a:pPr>
            <a:r>
              <a:rPr lang="en-US" sz="2000" b="1" dirty="0"/>
              <a:t>I could not any paper/source that looks at the Z-Wave performance. Doing a quick glance, sentiments regarding Z-Wave performance are not positive:</a:t>
            </a:r>
          </a:p>
          <a:p>
            <a:pPr marL="0" indent="0">
              <a:buNone/>
            </a:pPr>
            <a:endParaRPr lang="en-US" sz="2000" b="1" dirty="0"/>
          </a:p>
          <a:p>
            <a:pPr marL="0" indent="0">
              <a:buNone/>
            </a:pPr>
            <a:r>
              <a:rPr lang="en-US" sz="2000" b="1" dirty="0"/>
              <a:t>Searching Z-Wave Performance:</a:t>
            </a:r>
          </a:p>
        </p:txBody>
      </p:sp>
      <p:sp>
        <p:nvSpPr>
          <p:cNvPr id="6" name="Footer Placeholder 3">
            <a:extLst>
              <a:ext uri="{FF2B5EF4-FFF2-40B4-BE49-F238E27FC236}">
                <a16:creationId xmlns:a16="http://schemas.microsoft.com/office/drawing/2014/main" id="{11470B16-2DA6-6397-C1C4-20432D92CEEA}"/>
              </a:ext>
            </a:extLst>
          </p:cNvPr>
          <p:cNvSpPr>
            <a:spLocks noGrp="1"/>
          </p:cNvSpPr>
          <p:nvPr>
            <p:ph type="ftr" sz="quarter" idx="3"/>
          </p:nvPr>
        </p:nvSpPr>
        <p:spPr>
          <a:xfrm>
            <a:off x="2519853" y="6441192"/>
            <a:ext cx="8684173" cy="365125"/>
          </a:xfrm>
        </p:spPr>
        <p:txBody>
          <a:bodyPr/>
          <a:lstStyle/>
          <a:p>
            <a:r>
              <a:rPr lang="en-US"/>
              <a:t>Final Project | Topics in Computer Science II | Fall 2025, University of Iowa</a:t>
            </a:r>
            <a:endParaRPr lang="en-US" dirty="0"/>
          </a:p>
        </p:txBody>
      </p:sp>
      <p:sp>
        <p:nvSpPr>
          <p:cNvPr id="3" name="TextBox 2">
            <a:extLst>
              <a:ext uri="{FF2B5EF4-FFF2-40B4-BE49-F238E27FC236}">
                <a16:creationId xmlns:a16="http://schemas.microsoft.com/office/drawing/2014/main" id="{3FEF80B7-7409-F90E-632A-2ACEFC176530}"/>
              </a:ext>
            </a:extLst>
          </p:cNvPr>
          <p:cNvSpPr txBox="1"/>
          <p:nvPr/>
        </p:nvSpPr>
        <p:spPr>
          <a:xfrm>
            <a:off x="9978373" y="96819"/>
            <a:ext cx="1491114" cy="307777"/>
          </a:xfrm>
          <a:prstGeom prst="rect">
            <a:avLst/>
          </a:prstGeom>
          <a:noFill/>
        </p:spPr>
        <p:txBody>
          <a:bodyPr wrap="none" rtlCol="0">
            <a:spAutoFit/>
          </a:bodyPr>
          <a:lstStyle/>
          <a:p>
            <a:r>
              <a:rPr lang="en-US" sz="1400" dirty="0">
                <a:hlinkClick r:id="rId2" action="ppaction://hlinksldjump"/>
              </a:rPr>
              <a:t>Sources:</a:t>
            </a:r>
            <a:r>
              <a:rPr lang="en-US" sz="1400" dirty="0"/>
              <a:t> Google</a:t>
            </a:r>
          </a:p>
        </p:txBody>
      </p:sp>
      <p:pic>
        <p:nvPicPr>
          <p:cNvPr id="4" name="Picture 3">
            <a:extLst>
              <a:ext uri="{FF2B5EF4-FFF2-40B4-BE49-F238E27FC236}">
                <a16:creationId xmlns:a16="http://schemas.microsoft.com/office/drawing/2014/main" id="{72D3E67A-4B22-D406-02BA-7E294A336E51}"/>
              </a:ext>
            </a:extLst>
          </p:cNvPr>
          <p:cNvPicPr>
            <a:picLocks noChangeAspect="1"/>
          </p:cNvPicPr>
          <p:nvPr/>
        </p:nvPicPr>
        <p:blipFill>
          <a:blip r:embed="rId3"/>
          <a:stretch>
            <a:fillRect/>
          </a:stretch>
        </p:blipFill>
        <p:spPr>
          <a:xfrm>
            <a:off x="952499" y="3375908"/>
            <a:ext cx="6870700" cy="927100"/>
          </a:xfrm>
          <a:prstGeom prst="rect">
            <a:avLst/>
          </a:prstGeom>
        </p:spPr>
      </p:pic>
      <p:pic>
        <p:nvPicPr>
          <p:cNvPr id="7" name="Picture 6">
            <a:extLst>
              <a:ext uri="{FF2B5EF4-FFF2-40B4-BE49-F238E27FC236}">
                <a16:creationId xmlns:a16="http://schemas.microsoft.com/office/drawing/2014/main" id="{734F94E6-7C20-4D19-1B12-D648919470A1}"/>
              </a:ext>
            </a:extLst>
          </p:cNvPr>
          <p:cNvPicPr>
            <a:picLocks noChangeAspect="1"/>
          </p:cNvPicPr>
          <p:nvPr/>
        </p:nvPicPr>
        <p:blipFill>
          <a:blip r:embed="rId4"/>
          <a:stretch>
            <a:fillRect/>
          </a:stretch>
        </p:blipFill>
        <p:spPr>
          <a:xfrm>
            <a:off x="4127384" y="4356100"/>
            <a:ext cx="6667500" cy="889000"/>
          </a:xfrm>
          <a:prstGeom prst="rect">
            <a:avLst/>
          </a:prstGeom>
        </p:spPr>
      </p:pic>
      <p:pic>
        <p:nvPicPr>
          <p:cNvPr id="8" name="Picture 7">
            <a:extLst>
              <a:ext uri="{FF2B5EF4-FFF2-40B4-BE49-F238E27FC236}">
                <a16:creationId xmlns:a16="http://schemas.microsoft.com/office/drawing/2014/main" id="{FC6FB8AF-9210-AE05-ABF6-4728F48E6889}"/>
              </a:ext>
            </a:extLst>
          </p:cNvPr>
          <p:cNvPicPr>
            <a:picLocks noChangeAspect="1"/>
          </p:cNvPicPr>
          <p:nvPr/>
        </p:nvPicPr>
        <p:blipFill>
          <a:blip r:embed="rId5"/>
          <a:stretch>
            <a:fillRect/>
          </a:stretch>
        </p:blipFill>
        <p:spPr>
          <a:xfrm>
            <a:off x="1777999" y="5230159"/>
            <a:ext cx="6045200" cy="762000"/>
          </a:xfrm>
          <a:prstGeom prst="rect">
            <a:avLst/>
          </a:prstGeom>
        </p:spPr>
      </p:pic>
      <p:pic>
        <p:nvPicPr>
          <p:cNvPr id="9" name="Picture 8">
            <a:extLst>
              <a:ext uri="{FF2B5EF4-FFF2-40B4-BE49-F238E27FC236}">
                <a16:creationId xmlns:a16="http://schemas.microsoft.com/office/drawing/2014/main" id="{37515BE7-1BB7-0768-DD6C-9DAD5847BAAF}"/>
              </a:ext>
            </a:extLst>
          </p:cNvPr>
          <p:cNvPicPr>
            <a:picLocks noChangeAspect="1"/>
          </p:cNvPicPr>
          <p:nvPr/>
        </p:nvPicPr>
        <p:blipFill>
          <a:blip r:embed="rId6"/>
          <a:stretch>
            <a:fillRect/>
          </a:stretch>
        </p:blipFill>
        <p:spPr>
          <a:xfrm>
            <a:off x="6467647" y="2916416"/>
            <a:ext cx="4610100" cy="812800"/>
          </a:xfrm>
          <a:prstGeom prst="rect">
            <a:avLst/>
          </a:prstGeom>
        </p:spPr>
      </p:pic>
      <p:sp>
        <p:nvSpPr>
          <p:cNvPr id="10" name="TextBox 9">
            <a:extLst>
              <a:ext uri="{FF2B5EF4-FFF2-40B4-BE49-F238E27FC236}">
                <a16:creationId xmlns:a16="http://schemas.microsoft.com/office/drawing/2014/main" id="{D13B175C-E25D-F95E-9010-3DB031D6AEEE}"/>
              </a:ext>
            </a:extLst>
          </p:cNvPr>
          <p:cNvSpPr txBox="1"/>
          <p:nvPr/>
        </p:nvSpPr>
        <p:spPr>
          <a:xfrm>
            <a:off x="6946653" y="6083881"/>
            <a:ext cx="5245347" cy="307777"/>
          </a:xfrm>
          <a:prstGeom prst="rect">
            <a:avLst/>
          </a:prstGeom>
          <a:noFill/>
        </p:spPr>
        <p:txBody>
          <a:bodyPr wrap="none" rtlCol="0">
            <a:spAutoFit/>
          </a:bodyPr>
          <a:lstStyle/>
          <a:p>
            <a:r>
              <a:rPr lang="en-US" sz="1400" dirty="0"/>
              <a:t>Obviously, this is not a very good way to quantify performance…</a:t>
            </a:r>
          </a:p>
        </p:txBody>
      </p:sp>
    </p:spTree>
    <p:extLst>
      <p:ext uri="{BB962C8B-B14F-4D97-AF65-F5344CB8AC3E}">
        <p14:creationId xmlns:p14="http://schemas.microsoft.com/office/powerpoint/2010/main" val="26534412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49E40-2B4F-C192-582D-3127D6D61A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56F301-AABA-2820-BD06-A89BEB196D36}"/>
              </a:ext>
            </a:extLst>
          </p:cNvPr>
          <p:cNvSpPr>
            <a:spLocks noGrp="1"/>
          </p:cNvSpPr>
          <p:nvPr>
            <p:ph type="title"/>
          </p:nvPr>
        </p:nvSpPr>
        <p:spPr>
          <a:xfrm>
            <a:off x="952499" y="466342"/>
            <a:ext cx="8360930" cy="896116"/>
          </a:xfrm>
        </p:spPr>
        <p:txBody>
          <a:bodyPr>
            <a:normAutofit/>
          </a:bodyPr>
          <a:lstStyle/>
          <a:p>
            <a:r>
              <a:rPr lang="en-US" dirty="0"/>
              <a:t>Z-Wave Summary</a:t>
            </a:r>
          </a:p>
        </p:txBody>
      </p:sp>
      <p:sp>
        <p:nvSpPr>
          <p:cNvPr id="5" name="Content Placeholder 4">
            <a:extLst>
              <a:ext uri="{FF2B5EF4-FFF2-40B4-BE49-F238E27FC236}">
                <a16:creationId xmlns:a16="http://schemas.microsoft.com/office/drawing/2014/main" id="{C31B90BF-0E49-4337-2762-9307125B8F57}"/>
              </a:ext>
            </a:extLst>
          </p:cNvPr>
          <p:cNvSpPr>
            <a:spLocks noGrp="1"/>
          </p:cNvSpPr>
          <p:nvPr>
            <p:ph idx="1"/>
          </p:nvPr>
        </p:nvSpPr>
        <p:spPr>
          <a:xfrm>
            <a:off x="952499" y="1686757"/>
            <a:ext cx="10251527" cy="4256843"/>
          </a:xfrm>
        </p:spPr>
        <p:txBody>
          <a:bodyPr>
            <a:normAutofit fontScale="70000" lnSpcReduction="20000"/>
          </a:bodyPr>
          <a:lstStyle/>
          <a:p>
            <a:pPr marL="0" indent="0">
              <a:buNone/>
            </a:pPr>
            <a:r>
              <a:rPr lang="en-US" b="1" dirty="0"/>
              <a:t>Architecture:</a:t>
            </a:r>
          </a:p>
          <a:p>
            <a:r>
              <a:rPr lang="en-US" dirty="0"/>
              <a:t>Proprietary Architecture</a:t>
            </a:r>
          </a:p>
          <a:p>
            <a:endParaRPr lang="en-US" dirty="0"/>
          </a:p>
          <a:p>
            <a:pPr marL="0" indent="0">
              <a:buNone/>
            </a:pPr>
            <a:r>
              <a:rPr lang="en-US" b="1" dirty="0"/>
              <a:t>Security:</a:t>
            </a:r>
          </a:p>
          <a:p>
            <a:r>
              <a:rPr lang="en-US" dirty="0"/>
              <a:t>S0 and S2 Security with multiple layers of security  </a:t>
            </a:r>
          </a:p>
          <a:p>
            <a:pPr marL="0" indent="0">
              <a:buNone/>
            </a:pPr>
            <a:endParaRPr lang="en-US" dirty="0"/>
          </a:p>
          <a:p>
            <a:pPr marL="0" indent="0">
              <a:buNone/>
            </a:pPr>
            <a:r>
              <a:rPr lang="en-US" b="1" dirty="0"/>
              <a:t>Performance:</a:t>
            </a:r>
          </a:p>
          <a:p>
            <a:r>
              <a:rPr lang="en-US" dirty="0"/>
              <a:t>I could not find any data/studies on the performance of Z-Wave</a:t>
            </a:r>
          </a:p>
          <a:p>
            <a:pPr marL="0" indent="0">
              <a:buNone/>
            </a:pPr>
            <a:endParaRPr lang="en-US" dirty="0"/>
          </a:p>
          <a:p>
            <a:pPr marL="0" indent="0">
              <a:buNone/>
            </a:pPr>
            <a:r>
              <a:rPr lang="en-US" b="1" dirty="0"/>
              <a:t>Personal Comment: </a:t>
            </a:r>
          </a:p>
          <a:p>
            <a:r>
              <a:rPr lang="en-US" dirty="0"/>
              <a:t>Z-Wave was the most difficult protocol to research during this project. I believe this is because it is a proprietary protocol.</a:t>
            </a:r>
            <a:endParaRPr lang="en-US" b="1" dirty="0">
              <a:solidFill>
                <a:srgbClr val="00B050"/>
              </a:solidFill>
            </a:endParaRPr>
          </a:p>
          <a:p>
            <a:endParaRPr lang="en-US" dirty="0"/>
          </a:p>
          <a:p>
            <a:endParaRPr lang="en-US" dirty="0"/>
          </a:p>
        </p:txBody>
      </p:sp>
      <p:sp>
        <p:nvSpPr>
          <p:cNvPr id="6" name="Footer Placeholder 3">
            <a:extLst>
              <a:ext uri="{FF2B5EF4-FFF2-40B4-BE49-F238E27FC236}">
                <a16:creationId xmlns:a16="http://schemas.microsoft.com/office/drawing/2014/main" id="{72D66F41-9592-D1F9-5DF3-0DEF0B3B1FFF}"/>
              </a:ext>
            </a:extLst>
          </p:cNvPr>
          <p:cNvSpPr>
            <a:spLocks noGrp="1"/>
          </p:cNvSpPr>
          <p:nvPr>
            <p:ph type="ftr" sz="quarter" idx="3"/>
          </p:nvPr>
        </p:nvSpPr>
        <p:spPr>
          <a:xfrm>
            <a:off x="2519853" y="6441192"/>
            <a:ext cx="8684173" cy="365125"/>
          </a:xfrm>
        </p:spPr>
        <p:txBody>
          <a:bodyPr/>
          <a:lstStyle/>
          <a:p>
            <a:r>
              <a:rPr lang="en-US"/>
              <a:t>Final Project | Topics in Computer Science II | Fall 2025, University of Iowa</a:t>
            </a:r>
            <a:endParaRPr lang="en-US" dirty="0"/>
          </a:p>
        </p:txBody>
      </p:sp>
      <p:sp>
        <p:nvSpPr>
          <p:cNvPr id="3" name="TextBox 2">
            <a:extLst>
              <a:ext uri="{FF2B5EF4-FFF2-40B4-BE49-F238E27FC236}">
                <a16:creationId xmlns:a16="http://schemas.microsoft.com/office/drawing/2014/main" id="{2E1B6EA3-23C2-DC0D-FE94-0F0583D1282A}"/>
              </a:ext>
            </a:extLst>
          </p:cNvPr>
          <p:cNvSpPr txBox="1"/>
          <p:nvPr/>
        </p:nvSpPr>
        <p:spPr>
          <a:xfrm>
            <a:off x="9978373" y="96819"/>
            <a:ext cx="2055371" cy="307777"/>
          </a:xfrm>
          <a:prstGeom prst="rect">
            <a:avLst/>
          </a:prstGeom>
          <a:noFill/>
        </p:spPr>
        <p:txBody>
          <a:bodyPr wrap="none" rtlCol="0">
            <a:spAutoFit/>
          </a:bodyPr>
          <a:lstStyle/>
          <a:p>
            <a:r>
              <a:rPr lang="en-US" sz="1400" dirty="0">
                <a:hlinkClick r:id="rId2" action="ppaction://hlinksldjump"/>
              </a:rPr>
              <a:t>Sources:</a:t>
            </a:r>
            <a:r>
              <a:rPr lang="en-US" sz="1400" dirty="0"/>
              <a:t> [7], [8], [9], [11]</a:t>
            </a:r>
          </a:p>
        </p:txBody>
      </p:sp>
    </p:spTree>
    <p:extLst>
      <p:ext uri="{BB962C8B-B14F-4D97-AF65-F5344CB8AC3E}">
        <p14:creationId xmlns:p14="http://schemas.microsoft.com/office/powerpoint/2010/main" val="3167826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DAED5-AFFE-C558-CD02-638FBD6B75C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9135EE5-4EAC-C232-6EA7-36563D43F5FD}"/>
              </a:ext>
            </a:extLst>
          </p:cNvPr>
          <p:cNvSpPr>
            <a:spLocks noGrp="1"/>
          </p:cNvSpPr>
          <p:nvPr>
            <p:ph type="ctrTitle"/>
          </p:nvPr>
        </p:nvSpPr>
        <p:spPr>
          <a:xfrm>
            <a:off x="952500" y="2805221"/>
            <a:ext cx="10286999" cy="759906"/>
          </a:xfrm>
        </p:spPr>
        <p:txBody>
          <a:bodyPr>
            <a:normAutofit fontScale="90000"/>
          </a:bodyPr>
          <a:lstStyle/>
          <a:p>
            <a:r>
              <a:rPr lang="en-US" dirty="0"/>
              <a:t>Comparison</a:t>
            </a:r>
          </a:p>
        </p:txBody>
      </p:sp>
      <p:sp>
        <p:nvSpPr>
          <p:cNvPr id="5" name="Subtitle 4">
            <a:extLst>
              <a:ext uri="{FF2B5EF4-FFF2-40B4-BE49-F238E27FC236}">
                <a16:creationId xmlns:a16="http://schemas.microsoft.com/office/drawing/2014/main" id="{8762B8B3-3A12-D6E9-F538-43AC3533445C}"/>
              </a:ext>
            </a:extLst>
          </p:cNvPr>
          <p:cNvSpPr>
            <a:spLocks noGrp="1"/>
          </p:cNvSpPr>
          <p:nvPr>
            <p:ph type="subTitle" idx="1"/>
          </p:nvPr>
        </p:nvSpPr>
        <p:spPr>
          <a:xfrm>
            <a:off x="952500" y="3791876"/>
            <a:ext cx="10286999" cy="407460"/>
          </a:xfrm>
        </p:spPr>
        <p:txBody>
          <a:bodyPr/>
          <a:lstStyle/>
          <a:p>
            <a:r>
              <a:rPr lang="en-US" dirty="0"/>
              <a:t>High-level comparison and my personal selection</a:t>
            </a:r>
          </a:p>
        </p:txBody>
      </p:sp>
    </p:spTree>
    <p:extLst>
      <p:ext uri="{BB962C8B-B14F-4D97-AF65-F5344CB8AC3E}">
        <p14:creationId xmlns:p14="http://schemas.microsoft.com/office/powerpoint/2010/main" val="257990066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DEE16-36A0-545B-0F46-CCEF39A058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15887F-8B80-2691-7F81-5C073AB6E7E6}"/>
              </a:ext>
            </a:extLst>
          </p:cNvPr>
          <p:cNvSpPr>
            <a:spLocks noGrp="1"/>
          </p:cNvSpPr>
          <p:nvPr>
            <p:ph type="title"/>
          </p:nvPr>
        </p:nvSpPr>
        <p:spPr>
          <a:xfrm>
            <a:off x="949324" y="498296"/>
            <a:ext cx="9995767" cy="896116"/>
          </a:xfrm>
        </p:spPr>
        <p:txBody>
          <a:bodyPr>
            <a:normAutofit/>
          </a:bodyPr>
          <a:lstStyle/>
          <a:p>
            <a:r>
              <a:rPr lang="en-US" dirty="0"/>
              <a:t>High Level Comparison – Decision Matrix </a:t>
            </a:r>
          </a:p>
        </p:txBody>
      </p:sp>
      <p:sp>
        <p:nvSpPr>
          <p:cNvPr id="6" name="Footer Placeholder 3">
            <a:extLst>
              <a:ext uri="{FF2B5EF4-FFF2-40B4-BE49-F238E27FC236}">
                <a16:creationId xmlns:a16="http://schemas.microsoft.com/office/drawing/2014/main" id="{54C9D24F-6E53-DB11-A53D-33D2BB151526}"/>
              </a:ext>
            </a:extLst>
          </p:cNvPr>
          <p:cNvSpPr>
            <a:spLocks noGrp="1"/>
          </p:cNvSpPr>
          <p:nvPr>
            <p:ph type="ftr" sz="quarter" idx="3"/>
          </p:nvPr>
        </p:nvSpPr>
        <p:spPr>
          <a:xfrm>
            <a:off x="2519853" y="6441192"/>
            <a:ext cx="8684173" cy="365125"/>
          </a:xfrm>
        </p:spPr>
        <p:txBody>
          <a:bodyPr/>
          <a:lstStyle/>
          <a:p>
            <a:r>
              <a:rPr lang="en-US"/>
              <a:t>Final Project | Topics in Computer Science II | Fall 2025, University of Iowa</a:t>
            </a:r>
            <a:endParaRPr lang="en-US" dirty="0"/>
          </a:p>
        </p:txBody>
      </p:sp>
      <p:graphicFrame>
        <p:nvGraphicFramePr>
          <p:cNvPr id="7" name="Table 6">
            <a:extLst>
              <a:ext uri="{FF2B5EF4-FFF2-40B4-BE49-F238E27FC236}">
                <a16:creationId xmlns:a16="http://schemas.microsoft.com/office/drawing/2014/main" id="{E0CC99D0-F9B0-79E2-ACDA-004309451C51}"/>
              </a:ext>
            </a:extLst>
          </p:cNvPr>
          <p:cNvGraphicFramePr>
            <a:graphicFrameLocks noGrp="1"/>
          </p:cNvGraphicFramePr>
          <p:nvPr>
            <p:extLst>
              <p:ext uri="{D42A27DB-BD31-4B8C-83A1-F6EECF244321}">
                <p14:modId xmlns:p14="http://schemas.microsoft.com/office/powerpoint/2010/main" val="2725082348"/>
              </p:ext>
            </p:extLst>
          </p:nvPr>
        </p:nvGraphicFramePr>
        <p:xfrm>
          <a:off x="952500" y="1511300"/>
          <a:ext cx="10579100" cy="4445000"/>
        </p:xfrm>
        <a:graphic>
          <a:graphicData uri="http://schemas.openxmlformats.org/drawingml/2006/table">
            <a:tbl>
              <a:tblPr firstRow="1" bandRow="1">
                <a:tableStyleId>{21E4AEA4-8DFA-4A89-87EB-49C32662AFE0}</a:tableStyleId>
              </a:tblPr>
              <a:tblGrid>
                <a:gridCol w="2644775">
                  <a:extLst>
                    <a:ext uri="{9D8B030D-6E8A-4147-A177-3AD203B41FA5}">
                      <a16:colId xmlns:a16="http://schemas.microsoft.com/office/drawing/2014/main" val="1890662209"/>
                    </a:ext>
                  </a:extLst>
                </a:gridCol>
                <a:gridCol w="2644775">
                  <a:extLst>
                    <a:ext uri="{9D8B030D-6E8A-4147-A177-3AD203B41FA5}">
                      <a16:colId xmlns:a16="http://schemas.microsoft.com/office/drawing/2014/main" val="3159283533"/>
                    </a:ext>
                  </a:extLst>
                </a:gridCol>
                <a:gridCol w="2644775">
                  <a:extLst>
                    <a:ext uri="{9D8B030D-6E8A-4147-A177-3AD203B41FA5}">
                      <a16:colId xmlns:a16="http://schemas.microsoft.com/office/drawing/2014/main" val="3475492401"/>
                    </a:ext>
                  </a:extLst>
                </a:gridCol>
                <a:gridCol w="2644775">
                  <a:extLst>
                    <a:ext uri="{9D8B030D-6E8A-4147-A177-3AD203B41FA5}">
                      <a16:colId xmlns:a16="http://schemas.microsoft.com/office/drawing/2014/main" val="4076522630"/>
                    </a:ext>
                  </a:extLst>
                </a:gridCol>
              </a:tblGrid>
              <a:tr h="0">
                <a:tc>
                  <a:txBody>
                    <a:bodyPr/>
                    <a:lstStyle/>
                    <a:p>
                      <a:endParaRPr lang="en-US" dirty="0"/>
                    </a:p>
                  </a:txBody>
                  <a:tcPr/>
                </a:tc>
                <a:tc>
                  <a:txBody>
                    <a:bodyPr/>
                    <a:lstStyle/>
                    <a:p>
                      <a:r>
                        <a:rPr lang="en-US" dirty="0"/>
                        <a:t>Thread</a:t>
                      </a:r>
                    </a:p>
                  </a:txBody>
                  <a:tcPr/>
                </a:tc>
                <a:tc>
                  <a:txBody>
                    <a:bodyPr/>
                    <a:lstStyle/>
                    <a:p>
                      <a:r>
                        <a:rPr lang="en-US" dirty="0"/>
                        <a:t>Zigbee</a:t>
                      </a:r>
                    </a:p>
                  </a:txBody>
                  <a:tcPr/>
                </a:tc>
                <a:tc>
                  <a:txBody>
                    <a:bodyPr/>
                    <a:lstStyle/>
                    <a:p>
                      <a:r>
                        <a:rPr lang="en-US" dirty="0"/>
                        <a:t>Z-Wave</a:t>
                      </a:r>
                    </a:p>
                  </a:txBody>
                  <a:tcPr/>
                </a:tc>
                <a:extLst>
                  <a:ext uri="{0D108BD9-81ED-4DB2-BD59-A6C34878D82A}">
                    <a16:rowId xmlns:a16="http://schemas.microsoft.com/office/drawing/2014/main" val="2670963282"/>
                  </a:ext>
                </a:extLst>
              </a:tr>
              <a:tr h="370840">
                <a:tc>
                  <a:txBody>
                    <a:bodyPr/>
                    <a:lstStyle/>
                    <a:p>
                      <a:r>
                        <a:rPr lang="en-US" b="1" dirty="0"/>
                        <a:t>Maximum Devices</a:t>
                      </a:r>
                    </a:p>
                  </a:txBody>
                  <a:tcPr/>
                </a:tc>
                <a:tc>
                  <a:txBody>
                    <a:bodyPr/>
                    <a:lstStyle/>
                    <a:p>
                      <a:r>
                        <a:rPr lang="en-US" dirty="0"/>
                        <a:t>16384</a:t>
                      </a:r>
                    </a:p>
                  </a:txBody>
                  <a:tcPr/>
                </a:tc>
                <a:tc>
                  <a:txBody>
                    <a:bodyPr/>
                    <a:lstStyle/>
                    <a:p>
                      <a:r>
                        <a:rPr lang="en-US" dirty="0"/>
                        <a:t>65535</a:t>
                      </a:r>
                    </a:p>
                  </a:txBody>
                  <a:tcPr/>
                </a:tc>
                <a:tc>
                  <a:txBody>
                    <a:bodyPr/>
                    <a:lstStyle/>
                    <a:p>
                      <a:r>
                        <a:rPr lang="en-US" dirty="0"/>
                        <a:t>232</a:t>
                      </a:r>
                    </a:p>
                  </a:txBody>
                  <a:tcPr/>
                </a:tc>
                <a:extLst>
                  <a:ext uri="{0D108BD9-81ED-4DB2-BD59-A6C34878D82A}">
                    <a16:rowId xmlns:a16="http://schemas.microsoft.com/office/drawing/2014/main" val="340620968"/>
                  </a:ext>
                </a:extLst>
              </a:tr>
              <a:tr h="370840">
                <a:tc>
                  <a:txBody>
                    <a:bodyPr/>
                    <a:lstStyle/>
                    <a:p>
                      <a:r>
                        <a:rPr lang="en-US" b="1" dirty="0"/>
                        <a:t>Devices on Market</a:t>
                      </a:r>
                    </a:p>
                  </a:txBody>
                  <a:tcPr/>
                </a:tc>
                <a:tc>
                  <a:txBody>
                    <a:bodyPr/>
                    <a:lstStyle/>
                    <a:p>
                      <a:r>
                        <a:rPr lang="en-US" dirty="0"/>
                        <a:t>300&gt; (unverified)</a:t>
                      </a:r>
                    </a:p>
                  </a:txBody>
                  <a:tcPr/>
                </a:tc>
                <a:tc>
                  <a:txBody>
                    <a:bodyPr/>
                    <a:lstStyle/>
                    <a:p>
                      <a:r>
                        <a:rPr lang="en-US" dirty="0"/>
                        <a:t>4900&gt;</a:t>
                      </a:r>
                    </a:p>
                  </a:txBody>
                  <a:tcPr/>
                </a:tc>
                <a:tc>
                  <a:txBody>
                    <a:bodyPr/>
                    <a:lstStyle/>
                    <a:p>
                      <a:r>
                        <a:rPr lang="en-US" dirty="0"/>
                        <a:t>4500&gt;</a:t>
                      </a:r>
                    </a:p>
                  </a:txBody>
                  <a:tcPr/>
                </a:tc>
                <a:extLst>
                  <a:ext uri="{0D108BD9-81ED-4DB2-BD59-A6C34878D82A}">
                    <a16:rowId xmlns:a16="http://schemas.microsoft.com/office/drawing/2014/main" val="325968779"/>
                  </a:ext>
                </a:extLst>
              </a:tr>
              <a:tr h="370840">
                <a:tc>
                  <a:txBody>
                    <a:bodyPr/>
                    <a:lstStyle/>
                    <a:p>
                      <a:r>
                        <a:rPr lang="en-US" b="1" dirty="0"/>
                        <a:t>Protocol Age</a:t>
                      </a:r>
                    </a:p>
                  </a:txBody>
                  <a:tcPr/>
                </a:tc>
                <a:tc>
                  <a:txBody>
                    <a:bodyPr/>
                    <a:lstStyle/>
                    <a:p>
                      <a:r>
                        <a:rPr lang="en-US" dirty="0"/>
                        <a:t>11 years</a:t>
                      </a:r>
                    </a:p>
                  </a:txBody>
                  <a:tcPr/>
                </a:tc>
                <a:tc>
                  <a:txBody>
                    <a:bodyPr/>
                    <a:lstStyle/>
                    <a:p>
                      <a:r>
                        <a:rPr lang="en-US" dirty="0"/>
                        <a:t>20 years</a:t>
                      </a:r>
                    </a:p>
                  </a:txBody>
                  <a:tcPr/>
                </a:tc>
                <a:tc>
                  <a:txBody>
                    <a:bodyPr/>
                    <a:lstStyle/>
                    <a:p>
                      <a:r>
                        <a:rPr lang="en-US" dirty="0"/>
                        <a:t>26 years</a:t>
                      </a:r>
                    </a:p>
                  </a:txBody>
                  <a:tcPr/>
                </a:tc>
                <a:extLst>
                  <a:ext uri="{0D108BD9-81ED-4DB2-BD59-A6C34878D82A}">
                    <a16:rowId xmlns:a16="http://schemas.microsoft.com/office/drawing/2014/main" val="1601934275"/>
                  </a:ext>
                </a:extLst>
              </a:tr>
              <a:tr h="370840">
                <a:tc>
                  <a:txBody>
                    <a:bodyPr/>
                    <a:lstStyle/>
                    <a:p>
                      <a:r>
                        <a:rPr lang="en-US" b="1" dirty="0"/>
                        <a:t>Development Kit</a:t>
                      </a:r>
                    </a:p>
                  </a:txBody>
                  <a:tcPr/>
                </a:tc>
                <a:tc>
                  <a:txBody>
                    <a:bodyPr/>
                    <a:lstStyle/>
                    <a:p>
                      <a:r>
                        <a:rPr lang="en-US" dirty="0" err="1">
                          <a:hlinkClick r:id="rId2"/>
                        </a:rPr>
                        <a:t>OpenThread</a:t>
                      </a:r>
                      <a:endParaRPr lang="en-US" dirty="0"/>
                    </a:p>
                  </a:txBody>
                  <a:tcPr/>
                </a:tc>
                <a:tc>
                  <a:txBody>
                    <a:bodyPr/>
                    <a:lstStyle/>
                    <a:p>
                      <a:r>
                        <a:rPr lang="en-US" dirty="0">
                          <a:hlinkClick r:id="rId3"/>
                        </a:rPr>
                        <a:t>Expressif Zigbee</a:t>
                      </a:r>
                      <a:endParaRPr lang="en-US" dirty="0"/>
                    </a:p>
                  </a:txBody>
                  <a:tcPr/>
                </a:tc>
                <a:tc>
                  <a:txBody>
                    <a:bodyPr/>
                    <a:lstStyle/>
                    <a:p>
                      <a:r>
                        <a:rPr lang="en-US" dirty="0" err="1">
                          <a:hlinkClick r:id="rId4"/>
                        </a:rPr>
                        <a:t>OpenZWave</a:t>
                      </a:r>
                      <a:endParaRPr lang="en-US" dirty="0"/>
                    </a:p>
                  </a:txBody>
                  <a:tcPr/>
                </a:tc>
                <a:extLst>
                  <a:ext uri="{0D108BD9-81ED-4DB2-BD59-A6C34878D82A}">
                    <a16:rowId xmlns:a16="http://schemas.microsoft.com/office/drawing/2014/main" val="71146543"/>
                  </a:ext>
                </a:extLst>
              </a:tr>
              <a:tr h="370840">
                <a:tc>
                  <a:txBody>
                    <a:bodyPr/>
                    <a:lstStyle/>
                    <a:p>
                      <a:r>
                        <a:rPr lang="en-US" b="1" dirty="0"/>
                        <a:t>Build Custom Device?</a:t>
                      </a:r>
                    </a:p>
                  </a:txBody>
                  <a:tcPr/>
                </a:tc>
                <a:tc>
                  <a:txBody>
                    <a:bodyPr/>
                    <a:lstStyle/>
                    <a:p>
                      <a:r>
                        <a:rPr lang="en-US" dirty="0"/>
                        <a:t>Yes</a:t>
                      </a:r>
                    </a:p>
                  </a:txBody>
                  <a:tcPr/>
                </a:tc>
                <a:tc>
                  <a:txBody>
                    <a:bodyPr/>
                    <a:lstStyle/>
                    <a:p>
                      <a:r>
                        <a:rPr lang="en-US" dirty="0"/>
                        <a:t>Yes</a:t>
                      </a:r>
                    </a:p>
                  </a:txBody>
                  <a:tcPr/>
                </a:tc>
                <a:tc>
                  <a:txBody>
                    <a:bodyPr/>
                    <a:lstStyle/>
                    <a:p>
                      <a:r>
                        <a:rPr lang="en-US" dirty="0"/>
                        <a:t>Yes</a:t>
                      </a:r>
                    </a:p>
                  </a:txBody>
                  <a:tcPr/>
                </a:tc>
                <a:extLst>
                  <a:ext uri="{0D108BD9-81ED-4DB2-BD59-A6C34878D82A}">
                    <a16:rowId xmlns:a16="http://schemas.microsoft.com/office/drawing/2014/main" val="2025985335"/>
                  </a:ext>
                </a:extLst>
              </a:tr>
              <a:tr h="370840">
                <a:tc>
                  <a:txBody>
                    <a:bodyPr/>
                    <a:lstStyle/>
                    <a:p>
                      <a:r>
                        <a:rPr lang="en-US" b="1" dirty="0"/>
                        <a:t>Open Standard</a:t>
                      </a:r>
                    </a:p>
                  </a:txBody>
                  <a:tcPr/>
                </a:tc>
                <a:tc>
                  <a:txBody>
                    <a:bodyPr/>
                    <a:lstStyle/>
                    <a:p>
                      <a:r>
                        <a:rPr lang="en-US" dirty="0"/>
                        <a:t>Yes</a:t>
                      </a:r>
                    </a:p>
                  </a:txBody>
                  <a:tcPr/>
                </a:tc>
                <a:tc>
                  <a:txBody>
                    <a:bodyPr/>
                    <a:lstStyle/>
                    <a:p>
                      <a:r>
                        <a:rPr lang="en-US" dirty="0"/>
                        <a:t>Yes</a:t>
                      </a:r>
                    </a:p>
                  </a:txBody>
                  <a:tcPr/>
                </a:tc>
                <a:tc>
                  <a:txBody>
                    <a:bodyPr/>
                    <a:lstStyle/>
                    <a:p>
                      <a:r>
                        <a:rPr lang="en-US" dirty="0"/>
                        <a:t>No</a:t>
                      </a:r>
                    </a:p>
                  </a:txBody>
                  <a:tcPr/>
                </a:tc>
                <a:extLst>
                  <a:ext uri="{0D108BD9-81ED-4DB2-BD59-A6C34878D82A}">
                    <a16:rowId xmlns:a16="http://schemas.microsoft.com/office/drawing/2014/main" val="3751608905"/>
                  </a:ext>
                </a:extLst>
              </a:tr>
              <a:tr h="370840">
                <a:tc>
                  <a:txBody>
                    <a:bodyPr/>
                    <a:lstStyle/>
                    <a:p>
                      <a:r>
                        <a:rPr lang="en-US" b="1" dirty="0"/>
                        <a:t>Protocols</a:t>
                      </a:r>
                    </a:p>
                  </a:txBody>
                  <a:tcPr/>
                </a:tc>
                <a:tc>
                  <a:txBody>
                    <a:bodyPr/>
                    <a:lstStyle/>
                    <a:p>
                      <a:r>
                        <a:rPr lang="en-US" dirty="0"/>
                        <a:t>802.15.4 + IP</a:t>
                      </a:r>
                    </a:p>
                  </a:txBody>
                  <a:tcPr/>
                </a:tc>
                <a:tc>
                  <a:txBody>
                    <a:bodyPr/>
                    <a:lstStyle/>
                    <a:p>
                      <a:r>
                        <a:rPr lang="en-US" dirty="0"/>
                        <a:t>802.15.4</a:t>
                      </a:r>
                    </a:p>
                  </a:txBody>
                  <a:tcPr/>
                </a:tc>
                <a:tc>
                  <a:txBody>
                    <a:bodyPr/>
                    <a:lstStyle/>
                    <a:p>
                      <a:r>
                        <a:rPr lang="en-US" dirty="0"/>
                        <a:t>Proprietary SoC</a:t>
                      </a:r>
                    </a:p>
                  </a:txBody>
                  <a:tcPr/>
                </a:tc>
                <a:extLst>
                  <a:ext uri="{0D108BD9-81ED-4DB2-BD59-A6C34878D82A}">
                    <a16:rowId xmlns:a16="http://schemas.microsoft.com/office/drawing/2014/main" val="385795782"/>
                  </a:ext>
                </a:extLst>
              </a:tr>
              <a:tr h="370840">
                <a:tc>
                  <a:txBody>
                    <a:bodyPr/>
                    <a:lstStyle/>
                    <a:p>
                      <a:r>
                        <a:rPr lang="en-US" b="1" dirty="0"/>
                        <a:t>Data Rate</a:t>
                      </a:r>
                    </a:p>
                  </a:txBody>
                  <a:tcPr/>
                </a:tc>
                <a:tc>
                  <a:txBody>
                    <a:bodyPr/>
                    <a:lstStyle/>
                    <a:p>
                      <a:r>
                        <a:rPr lang="en-US" dirty="0"/>
                        <a:t>250 Kbps</a:t>
                      </a:r>
                    </a:p>
                  </a:txBody>
                  <a:tcPr/>
                </a:tc>
                <a:tc>
                  <a:txBody>
                    <a:bodyPr/>
                    <a:lstStyle/>
                    <a:p>
                      <a:r>
                        <a:rPr lang="en-US" dirty="0"/>
                        <a:t>250 Kbps</a:t>
                      </a:r>
                    </a:p>
                  </a:txBody>
                  <a:tcPr/>
                </a:tc>
                <a:tc>
                  <a:txBody>
                    <a:bodyPr/>
                    <a:lstStyle/>
                    <a:p>
                      <a:r>
                        <a:rPr lang="en-US" dirty="0"/>
                        <a:t>100 Kbps</a:t>
                      </a:r>
                    </a:p>
                  </a:txBody>
                  <a:tcPr/>
                </a:tc>
                <a:extLst>
                  <a:ext uri="{0D108BD9-81ED-4DB2-BD59-A6C34878D82A}">
                    <a16:rowId xmlns:a16="http://schemas.microsoft.com/office/drawing/2014/main" val="3460787296"/>
                  </a:ext>
                </a:extLst>
              </a:tr>
              <a:tr h="370840">
                <a:tc>
                  <a:txBody>
                    <a:bodyPr/>
                    <a:lstStyle/>
                    <a:p>
                      <a:r>
                        <a:rPr lang="en-US" b="1" dirty="0"/>
                        <a:t>Range</a:t>
                      </a:r>
                    </a:p>
                  </a:txBody>
                  <a:tcPr/>
                </a:tc>
                <a:tc>
                  <a:txBody>
                    <a:bodyPr/>
                    <a:lstStyle/>
                    <a:p>
                      <a:r>
                        <a:rPr lang="en-US" dirty="0"/>
                        <a:t>30 m</a:t>
                      </a:r>
                    </a:p>
                  </a:txBody>
                  <a:tcPr/>
                </a:tc>
                <a:tc>
                  <a:txBody>
                    <a:bodyPr/>
                    <a:lstStyle/>
                    <a:p>
                      <a:r>
                        <a:rPr lang="en-US" dirty="0"/>
                        <a:t>10-100 m</a:t>
                      </a:r>
                    </a:p>
                  </a:txBody>
                  <a:tcPr/>
                </a:tc>
                <a:tc>
                  <a:txBody>
                    <a:bodyPr/>
                    <a:lstStyle/>
                    <a:p>
                      <a:r>
                        <a:rPr lang="en-US" dirty="0"/>
                        <a:t>100 m – 1 mi </a:t>
                      </a:r>
                    </a:p>
                  </a:txBody>
                  <a:tcPr/>
                </a:tc>
                <a:extLst>
                  <a:ext uri="{0D108BD9-81ED-4DB2-BD59-A6C34878D82A}">
                    <a16:rowId xmlns:a16="http://schemas.microsoft.com/office/drawing/2014/main" val="3343586275"/>
                  </a:ext>
                </a:extLst>
              </a:tr>
              <a:tr h="370840">
                <a:tc>
                  <a:txBody>
                    <a:bodyPr/>
                    <a:lstStyle/>
                    <a:p>
                      <a:r>
                        <a:rPr lang="en-US" b="1" dirty="0"/>
                        <a:t>Frequency</a:t>
                      </a:r>
                    </a:p>
                  </a:txBody>
                  <a:tcPr/>
                </a:tc>
                <a:tc>
                  <a:txBody>
                    <a:bodyPr/>
                    <a:lstStyle/>
                    <a:p>
                      <a:r>
                        <a:rPr lang="en-US" dirty="0"/>
                        <a:t>2.4 GHz</a:t>
                      </a:r>
                    </a:p>
                  </a:txBody>
                  <a:tcPr/>
                </a:tc>
                <a:tc>
                  <a:txBody>
                    <a:bodyPr/>
                    <a:lstStyle/>
                    <a:p>
                      <a:r>
                        <a:rPr lang="en-US" dirty="0"/>
                        <a:t>2.4 GHz</a:t>
                      </a:r>
                    </a:p>
                  </a:txBody>
                  <a:tcPr/>
                </a:tc>
                <a:tc>
                  <a:txBody>
                    <a:bodyPr/>
                    <a:lstStyle/>
                    <a:p>
                      <a:r>
                        <a:rPr lang="en-US" dirty="0"/>
                        <a:t>868 MHz – 908 MHz</a:t>
                      </a:r>
                    </a:p>
                  </a:txBody>
                  <a:tcPr/>
                </a:tc>
                <a:extLst>
                  <a:ext uri="{0D108BD9-81ED-4DB2-BD59-A6C34878D82A}">
                    <a16:rowId xmlns:a16="http://schemas.microsoft.com/office/drawing/2014/main" val="890192995"/>
                  </a:ext>
                </a:extLst>
              </a:tr>
              <a:tr h="370840">
                <a:tc>
                  <a:txBody>
                    <a:bodyPr/>
                    <a:lstStyle/>
                    <a:p>
                      <a:r>
                        <a:rPr lang="en-US" b="1" dirty="0"/>
                        <a:t>Fully Local Network</a:t>
                      </a:r>
                    </a:p>
                  </a:txBody>
                  <a:tcPr/>
                </a:tc>
                <a:tc>
                  <a:txBody>
                    <a:bodyPr/>
                    <a:lstStyle/>
                    <a:p>
                      <a:r>
                        <a:rPr lang="en-US" dirty="0"/>
                        <a:t>No</a:t>
                      </a:r>
                    </a:p>
                  </a:txBody>
                  <a:tcPr/>
                </a:tc>
                <a:tc>
                  <a:txBody>
                    <a:bodyPr/>
                    <a:lstStyle/>
                    <a:p>
                      <a:r>
                        <a:rPr lang="en-US" dirty="0"/>
                        <a:t>Yes</a:t>
                      </a:r>
                    </a:p>
                  </a:txBody>
                  <a:tcPr/>
                </a:tc>
                <a:tc>
                  <a:txBody>
                    <a:bodyPr/>
                    <a:lstStyle/>
                    <a:p>
                      <a:r>
                        <a:rPr lang="en-US" dirty="0"/>
                        <a:t>Yes</a:t>
                      </a:r>
                    </a:p>
                  </a:txBody>
                  <a:tcPr/>
                </a:tc>
                <a:extLst>
                  <a:ext uri="{0D108BD9-81ED-4DB2-BD59-A6C34878D82A}">
                    <a16:rowId xmlns:a16="http://schemas.microsoft.com/office/drawing/2014/main" val="83465565"/>
                  </a:ext>
                </a:extLst>
              </a:tr>
            </a:tbl>
          </a:graphicData>
        </a:graphic>
      </p:graphicFrame>
    </p:spTree>
    <p:extLst>
      <p:ext uri="{BB962C8B-B14F-4D97-AF65-F5344CB8AC3E}">
        <p14:creationId xmlns:p14="http://schemas.microsoft.com/office/powerpoint/2010/main" val="413236777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DC6EB-1275-BEEF-46F4-58C079502D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4D774F-738E-D8D3-2FC7-130101F38A90}"/>
              </a:ext>
            </a:extLst>
          </p:cNvPr>
          <p:cNvSpPr>
            <a:spLocks noGrp="1"/>
          </p:cNvSpPr>
          <p:nvPr>
            <p:ph type="title"/>
          </p:nvPr>
        </p:nvSpPr>
        <p:spPr>
          <a:xfrm>
            <a:off x="949324" y="498296"/>
            <a:ext cx="6186581" cy="896116"/>
          </a:xfrm>
        </p:spPr>
        <p:txBody>
          <a:bodyPr>
            <a:normAutofit/>
          </a:bodyPr>
          <a:lstStyle/>
          <a:p>
            <a:r>
              <a:rPr lang="en-US" dirty="0"/>
              <a:t>My Takeaways</a:t>
            </a:r>
          </a:p>
        </p:txBody>
      </p:sp>
      <p:sp>
        <p:nvSpPr>
          <p:cNvPr id="5" name="Content Placeholder 4">
            <a:extLst>
              <a:ext uri="{FF2B5EF4-FFF2-40B4-BE49-F238E27FC236}">
                <a16:creationId xmlns:a16="http://schemas.microsoft.com/office/drawing/2014/main" id="{8A7163BE-377C-6590-48B0-356A36F7BB88}"/>
              </a:ext>
            </a:extLst>
          </p:cNvPr>
          <p:cNvSpPr>
            <a:spLocks noGrp="1"/>
          </p:cNvSpPr>
          <p:nvPr>
            <p:ph idx="1"/>
          </p:nvPr>
        </p:nvSpPr>
        <p:spPr>
          <a:xfrm>
            <a:off x="934914" y="1676401"/>
            <a:ext cx="10701619" cy="4267200"/>
          </a:xfrm>
        </p:spPr>
        <p:txBody>
          <a:bodyPr>
            <a:normAutofit fontScale="92500" lnSpcReduction="20000"/>
          </a:bodyPr>
          <a:lstStyle/>
          <a:p>
            <a:pPr marL="0" indent="0">
              <a:buNone/>
            </a:pPr>
            <a:r>
              <a:rPr lang="en-US" sz="2000" b="1" dirty="0"/>
              <a:t>The three protocols are all viable and proven options for smart home automation:</a:t>
            </a:r>
          </a:p>
          <a:p>
            <a:pPr>
              <a:buFontTx/>
              <a:buChar char="-"/>
            </a:pPr>
            <a:r>
              <a:rPr lang="en-US" sz="2000" b="1" dirty="0"/>
              <a:t>Zigbee</a:t>
            </a:r>
            <a:r>
              <a:rPr lang="en-US" sz="2000" dirty="0"/>
              <a:t> is the most proven smart home automation protocol, providing strong mesh network capabilities, large number of devices, and easy configuration.</a:t>
            </a:r>
          </a:p>
          <a:p>
            <a:pPr>
              <a:buFontTx/>
              <a:buChar char="-"/>
            </a:pPr>
            <a:r>
              <a:rPr lang="en-US" sz="2000" b="1" dirty="0"/>
              <a:t>Thread</a:t>
            </a:r>
            <a:r>
              <a:rPr lang="en-US" sz="2000" dirty="0"/>
              <a:t> is similar to Zigbee, but provides additional benefits of IP-addressability and multiple hosts. Simple sentiment analysis of YouTube videos is that Thread may overtake Zigbee.</a:t>
            </a:r>
          </a:p>
          <a:p>
            <a:pPr>
              <a:buFontTx/>
              <a:buChar char="-"/>
            </a:pPr>
            <a:r>
              <a:rPr lang="en-US" sz="2000" b="1" dirty="0"/>
              <a:t>Z-Wave </a:t>
            </a:r>
            <a:r>
              <a:rPr lang="en-US" sz="2000" dirty="0"/>
              <a:t>is another viable option that can enable longer ranges, however its closed standard and the Z-Wave Alliance requirement makes learning, understanding, and building Z-Wave automations more difficult.</a:t>
            </a:r>
          </a:p>
          <a:p>
            <a:pPr>
              <a:buFontTx/>
              <a:buChar char="-"/>
            </a:pPr>
            <a:endParaRPr lang="en-US" sz="2000" b="1" dirty="0"/>
          </a:p>
          <a:p>
            <a:pPr marL="0" indent="0">
              <a:buNone/>
            </a:pPr>
            <a:r>
              <a:rPr lang="en-US" sz="2000" b="1" dirty="0"/>
              <a:t>For my personal needs, </a:t>
            </a:r>
            <a:r>
              <a:rPr lang="en-US" sz="2000" b="1" dirty="0">
                <a:solidFill>
                  <a:srgbClr val="00B050"/>
                </a:solidFill>
              </a:rPr>
              <a:t>Zigbee</a:t>
            </a:r>
            <a:r>
              <a:rPr lang="en-US" sz="2000" b="1" dirty="0"/>
              <a:t> is the clear winner:</a:t>
            </a:r>
          </a:p>
          <a:p>
            <a:pPr lvl="1">
              <a:buFont typeface="Wingdings" pitchFamily="2" charset="2"/>
              <a:buChar char="ü"/>
            </a:pPr>
            <a:r>
              <a:rPr lang="en-US" sz="2100" dirty="0"/>
              <a:t>Ease of development and access to many devices</a:t>
            </a:r>
          </a:p>
          <a:p>
            <a:pPr lvl="1">
              <a:buFont typeface="Wingdings" pitchFamily="2" charset="2"/>
              <a:buChar char="ü"/>
            </a:pPr>
            <a:r>
              <a:rPr lang="en-US" sz="2100" dirty="0"/>
              <a:t>Ability to create custom devices using ESP32 </a:t>
            </a:r>
          </a:p>
          <a:p>
            <a:pPr lvl="1">
              <a:buFont typeface="Wingdings" pitchFamily="2" charset="2"/>
              <a:buChar char="ü"/>
            </a:pPr>
            <a:r>
              <a:rPr lang="en-US" sz="2100" dirty="0"/>
              <a:t>Previous knowledge of 802.15.4 from Topics in Computer Science II</a:t>
            </a:r>
          </a:p>
          <a:p>
            <a:pPr lvl="1">
              <a:buFont typeface="Wingdings" pitchFamily="2" charset="2"/>
              <a:buChar char="ü"/>
            </a:pPr>
            <a:r>
              <a:rPr lang="en-US" sz="2100" dirty="0"/>
              <a:t>Well known and easy to use application layer managers</a:t>
            </a:r>
          </a:p>
        </p:txBody>
      </p:sp>
      <p:sp>
        <p:nvSpPr>
          <p:cNvPr id="6" name="Footer Placeholder 3">
            <a:extLst>
              <a:ext uri="{FF2B5EF4-FFF2-40B4-BE49-F238E27FC236}">
                <a16:creationId xmlns:a16="http://schemas.microsoft.com/office/drawing/2014/main" id="{632B0753-33F9-CD55-FBAB-8986FE3232CE}"/>
              </a:ext>
            </a:extLst>
          </p:cNvPr>
          <p:cNvSpPr>
            <a:spLocks noGrp="1"/>
          </p:cNvSpPr>
          <p:nvPr>
            <p:ph type="ftr" sz="quarter" idx="3"/>
          </p:nvPr>
        </p:nvSpPr>
        <p:spPr>
          <a:xfrm>
            <a:off x="2519853" y="6441192"/>
            <a:ext cx="8684173" cy="365125"/>
          </a:xfrm>
        </p:spPr>
        <p:txBody>
          <a:bodyPr/>
          <a:lstStyle/>
          <a:p>
            <a:r>
              <a:rPr lang="en-US"/>
              <a:t>Final Project | Topics in Computer Science II | Fall 2025, University of Iowa</a:t>
            </a:r>
            <a:endParaRPr lang="en-US" dirty="0"/>
          </a:p>
        </p:txBody>
      </p:sp>
    </p:spTree>
    <p:extLst>
      <p:ext uri="{BB962C8B-B14F-4D97-AF65-F5344CB8AC3E}">
        <p14:creationId xmlns:p14="http://schemas.microsoft.com/office/powerpoint/2010/main" val="280665008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FE9FB8-0551-939D-C7AE-12AB698BF1E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260585F-781E-4E53-2FC4-4DDC25710E51}"/>
              </a:ext>
            </a:extLst>
          </p:cNvPr>
          <p:cNvSpPr>
            <a:spLocks noGrp="1"/>
          </p:cNvSpPr>
          <p:nvPr>
            <p:ph type="ctrTitle"/>
          </p:nvPr>
        </p:nvSpPr>
        <p:spPr>
          <a:xfrm>
            <a:off x="952500" y="2805221"/>
            <a:ext cx="10286999" cy="759906"/>
          </a:xfrm>
        </p:spPr>
        <p:txBody>
          <a:bodyPr>
            <a:normAutofit fontScale="90000"/>
          </a:bodyPr>
          <a:lstStyle/>
          <a:p>
            <a:r>
              <a:rPr lang="en-US" dirty="0"/>
              <a:t>Future Work</a:t>
            </a:r>
          </a:p>
        </p:txBody>
      </p:sp>
      <p:sp>
        <p:nvSpPr>
          <p:cNvPr id="5" name="Subtitle 4">
            <a:extLst>
              <a:ext uri="{FF2B5EF4-FFF2-40B4-BE49-F238E27FC236}">
                <a16:creationId xmlns:a16="http://schemas.microsoft.com/office/drawing/2014/main" id="{A836A655-D747-3F78-0033-CE434A70C523}"/>
              </a:ext>
            </a:extLst>
          </p:cNvPr>
          <p:cNvSpPr>
            <a:spLocks noGrp="1"/>
          </p:cNvSpPr>
          <p:nvPr>
            <p:ph type="subTitle" idx="1"/>
          </p:nvPr>
        </p:nvSpPr>
        <p:spPr>
          <a:xfrm>
            <a:off x="952500" y="3791876"/>
            <a:ext cx="10286999" cy="407460"/>
          </a:xfrm>
        </p:spPr>
        <p:txBody>
          <a:bodyPr/>
          <a:lstStyle/>
          <a:p>
            <a:r>
              <a:rPr lang="en-US" dirty="0"/>
              <a:t>How I use my learning from this course &amp; project </a:t>
            </a:r>
          </a:p>
        </p:txBody>
      </p:sp>
    </p:spTree>
    <p:extLst>
      <p:ext uri="{BB962C8B-B14F-4D97-AF65-F5344CB8AC3E}">
        <p14:creationId xmlns:p14="http://schemas.microsoft.com/office/powerpoint/2010/main" val="331161401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FAC2D-FCC3-C9C2-8F57-62AA68D375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A14FCB-7DBA-238B-C90F-73705D1A92BA}"/>
              </a:ext>
            </a:extLst>
          </p:cNvPr>
          <p:cNvSpPr>
            <a:spLocks noGrp="1"/>
          </p:cNvSpPr>
          <p:nvPr>
            <p:ph type="title"/>
          </p:nvPr>
        </p:nvSpPr>
        <p:spPr>
          <a:xfrm>
            <a:off x="949325" y="498296"/>
            <a:ext cx="5260975" cy="896116"/>
          </a:xfrm>
        </p:spPr>
        <p:txBody>
          <a:bodyPr>
            <a:normAutofit fontScale="90000"/>
          </a:bodyPr>
          <a:lstStyle/>
          <a:p>
            <a:r>
              <a:rPr lang="en-US" dirty="0"/>
              <a:t>Smart Home Automation</a:t>
            </a:r>
          </a:p>
        </p:txBody>
      </p:sp>
      <p:sp>
        <p:nvSpPr>
          <p:cNvPr id="5" name="Content Placeholder 4">
            <a:extLst>
              <a:ext uri="{FF2B5EF4-FFF2-40B4-BE49-F238E27FC236}">
                <a16:creationId xmlns:a16="http://schemas.microsoft.com/office/drawing/2014/main" id="{B8DF29CA-5133-E149-F6A6-3E6C2AD3BE5C}"/>
              </a:ext>
            </a:extLst>
          </p:cNvPr>
          <p:cNvSpPr>
            <a:spLocks noGrp="1"/>
          </p:cNvSpPr>
          <p:nvPr>
            <p:ph idx="1"/>
          </p:nvPr>
        </p:nvSpPr>
        <p:spPr>
          <a:xfrm>
            <a:off x="952499" y="1686757"/>
            <a:ext cx="10251527" cy="4256843"/>
          </a:xfrm>
        </p:spPr>
        <p:txBody>
          <a:bodyPr/>
          <a:lstStyle/>
          <a:p>
            <a:pPr marL="0" indent="0">
              <a:buNone/>
            </a:pPr>
            <a:r>
              <a:rPr lang="en-US" dirty="0"/>
              <a:t>This project has given me a theoretical understanding of smart home mesh networks protocols, and now </a:t>
            </a:r>
            <a:r>
              <a:rPr lang="en-US" b="1" dirty="0"/>
              <a:t>I would like to implement what I have learned.  </a:t>
            </a:r>
            <a:endParaRPr lang="en-US" dirty="0"/>
          </a:p>
          <a:p>
            <a:pPr marL="0" indent="0">
              <a:buNone/>
            </a:pPr>
            <a:endParaRPr lang="en-US" b="1" dirty="0"/>
          </a:p>
          <a:p>
            <a:pPr marL="0" indent="0">
              <a:buNone/>
            </a:pPr>
            <a:r>
              <a:rPr lang="en-US" dirty="0"/>
              <a:t>After graduation this may, I will be moving into a new home/apartment. This is the perfect opportunity for me to experiment with simple automations. </a:t>
            </a:r>
          </a:p>
          <a:p>
            <a:endParaRPr lang="en-US" dirty="0"/>
          </a:p>
        </p:txBody>
      </p:sp>
      <p:sp>
        <p:nvSpPr>
          <p:cNvPr id="6" name="Footer Placeholder 3">
            <a:extLst>
              <a:ext uri="{FF2B5EF4-FFF2-40B4-BE49-F238E27FC236}">
                <a16:creationId xmlns:a16="http://schemas.microsoft.com/office/drawing/2014/main" id="{9AF7AF9C-5549-50D0-4170-5BF0126A2571}"/>
              </a:ext>
            </a:extLst>
          </p:cNvPr>
          <p:cNvSpPr>
            <a:spLocks noGrp="1"/>
          </p:cNvSpPr>
          <p:nvPr>
            <p:ph type="ftr" sz="quarter" idx="3"/>
          </p:nvPr>
        </p:nvSpPr>
        <p:spPr>
          <a:xfrm>
            <a:off x="2519853" y="6441192"/>
            <a:ext cx="8684173" cy="365125"/>
          </a:xfrm>
        </p:spPr>
        <p:txBody>
          <a:bodyPr/>
          <a:lstStyle/>
          <a:p>
            <a:r>
              <a:rPr lang="en-US"/>
              <a:t>Final Project | Topics in Computer Science II | Fall 2025, University of Iowa</a:t>
            </a:r>
            <a:endParaRPr lang="en-US" dirty="0"/>
          </a:p>
        </p:txBody>
      </p:sp>
    </p:spTree>
    <p:extLst>
      <p:ext uri="{BB962C8B-B14F-4D97-AF65-F5344CB8AC3E}">
        <p14:creationId xmlns:p14="http://schemas.microsoft.com/office/powerpoint/2010/main" val="221130312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28AA7-EC71-F2F2-DEEE-A3F4F2E24E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8AD737-6791-014C-05BB-E6DE7DDBE5E6}"/>
              </a:ext>
            </a:extLst>
          </p:cNvPr>
          <p:cNvSpPr>
            <a:spLocks noGrp="1"/>
          </p:cNvSpPr>
          <p:nvPr>
            <p:ph type="title"/>
          </p:nvPr>
        </p:nvSpPr>
        <p:spPr>
          <a:xfrm>
            <a:off x="949324" y="498296"/>
            <a:ext cx="6467476" cy="896116"/>
          </a:xfrm>
        </p:spPr>
        <p:txBody>
          <a:bodyPr>
            <a:normAutofit fontScale="90000"/>
          </a:bodyPr>
          <a:lstStyle/>
          <a:p>
            <a:r>
              <a:rPr lang="en-US" dirty="0"/>
              <a:t>Smart Home Automation Goals</a:t>
            </a:r>
          </a:p>
        </p:txBody>
      </p:sp>
      <p:sp>
        <p:nvSpPr>
          <p:cNvPr id="5" name="Content Placeholder 4">
            <a:extLst>
              <a:ext uri="{FF2B5EF4-FFF2-40B4-BE49-F238E27FC236}">
                <a16:creationId xmlns:a16="http://schemas.microsoft.com/office/drawing/2014/main" id="{59A9240A-1A6A-74A8-C2A8-63C70CDF72D1}"/>
              </a:ext>
            </a:extLst>
          </p:cNvPr>
          <p:cNvSpPr>
            <a:spLocks noGrp="1"/>
          </p:cNvSpPr>
          <p:nvPr>
            <p:ph idx="1"/>
          </p:nvPr>
        </p:nvSpPr>
        <p:spPr>
          <a:xfrm>
            <a:off x="952499" y="1686757"/>
            <a:ext cx="10701619" cy="4256843"/>
          </a:xfrm>
        </p:spPr>
        <p:txBody>
          <a:bodyPr/>
          <a:lstStyle/>
          <a:p>
            <a:pPr marL="0" indent="0">
              <a:buNone/>
            </a:pPr>
            <a:r>
              <a:rPr lang="en-US" dirty="0"/>
              <a:t>Ideally, I would like the ability to do the following:</a:t>
            </a:r>
          </a:p>
          <a:p>
            <a:pPr>
              <a:buFontTx/>
              <a:buChar char="-"/>
            </a:pPr>
            <a:r>
              <a:rPr lang="en-US" b="1" dirty="0"/>
              <a:t>Automate my mornings/nights:</a:t>
            </a:r>
            <a:r>
              <a:rPr lang="en-US" dirty="0"/>
              <a:t> lights, music, body heat regulation</a:t>
            </a:r>
          </a:p>
          <a:p>
            <a:pPr>
              <a:buFontTx/>
              <a:buChar char="-"/>
            </a:pPr>
            <a:r>
              <a:rPr lang="en-US" b="1" dirty="0"/>
              <a:t>Enhance home security:  </a:t>
            </a:r>
            <a:r>
              <a:rPr lang="en-US" dirty="0"/>
              <a:t>camera, network anomaly detection </a:t>
            </a:r>
          </a:p>
          <a:p>
            <a:pPr>
              <a:buFontTx/>
              <a:buChar char="-"/>
            </a:pPr>
            <a:r>
              <a:rPr lang="en-US" b="1" dirty="0"/>
              <a:t>Everything runs locally: </a:t>
            </a:r>
            <a:r>
              <a:rPr lang="en-US" dirty="0"/>
              <a:t>limit outside access to the personal data</a:t>
            </a:r>
          </a:p>
          <a:p>
            <a:pPr marL="0" indent="0">
              <a:buNone/>
            </a:pPr>
            <a:endParaRPr lang="en-US" b="1" dirty="0"/>
          </a:p>
          <a:p>
            <a:pPr marL="0" indent="0">
              <a:buNone/>
            </a:pPr>
            <a:r>
              <a:rPr lang="en-US" dirty="0"/>
              <a:t>These are just a few... Too many ideas and not enough time! </a:t>
            </a:r>
            <a:r>
              <a:rPr lang="en-US" dirty="0">
                <a:sym typeface="Wingdings" pitchFamily="2" charset="2"/>
              </a:rPr>
              <a:t></a:t>
            </a:r>
            <a:endParaRPr lang="en-US" dirty="0"/>
          </a:p>
        </p:txBody>
      </p:sp>
      <p:sp>
        <p:nvSpPr>
          <p:cNvPr id="6" name="Footer Placeholder 3">
            <a:extLst>
              <a:ext uri="{FF2B5EF4-FFF2-40B4-BE49-F238E27FC236}">
                <a16:creationId xmlns:a16="http://schemas.microsoft.com/office/drawing/2014/main" id="{CFA90F80-6B99-6987-8CA1-CCF02E41ED16}"/>
              </a:ext>
            </a:extLst>
          </p:cNvPr>
          <p:cNvSpPr>
            <a:spLocks noGrp="1"/>
          </p:cNvSpPr>
          <p:nvPr>
            <p:ph type="ftr" sz="quarter" idx="3"/>
          </p:nvPr>
        </p:nvSpPr>
        <p:spPr>
          <a:xfrm>
            <a:off x="2519853" y="6441192"/>
            <a:ext cx="8684173" cy="365125"/>
          </a:xfrm>
        </p:spPr>
        <p:txBody>
          <a:bodyPr/>
          <a:lstStyle/>
          <a:p>
            <a:r>
              <a:rPr lang="en-US"/>
              <a:t>Final Project | Topics in Computer Science II | Fall 2025, University of Iowa</a:t>
            </a:r>
            <a:endParaRPr lang="en-US" dirty="0"/>
          </a:p>
        </p:txBody>
      </p:sp>
    </p:spTree>
    <p:extLst>
      <p:ext uri="{BB962C8B-B14F-4D97-AF65-F5344CB8AC3E}">
        <p14:creationId xmlns:p14="http://schemas.microsoft.com/office/powerpoint/2010/main" val="407796310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4A086A-DD56-D1D9-4D39-DABBA03D6C47}"/>
            </a:ext>
          </a:extLst>
        </p:cNvPr>
        <p:cNvGrpSpPr/>
        <p:nvPr/>
      </p:nvGrpSpPr>
      <p:grpSpPr>
        <a:xfrm>
          <a:off x="0" y="0"/>
          <a:ext cx="0" cy="0"/>
          <a:chOff x="0" y="0"/>
          <a:chExt cx="0" cy="0"/>
        </a:xfrm>
      </p:grpSpPr>
      <p:sp>
        <p:nvSpPr>
          <p:cNvPr id="20" name="Oval 19">
            <a:extLst>
              <a:ext uri="{FF2B5EF4-FFF2-40B4-BE49-F238E27FC236}">
                <a16:creationId xmlns:a16="http://schemas.microsoft.com/office/drawing/2014/main" id="{03F55586-6DD2-8A13-2CBF-4FD7A0315CC1}"/>
              </a:ext>
            </a:extLst>
          </p:cNvPr>
          <p:cNvSpPr/>
          <p:nvPr/>
        </p:nvSpPr>
        <p:spPr>
          <a:xfrm>
            <a:off x="8785740" y="2019325"/>
            <a:ext cx="1722288" cy="1722288"/>
          </a:xfrm>
          <a:prstGeom prst="ellipse">
            <a:avLst/>
          </a:prstGeom>
          <a:solidFill>
            <a:schemeClr val="accent3">
              <a:lumMod val="40000"/>
              <a:lumOff val="60000"/>
            </a:schemeClr>
          </a:solidFill>
          <a:ln>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ED1107DF-91CB-AC5B-0EA3-734A3A1225B2}"/>
              </a:ext>
            </a:extLst>
          </p:cNvPr>
          <p:cNvSpPr/>
          <p:nvPr/>
        </p:nvSpPr>
        <p:spPr>
          <a:xfrm>
            <a:off x="5224272" y="2041736"/>
            <a:ext cx="1722288" cy="1722288"/>
          </a:xfrm>
          <a:prstGeom prst="ellipse">
            <a:avLst/>
          </a:prstGeom>
          <a:solidFill>
            <a:schemeClr val="accent2">
              <a:lumMod val="20000"/>
              <a:lumOff val="80000"/>
            </a:schemeClr>
          </a:solidFill>
          <a:ln>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E5786A4D-19B2-98EB-4065-27D159534BFC}"/>
              </a:ext>
            </a:extLst>
          </p:cNvPr>
          <p:cNvSpPr>
            <a:spLocks noGrp="1"/>
          </p:cNvSpPr>
          <p:nvPr>
            <p:ph type="title"/>
          </p:nvPr>
        </p:nvSpPr>
        <p:spPr>
          <a:xfrm>
            <a:off x="952499" y="526777"/>
            <a:ext cx="10287001" cy="869089"/>
          </a:xfrm>
        </p:spPr>
        <p:txBody>
          <a:bodyPr/>
          <a:lstStyle/>
          <a:p>
            <a:r>
              <a:rPr lang="en-US" dirty="0"/>
              <a:t>Future Work Roadmap</a:t>
            </a:r>
          </a:p>
        </p:txBody>
      </p:sp>
      <p:sp>
        <p:nvSpPr>
          <p:cNvPr id="2" name="Content Placeholder 1">
            <a:extLst>
              <a:ext uri="{FF2B5EF4-FFF2-40B4-BE49-F238E27FC236}">
                <a16:creationId xmlns:a16="http://schemas.microsoft.com/office/drawing/2014/main" id="{CB1D786F-3F85-6B59-54B6-746DFB643CF6}"/>
              </a:ext>
            </a:extLst>
          </p:cNvPr>
          <p:cNvSpPr>
            <a:spLocks noGrp="1"/>
          </p:cNvSpPr>
          <p:nvPr>
            <p:ph idx="1"/>
          </p:nvPr>
        </p:nvSpPr>
        <p:spPr>
          <a:xfrm>
            <a:off x="952500" y="4078664"/>
            <a:ext cx="3166740" cy="754602"/>
          </a:xfrm>
        </p:spPr>
        <p:txBody>
          <a:bodyPr>
            <a:normAutofit/>
          </a:bodyPr>
          <a:lstStyle/>
          <a:p>
            <a:r>
              <a:rPr lang="en-US" dirty="0">
                <a:solidFill>
                  <a:srgbClr val="00B050"/>
                </a:solidFill>
              </a:rPr>
              <a:t>Smart Home          Study</a:t>
            </a:r>
          </a:p>
        </p:txBody>
      </p:sp>
      <p:sp>
        <p:nvSpPr>
          <p:cNvPr id="3" name="Content Placeholder 2">
            <a:extLst>
              <a:ext uri="{FF2B5EF4-FFF2-40B4-BE49-F238E27FC236}">
                <a16:creationId xmlns:a16="http://schemas.microsoft.com/office/drawing/2014/main" id="{35FF1838-7570-1589-6799-C3EF320DDD88}"/>
              </a:ext>
            </a:extLst>
          </p:cNvPr>
          <p:cNvSpPr>
            <a:spLocks noGrp="1"/>
          </p:cNvSpPr>
          <p:nvPr>
            <p:ph idx="11"/>
          </p:nvPr>
        </p:nvSpPr>
        <p:spPr>
          <a:xfrm>
            <a:off x="4616385" y="4078664"/>
            <a:ext cx="2973372" cy="754602"/>
          </a:xfrm>
        </p:spPr>
        <p:txBody>
          <a:bodyPr/>
          <a:lstStyle/>
          <a:p>
            <a:r>
              <a:rPr lang="en-US" dirty="0">
                <a:solidFill>
                  <a:schemeClr val="accent2">
                    <a:lumMod val="60000"/>
                    <a:lumOff val="40000"/>
                  </a:schemeClr>
                </a:solidFill>
              </a:rPr>
              <a:t>Smart Home Planning</a:t>
            </a:r>
          </a:p>
        </p:txBody>
      </p:sp>
      <p:sp>
        <p:nvSpPr>
          <p:cNvPr id="4" name="Content Placeholder 3">
            <a:extLst>
              <a:ext uri="{FF2B5EF4-FFF2-40B4-BE49-F238E27FC236}">
                <a16:creationId xmlns:a16="http://schemas.microsoft.com/office/drawing/2014/main" id="{64910362-016E-E41F-A5B4-BAE8E92B6013}"/>
              </a:ext>
            </a:extLst>
          </p:cNvPr>
          <p:cNvSpPr>
            <a:spLocks noGrp="1"/>
          </p:cNvSpPr>
          <p:nvPr>
            <p:ph idx="13"/>
          </p:nvPr>
        </p:nvSpPr>
        <p:spPr>
          <a:xfrm>
            <a:off x="8063514" y="4078663"/>
            <a:ext cx="3166740" cy="754602"/>
          </a:xfrm>
        </p:spPr>
        <p:txBody>
          <a:bodyPr/>
          <a:lstStyle/>
          <a:p>
            <a:r>
              <a:rPr lang="en-US" dirty="0">
                <a:solidFill>
                  <a:schemeClr val="accent2">
                    <a:lumMod val="60000"/>
                    <a:lumOff val="40000"/>
                  </a:schemeClr>
                </a:solidFill>
              </a:rPr>
              <a:t>Smart Home Implementation</a:t>
            </a:r>
          </a:p>
        </p:txBody>
      </p:sp>
      <p:sp>
        <p:nvSpPr>
          <p:cNvPr id="10" name="Footer Placeholder 3">
            <a:extLst>
              <a:ext uri="{FF2B5EF4-FFF2-40B4-BE49-F238E27FC236}">
                <a16:creationId xmlns:a16="http://schemas.microsoft.com/office/drawing/2014/main" id="{2AF6BC24-C733-2F24-47F3-2ACA696A9DD6}"/>
              </a:ext>
            </a:extLst>
          </p:cNvPr>
          <p:cNvSpPr>
            <a:spLocks noGrp="1"/>
          </p:cNvSpPr>
          <p:nvPr>
            <p:ph type="ftr" sz="quarter" idx="3"/>
          </p:nvPr>
        </p:nvSpPr>
        <p:spPr>
          <a:xfrm>
            <a:off x="2519853" y="6441192"/>
            <a:ext cx="8684173" cy="365125"/>
          </a:xfrm>
        </p:spPr>
        <p:txBody>
          <a:bodyPr/>
          <a:lstStyle/>
          <a:p>
            <a:r>
              <a:rPr lang="en-US" dirty="0"/>
              <a:t>Final Project | Topics in Computer Science II | Fall 2025, University of Iowa</a:t>
            </a:r>
          </a:p>
        </p:txBody>
      </p:sp>
      <p:pic>
        <p:nvPicPr>
          <p:cNvPr id="7" name="Picture 6">
            <a:extLst>
              <a:ext uri="{FF2B5EF4-FFF2-40B4-BE49-F238E27FC236}">
                <a16:creationId xmlns:a16="http://schemas.microsoft.com/office/drawing/2014/main" id="{D7C254A4-5CA7-22D6-941E-064AA660C826}"/>
              </a:ext>
            </a:extLst>
          </p:cNvPr>
          <p:cNvPicPr>
            <a:picLocks noChangeAspect="1"/>
          </p:cNvPicPr>
          <p:nvPr/>
        </p:nvPicPr>
        <p:blipFill>
          <a:blip r:embed="rId3"/>
          <a:stretch>
            <a:fillRect/>
          </a:stretch>
        </p:blipFill>
        <p:spPr>
          <a:xfrm>
            <a:off x="5495053" y="2299135"/>
            <a:ext cx="1192647" cy="1192647"/>
          </a:xfrm>
          <a:prstGeom prst="rect">
            <a:avLst/>
          </a:prstGeom>
        </p:spPr>
      </p:pic>
      <p:pic>
        <p:nvPicPr>
          <p:cNvPr id="13" name="Picture 12">
            <a:extLst>
              <a:ext uri="{FF2B5EF4-FFF2-40B4-BE49-F238E27FC236}">
                <a16:creationId xmlns:a16="http://schemas.microsoft.com/office/drawing/2014/main" id="{5BFA8086-DD4C-60C3-4779-06D5840CB5D7}"/>
              </a:ext>
            </a:extLst>
          </p:cNvPr>
          <p:cNvPicPr>
            <a:picLocks noChangeAspect="1"/>
          </p:cNvPicPr>
          <p:nvPr/>
        </p:nvPicPr>
        <p:blipFill>
          <a:blip r:embed="rId4"/>
          <a:stretch>
            <a:fillRect/>
          </a:stretch>
        </p:blipFill>
        <p:spPr>
          <a:xfrm>
            <a:off x="9046431" y="2269157"/>
            <a:ext cx="1222625" cy="1222625"/>
          </a:xfrm>
          <a:prstGeom prst="rect">
            <a:avLst/>
          </a:prstGeom>
        </p:spPr>
      </p:pic>
      <p:sp>
        <p:nvSpPr>
          <p:cNvPr id="17" name="Oval 16">
            <a:extLst>
              <a:ext uri="{FF2B5EF4-FFF2-40B4-BE49-F238E27FC236}">
                <a16:creationId xmlns:a16="http://schemas.microsoft.com/office/drawing/2014/main" id="{3ED8BEA9-FCE2-7FB2-A367-D76CFD633AA3}"/>
              </a:ext>
            </a:extLst>
          </p:cNvPr>
          <p:cNvSpPr/>
          <p:nvPr/>
        </p:nvSpPr>
        <p:spPr>
          <a:xfrm>
            <a:off x="1658709" y="2041736"/>
            <a:ext cx="1722288" cy="1722288"/>
          </a:xfrm>
          <a:prstGeom prst="ellipse">
            <a:avLst/>
          </a:prstGeom>
          <a:solidFill>
            <a:schemeClr val="accent3">
              <a:lumMod val="40000"/>
              <a:lumOff val="60000"/>
            </a:schemeClr>
          </a:solidFill>
          <a:ln w="762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6" name="Picture 15">
            <a:extLst>
              <a:ext uri="{FF2B5EF4-FFF2-40B4-BE49-F238E27FC236}">
                <a16:creationId xmlns:a16="http://schemas.microsoft.com/office/drawing/2014/main" id="{CE06CBE7-A36B-E122-9685-4F147B322D73}"/>
              </a:ext>
            </a:extLst>
          </p:cNvPr>
          <p:cNvPicPr>
            <a:picLocks noChangeAspect="1"/>
          </p:cNvPicPr>
          <p:nvPr/>
        </p:nvPicPr>
        <p:blipFill>
          <a:blip r:embed="rId5"/>
          <a:stretch>
            <a:fillRect/>
          </a:stretch>
        </p:blipFill>
        <p:spPr>
          <a:xfrm>
            <a:off x="1952923" y="2364686"/>
            <a:ext cx="1183399" cy="1183399"/>
          </a:xfrm>
          <a:prstGeom prst="rect">
            <a:avLst/>
          </a:prstGeom>
        </p:spPr>
      </p:pic>
      <p:cxnSp>
        <p:nvCxnSpPr>
          <p:cNvPr id="24" name="Straight Arrow Connector 23">
            <a:extLst>
              <a:ext uri="{FF2B5EF4-FFF2-40B4-BE49-F238E27FC236}">
                <a16:creationId xmlns:a16="http://schemas.microsoft.com/office/drawing/2014/main" id="{D9B89AF5-089D-9514-AFE6-E4C8F428C7B1}"/>
              </a:ext>
            </a:extLst>
          </p:cNvPr>
          <p:cNvCxnSpPr/>
          <p:nvPr/>
        </p:nvCxnSpPr>
        <p:spPr>
          <a:xfrm flipV="1">
            <a:off x="2544622" y="4833265"/>
            <a:ext cx="0" cy="69924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CAE7C44B-3B10-AC2C-AF1D-0E1F1AA9EEB4}"/>
              </a:ext>
            </a:extLst>
          </p:cNvPr>
          <p:cNvSpPr txBox="1"/>
          <p:nvPr/>
        </p:nvSpPr>
        <p:spPr>
          <a:xfrm>
            <a:off x="1847957" y="5617520"/>
            <a:ext cx="1409360" cy="369332"/>
          </a:xfrm>
          <a:prstGeom prst="rect">
            <a:avLst/>
          </a:prstGeom>
          <a:noFill/>
        </p:spPr>
        <p:txBody>
          <a:bodyPr wrap="none" rtlCol="0">
            <a:spAutoFit/>
          </a:bodyPr>
          <a:lstStyle/>
          <a:p>
            <a:r>
              <a:rPr lang="en-US" dirty="0"/>
              <a:t>This Project</a:t>
            </a:r>
          </a:p>
        </p:txBody>
      </p:sp>
    </p:spTree>
    <p:extLst>
      <p:ext uri="{BB962C8B-B14F-4D97-AF65-F5344CB8AC3E}">
        <p14:creationId xmlns:p14="http://schemas.microsoft.com/office/powerpoint/2010/main" val="277226891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F9845-8DF1-C871-1BB9-6CF917BE5B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DDDB69-A2D9-33E9-B23B-BC598A240963}"/>
              </a:ext>
            </a:extLst>
          </p:cNvPr>
          <p:cNvSpPr>
            <a:spLocks noGrp="1"/>
          </p:cNvSpPr>
          <p:nvPr>
            <p:ph type="title"/>
          </p:nvPr>
        </p:nvSpPr>
        <p:spPr>
          <a:xfrm>
            <a:off x="949324" y="498296"/>
            <a:ext cx="6186581" cy="896116"/>
          </a:xfrm>
        </p:spPr>
        <p:txBody>
          <a:bodyPr>
            <a:normAutofit/>
          </a:bodyPr>
          <a:lstStyle/>
          <a:p>
            <a:r>
              <a:rPr lang="en-US" dirty="0"/>
              <a:t>Example Plan</a:t>
            </a:r>
          </a:p>
        </p:txBody>
      </p:sp>
      <p:sp>
        <p:nvSpPr>
          <p:cNvPr id="5" name="Content Placeholder 4">
            <a:extLst>
              <a:ext uri="{FF2B5EF4-FFF2-40B4-BE49-F238E27FC236}">
                <a16:creationId xmlns:a16="http://schemas.microsoft.com/office/drawing/2014/main" id="{03006737-B808-FEE5-6A40-9EE2A0839A42}"/>
              </a:ext>
            </a:extLst>
          </p:cNvPr>
          <p:cNvSpPr>
            <a:spLocks noGrp="1"/>
          </p:cNvSpPr>
          <p:nvPr>
            <p:ph idx="1"/>
          </p:nvPr>
        </p:nvSpPr>
        <p:spPr>
          <a:xfrm>
            <a:off x="952499" y="1686757"/>
            <a:ext cx="10701619" cy="4256843"/>
          </a:xfrm>
        </p:spPr>
        <p:txBody>
          <a:bodyPr>
            <a:normAutofit fontScale="92500"/>
          </a:bodyPr>
          <a:lstStyle/>
          <a:p>
            <a:pPr marL="0" indent="0">
              <a:buNone/>
            </a:pPr>
            <a:r>
              <a:rPr lang="en-US" dirty="0"/>
              <a:t>After conducting thorough research for this project, I will use </a:t>
            </a:r>
            <a:r>
              <a:rPr lang="en-US" b="1" dirty="0">
                <a:solidFill>
                  <a:srgbClr val="00B050"/>
                </a:solidFill>
              </a:rPr>
              <a:t>Zigbee</a:t>
            </a:r>
            <a:r>
              <a:rPr lang="en-US" dirty="0"/>
              <a:t> to implement my smart home due to its ubiquity and interoperability. </a:t>
            </a:r>
          </a:p>
          <a:p>
            <a:pPr marL="0" indent="0">
              <a:buNone/>
            </a:pPr>
            <a:endParaRPr lang="en-US" dirty="0"/>
          </a:p>
          <a:p>
            <a:pPr marL="0" indent="0">
              <a:buNone/>
            </a:pPr>
            <a:r>
              <a:rPr lang="en-US" dirty="0"/>
              <a:t>There are nearly </a:t>
            </a:r>
            <a:r>
              <a:rPr lang="en-US" b="1" dirty="0"/>
              <a:t>5000 supported devices from over 500 vendors</a:t>
            </a:r>
            <a:r>
              <a:rPr lang="en-US" dirty="0"/>
              <a:t>. The large number of devices means lots of opportunity to automate my apartment. An ESP32 can also be programmed to support Zigbee.</a:t>
            </a:r>
          </a:p>
          <a:p>
            <a:pPr marL="0" indent="0">
              <a:buNone/>
            </a:pPr>
            <a:endParaRPr lang="en-US" dirty="0"/>
          </a:p>
          <a:p>
            <a:pPr marL="0" indent="0">
              <a:buNone/>
            </a:pPr>
            <a:r>
              <a:rPr lang="en-US" dirty="0"/>
              <a:t>A Raspberry Pi will be used as the central host to coordinate across devices within the network.</a:t>
            </a:r>
          </a:p>
          <a:p>
            <a:pPr marL="0" indent="0">
              <a:buNone/>
            </a:pPr>
            <a:endParaRPr lang="en-US" dirty="0"/>
          </a:p>
        </p:txBody>
      </p:sp>
      <p:sp>
        <p:nvSpPr>
          <p:cNvPr id="6" name="Footer Placeholder 3">
            <a:extLst>
              <a:ext uri="{FF2B5EF4-FFF2-40B4-BE49-F238E27FC236}">
                <a16:creationId xmlns:a16="http://schemas.microsoft.com/office/drawing/2014/main" id="{C65B0966-A491-3A5D-0D61-72B483DBF485}"/>
              </a:ext>
            </a:extLst>
          </p:cNvPr>
          <p:cNvSpPr>
            <a:spLocks noGrp="1"/>
          </p:cNvSpPr>
          <p:nvPr>
            <p:ph type="ftr" sz="quarter" idx="3"/>
          </p:nvPr>
        </p:nvSpPr>
        <p:spPr>
          <a:xfrm>
            <a:off x="2519853" y="6441192"/>
            <a:ext cx="8684173" cy="365125"/>
          </a:xfrm>
        </p:spPr>
        <p:txBody>
          <a:bodyPr/>
          <a:lstStyle/>
          <a:p>
            <a:r>
              <a:rPr lang="en-US"/>
              <a:t>Final Project | Topics in Computer Science II | Fall 2025, University of Iowa</a:t>
            </a:r>
            <a:endParaRPr lang="en-US" dirty="0"/>
          </a:p>
        </p:txBody>
      </p:sp>
    </p:spTree>
    <p:extLst>
      <p:ext uri="{BB962C8B-B14F-4D97-AF65-F5344CB8AC3E}">
        <p14:creationId xmlns:p14="http://schemas.microsoft.com/office/powerpoint/2010/main" val="11013857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7B1B2-F23F-A721-CF1C-41DDE1036E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C59FA9-0662-4DF4-3B98-C0E33C535412}"/>
              </a:ext>
            </a:extLst>
          </p:cNvPr>
          <p:cNvSpPr>
            <a:spLocks noGrp="1"/>
          </p:cNvSpPr>
          <p:nvPr>
            <p:ph type="title"/>
          </p:nvPr>
        </p:nvSpPr>
        <p:spPr>
          <a:xfrm>
            <a:off x="949324" y="498296"/>
            <a:ext cx="6186581" cy="896116"/>
          </a:xfrm>
        </p:spPr>
        <p:txBody>
          <a:bodyPr>
            <a:normAutofit/>
          </a:bodyPr>
          <a:lstStyle/>
          <a:p>
            <a:r>
              <a:rPr lang="en-US" dirty="0"/>
              <a:t>Example Topology</a:t>
            </a:r>
          </a:p>
        </p:txBody>
      </p:sp>
      <p:sp>
        <p:nvSpPr>
          <p:cNvPr id="5" name="Content Placeholder 4">
            <a:extLst>
              <a:ext uri="{FF2B5EF4-FFF2-40B4-BE49-F238E27FC236}">
                <a16:creationId xmlns:a16="http://schemas.microsoft.com/office/drawing/2014/main" id="{D7827DC7-5734-426A-2891-1C0C83EBC682}"/>
              </a:ext>
            </a:extLst>
          </p:cNvPr>
          <p:cNvSpPr>
            <a:spLocks noGrp="1"/>
          </p:cNvSpPr>
          <p:nvPr>
            <p:ph idx="1"/>
          </p:nvPr>
        </p:nvSpPr>
        <p:spPr>
          <a:xfrm>
            <a:off x="952499" y="1686757"/>
            <a:ext cx="10701619" cy="4256843"/>
          </a:xfrm>
        </p:spPr>
        <p:txBody>
          <a:bodyPr>
            <a:normAutofit fontScale="85000" lnSpcReduction="20000"/>
          </a:bodyPr>
          <a:lstStyle/>
          <a:p>
            <a:pPr marL="0" indent="0">
              <a:buNone/>
            </a:pPr>
            <a:r>
              <a:rPr lang="en-US" sz="2000" b="1" dirty="0"/>
              <a:t>Coordinator: </a:t>
            </a:r>
          </a:p>
          <a:p>
            <a:r>
              <a:rPr lang="en-US" sz="2000" dirty="0"/>
              <a:t>Raspberry Pi</a:t>
            </a:r>
          </a:p>
          <a:p>
            <a:endParaRPr lang="en-US" sz="2000" dirty="0"/>
          </a:p>
          <a:p>
            <a:pPr marL="0" indent="0">
              <a:buNone/>
            </a:pPr>
            <a:r>
              <a:rPr lang="en-US" sz="2000" b="1" dirty="0"/>
              <a:t>End Devices: </a:t>
            </a:r>
          </a:p>
          <a:p>
            <a:r>
              <a:rPr lang="en-US" sz="2000" dirty="0"/>
              <a:t>Overhead Lightbulb</a:t>
            </a:r>
          </a:p>
          <a:p>
            <a:r>
              <a:rPr lang="en-US" sz="2000" dirty="0"/>
              <a:t>LED Strip</a:t>
            </a:r>
          </a:p>
          <a:p>
            <a:r>
              <a:rPr lang="en-US" sz="2000" dirty="0"/>
              <a:t>Thermostat</a:t>
            </a:r>
          </a:p>
          <a:p>
            <a:r>
              <a:rPr lang="en-US" sz="2000" dirty="0"/>
              <a:t>Alarm Clock</a:t>
            </a:r>
          </a:p>
          <a:p>
            <a:pPr marL="0" indent="0">
              <a:buNone/>
            </a:pPr>
            <a:endParaRPr lang="en-US" sz="2000" dirty="0"/>
          </a:p>
          <a:p>
            <a:pPr marL="0" indent="0">
              <a:buNone/>
            </a:pPr>
            <a:r>
              <a:rPr lang="en-US" sz="2000" b="1" dirty="0"/>
              <a:t>Non-Zigbee Device:</a:t>
            </a:r>
          </a:p>
          <a:p>
            <a:r>
              <a:rPr lang="en-US" sz="2000" dirty="0"/>
              <a:t>Speaker (this will require a BT signal)</a:t>
            </a:r>
          </a:p>
          <a:p>
            <a:endParaRPr lang="en-US" sz="2000" dirty="0"/>
          </a:p>
          <a:p>
            <a:pPr marL="0" indent="0">
              <a:buNone/>
            </a:pPr>
            <a:r>
              <a:rPr lang="en-US" sz="2000" dirty="0"/>
              <a:t>This creates a </a:t>
            </a:r>
            <a:r>
              <a:rPr lang="en-US" sz="2000" b="1" dirty="0"/>
              <a:t>Star Topology </a:t>
            </a:r>
            <a:r>
              <a:rPr lang="en-US" sz="2000" dirty="0"/>
              <a:t>which will work well within the small space of my room (&lt;100m)</a:t>
            </a:r>
            <a:endParaRPr lang="en-US" sz="2000" b="1" dirty="0"/>
          </a:p>
        </p:txBody>
      </p:sp>
      <p:sp>
        <p:nvSpPr>
          <p:cNvPr id="6" name="Footer Placeholder 3">
            <a:extLst>
              <a:ext uri="{FF2B5EF4-FFF2-40B4-BE49-F238E27FC236}">
                <a16:creationId xmlns:a16="http://schemas.microsoft.com/office/drawing/2014/main" id="{1CB8E3B8-6804-EA01-F3A2-93007C001BA8}"/>
              </a:ext>
            </a:extLst>
          </p:cNvPr>
          <p:cNvSpPr>
            <a:spLocks noGrp="1"/>
          </p:cNvSpPr>
          <p:nvPr>
            <p:ph type="ftr" sz="quarter" idx="3"/>
          </p:nvPr>
        </p:nvSpPr>
        <p:spPr>
          <a:xfrm>
            <a:off x="2519853" y="6441192"/>
            <a:ext cx="8684173" cy="365125"/>
          </a:xfrm>
        </p:spPr>
        <p:txBody>
          <a:bodyPr/>
          <a:lstStyle/>
          <a:p>
            <a:r>
              <a:rPr lang="en-US"/>
              <a:t>Final Project | Topics in Computer Science II | Fall 2025, University of Iowa</a:t>
            </a:r>
            <a:endParaRPr lang="en-US" dirty="0"/>
          </a:p>
        </p:txBody>
      </p:sp>
      <p:pic>
        <p:nvPicPr>
          <p:cNvPr id="4" name="Picture 3">
            <a:extLst>
              <a:ext uri="{FF2B5EF4-FFF2-40B4-BE49-F238E27FC236}">
                <a16:creationId xmlns:a16="http://schemas.microsoft.com/office/drawing/2014/main" id="{9EEEDC1B-0408-2AB3-B0D0-EB996F2F3565}"/>
              </a:ext>
            </a:extLst>
          </p:cNvPr>
          <p:cNvPicPr>
            <a:picLocks noChangeAspect="1"/>
          </p:cNvPicPr>
          <p:nvPr/>
        </p:nvPicPr>
        <p:blipFill>
          <a:blip r:embed="rId2"/>
          <a:stretch>
            <a:fillRect/>
          </a:stretch>
        </p:blipFill>
        <p:spPr>
          <a:xfrm>
            <a:off x="5781676" y="1291929"/>
            <a:ext cx="5714613" cy="4051596"/>
          </a:xfrm>
          <a:prstGeom prst="rect">
            <a:avLst/>
          </a:prstGeom>
        </p:spPr>
      </p:pic>
    </p:spTree>
    <p:extLst>
      <p:ext uri="{BB962C8B-B14F-4D97-AF65-F5344CB8AC3E}">
        <p14:creationId xmlns:p14="http://schemas.microsoft.com/office/powerpoint/2010/main" val="1925943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7EA02-11AB-A34B-AD88-A733349292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D8E856-ABF2-1F21-32A1-9B821577889C}"/>
              </a:ext>
            </a:extLst>
          </p:cNvPr>
          <p:cNvSpPr>
            <a:spLocks noGrp="1"/>
          </p:cNvSpPr>
          <p:nvPr>
            <p:ph type="title"/>
          </p:nvPr>
        </p:nvSpPr>
        <p:spPr>
          <a:xfrm>
            <a:off x="949324" y="498296"/>
            <a:ext cx="9096376" cy="896116"/>
          </a:xfrm>
        </p:spPr>
        <p:txBody>
          <a:bodyPr>
            <a:normAutofit fontScale="90000"/>
          </a:bodyPr>
          <a:lstStyle/>
          <a:p>
            <a:r>
              <a:rPr lang="en-US" dirty="0"/>
              <a:t>Example Implementation (Morning Routine)</a:t>
            </a:r>
          </a:p>
        </p:txBody>
      </p:sp>
      <p:sp>
        <p:nvSpPr>
          <p:cNvPr id="5" name="Content Placeholder 4">
            <a:extLst>
              <a:ext uri="{FF2B5EF4-FFF2-40B4-BE49-F238E27FC236}">
                <a16:creationId xmlns:a16="http://schemas.microsoft.com/office/drawing/2014/main" id="{17E4A2C2-D949-B33B-AE4D-7EFD51C07420}"/>
              </a:ext>
            </a:extLst>
          </p:cNvPr>
          <p:cNvSpPr>
            <a:spLocks noGrp="1"/>
          </p:cNvSpPr>
          <p:nvPr>
            <p:ph idx="1"/>
          </p:nvPr>
        </p:nvSpPr>
        <p:spPr>
          <a:xfrm>
            <a:off x="934914" y="1676401"/>
            <a:ext cx="10701619" cy="4267200"/>
          </a:xfrm>
        </p:spPr>
        <p:txBody>
          <a:bodyPr>
            <a:normAutofit fontScale="77500" lnSpcReduction="20000"/>
          </a:bodyPr>
          <a:lstStyle/>
          <a:p>
            <a:pPr marL="0" indent="0">
              <a:buNone/>
            </a:pPr>
            <a:r>
              <a:rPr lang="en-US" sz="2000" dirty="0"/>
              <a:t>The first automation I would create a </a:t>
            </a:r>
            <a:r>
              <a:rPr lang="en-US" sz="2000" b="1" dirty="0"/>
              <a:t>simple morning automation</a:t>
            </a:r>
            <a:r>
              <a:rPr lang="en-US" sz="2000" dirty="0"/>
              <a:t> to help to not snooze in the morning. </a:t>
            </a:r>
          </a:p>
          <a:p>
            <a:pPr marL="0" indent="0">
              <a:buNone/>
            </a:pPr>
            <a:r>
              <a:rPr lang="en-US" sz="2000" dirty="0"/>
              <a:t> (something I struggle with </a:t>
            </a:r>
            <a:r>
              <a:rPr lang="en-US" sz="2000" dirty="0">
                <a:sym typeface="Wingdings" pitchFamily="2" charset="2"/>
              </a:rPr>
              <a:t>). This uses automated lighting and temperature setting to help me start the day!</a:t>
            </a:r>
            <a:endParaRPr lang="en-US" sz="2000" b="1" dirty="0"/>
          </a:p>
          <a:p>
            <a:pPr marL="0" indent="0">
              <a:buNone/>
            </a:pPr>
            <a:endParaRPr lang="en-US" sz="2000" dirty="0"/>
          </a:p>
          <a:p>
            <a:pPr marL="0" indent="0">
              <a:buNone/>
            </a:pPr>
            <a:r>
              <a:rPr lang="en-US" sz="2400" b="1" dirty="0"/>
              <a:t>Functionality:</a:t>
            </a:r>
          </a:p>
          <a:p>
            <a:pPr marL="0" indent="0">
              <a:buNone/>
            </a:pPr>
            <a:r>
              <a:rPr lang="en-US" sz="2400" dirty="0"/>
              <a:t>1. 30 minutes before wakeup:</a:t>
            </a:r>
          </a:p>
          <a:p>
            <a:pPr lvl="1">
              <a:buFontTx/>
              <a:buChar char="-"/>
            </a:pPr>
            <a:r>
              <a:rPr lang="en-US" sz="1900" dirty="0"/>
              <a:t>raise the temperature to 72 deg (from 63)</a:t>
            </a:r>
          </a:p>
          <a:p>
            <a:pPr marL="0" indent="0">
              <a:buNone/>
            </a:pPr>
            <a:r>
              <a:rPr lang="en-US" sz="2400" dirty="0"/>
              <a:t>2. When wakeup occurs:</a:t>
            </a:r>
          </a:p>
          <a:p>
            <a:pPr lvl="1">
              <a:buFontTx/>
              <a:buChar char="-"/>
            </a:pPr>
            <a:r>
              <a:rPr lang="en-US" sz="2100" dirty="0"/>
              <a:t>Raise alarm</a:t>
            </a:r>
          </a:p>
          <a:p>
            <a:pPr lvl="1">
              <a:buFontTx/>
              <a:buChar char="-"/>
            </a:pPr>
            <a:r>
              <a:rPr lang="en-US" sz="2100" dirty="0"/>
              <a:t>Turn on LED strip to red</a:t>
            </a:r>
          </a:p>
          <a:p>
            <a:pPr lvl="1">
              <a:buFontTx/>
              <a:buChar char="-"/>
            </a:pPr>
            <a:r>
              <a:rPr lang="en-US" sz="2100" dirty="0"/>
              <a:t>Play ”Good Morning” by Kanye West</a:t>
            </a:r>
          </a:p>
          <a:p>
            <a:pPr marL="0" indent="0">
              <a:buNone/>
            </a:pPr>
            <a:r>
              <a:rPr lang="en-US" sz="2400" dirty="0"/>
              <a:t>3. After song end:</a:t>
            </a:r>
          </a:p>
          <a:p>
            <a:pPr lvl="1">
              <a:buFontTx/>
              <a:buChar char="-"/>
            </a:pPr>
            <a:r>
              <a:rPr lang="en-US" sz="2100" dirty="0"/>
              <a:t>Turn off LED strip</a:t>
            </a:r>
          </a:p>
          <a:p>
            <a:pPr lvl="1">
              <a:buFontTx/>
              <a:buChar char="-"/>
            </a:pPr>
            <a:r>
              <a:rPr lang="en-US" sz="2100" dirty="0"/>
              <a:t>Turn on Lightbulbs</a:t>
            </a:r>
          </a:p>
          <a:p>
            <a:pPr lvl="1">
              <a:buFontTx/>
              <a:buChar char="-"/>
            </a:pPr>
            <a:r>
              <a:rPr lang="en-US" sz="2100" dirty="0"/>
              <a:t>Set temperature to 68 deg</a:t>
            </a:r>
            <a:endParaRPr lang="en-US" sz="2000" dirty="0"/>
          </a:p>
          <a:p>
            <a:pPr lvl="1">
              <a:buFontTx/>
              <a:buChar char="-"/>
            </a:pPr>
            <a:endParaRPr lang="en-US" sz="1600" dirty="0"/>
          </a:p>
        </p:txBody>
      </p:sp>
      <p:sp>
        <p:nvSpPr>
          <p:cNvPr id="6" name="Footer Placeholder 3">
            <a:extLst>
              <a:ext uri="{FF2B5EF4-FFF2-40B4-BE49-F238E27FC236}">
                <a16:creationId xmlns:a16="http://schemas.microsoft.com/office/drawing/2014/main" id="{10A6232C-4DA4-B39A-6558-AE00F11521C1}"/>
              </a:ext>
            </a:extLst>
          </p:cNvPr>
          <p:cNvSpPr>
            <a:spLocks noGrp="1"/>
          </p:cNvSpPr>
          <p:nvPr>
            <p:ph type="ftr" sz="quarter" idx="3"/>
          </p:nvPr>
        </p:nvSpPr>
        <p:spPr>
          <a:xfrm>
            <a:off x="2519853" y="6441192"/>
            <a:ext cx="8684173" cy="365125"/>
          </a:xfrm>
        </p:spPr>
        <p:txBody>
          <a:bodyPr/>
          <a:lstStyle/>
          <a:p>
            <a:r>
              <a:rPr lang="en-US"/>
              <a:t>Final Project | Topics in Computer Science II | Fall 2025, University of Iowa</a:t>
            </a:r>
            <a:endParaRPr lang="en-US" dirty="0"/>
          </a:p>
        </p:txBody>
      </p:sp>
      <p:sp>
        <p:nvSpPr>
          <p:cNvPr id="12" name="TextBox 11">
            <a:extLst>
              <a:ext uri="{FF2B5EF4-FFF2-40B4-BE49-F238E27FC236}">
                <a16:creationId xmlns:a16="http://schemas.microsoft.com/office/drawing/2014/main" id="{F21C54AB-15E5-AE7F-BA22-C5E63470898F}"/>
              </a:ext>
            </a:extLst>
          </p:cNvPr>
          <p:cNvSpPr txBox="1"/>
          <p:nvPr/>
        </p:nvSpPr>
        <p:spPr>
          <a:xfrm>
            <a:off x="7750333" y="2692513"/>
            <a:ext cx="4013773" cy="2554545"/>
          </a:xfrm>
          <a:prstGeom prst="rect">
            <a:avLst/>
          </a:prstGeom>
          <a:noFill/>
        </p:spPr>
        <p:txBody>
          <a:bodyPr wrap="square">
            <a:spAutoFit/>
          </a:bodyPr>
          <a:lstStyle/>
          <a:p>
            <a:pPr marL="0" indent="0">
              <a:buNone/>
            </a:pPr>
            <a:r>
              <a:rPr lang="en-US" sz="2400" b="1" dirty="0"/>
              <a:t>Components:</a:t>
            </a:r>
          </a:p>
          <a:p>
            <a:pPr marL="342900" indent="-342900">
              <a:buFont typeface="Arial" panose="020B0604020202020204" pitchFamily="34" charset="0"/>
              <a:buChar char="•"/>
            </a:pPr>
            <a:r>
              <a:rPr lang="en-US" sz="2400" dirty="0"/>
              <a:t>Zigbee Lightbulb</a:t>
            </a:r>
          </a:p>
          <a:p>
            <a:pPr marL="342900" indent="-342900">
              <a:buFont typeface="Arial" panose="020B0604020202020204" pitchFamily="34" charset="0"/>
              <a:buChar char="•"/>
            </a:pPr>
            <a:r>
              <a:rPr lang="en-US" sz="2400" dirty="0"/>
              <a:t>Zigbee LED Strip </a:t>
            </a:r>
          </a:p>
          <a:p>
            <a:pPr marL="342900" indent="-342900">
              <a:buFont typeface="Arial" panose="020B0604020202020204" pitchFamily="34" charset="0"/>
              <a:buChar char="•"/>
            </a:pPr>
            <a:r>
              <a:rPr lang="en-US" sz="2400" dirty="0"/>
              <a:t>Zigbee Alarm Clock</a:t>
            </a:r>
          </a:p>
          <a:p>
            <a:pPr marL="342900" indent="-342900">
              <a:buFont typeface="Arial" panose="020B0604020202020204" pitchFamily="34" charset="0"/>
              <a:buChar char="•"/>
            </a:pPr>
            <a:r>
              <a:rPr lang="en-US" sz="2400" dirty="0"/>
              <a:t>Bluetooth Speaker</a:t>
            </a:r>
          </a:p>
          <a:p>
            <a:pPr marL="342900" indent="-342900">
              <a:buFont typeface="Arial" panose="020B0604020202020204" pitchFamily="34" charset="0"/>
              <a:buChar char="•"/>
            </a:pPr>
            <a:endParaRPr lang="en-US" sz="2400" dirty="0"/>
          </a:p>
          <a:p>
            <a:r>
              <a:rPr lang="en-US" sz="1600" dirty="0">
                <a:hlinkClick r:id="rId2"/>
              </a:rPr>
              <a:t>Zigbee Device List</a:t>
            </a:r>
            <a:endParaRPr lang="en-US" sz="1600" dirty="0"/>
          </a:p>
        </p:txBody>
      </p:sp>
    </p:spTree>
    <p:extLst>
      <p:ext uri="{BB962C8B-B14F-4D97-AF65-F5344CB8AC3E}">
        <p14:creationId xmlns:p14="http://schemas.microsoft.com/office/powerpoint/2010/main" val="89141765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37430-B577-8961-67C3-7182A1AD4E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603AF8-CBC0-E237-3858-8992B1B6DC52}"/>
              </a:ext>
            </a:extLst>
          </p:cNvPr>
          <p:cNvSpPr>
            <a:spLocks noGrp="1"/>
          </p:cNvSpPr>
          <p:nvPr>
            <p:ph type="title"/>
          </p:nvPr>
        </p:nvSpPr>
        <p:spPr>
          <a:xfrm>
            <a:off x="952500" y="389509"/>
            <a:ext cx="10287000" cy="1331865"/>
          </a:xfrm>
        </p:spPr>
        <p:txBody>
          <a:bodyPr anchor="ctr">
            <a:normAutofit/>
          </a:bodyPr>
          <a:lstStyle/>
          <a:p>
            <a:r>
              <a:rPr lang="en-US" dirty="0"/>
              <a:t>Morning Automation</a:t>
            </a:r>
          </a:p>
        </p:txBody>
      </p:sp>
      <p:sp>
        <p:nvSpPr>
          <p:cNvPr id="6" name="Footer Placeholder 3">
            <a:extLst>
              <a:ext uri="{FF2B5EF4-FFF2-40B4-BE49-F238E27FC236}">
                <a16:creationId xmlns:a16="http://schemas.microsoft.com/office/drawing/2014/main" id="{57D554BD-14C3-DC87-C514-A7D709024CD7}"/>
              </a:ext>
            </a:extLst>
          </p:cNvPr>
          <p:cNvSpPr>
            <a:spLocks noGrp="1"/>
          </p:cNvSpPr>
          <p:nvPr>
            <p:ph type="ftr" sz="quarter" idx="3"/>
          </p:nvPr>
        </p:nvSpPr>
        <p:spPr>
          <a:xfrm>
            <a:off x="2519853" y="6441192"/>
            <a:ext cx="8684173" cy="365125"/>
          </a:xfrm>
        </p:spPr>
        <p:txBody>
          <a:bodyPr anchor="ctr">
            <a:normAutofit/>
          </a:bodyPr>
          <a:lstStyle/>
          <a:p>
            <a:pPr>
              <a:spcAft>
                <a:spcPts val="600"/>
              </a:spcAft>
            </a:pPr>
            <a:r>
              <a:rPr lang="en-US"/>
              <a:t>Final Project | Topics in Computer Science II | Fall 2025, University of Iowa</a:t>
            </a:r>
          </a:p>
        </p:txBody>
      </p:sp>
      <p:pic>
        <p:nvPicPr>
          <p:cNvPr id="15" name="Picture 14">
            <a:extLst>
              <a:ext uri="{FF2B5EF4-FFF2-40B4-BE49-F238E27FC236}">
                <a16:creationId xmlns:a16="http://schemas.microsoft.com/office/drawing/2014/main" id="{6275A584-3500-BEF0-5908-E7F55881A319}"/>
              </a:ext>
            </a:extLst>
          </p:cNvPr>
          <p:cNvPicPr>
            <a:picLocks noChangeAspect="1"/>
          </p:cNvPicPr>
          <p:nvPr/>
        </p:nvPicPr>
        <p:blipFill>
          <a:blip r:embed="rId2"/>
          <a:stretch>
            <a:fillRect/>
          </a:stretch>
        </p:blipFill>
        <p:spPr>
          <a:xfrm>
            <a:off x="2254250" y="1554413"/>
            <a:ext cx="7683500" cy="4389187"/>
          </a:xfrm>
          <a:prstGeom prst="rect">
            <a:avLst/>
          </a:prstGeom>
        </p:spPr>
      </p:pic>
    </p:spTree>
    <p:extLst>
      <p:ext uri="{BB962C8B-B14F-4D97-AF65-F5344CB8AC3E}">
        <p14:creationId xmlns:p14="http://schemas.microsoft.com/office/powerpoint/2010/main" val="45660756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35C21-B644-FE0E-1AE7-2FE8D8F07F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CB12B3-646B-F1DF-11B7-FDBB0BBB7C4F}"/>
              </a:ext>
            </a:extLst>
          </p:cNvPr>
          <p:cNvSpPr>
            <a:spLocks noGrp="1"/>
          </p:cNvSpPr>
          <p:nvPr>
            <p:ph type="title"/>
          </p:nvPr>
        </p:nvSpPr>
        <p:spPr>
          <a:xfrm>
            <a:off x="949324" y="498296"/>
            <a:ext cx="9617076" cy="896116"/>
          </a:xfrm>
        </p:spPr>
        <p:txBody>
          <a:bodyPr>
            <a:normAutofit fontScale="90000"/>
          </a:bodyPr>
          <a:lstStyle/>
          <a:p>
            <a:r>
              <a:rPr lang="en-US" dirty="0"/>
              <a:t>Example Implementation (Nighttime Routine)</a:t>
            </a:r>
          </a:p>
        </p:txBody>
      </p:sp>
      <p:sp>
        <p:nvSpPr>
          <p:cNvPr id="5" name="Content Placeholder 4">
            <a:extLst>
              <a:ext uri="{FF2B5EF4-FFF2-40B4-BE49-F238E27FC236}">
                <a16:creationId xmlns:a16="http://schemas.microsoft.com/office/drawing/2014/main" id="{CA3BB3E7-A5D0-2A24-2F47-D5A8AE455271}"/>
              </a:ext>
            </a:extLst>
          </p:cNvPr>
          <p:cNvSpPr>
            <a:spLocks noGrp="1"/>
          </p:cNvSpPr>
          <p:nvPr>
            <p:ph idx="1"/>
          </p:nvPr>
        </p:nvSpPr>
        <p:spPr>
          <a:xfrm>
            <a:off x="934914" y="1676401"/>
            <a:ext cx="10701619" cy="4267200"/>
          </a:xfrm>
        </p:spPr>
        <p:txBody>
          <a:bodyPr>
            <a:normAutofit fontScale="92500" lnSpcReduction="10000"/>
          </a:bodyPr>
          <a:lstStyle/>
          <a:p>
            <a:pPr marL="0" indent="0">
              <a:buNone/>
            </a:pPr>
            <a:r>
              <a:rPr lang="en-US" sz="2000" dirty="0"/>
              <a:t>The second automation I would create a </a:t>
            </a:r>
            <a:r>
              <a:rPr lang="en-US" sz="2000" b="1" dirty="0"/>
              <a:t>simple nighttime automation</a:t>
            </a:r>
            <a:r>
              <a:rPr lang="en-US" sz="2000" dirty="0"/>
              <a:t> to help me fall asleep quicker. </a:t>
            </a:r>
          </a:p>
          <a:p>
            <a:pPr marL="0" indent="0">
              <a:buNone/>
            </a:pPr>
            <a:r>
              <a:rPr lang="en-US" sz="2000" dirty="0"/>
              <a:t> This is very similar to the morning routine, </a:t>
            </a:r>
            <a:r>
              <a:rPr lang="en-US" sz="2000" dirty="0">
                <a:sym typeface="Wingdings" pitchFamily="2" charset="2"/>
              </a:rPr>
              <a:t>using automated lighting and temperature setting to help me start the day!</a:t>
            </a:r>
            <a:endParaRPr lang="en-US" sz="2000" b="1" dirty="0"/>
          </a:p>
          <a:p>
            <a:pPr marL="0" indent="0">
              <a:buNone/>
            </a:pPr>
            <a:endParaRPr lang="en-US" sz="2000" dirty="0"/>
          </a:p>
          <a:p>
            <a:pPr marL="0" indent="0">
              <a:buNone/>
            </a:pPr>
            <a:r>
              <a:rPr lang="en-US" sz="2400" b="1" dirty="0"/>
              <a:t>Functionality:</a:t>
            </a:r>
          </a:p>
          <a:p>
            <a:pPr marL="0" indent="0">
              <a:buNone/>
            </a:pPr>
            <a:r>
              <a:rPr lang="en-US" sz="2400" dirty="0"/>
              <a:t>1. 30 minutes before sleep:</a:t>
            </a:r>
          </a:p>
          <a:p>
            <a:pPr lvl="1">
              <a:buFontTx/>
              <a:buChar char="-"/>
            </a:pPr>
            <a:r>
              <a:rPr lang="en-US" sz="1900" dirty="0"/>
              <a:t>drop the temperature to 63 deg (from 68)</a:t>
            </a:r>
          </a:p>
          <a:p>
            <a:pPr lvl="1">
              <a:buFontTx/>
              <a:buChar char="-"/>
            </a:pPr>
            <a:r>
              <a:rPr lang="en-US" sz="1900" dirty="0"/>
              <a:t>Turn on LED strip to red</a:t>
            </a:r>
          </a:p>
          <a:p>
            <a:pPr marL="0" indent="0">
              <a:buNone/>
            </a:pPr>
            <a:r>
              <a:rPr lang="en-US" sz="2400" dirty="0"/>
              <a:t>2. When bedtime occurs:</a:t>
            </a:r>
          </a:p>
          <a:p>
            <a:pPr lvl="1">
              <a:buFontTx/>
              <a:buChar char="-"/>
            </a:pPr>
            <a:r>
              <a:rPr lang="en-US" sz="2100" dirty="0"/>
              <a:t>Turn on ”White Noise”</a:t>
            </a:r>
          </a:p>
          <a:p>
            <a:pPr lvl="1">
              <a:buFontTx/>
              <a:buChar char="-"/>
            </a:pPr>
            <a:r>
              <a:rPr lang="en-US" sz="2100" dirty="0"/>
              <a:t>Turn off LED strip </a:t>
            </a:r>
          </a:p>
        </p:txBody>
      </p:sp>
      <p:sp>
        <p:nvSpPr>
          <p:cNvPr id="6" name="Footer Placeholder 3">
            <a:extLst>
              <a:ext uri="{FF2B5EF4-FFF2-40B4-BE49-F238E27FC236}">
                <a16:creationId xmlns:a16="http://schemas.microsoft.com/office/drawing/2014/main" id="{D79AF184-71BA-15CD-EA07-D59E98C27829}"/>
              </a:ext>
            </a:extLst>
          </p:cNvPr>
          <p:cNvSpPr>
            <a:spLocks noGrp="1"/>
          </p:cNvSpPr>
          <p:nvPr>
            <p:ph type="ftr" sz="quarter" idx="3"/>
          </p:nvPr>
        </p:nvSpPr>
        <p:spPr>
          <a:xfrm>
            <a:off x="2519853" y="6441192"/>
            <a:ext cx="8684173" cy="365125"/>
          </a:xfrm>
        </p:spPr>
        <p:txBody>
          <a:bodyPr/>
          <a:lstStyle/>
          <a:p>
            <a:r>
              <a:rPr lang="en-US"/>
              <a:t>Final Project | Topics in Computer Science II | Fall 2025, University of Iowa</a:t>
            </a:r>
            <a:endParaRPr lang="en-US" dirty="0"/>
          </a:p>
        </p:txBody>
      </p:sp>
      <p:sp>
        <p:nvSpPr>
          <p:cNvPr id="12" name="TextBox 11">
            <a:extLst>
              <a:ext uri="{FF2B5EF4-FFF2-40B4-BE49-F238E27FC236}">
                <a16:creationId xmlns:a16="http://schemas.microsoft.com/office/drawing/2014/main" id="{6A56FF0B-72DD-93BE-0B27-215CF143F69D}"/>
              </a:ext>
            </a:extLst>
          </p:cNvPr>
          <p:cNvSpPr txBox="1"/>
          <p:nvPr/>
        </p:nvSpPr>
        <p:spPr>
          <a:xfrm>
            <a:off x="7763033" y="3283909"/>
            <a:ext cx="4013773" cy="2554545"/>
          </a:xfrm>
          <a:prstGeom prst="rect">
            <a:avLst/>
          </a:prstGeom>
          <a:noFill/>
        </p:spPr>
        <p:txBody>
          <a:bodyPr wrap="square">
            <a:spAutoFit/>
          </a:bodyPr>
          <a:lstStyle/>
          <a:p>
            <a:r>
              <a:rPr lang="en-US" sz="2400" b="1" dirty="0"/>
              <a:t>Components:</a:t>
            </a:r>
          </a:p>
          <a:p>
            <a:pPr marL="342900" indent="-342900">
              <a:buFont typeface="Arial" panose="020B0604020202020204" pitchFamily="34" charset="0"/>
              <a:buChar char="•"/>
            </a:pPr>
            <a:r>
              <a:rPr lang="en-US" sz="2400" dirty="0"/>
              <a:t>Zigbee Lightbulb</a:t>
            </a:r>
          </a:p>
          <a:p>
            <a:pPr marL="342900" indent="-342900">
              <a:buFont typeface="Arial" panose="020B0604020202020204" pitchFamily="34" charset="0"/>
              <a:buChar char="•"/>
            </a:pPr>
            <a:r>
              <a:rPr lang="en-US" sz="2400" dirty="0"/>
              <a:t>Zigbee LED Strip </a:t>
            </a:r>
          </a:p>
          <a:p>
            <a:pPr marL="342900" indent="-342900">
              <a:buFont typeface="Arial" panose="020B0604020202020204" pitchFamily="34" charset="0"/>
              <a:buChar char="•"/>
            </a:pPr>
            <a:r>
              <a:rPr lang="en-US" sz="2400" dirty="0"/>
              <a:t>Zigbee Alarm Clock</a:t>
            </a:r>
          </a:p>
          <a:p>
            <a:pPr marL="342900" indent="-342900">
              <a:buFont typeface="Arial" panose="020B0604020202020204" pitchFamily="34" charset="0"/>
              <a:buChar char="•"/>
            </a:pPr>
            <a:r>
              <a:rPr lang="en-US" sz="2400" dirty="0"/>
              <a:t>Bluetooth Speaker</a:t>
            </a:r>
          </a:p>
          <a:p>
            <a:pPr marL="342900" indent="-342900">
              <a:buFont typeface="Arial" panose="020B0604020202020204" pitchFamily="34" charset="0"/>
              <a:buChar char="•"/>
            </a:pPr>
            <a:endParaRPr lang="en-US" sz="2400" dirty="0"/>
          </a:p>
          <a:p>
            <a:r>
              <a:rPr lang="en-US" sz="1600" dirty="0">
                <a:hlinkClick r:id="rId2"/>
              </a:rPr>
              <a:t>Zigbee Device List</a:t>
            </a:r>
            <a:endParaRPr lang="en-US" sz="1600" dirty="0"/>
          </a:p>
        </p:txBody>
      </p:sp>
    </p:spTree>
    <p:extLst>
      <p:ext uri="{BB962C8B-B14F-4D97-AF65-F5344CB8AC3E}">
        <p14:creationId xmlns:p14="http://schemas.microsoft.com/office/powerpoint/2010/main" val="420113705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434F7-C1D0-6659-02AD-462AB24980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4DB114-FE4B-5EFD-E647-A732AC9963DF}"/>
              </a:ext>
            </a:extLst>
          </p:cNvPr>
          <p:cNvSpPr>
            <a:spLocks noGrp="1"/>
          </p:cNvSpPr>
          <p:nvPr>
            <p:ph type="title"/>
          </p:nvPr>
        </p:nvSpPr>
        <p:spPr>
          <a:xfrm>
            <a:off x="952500" y="389509"/>
            <a:ext cx="10287000" cy="1331865"/>
          </a:xfrm>
        </p:spPr>
        <p:txBody>
          <a:bodyPr anchor="ctr">
            <a:normAutofit/>
          </a:bodyPr>
          <a:lstStyle/>
          <a:p>
            <a:r>
              <a:rPr lang="en-US" dirty="0"/>
              <a:t>Nighttime Automation</a:t>
            </a:r>
          </a:p>
        </p:txBody>
      </p:sp>
      <p:sp>
        <p:nvSpPr>
          <p:cNvPr id="6" name="Footer Placeholder 3">
            <a:extLst>
              <a:ext uri="{FF2B5EF4-FFF2-40B4-BE49-F238E27FC236}">
                <a16:creationId xmlns:a16="http://schemas.microsoft.com/office/drawing/2014/main" id="{37F8AC55-42B4-E9B1-6E34-A25018A04D26}"/>
              </a:ext>
            </a:extLst>
          </p:cNvPr>
          <p:cNvSpPr>
            <a:spLocks noGrp="1"/>
          </p:cNvSpPr>
          <p:nvPr>
            <p:ph type="ftr" sz="quarter" idx="3"/>
          </p:nvPr>
        </p:nvSpPr>
        <p:spPr>
          <a:xfrm>
            <a:off x="2519853" y="6441192"/>
            <a:ext cx="8684173" cy="365125"/>
          </a:xfrm>
        </p:spPr>
        <p:txBody>
          <a:bodyPr anchor="ctr">
            <a:normAutofit/>
          </a:bodyPr>
          <a:lstStyle/>
          <a:p>
            <a:pPr>
              <a:spcAft>
                <a:spcPts val="600"/>
              </a:spcAft>
            </a:pPr>
            <a:r>
              <a:rPr lang="en-US"/>
              <a:t>Final Project | Topics in Computer Science II | Fall 2025, University of Iowa</a:t>
            </a:r>
          </a:p>
        </p:txBody>
      </p:sp>
      <p:pic>
        <p:nvPicPr>
          <p:cNvPr id="3" name="Picture 2">
            <a:extLst>
              <a:ext uri="{FF2B5EF4-FFF2-40B4-BE49-F238E27FC236}">
                <a16:creationId xmlns:a16="http://schemas.microsoft.com/office/drawing/2014/main" id="{4DA47F97-4B58-1A6E-5CCE-3900778B9D15}"/>
              </a:ext>
            </a:extLst>
          </p:cNvPr>
          <p:cNvPicPr>
            <a:picLocks noChangeAspect="1"/>
          </p:cNvPicPr>
          <p:nvPr/>
        </p:nvPicPr>
        <p:blipFill>
          <a:blip r:embed="rId2"/>
          <a:stretch>
            <a:fillRect/>
          </a:stretch>
        </p:blipFill>
        <p:spPr>
          <a:xfrm>
            <a:off x="1740122" y="2064386"/>
            <a:ext cx="8711755" cy="3491228"/>
          </a:xfrm>
          <a:prstGeom prst="rect">
            <a:avLst/>
          </a:prstGeom>
        </p:spPr>
      </p:pic>
    </p:spTree>
    <p:extLst>
      <p:ext uri="{BB962C8B-B14F-4D97-AF65-F5344CB8AC3E}">
        <p14:creationId xmlns:p14="http://schemas.microsoft.com/office/powerpoint/2010/main" val="305625933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3A751-5BFA-035D-F20B-45C8FDA48D5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55B3319-943E-1F94-BCE2-D206F09597B0}"/>
              </a:ext>
            </a:extLst>
          </p:cNvPr>
          <p:cNvSpPr>
            <a:spLocks noGrp="1"/>
          </p:cNvSpPr>
          <p:nvPr>
            <p:ph type="ctrTitle"/>
          </p:nvPr>
        </p:nvSpPr>
        <p:spPr>
          <a:xfrm>
            <a:off x="952500" y="2805221"/>
            <a:ext cx="10286999" cy="759906"/>
          </a:xfrm>
        </p:spPr>
        <p:txBody>
          <a:bodyPr>
            <a:normAutofit fontScale="90000"/>
          </a:bodyPr>
          <a:lstStyle/>
          <a:p>
            <a:r>
              <a:rPr lang="en-US" dirty="0"/>
              <a:t>Conclusion</a:t>
            </a:r>
          </a:p>
        </p:txBody>
      </p:sp>
      <p:sp>
        <p:nvSpPr>
          <p:cNvPr id="5" name="Subtitle 4">
            <a:extLst>
              <a:ext uri="{FF2B5EF4-FFF2-40B4-BE49-F238E27FC236}">
                <a16:creationId xmlns:a16="http://schemas.microsoft.com/office/drawing/2014/main" id="{2E6C5B93-371E-4B81-7D8B-1F0B355EAE92}"/>
              </a:ext>
            </a:extLst>
          </p:cNvPr>
          <p:cNvSpPr>
            <a:spLocks noGrp="1"/>
          </p:cNvSpPr>
          <p:nvPr>
            <p:ph type="subTitle" idx="1"/>
          </p:nvPr>
        </p:nvSpPr>
        <p:spPr>
          <a:xfrm>
            <a:off x="952500" y="3791876"/>
            <a:ext cx="10286999" cy="407460"/>
          </a:xfrm>
        </p:spPr>
        <p:txBody>
          <a:bodyPr/>
          <a:lstStyle/>
          <a:p>
            <a:r>
              <a:rPr lang="en-US" dirty="0"/>
              <a:t>Project Retrospective and Thanks</a:t>
            </a:r>
          </a:p>
        </p:txBody>
      </p:sp>
    </p:spTree>
    <p:extLst>
      <p:ext uri="{BB962C8B-B14F-4D97-AF65-F5344CB8AC3E}">
        <p14:creationId xmlns:p14="http://schemas.microsoft.com/office/powerpoint/2010/main" val="268800949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863E1-D47B-63E8-3D8A-472EDAB037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2843B1-9538-2F10-121E-E27244D117A3}"/>
              </a:ext>
            </a:extLst>
          </p:cNvPr>
          <p:cNvSpPr>
            <a:spLocks noGrp="1"/>
          </p:cNvSpPr>
          <p:nvPr>
            <p:ph type="title"/>
          </p:nvPr>
        </p:nvSpPr>
        <p:spPr>
          <a:xfrm>
            <a:off x="949324" y="498296"/>
            <a:ext cx="7356476" cy="896116"/>
          </a:xfrm>
        </p:spPr>
        <p:txBody>
          <a:bodyPr>
            <a:normAutofit/>
          </a:bodyPr>
          <a:lstStyle/>
          <a:p>
            <a:r>
              <a:rPr lang="en-US" dirty="0"/>
              <a:t>Project Retrospective</a:t>
            </a:r>
          </a:p>
        </p:txBody>
      </p:sp>
      <p:sp>
        <p:nvSpPr>
          <p:cNvPr id="5" name="Content Placeholder 4">
            <a:extLst>
              <a:ext uri="{FF2B5EF4-FFF2-40B4-BE49-F238E27FC236}">
                <a16:creationId xmlns:a16="http://schemas.microsoft.com/office/drawing/2014/main" id="{BAA30FA0-988C-1DEB-E341-4AD7611D261D}"/>
              </a:ext>
            </a:extLst>
          </p:cNvPr>
          <p:cNvSpPr>
            <a:spLocks noGrp="1"/>
          </p:cNvSpPr>
          <p:nvPr>
            <p:ph idx="1"/>
          </p:nvPr>
        </p:nvSpPr>
        <p:spPr>
          <a:xfrm>
            <a:off x="934914" y="1676401"/>
            <a:ext cx="10701619" cy="4267200"/>
          </a:xfrm>
        </p:spPr>
        <p:txBody>
          <a:bodyPr>
            <a:normAutofit lnSpcReduction="10000"/>
          </a:bodyPr>
          <a:lstStyle/>
          <a:p>
            <a:pPr marL="0" indent="0">
              <a:buNone/>
            </a:pPr>
            <a:r>
              <a:rPr lang="en-US" sz="2100" b="1" dirty="0">
                <a:solidFill>
                  <a:srgbClr val="00B050"/>
                </a:solidFill>
              </a:rPr>
              <a:t>What was good:</a:t>
            </a:r>
          </a:p>
          <a:p>
            <a:pPr marL="0" indent="0">
              <a:buNone/>
            </a:pPr>
            <a:r>
              <a:rPr lang="en-US" sz="2100" dirty="0"/>
              <a:t>This project was reading heavy as I incorporated many sources to gain enough information to compare each of the three protocols in detail. In this regard, it was a success as I now understand key differences between the three protocols. Additionally, I answered my question of which protocol I will personally use for future smart home development – Zigbee!</a:t>
            </a:r>
          </a:p>
          <a:p>
            <a:pPr marL="0" indent="0">
              <a:buNone/>
            </a:pPr>
            <a:endParaRPr lang="en-US" sz="2100" dirty="0"/>
          </a:p>
          <a:p>
            <a:pPr marL="0" indent="0">
              <a:buNone/>
            </a:pPr>
            <a:r>
              <a:rPr lang="en-US" sz="2100" b="1" dirty="0">
                <a:solidFill>
                  <a:srgbClr val="C00000"/>
                </a:solidFill>
              </a:rPr>
              <a:t>What could have been improved upon:</a:t>
            </a:r>
          </a:p>
          <a:p>
            <a:pPr marL="0" indent="0">
              <a:buNone/>
            </a:pPr>
            <a:r>
              <a:rPr lang="en-US" sz="2100" dirty="0"/>
              <a:t>However, this project lacked a tangible result. During my project proposal, your feedback was to look into setting up a testbed/experiment. I did not take this route due to my semester workload and part-time work obligations. To compensate for this, I did design a sample automation that is feasible using Zigbee.</a:t>
            </a:r>
          </a:p>
        </p:txBody>
      </p:sp>
      <p:sp>
        <p:nvSpPr>
          <p:cNvPr id="6" name="Footer Placeholder 3">
            <a:extLst>
              <a:ext uri="{FF2B5EF4-FFF2-40B4-BE49-F238E27FC236}">
                <a16:creationId xmlns:a16="http://schemas.microsoft.com/office/drawing/2014/main" id="{5E9595C1-8636-122E-4E69-F4933A1D728B}"/>
              </a:ext>
            </a:extLst>
          </p:cNvPr>
          <p:cNvSpPr>
            <a:spLocks noGrp="1"/>
          </p:cNvSpPr>
          <p:nvPr>
            <p:ph type="ftr" sz="quarter" idx="3"/>
          </p:nvPr>
        </p:nvSpPr>
        <p:spPr>
          <a:xfrm>
            <a:off x="2519853" y="6441192"/>
            <a:ext cx="8684173" cy="365125"/>
          </a:xfrm>
        </p:spPr>
        <p:txBody>
          <a:bodyPr/>
          <a:lstStyle/>
          <a:p>
            <a:r>
              <a:rPr lang="en-US"/>
              <a:t>Final Project | Topics in Computer Science II | Fall 2025, University of Iowa</a:t>
            </a:r>
            <a:endParaRPr lang="en-US" dirty="0"/>
          </a:p>
        </p:txBody>
      </p:sp>
    </p:spTree>
    <p:extLst>
      <p:ext uri="{BB962C8B-B14F-4D97-AF65-F5344CB8AC3E}">
        <p14:creationId xmlns:p14="http://schemas.microsoft.com/office/powerpoint/2010/main" val="209918450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6F7A6-F130-52A8-FB37-27A3A1CCF2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86BF1E-C1A3-AF7B-7B36-3BF79111497B}"/>
              </a:ext>
            </a:extLst>
          </p:cNvPr>
          <p:cNvSpPr>
            <a:spLocks noGrp="1"/>
          </p:cNvSpPr>
          <p:nvPr>
            <p:ph type="title"/>
          </p:nvPr>
        </p:nvSpPr>
        <p:spPr>
          <a:xfrm>
            <a:off x="949324" y="498296"/>
            <a:ext cx="7356476" cy="896116"/>
          </a:xfrm>
        </p:spPr>
        <p:txBody>
          <a:bodyPr>
            <a:normAutofit/>
          </a:bodyPr>
          <a:lstStyle/>
          <a:p>
            <a:r>
              <a:rPr lang="en-US" dirty="0"/>
              <a:t>Thank you, Professor Zhang!</a:t>
            </a:r>
          </a:p>
        </p:txBody>
      </p:sp>
      <p:sp>
        <p:nvSpPr>
          <p:cNvPr id="5" name="Content Placeholder 4">
            <a:extLst>
              <a:ext uri="{FF2B5EF4-FFF2-40B4-BE49-F238E27FC236}">
                <a16:creationId xmlns:a16="http://schemas.microsoft.com/office/drawing/2014/main" id="{3D19D046-756F-2608-F0CE-949F63C85CC0}"/>
              </a:ext>
            </a:extLst>
          </p:cNvPr>
          <p:cNvSpPr>
            <a:spLocks noGrp="1"/>
          </p:cNvSpPr>
          <p:nvPr>
            <p:ph idx="1"/>
          </p:nvPr>
        </p:nvSpPr>
        <p:spPr>
          <a:xfrm>
            <a:off x="934914" y="1676401"/>
            <a:ext cx="10701619" cy="4267200"/>
          </a:xfrm>
        </p:spPr>
        <p:txBody>
          <a:bodyPr>
            <a:normAutofit fontScale="85000" lnSpcReduction="20000"/>
          </a:bodyPr>
          <a:lstStyle/>
          <a:p>
            <a:pPr marL="0" indent="0">
              <a:lnSpc>
                <a:spcPct val="120000"/>
              </a:lnSpc>
              <a:buNone/>
            </a:pPr>
            <a:r>
              <a:rPr lang="en-US" sz="2100" dirty="0"/>
              <a:t>Topics in Computer Science II has given me perspective on how the digital and physical worlds interacts in ways which no other class has given me. The underlying topics of computer networking, scheduling policies, and data transmission has given me a deeper understanding of how RTCPS works - and the intuition to have an educated guess on a glance.   </a:t>
            </a:r>
          </a:p>
          <a:p>
            <a:pPr marL="0" indent="0">
              <a:lnSpc>
                <a:spcPct val="120000"/>
              </a:lnSpc>
              <a:buNone/>
            </a:pPr>
            <a:endParaRPr lang="en-US" sz="2100" dirty="0"/>
          </a:p>
          <a:p>
            <a:pPr marL="0" indent="0">
              <a:lnSpc>
                <a:spcPct val="120000"/>
              </a:lnSpc>
              <a:buNone/>
            </a:pPr>
            <a:r>
              <a:rPr lang="en-US" sz="2100" dirty="0"/>
              <a:t>Also, thank you very much for your dedication to us students! I am super appreciative of the thoughtful and actionable feedback you gave during each of our presentations. This is advice I will take with me into industry.</a:t>
            </a:r>
          </a:p>
          <a:p>
            <a:pPr marL="0" indent="0">
              <a:buNone/>
            </a:pPr>
            <a:endParaRPr lang="en-US" sz="2100" dirty="0"/>
          </a:p>
          <a:p>
            <a:pPr marL="0" indent="0">
              <a:buNone/>
            </a:pPr>
            <a:r>
              <a:rPr lang="en-US" sz="2100" dirty="0"/>
              <a:t>Enjoy your winter break!</a:t>
            </a:r>
          </a:p>
          <a:p>
            <a:pPr marL="0" indent="0">
              <a:buNone/>
            </a:pPr>
            <a:endParaRPr lang="en-US" sz="2100" dirty="0"/>
          </a:p>
          <a:p>
            <a:pPr marL="0" indent="0">
              <a:buNone/>
            </a:pPr>
            <a:r>
              <a:rPr lang="en-US" sz="2100" dirty="0"/>
              <a:t>Sincerely, </a:t>
            </a:r>
          </a:p>
          <a:p>
            <a:pPr marL="0" indent="0">
              <a:buNone/>
            </a:pPr>
            <a:r>
              <a:rPr lang="en-US" sz="2100" dirty="0"/>
              <a:t>Matt Krueger</a:t>
            </a:r>
          </a:p>
        </p:txBody>
      </p:sp>
      <p:sp>
        <p:nvSpPr>
          <p:cNvPr id="6" name="Footer Placeholder 3">
            <a:extLst>
              <a:ext uri="{FF2B5EF4-FFF2-40B4-BE49-F238E27FC236}">
                <a16:creationId xmlns:a16="http://schemas.microsoft.com/office/drawing/2014/main" id="{6F85C32C-3554-3FE0-35E2-4193B8819453}"/>
              </a:ext>
            </a:extLst>
          </p:cNvPr>
          <p:cNvSpPr>
            <a:spLocks noGrp="1"/>
          </p:cNvSpPr>
          <p:nvPr>
            <p:ph type="ftr" sz="quarter" idx="3"/>
          </p:nvPr>
        </p:nvSpPr>
        <p:spPr>
          <a:xfrm>
            <a:off x="2519853" y="6441192"/>
            <a:ext cx="8684173" cy="365125"/>
          </a:xfrm>
        </p:spPr>
        <p:txBody>
          <a:bodyPr/>
          <a:lstStyle/>
          <a:p>
            <a:r>
              <a:rPr lang="en-US"/>
              <a:t>Final Project | Topics in Computer Science II | Fall 2025, University of Iowa</a:t>
            </a:r>
            <a:endParaRPr lang="en-US" dirty="0"/>
          </a:p>
        </p:txBody>
      </p:sp>
    </p:spTree>
    <p:extLst>
      <p:ext uri="{BB962C8B-B14F-4D97-AF65-F5344CB8AC3E}">
        <p14:creationId xmlns:p14="http://schemas.microsoft.com/office/powerpoint/2010/main" val="235881655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DBC1C-912A-BF40-96FC-B9FF38E497C4}"/>
              </a:ext>
            </a:extLst>
          </p:cNvPr>
          <p:cNvSpPr>
            <a:spLocks noGrp="1"/>
          </p:cNvSpPr>
          <p:nvPr>
            <p:ph type="title" idx="4294967295"/>
          </p:nvPr>
        </p:nvSpPr>
        <p:spPr>
          <a:xfrm>
            <a:off x="838200" y="4485842"/>
            <a:ext cx="10515600" cy="896116"/>
          </a:xfrm>
        </p:spPr>
        <p:txBody>
          <a:bodyPr/>
          <a:lstStyle/>
          <a:p>
            <a:r>
              <a:rPr lang="en-US" dirty="0"/>
              <a:t>Closing Slide Header</a:t>
            </a:r>
          </a:p>
        </p:txBody>
      </p:sp>
    </p:spTree>
    <p:extLst>
      <p:ext uri="{BB962C8B-B14F-4D97-AF65-F5344CB8AC3E}">
        <p14:creationId xmlns:p14="http://schemas.microsoft.com/office/powerpoint/2010/main" val="145848886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AC2E0-3190-A68E-21F3-7BBADA5010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7DCBD3-E57B-5B61-31FB-E75E7BE2E05A}"/>
              </a:ext>
            </a:extLst>
          </p:cNvPr>
          <p:cNvSpPr>
            <a:spLocks noGrp="1"/>
          </p:cNvSpPr>
          <p:nvPr>
            <p:ph type="title"/>
          </p:nvPr>
        </p:nvSpPr>
        <p:spPr>
          <a:xfrm>
            <a:off x="949325" y="498296"/>
            <a:ext cx="5260975" cy="896116"/>
          </a:xfrm>
        </p:spPr>
        <p:txBody>
          <a:bodyPr>
            <a:normAutofit/>
          </a:bodyPr>
          <a:lstStyle/>
          <a:p>
            <a:r>
              <a:rPr lang="en-US" dirty="0"/>
              <a:t>Primary Sources</a:t>
            </a:r>
          </a:p>
        </p:txBody>
      </p:sp>
      <p:sp>
        <p:nvSpPr>
          <p:cNvPr id="5" name="Content Placeholder 4">
            <a:extLst>
              <a:ext uri="{FF2B5EF4-FFF2-40B4-BE49-F238E27FC236}">
                <a16:creationId xmlns:a16="http://schemas.microsoft.com/office/drawing/2014/main" id="{328D84FB-C94E-D0E1-CB8B-2BB332592143}"/>
              </a:ext>
            </a:extLst>
          </p:cNvPr>
          <p:cNvSpPr>
            <a:spLocks noGrp="1"/>
          </p:cNvSpPr>
          <p:nvPr>
            <p:ph idx="1"/>
          </p:nvPr>
        </p:nvSpPr>
        <p:spPr>
          <a:xfrm>
            <a:off x="952499" y="1686757"/>
            <a:ext cx="10655301" cy="4256843"/>
          </a:xfrm>
        </p:spPr>
        <p:txBody>
          <a:bodyPr>
            <a:normAutofit fontScale="55000" lnSpcReduction="20000"/>
          </a:bodyPr>
          <a:lstStyle/>
          <a:p>
            <a:pPr marL="0" indent="0">
              <a:buNone/>
            </a:pPr>
            <a:r>
              <a:rPr lang="en-US" dirty="0"/>
              <a:t>Thread:</a:t>
            </a:r>
          </a:p>
          <a:p>
            <a:r>
              <a:rPr lang="en-US" dirty="0">
                <a:solidFill>
                  <a:schemeClr val="bg1">
                    <a:lumMod val="50000"/>
                  </a:schemeClr>
                </a:solidFill>
              </a:rPr>
              <a:t>[1] </a:t>
            </a:r>
            <a:r>
              <a:rPr lang="en-US" dirty="0">
                <a:solidFill>
                  <a:srgbClr val="00558C"/>
                </a:solidFill>
                <a:hlinkClick r:id="rId2">
                  <a:extLst>
                    <a:ext uri="{A12FA001-AC4F-418D-AE19-62706E023703}">
                      <ahyp:hlinkClr xmlns:ahyp="http://schemas.microsoft.com/office/drawing/2018/hyperlinkcolor" val="tx"/>
                    </a:ext>
                  </a:extLst>
                </a:hlinkClick>
              </a:rPr>
              <a:t>Thread Fundamentals</a:t>
            </a:r>
            <a:endParaRPr lang="en-US" dirty="0"/>
          </a:p>
          <a:p>
            <a:r>
              <a:rPr lang="en-US" dirty="0">
                <a:solidFill>
                  <a:schemeClr val="bg1">
                    <a:lumMod val="50000"/>
                  </a:schemeClr>
                </a:solidFill>
              </a:rPr>
              <a:t>[2] </a:t>
            </a:r>
            <a:r>
              <a:rPr lang="en-US" dirty="0">
                <a:solidFill>
                  <a:srgbClr val="00558C"/>
                </a:solidFill>
                <a:hlinkClick r:id="rId3">
                  <a:extLst>
                    <a:ext uri="{A12FA001-AC4F-418D-AE19-62706E023703}">
                      <ahyp:hlinkClr xmlns:ahyp="http://schemas.microsoft.com/office/drawing/2018/hyperlinkcolor" val="tx"/>
                    </a:ext>
                  </a:extLst>
                </a:hlinkClick>
              </a:rPr>
              <a:t>Thread Mesh Network Performance</a:t>
            </a:r>
            <a:endParaRPr lang="en-US" dirty="0"/>
          </a:p>
          <a:p>
            <a:endParaRPr lang="en-US" dirty="0"/>
          </a:p>
          <a:p>
            <a:pPr marL="0" indent="0">
              <a:buNone/>
            </a:pPr>
            <a:r>
              <a:rPr lang="en-US" dirty="0"/>
              <a:t>Zigbee:</a:t>
            </a:r>
          </a:p>
          <a:p>
            <a:r>
              <a:rPr lang="en-US" dirty="0">
                <a:solidFill>
                  <a:schemeClr val="bg1">
                    <a:lumMod val="50000"/>
                  </a:schemeClr>
                </a:solidFill>
              </a:rPr>
              <a:t>[3] </a:t>
            </a:r>
            <a:r>
              <a:rPr lang="en-US" u="sng" dirty="0">
                <a:solidFill>
                  <a:srgbClr val="FFC000"/>
                </a:solidFill>
              </a:rPr>
              <a:t>Lecture 8 Zigbee and </a:t>
            </a:r>
            <a:r>
              <a:rPr lang="en-US" u="sng" dirty="0" err="1">
                <a:solidFill>
                  <a:srgbClr val="FFC000"/>
                </a:solidFill>
              </a:rPr>
              <a:t>WirelessHART</a:t>
            </a:r>
            <a:r>
              <a:rPr lang="en-US" u="sng" dirty="0">
                <a:solidFill>
                  <a:srgbClr val="FFC000"/>
                </a:solidFill>
              </a:rPr>
              <a:t> (Topics in Computer Science II)</a:t>
            </a:r>
          </a:p>
          <a:p>
            <a:r>
              <a:rPr lang="en-US" dirty="0">
                <a:solidFill>
                  <a:schemeClr val="bg1">
                    <a:lumMod val="50000"/>
                  </a:schemeClr>
                </a:solidFill>
              </a:rPr>
              <a:t>[4] </a:t>
            </a:r>
            <a:r>
              <a:rPr lang="en-US" dirty="0">
                <a:hlinkClick r:id="rId4"/>
              </a:rPr>
              <a:t>Zigbee Mesh Network Performance</a:t>
            </a:r>
            <a:endParaRPr lang="en-US" dirty="0"/>
          </a:p>
          <a:p>
            <a:r>
              <a:rPr lang="en-US" dirty="0">
                <a:solidFill>
                  <a:schemeClr val="bg1">
                    <a:lumMod val="50000"/>
                  </a:schemeClr>
                </a:solidFill>
              </a:rPr>
              <a:t>[5] </a:t>
            </a:r>
            <a:r>
              <a:rPr lang="en-US" dirty="0">
                <a:hlinkClick r:id="rId5"/>
              </a:rPr>
              <a:t>Analysis on the Security Architecture of ZigBee Based on IEEE 802.15.4</a:t>
            </a:r>
            <a:endParaRPr lang="en-US" dirty="0"/>
          </a:p>
          <a:p>
            <a:r>
              <a:rPr lang="en-US" dirty="0">
                <a:solidFill>
                  <a:schemeClr val="bg1">
                    <a:lumMod val="50000"/>
                  </a:schemeClr>
                </a:solidFill>
              </a:rPr>
              <a:t>[6]</a:t>
            </a:r>
            <a:r>
              <a:rPr lang="en-US" dirty="0">
                <a:solidFill>
                  <a:schemeClr val="bg1">
                    <a:lumMod val="50000"/>
                  </a:schemeClr>
                </a:solidFill>
                <a:hlinkClick r:id="rId6">
                  <a:extLst>
                    <a:ext uri="{A12FA001-AC4F-418D-AE19-62706E023703}">
                      <ahyp:hlinkClr xmlns:ahyp="http://schemas.microsoft.com/office/drawing/2018/hyperlinkcolor" val="tx"/>
                    </a:ext>
                  </a:extLst>
                </a:hlinkClick>
              </a:rPr>
              <a:t> </a:t>
            </a:r>
            <a:r>
              <a:rPr lang="en-US" dirty="0">
                <a:solidFill>
                  <a:srgbClr val="00558C"/>
                </a:solidFill>
                <a:hlinkClick r:id="rId6">
                  <a:extLst>
                    <a:ext uri="{A12FA001-AC4F-418D-AE19-62706E023703}">
                      <ahyp:hlinkClr xmlns:ahyp="http://schemas.microsoft.com/office/drawing/2018/hyperlinkcolor" val="tx"/>
                    </a:ext>
                  </a:extLst>
                </a:hlinkClick>
              </a:rPr>
              <a:t>Getting Started with Zigbee for STM32WB and STM32WBA Series</a:t>
            </a:r>
            <a:endParaRPr lang="en-US" dirty="0"/>
          </a:p>
          <a:p>
            <a:pPr marL="0" indent="0">
              <a:buNone/>
            </a:pPr>
            <a:endParaRPr lang="en-US" dirty="0"/>
          </a:p>
          <a:p>
            <a:pPr marL="0" indent="0">
              <a:buNone/>
            </a:pPr>
            <a:r>
              <a:rPr lang="en-US" dirty="0"/>
              <a:t>Z-Wave:</a:t>
            </a:r>
          </a:p>
          <a:p>
            <a:r>
              <a:rPr lang="en-US" dirty="0">
                <a:solidFill>
                  <a:schemeClr val="bg1">
                    <a:lumMod val="50000"/>
                  </a:schemeClr>
                </a:solidFill>
              </a:rPr>
              <a:t>[7] </a:t>
            </a:r>
            <a:r>
              <a:rPr lang="en-US" dirty="0">
                <a:hlinkClick r:id="rId7"/>
              </a:rPr>
              <a:t>Introduction of Z-Wave</a:t>
            </a:r>
            <a:endParaRPr lang="en-US" dirty="0"/>
          </a:p>
          <a:p>
            <a:r>
              <a:rPr lang="en-US" dirty="0">
                <a:solidFill>
                  <a:schemeClr val="bg1">
                    <a:lumMod val="50000"/>
                  </a:schemeClr>
                </a:solidFill>
              </a:rPr>
              <a:t>[8] </a:t>
            </a:r>
            <a:r>
              <a:rPr lang="en-US" dirty="0">
                <a:hlinkClick r:id="rId8"/>
              </a:rPr>
              <a:t>Smart Homes Automation using Z-wave Protocol</a:t>
            </a:r>
            <a:endParaRPr lang="en-US" dirty="0"/>
          </a:p>
          <a:p>
            <a:r>
              <a:rPr lang="en-US" dirty="0">
                <a:solidFill>
                  <a:schemeClr val="bg1">
                    <a:lumMod val="50000"/>
                  </a:schemeClr>
                </a:solidFill>
              </a:rPr>
              <a:t>[9] </a:t>
            </a:r>
            <a:r>
              <a:rPr lang="en-US" dirty="0">
                <a:hlinkClick r:id="rId9"/>
              </a:rPr>
              <a:t>Z-Wave Long Range </a:t>
            </a:r>
            <a:endParaRPr lang="en-US" dirty="0"/>
          </a:p>
          <a:p>
            <a:pPr marL="0" indent="0">
              <a:buNone/>
            </a:pPr>
            <a:endParaRPr lang="en-US" dirty="0"/>
          </a:p>
        </p:txBody>
      </p:sp>
      <p:sp>
        <p:nvSpPr>
          <p:cNvPr id="6" name="Footer Placeholder 3">
            <a:extLst>
              <a:ext uri="{FF2B5EF4-FFF2-40B4-BE49-F238E27FC236}">
                <a16:creationId xmlns:a16="http://schemas.microsoft.com/office/drawing/2014/main" id="{80991BBF-99F6-1A0B-D859-160A241F7D55}"/>
              </a:ext>
            </a:extLst>
          </p:cNvPr>
          <p:cNvSpPr>
            <a:spLocks noGrp="1"/>
          </p:cNvSpPr>
          <p:nvPr>
            <p:ph type="ftr" sz="quarter" idx="3"/>
          </p:nvPr>
        </p:nvSpPr>
        <p:spPr>
          <a:xfrm>
            <a:off x="2519853" y="6441192"/>
            <a:ext cx="8684173" cy="365125"/>
          </a:xfrm>
        </p:spPr>
        <p:txBody>
          <a:bodyPr/>
          <a:lstStyle/>
          <a:p>
            <a:r>
              <a:rPr lang="en-US"/>
              <a:t>Final Project | Topics in Computer Science II | Fall 2025, University of Iowa</a:t>
            </a:r>
            <a:endParaRPr lang="en-US" dirty="0"/>
          </a:p>
        </p:txBody>
      </p:sp>
    </p:spTree>
    <p:extLst>
      <p:ext uri="{BB962C8B-B14F-4D97-AF65-F5344CB8AC3E}">
        <p14:creationId xmlns:p14="http://schemas.microsoft.com/office/powerpoint/2010/main" val="212138076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C8DF9-29D5-9DAB-ADED-5BCA274C93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98D1E1-781D-9D73-CCAE-CBE982702FB2}"/>
              </a:ext>
            </a:extLst>
          </p:cNvPr>
          <p:cNvSpPr>
            <a:spLocks noGrp="1"/>
          </p:cNvSpPr>
          <p:nvPr>
            <p:ph type="title"/>
          </p:nvPr>
        </p:nvSpPr>
        <p:spPr>
          <a:xfrm>
            <a:off x="949325" y="498296"/>
            <a:ext cx="5260975" cy="896116"/>
          </a:xfrm>
        </p:spPr>
        <p:txBody>
          <a:bodyPr>
            <a:normAutofit/>
          </a:bodyPr>
          <a:lstStyle/>
          <a:p>
            <a:r>
              <a:rPr lang="en-US" dirty="0"/>
              <a:t>Secondary Sources</a:t>
            </a:r>
          </a:p>
        </p:txBody>
      </p:sp>
      <p:sp>
        <p:nvSpPr>
          <p:cNvPr id="5" name="Content Placeholder 4">
            <a:extLst>
              <a:ext uri="{FF2B5EF4-FFF2-40B4-BE49-F238E27FC236}">
                <a16:creationId xmlns:a16="http://schemas.microsoft.com/office/drawing/2014/main" id="{43E68F03-50C1-2EAA-AED8-280DFF8C7B00}"/>
              </a:ext>
            </a:extLst>
          </p:cNvPr>
          <p:cNvSpPr>
            <a:spLocks noGrp="1"/>
          </p:cNvSpPr>
          <p:nvPr>
            <p:ph idx="1"/>
          </p:nvPr>
        </p:nvSpPr>
        <p:spPr>
          <a:xfrm>
            <a:off x="952499" y="1686757"/>
            <a:ext cx="5257801" cy="4256843"/>
          </a:xfrm>
        </p:spPr>
        <p:txBody>
          <a:bodyPr>
            <a:normAutofit fontScale="55000" lnSpcReduction="20000"/>
          </a:bodyPr>
          <a:lstStyle/>
          <a:p>
            <a:pPr marL="0" indent="0">
              <a:buNone/>
            </a:pPr>
            <a:r>
              <a:rPr lang="en-US" dirty="0"/>
              <a:t>Wikipedia:</a:t>
            </a:r>
          </a:p>
          <a:p>
            <a:r>
              <a:rPr lang="en-US" dirty="0">
                <a:solidFill>
                  <a:schemeClr val="bg1">
                    <a:lumMod val="50000"/>
                  </a:schemeClr>
                </a:solidFill>
              </a:rPr>
              <a:t>[10] </a:t>
            </a:r>
            <a:r>
              <a:rPr lang="en-US" dirty="0">
                <a:solidFill>
                  <a:srgbClr val="00558C"/>
                </a:solidFill>
                <a:hlinkClick r:id="rId2">
                  <a:extLst>
                    <a:ext uri="{A12FA001-AC4F-418D-AE19-62706E023703}">
                      <ahyp:hlinkClr xmlns:ahyp="http://schemas.microsoft.com/office/drawing/2018/hyperlinkcolor" val="tx"/>
                    </a:ext>
                  </a:extLst>
                </a:hlinkClick>
              </a:rPr>
              <a:t>Zigbee</a:t>
            </a:r>
            <a:endParaRPr lang="en-US" dirty="0"/>
          </a:p>
          <a:p>
            <a:r>
              <a:rPr lang="en-US" dirty="0">
                <a:solidFill>
                  <a:schemeClr val="bg1">
                    <a:lumMod val="50000"/>
                  </a:schemeClr>
                </a:solidFill>
              </a:rPr>
              <a:t>[11] </a:t>
            </a:r>
            <a:r>
              <a:rPr lang="en-US" dirty="0">
                <a:solidFill>
                  <a:srgbClr val="00558C"/>
                </a:solidFill>
                <a:hlinkClick r:id="rId3">
                  <a:extLst>
                    <a:ext uri="{A12FA001-AC4F-418D-AE19-62706E023703}">
                      <ahyp:hlinkClr xmlns:ahyp="http://schemas.microsoft.com/office/drawing/2018/hyperlinkcolor" val="tx"/>
                    </a:ext>
                  </a:extLst>
                </a:hlinkClick>
              </a:rPr>
              <a:t>Z-Wave</a:t>
            </a:r>
            <a:endParaRPr lang="en-US" dirty="0"/>
          </a:p>
          <a:p>
            <a:r>
              <a:rPr lang="en-US" dirty="0">
                <a:solidFill>
                  <a:schemeClr val="bg1">
                    <a:lumMod val="50000"/>
                  </a:schemeClr>
                </a:solidFill>
              </a:rPr>
              <a:t>[12] </a:t>
            </a:r>
            <a:r>
              <a:rPr lang="en-US" dirty="0">
                <a:solidFill>
                  <a:srgbClr val="00558C"/>
                </a:solidFill>
                <a:hlinkClick r:id="rId4">
                  <a:extLst>
                    <a:ext uri="{A12FA001-AC4F-418D-AE19-62706E023703}">
                      <ahyp:hlinkClr xmlns:ahyp="http://schemas.microsoft.com/office/drawing/2018/hyperlinkcolor" val="tx"/>
                    </a:ext>
                  </a:extLst>
                </a:hlinkClick>
              </a:rPr>
              <a:t>Thread</a:t>
            </a:r>
            <a:endParaRPr lang="en-US" dirty="0"/>
          </a:p>
          <a:p>
            <a:pPr marL="0" indent="0">
              <a:buNone/>
            </a:pPr>
            <a:endParaRPr lang="en-US" dirty="0"/>
          </a:p>
          <a:p>
            <a:pPr marL="0" indent="0">
              <a:buNone/>
            </a:pPr>
            <a:r>
              <a:rPr lang="en-US" dirty="0"/>
              <a:t>Device Counts:</a:t>
            </a:r>
            <a:endParaRPr lang="en-US" dirty="0">
              <a:solidFill>
                <a:srgbClr val="00558C"/>
              </a:solidFill>
              <a:hlinkClick r:id="rId5">
                <a:extLst>
                  <a:ext uri="{A12FA001-AC4F-418D-AE19-62706E023703}">
                    <ahyp:hlinkClr xmlns:ahyp="http://schemas.microsoft.com/office/drawing/2018/hyperlinkcolor" val="tx"/>
                  </a:ext>
                </a:extLst>
              </a:hlinkClick>
            </a:endParaRPr>
          </a:p>
          <a:p>
            <a:r>
              <a:rPr lang="en-US" dirty="0">
                <a:solidFill>
                  <a:schemeClr val="bg1">
                    <a:lumMod val="50000"/>
                  </a:schemeClr>
                </a:solidFill>
              </a:rPr>
              <a:t>[13] </a:t>
            </a:r>
            <a:r>
              <a:rPr lang="en-US" dirty="0">
                <a:solidFill>
                  <a:srgbClr val="00558C"/>
                </a:solidFill>
                <a:hlinkClick r:id="rId5">
                  <a:extLst>
                    <a:ext uri="{A12FA001-AC4F-418D-AE19-62706E023703}">
                      <ahyp:hlinkClr xmlns:ahyp="http://schemas.microsoft.com/office/drawing/2018/hyperlinkcolor" val="tx"/>
                    </a:ext>
                  </a:extLst>
                </a:hlinkClick>
              </a:rPr>
              <a:t>Zigbee</a:t>
            </a:r>
            <a:endParaRPr lang="en-US" dirty="0"/>
          </a:p>
          <a:p>
            <a:r>
              <a:rPr lang="en-US" dirty="0">
                <a:solidFill>
                  <a:schemeClr val="bg1">
                    <a:lumMod val="50000"/>
                  </a:schemeClr>
                </a:solidFill>
              </a:rPr>
              <a:t>[14] </a:t>
            </a:r>
            <a:r>
              <a:rPr lang="en-US" dirty="0">
                <a:solidFill>
                  <a:srgbClr val="00558C"/>
                </a:solidFill>
                <a:hlinkClick r:id="rId6">
                  <a:extLst>
                    <a:ext uri="{A12FA001-AC4F-418D-AE19-62706E023703}">
                      <ahyp:hlinkClr xmlns:ahyp="http://schemas.microsoft.com/office/drawing/2018/hyperlinkcolor" val="tx"/>
                    </a:ext>
                  </a:extLst>
                </a:hlinkClick>
              </a:rPr>
              <a:t>Z-Wave</a:t>
            </a:r>
            <a:endParaRPr lang="en-US" dirty="0"/>
          </a:p>
          <a:p>
            <a:r>
              <a:rPr lang="en-US" dirty="0">
                <a:solidFill>
                  <a:schemeClr val="bg1">
                    <a:lumMod val="50000"/>
                  </a:schemeClr>
                </a:solidFill>
              </a:rPr>
              <a:t>[15] </a:t>
            </a:r>
            <a:r>
              <a:rPr lang="en-US" dirty="0">
                <a:solidFill>
                  <a:srgbClr val="00558C"/>
                </a:solidFill>
                <a:hlinkClick r:id="rId7">
                  <a:extLst>
                    <a:ext uri="{A12FA001-AC4F-418D-AE19-62706E023703}">
                      <ahyp:hlinkClr xmlns:ahyp="http://schemas.microsoft.com/office/drawing/2018/hyperlinkcolor" val="tx"/>
                    </a:ext>
                  </a:extLst>
                </a:hlinkClick>
              </a:rPr>
              <a:t>Thread</a:t>
            </a:r>
            <a:r>
              <a:rPr lang="en-US" dirty="0">
                <a:solidFill>
                  <a:srgbClr val="00558C"/>
                </a:solidFill>
              </a:rPr>
              <a:t> </a:t>
            </a:r>
          </a:p>
          <a:p>
            <a:endParaRPr lang="en-US" dirty="0">
              <a:solidFill>
                <a:srgbClr val="00558C"/>
              </a:solidFill>
            </a:endParaRPr>
          </a:p>
          <a:p>
            <a:pPr marL="0" indent="0">
              <a:buNone/>
            </a:pPr>
            <a:r>
              <a:rPr lang="en-US" dirty="0"/>
              <a:t>Memberships:</a:t>
            </a:r>
          </a:p>
          <a:p>
            <a:r>
              <a:rPr lang="en-US" dirty="0">
                <a:solidFill>
                  <a:schemeClr val="bg1">
                    <a:lumMod val="50000"/>
                  </a:schemeClr>
                </a:solidFill>
              </a:rPr>
              <a:t>[16] </a:t>
            </a:r>
            <a:r>
              <a:rPr lang="en-US" dirty="0">
                <a:solidFill>
                  <a:srgbClr val="00558C"/>
                </a:solidFill>
                <a:hlinkClick r:id="rId8">
                  <a:extLst>
                    <a:ext uri="{A12FA001-AC4F-418D-AE19-62706E023703}">
                      <ahyp:hlinkClr xmlns:ahyp="http://schemas.microsoft.com/office/drawing/2018/hyperlinkcolor" val="tx"/>
                    </a:ext>
                  </a:extLst>
                </a:hlinkClick>
              </a:rPr>
              <a:t>Thread Group</a:t>
            </a:r>
            <a:endParaRPr lang="en-US" dirty="0"/>
          </a:p>
          <a:p>
            <a:r>
              <a:rPr lang="en-US" dirty="0">
                <a:solidFill>
                  <a:schemeClr val="bg1">
                    <a:lumMod val="50000"/>
                  </a:schemeClr>
                </a:solidFill>
              </a:rPr>
              <a:t>[17] </a:t>
            </a:r>
            <a:r>
              <a:rPr lang="en-US" dirty="0">
                <a:solidFill>
                  <a:srgbClr val="00558C"/>
                </a:solidFill>
                <a:hlinkClick r:id="rId9">
                  <a:extLst>
                    <a:ext uri="{A12FA001-AC4F-418D-AE19-62706E023703}">
                      <ahyp:hlinkClr xmlns:ahyp="http://schemas.microsoft.com/office/drawing/2018/hyperlinkcolor" val="tx"/>
                    </a:ext>
                  </a:extLst>
                </a:hlinkClick>
              </a:rPr>
              <a:t>Connectivity Standards Alliance</a:t>
            </a:r>
            <a:endParaRPr lang="en-US" dirty="0"/>
          </a:p>
          <a:p>
            <a:r>
              <a:rPr lang="en-US" dirty="0">
                <a:solidFill>
                  <a:schemeClr val="bg1">
                    <a:lumMod val="50000"/>
                  </a:schemeClr>
                </a:solidFill>
              </a:rPr>
              <a:t>[18] </a:t>
            </a:r>
            <a:r>
              <a:rPr lang="en-US" dirty="0">
                <a:hlinkClick r:id="rId10"/>
              </a:rPr>
              <a:t>Z-Wave Alliance</a:t>
            </a:r>
            <a:endParaRPr lang="en-US" dirty="0"/>
          </a:p>
          <a:p>
            <a:pPr marL="0" indent="0">
              <a:buNone/>
            </a:pPr>
            <a:endParaRPr lang="en-US" dirty="0"/>
          </a:p>
          <a:p>
            <a:pPr marL="0" indent="0">
              <a:buNone/>
            </a:pPr>
            <a:endParaRPr lang="en-US" dirty="0"/>
          </a:p>
          <a:p>
            <a:endParaRPr lang="en-US" dirty="0"/>
          </a:p>
          <a:p>
            <a:endParaRPr lang="en-US" dirty="0"/>
          </a:p>
        </p:txBody>
      </p:sp>
      <p:sp>
        <p:nvSpPr>
          <p:cNvPr id="6" name="Footer Placeholder 3">
            <a:extLst>
              <a:ext uri="{FF2B5EF4-FFF2-40B4-BE49-F238E27FC236}">
                <a16:creationId xmlns:a16="http://schemas.microsoft.com/office/drawing/2014/main" id="{3DB717F3-6158-6227-663F-68EF277A20DE}"/>
              </a:ext>
            </a:extLst>
          </p:cNvPr>
          <p:cNvSpPr>
            <a:spLocks noGrp="1"/>
          </p:cNvSpPr>
          <p:nvPr>
            <p:ph type="ftr" sz="quarter" idx="3"/>
          </p:nvPr>
        </p:nvSpPr>
        <p:spPr>
          <a:xfrm>
            <a:off x="2519853" y="6441192"/>
            <a:ext cx="8684173" cy="365125"/>
          </a:xfrm>
        </p:spPr>
        <p:txBody>
          <a:bodyPr/>
          <a:lstStyle/>
          <a:p>
            <a:r>
              <a:rPr lang="en-US"/>
              <a:t>Final Project | Topics in Computer Science II | Fall 2025, University of Iowa</a:t>
            </a:r>
            <a:endParaRPr lang="en-US" dirty="0"/>
          </a:p>
        </p:txBody>
      </p:sp>
      <p:sp>
        <p:nvSpPr>
          <p:cNvPr id="4" name="Content Placeholder 4">
            <a:extLst>
              <a:ext uri="{FF2B5EF4-FFF2-40B4-BE49-F238E27FC236}">
                <a16:creationId xmlns:a16="http://schemas.microsoft.com/office/drawing/2014/main" id="{8D679171-CA5A-F8BD-D2B5-B0366820E1F3}"/>
              </a:ext>
            </a:extLst>
          </p:cNvPr>
          <p:cNvSpPr txBox="1">
            <a:spLocks/>
          </p:cNvSpPr>
          <p:nvPr/>
        </p:nvSpPr>
        <p:spPr>
          <a:xfrm>
            <a:off x="6210300" y="1686757"/>
            <a:ext cx="5257801" cy="4256843"/>
          </a:xfrm>
          <a:prstGeom prst="rect">
            <a:avLst/>
          </a:prstGeom>
        </p:spPr>
        <p:txBody>
          <a:bodyPr vert="horz" lIns="0" tIns="0" rIns="0" bIns="0" rtlCol="0">
            <a:normAutofit/>
          </a:bodyPr>
          <a:lstStyle>
            <a:lvl1pPr marL="228600" indent="-228600" algn="l" defTabSz="914400" rtl="0" eaLnBrk="1" latinLnBrk="0" hangingPunct="1">
              <a:lnSpc>
                <a:spcPct val="100000"/>
              </a:lnSpc>
              <a:spcBef>
                <a:spcPts val="1000"/>
              </a:spcBef>
              <a:buClr>
                <a:schemeClr val="tx2"/>
              </a:buClr>
              <a:buSzPct val="95000"/>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Arial" panose="020B0604020202020204" pitchFamily="34" charset="0"/>
              </a:defRPr>
            </a:lvl1pPr>
            <a:lvl2pPr marL="685800" indent="-228600" algn="l" defTabSz="914400" rtl="0" eaLnBrk="1" latinLnBrk="0" hangingPunct="1">
              <a:lnSpc>
                <a:spcPct val="100000"/>
              </a:lnSpc>
              <a:spcBef>
                <a:spcPts val="500"/>
              </a:spcBef>
              <a:buClr>
                <a:schemeClr val="tx2"/>
              </a:buClr>
              <a:buSzPct val="100000"/>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Arial" panose="020B0604020202020204" pitchFamily="34" charset="0"/>
              </a:defRPr>
            </a:lvl2pPr>
            <a:lvl3pPr marL="1143000" indent="-228600" algn="l" defTabSz="914400" rtl="0" eaLnBrk="1" latinLnBrk="0" hangingPunct="1">
              <a:lnSpc>
                <a:spcPct val="100000"/>
              </a:lnSpc>
              <a:spcBef>
                <a:spcPts val="500"/>
              </a:spcBef>
              <a:buClr>
                <a:schemeClr val="tx2"/>
              </a:buClr>
              <a:buSzPct val="100000"/>
              <a:buFont typeface="Roboto" panose="02000000000000000000" pitchFamily="2" charset="0"/>
              <a:buChar char="•"/>
              <a:defRPr sz="2000" kern="1200">
                <a:solidFill>
                  <a:schemeClr val="tx1"/>
                </a:solidFill>
                <a:latin typeface="Roboto" panose="02000000000000000000" pitchFamily="2" charset="0"/>
                <a:ea typeface="Roboto" panose="02000000000000000000" pitchFamily="2" charset="0"/>
                <a:cs typeface="Arial" panose="020B0604020202020204" pitchFamily="34" charset="0"/>
              </a:defRPr>
            </a:lvl3pPr>
            <a:lvl4pPr marL="1600200" indent="-228600" algn="l" defTabSz="914400" rtl="0" eaLnBrk="1" latinLnBrk="0" hangingPunct="1">
              <a:lnSpc>
                <a:spcPct val="100000"/>
              </a:lnSpc>
              <a:spcBef>
                <a:spcPts val="500"/>
              </a:spcBef>
              <a:buClr>
                <a:schemeClr val="tx2"/>
              </a:buClr>
              <a:buSzPct val="100000"/>
              <a:buFont typeface="Roboto" panose="02000000000000000000" pitchFamily="2"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4pPr>
            <a:lvl5pPr marL="2057400" indent="-228600" algn="l" defTabSz="914400" rtl="0" eaLnBrk="1" latinLnBrk="0" hangingPunct="1">
              <a:lnSpc>
                <a:spcPct val="100000"/>
              </a:lnSpc>
              <a:spcBef>
                <a:spcPts val="500"/>
              </a:spcBef>
              <a:buClr>
                <a:schemeClr val="tx2"/>
              </a:buClr>
              <a:buSzPct val="100000"/>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1500" dirty="0"/>
          </a:p>
        </p:txBody>
      </p:sp>
    </p:spTree>
    <p:extLst>
      <p:ext uri="{BB962C8B-B14F-4D97-AF65-F5344CB8AC3E}">
        <p14:creationId xmlns:p14="http://schemas.microsoft.com/office/powerpoint/2010/main" val="294507671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21F51D-8ACF-8C1A-95A8-4CC40662BE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DAC011-8D0C-7F08-93B1-7EFF601042D9}"/>
              </a:ext>
            </a:extLst>
          </p:cNvPr>
          <p:cNvSpPr>
            <a:spLocks noGrp="1"/>
          </p:cNvSpPr>
          <p:nvPr>
            <p:ph type="title"/>
          </p:nvPr>
        </p:nvSpPr>
        <p:spPr>
          <a:xfrm>
            <a:off x="949325" y="498296"/>
            <a:ext cx="5260975" cy="896116"/>
          </a:xfrm>
        </p:spPr>
        <p:txBody>
          <a:bodyPr/>
          <a:lstStyle/>
          <a:p>
            <a:r>
              <a:rPr lang="en-US" dirty="0"/>
              <a:t>Assets</a:t>
            </a:r>
          </a:p>
        </p:txBody>
      </p:sp>
      <p:sp>
        <p:nvSpPr>
          <p:cNvPr id="5" name="Content Placeholder 4">
            <a:extLst>
              <a:ext uri="{FF2B5EF4-FFF2-40B4-BE49-F238E27FC236}">
                <a16:creationId xmlns:a16="http://schemas.microsoft.com/office/drawing/2014/main" id="{1C086466-8BE2-48E1-725B-C02A34B0F5B1}"/>
              </a:ext>
            </a:extLst>
          </p:cNvPr>
          <p:cNvSpPr>
            <a:spLocks noGrp="1"/>
          </p:cNvSpPr>
          <p:nvPr>
            <p:ph idx="1"/>
          </p:nvPr>
        </p:nvSpPr>
        <p:spPr>
          <a:xfrm>
            <a:off x="952499" y="1686757"/>
            <a:ext cx="5257801" cy="4256843"/>
          </a:xfrm>
        </p:spPr>
        <p:txBody>
          <a:bodyPr>
            <a:normAutofit/>
          </a:bodyPr>
          <a:lstStyle/>
          <a:p>
            <a:pPr marL="0" indent="0">
              <a:buNone/>
            </a:pPr>
            <a:r>
              <a:rPr lang="en-US" sz="1500" dirty="0"/>
              <a:t>Images:</a:t>
            </a:r>
            <a:endParaRPr lang="en-US" sz="1500" dirty="0">
              <a:hlinkClick r:id="rId2"/>
            </a:endParaRPr>
          </a:p>
          <a:p>
            <a:r>
              <a:rPr lang="en-US" sz="1500" dirty="0">
                <a:hlinkClick r:id="rId2"/>
              </a:rPr>
              <a:t>Thread logo</a:t>
            </a:r>
            <a:endParaRPr lang="en-US" sz="1500" dirty="0"/>
          </a:p>
          <a:p>
            <a:r>
              <a:rPr lang="en-US" sz="1500" dirty="0">
                <a:hlinkClick r:id="rId3"/>
              </a:rPr>
              <a:t>Zigbee logo</a:t>
            </a:r>
            <a:endParaRPr lang="en-US" sz="1500" dirty="0"/>
          </a:p>
          <a:p>
            <a:r>
              <a:rPr lang="en-US" sz="1500" dirty="0">
                <a:hlinkClick r:id="rId4"/>
              </a:rPr>
              <a:t>Z-Wave logo</a:t>
            </a:r>
            <a:endParaRPr lang="en-US" sz="1500" dirty="0"/>
          </a:p>
          <a:p>
            <a:r>
              <a:rPr lang="en-US" sz="1500" dirty="0">
                <a:hlinkClick r:id="rId5"/>
              </a:rPr>
              <a:t>Kanye West ”Good morning”</a:t>
            </a:r>
            <a:endParaRPr lang="en-US" sz="1500" dirty="0"/>
          </a:p>
          <a:p>
            <a:r>
              <a:rPr lang="en-US" sz="1500" dirty="0">
                <a:hlinkClick r:id="rId6"/>
              </a:rPr>
              <a:t>White noise</a:t>
            </a:r>
            <a:endParaRPr lang="en-US" sz="1500" dirty="0"/>
          </a:p>
          <a:p>
            <a:endParaRPr lang="en-US" sz="1500" dirty="0"/>
          </a:p>
          <a:p>
            <a:pPr marL="0" indent="0">
              <a:buNone/>
            </a:pPr>
            <a:r>
              <a:rPr lang="en-US" sz="1500" dirty="0"/>
              <a:t>University of Iowa:</a:t>
            </a:r>
          </a:p>
          <a:p>
            <a:r>
              <a:rPr lang="en-US" sz="1500" dirty="0">
                <a:hlinkClick r:id="rId7"/>
              </a:rPr>
              <a:t>PowerPoint Template</a:t>
            </a:r>
            <a:endParaRPr lang="en-US" sz="1500" dirty="0"/>
          </a:p>
        </p:txBody>
      </p:sp>
      <p:sp>
        <p:nvSpPr>
          <p:cNvPr id="6" name="Footer Placeholder 3">
            <a:extLst>
              <a:ext uri="{FF2B5EF4-FFF2-40B4-BE49-F238E27FC236}">
                <a16:creationId xmlns:a16="http://schemas.microsoft.com/office/drawing/2014/main" id="{73F307F8-B22D-6B8F-3E15-0DFA56E2D689}"/>
              </a:ext>
            </a:extLst>
          </p:cNvPr>
          <p:cNvSpPr>
            <a:spLocks noGrp="1"/>
          </p:cNvSpPr>
          <p:nvPr>
            <p:ph type="ftr" sz="quarter" idx="3"/>
          </p:nvPr>
        </p:nvSpPr>
        <p:spPr>
          <a:xfrm>
            <a:off x="2519853" y="6441192"/>
            <a:ext cx="8684173" cy="365125"/>
          </a:xfrm>
        </p:spPr>
        <p:txBody>
          <a:bodyPr/>
          <a:lstStyle/>
          <a:p>
            <a:r>
              <a:rPr lang="en-US"/>
              <a:t>Final Project | Topics in Computer Science II | Fall 2025, University of Iowa</a:t>
            </a:r>
            <a:endParaRPr lang="en-US" dirty="0"/>
          </a:p>
        </p:txBody>
      </p:sp>
    </p:spTree>
    <p:extLst>
      <p:ext uri="{BB962C8B-B14F-4D97-AF65-F5344CB8AC3E}">
        <p14:creationId xmlns:p14="http://schemas.microsoft.com/office/powerpoint/2010/main" val="1593172149"/>
      </p:ext>
    </p:extLst>
  </p:cSld>
  <p:clrMapOvr>
    <a:masterClrMapping/>
  </p:clrMapOvr>
</p:sld>
</file>

<file path=ppt/theme/theme1.xml><?xml version="1.0" encoding="utf-8"?>
<a:theme xmlns:a="http://schemas.openxmlformats.org/drawingml/2006/main" name="Office Theme">
  <a:themeElements>
    <a:clrScheme name="IOWA BRAND COLORS">
      <a:dk1>
        <a:srgbClr val="000000"/>
      </a:dk1>
      <a:lt1>
        <a:srgbClr val="FFFFFF"/>
      </a:lt1>
      <a:dk2>
        <a:srgbClr val="62666A"/>
      </a:dk2>
      <a:lt2>
        <a:srgbClr val="BBBCBC"/>
      </a:lt2>
      <a:accent1>
        <a:srgbClr val="FFCD00"/>
      </a:accent1>
      <a:accent2>
        <a:srgbClr val="616669"/>
      </a:accent2>
      <a:accent3>
        <a:srgbClr val="BBBCBC"/>
      </a:accent3>
      <a:accent4>
        <a:srgbClr val="00A9E0"/>
      </a:accent4>
      <a:accent5>
        <a:srgbClr val="00AF66"/>
      </a:accent5>
      <a:accent6>
        <a:srgbClr val="FF8200"/>
      </a:accent6>
      <a:hlink>
        <a:srgbClr val="00558C"/>
      </a:hlink>
      <a:folHlink>
        <a:srgbClr val="636669"/>
      </a:folHlink>
    </a:clrScheme>
    <a:fontScheme name="University of Iowa">
      <a:majorFont>
        <a:latin typeface="Roboto"/>
        <a:ea typeface=""/>
        <a:cs typeface=""/>
      </a:majorFont>
      <a:minorFont>
        <a:latin typeface="Robo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79CCDD9754E9B40B13882595ECD5F7A" ma:contentTypeVersion="0" ma:contentTypeDescription="Create a new document." ma:contentTypeScope="" ma:versionID="48ffdc5cb6ca8bf97cbe1bd0206e10b7">
  <xsd:schema xmlns:xsd="http://www.w3.org/2001/XMLSchema" xmlns:xs="http://www.w3.org/2001/XMLSchema" xmlns:p="http://schemas.microsoft.com/office/2006/metadata/properties" targetNamespace="http://schemas.microsoft.com/office/2006/metadata/properties" ma:root="true" ma:fieldsID="1b05d82d297216baf5b26c55225140df">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421B56A-5C82-479A-80D0-662CC28B937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A14B8143-C3D6-460D-830C-A8DBEE85511A}">
  <ds:schemaRefs>
    <ds:schemaRef ds:uri="http://schemas.microsoft.com/sharepoint/v3/contenttype/forms"/>
  </ds:schemaRefs>
</ds:datastoreItem>
</file>

<file path=customXml/itemProps3.xml><?xml version="1.0" encoding="utf-8"?>
<ds:datastoreItem xmlns:ds="http://schemas.openxmlformats.org/officeDocument/2006/customXml" ds:itemID="{097FFD54-27B0-415C-8654-D843242BD071}">
  <ds:schemaRefs>
    <ds:schemaRef ds:uri="http://www.w3.org/XML/1998/namespace"/>
    <ds:schemaRef ds:uri="http://schemas.microsoft.com/office/2006/documentManagement/types"/>
    <ds:schemaRef ds:uri="http://schemas.microsoft.com/office/infopath/2007/PartnerControls"/>
    <ds:schemaRef ds:uri="http://schemas.microsoft.com/office/2006/metadata/properties"/>
    <ds:schemaRef ds:uri="http://schemas.openxmlformats.org/package/2006/metadata/core-properties"/>
    <ds:schemaRef ds:uri="http://purl.org/dc/terms/"/>
    <ds:schemaRef ds:uri="http://purl.org/dc/elements/1.1/"/>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14123</TotalTime>
  <Words>5237</Words>
  <Application>Microsoft Macintosh PowerPoint</Application>
  <PresentationFormat>Widescreen</PresentationFormat>
  <Paragraphs>641</Paragraphs>
  <Slides>66</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66</vt:i4>
      </vt:variant>
    </vt:vector>
  </HeadingPairs>
  <TitlesOfParts>
    <vt:vector size="72" baseType="lpstr">
      <vt:lpstr>Arial</vt:lpstr>
      <vt:lpstr>Calibri</vt:lpstr>
      <vt:lpstr>Roboto</vt:lpstr>
      <vt:lpstr>Roboto Black</vt:lpstr>
      <vt:lpstr>Wingdings</vt:lpstr>
      <vt:lpstr>Office Theme</vt:lpstr>
      <vt:lpstr>Comparison of Thread, Zigbee and Z-Wave for Home Automation</vt:lpstr>
      <vt:lpstr>Quick Note</vt:lpstr>
      <vt:lpstr>Agenda</vt:lpstr>
      <vt:lpstr>Project Motivation</vt:lpstr>
      <vt:lpstr>Motivation pt1</vt:lpstr>
      <vt:lpstr>Motivation pt2</vt:lpstr>
      <vt:lpstr>Project Goals</vt:lpstr>
      <vt:lpstr>Protocols Chosen</vt:lpstr>
      <vt:lpstr>Summary of Protocols</vt:lpstr>
      <vt:lpstr>Thread</vt:lpstr>
      <vt:lpstr>Thread Background</vt:lpstr>
      <vt:lpstr>Thread Device Nomenclature</vt:lpstr>
      <vt:lpstr>Thread Architecture – Diagram </vt:lpstr>
      <vt:lpstr>Thread Architecture – High Level</vt:lpstr>
      <vt:lpstr>Thread Architecture – What Makes Thread Unique?</vt:lpstr>
      <vt:lpstr>Thread Routing</vt:lpstr>
      <vt:lpstr>Thread Joining &amp; Network Operation</vt:lpstr>
      <vt:lpstr>Thread Usage – Home Mesh Network </vt:lpstr>
      <vt:lpstr>Thread Usage – Home Mesh Network </vt:lpstr>
      <vt:lpstr>Thread – My Concerns + Security Guarantee?</vt:lpstr>
      <vt:lpstr>Thread Performance</vt:lpstr>
      <vt:lpstr>Thread Membership</vt:lpstr>
      <vt:lpstr>Thread Summary</vt:lpstr>
      <vt:lpstr>Zigbee</vt:lpstr>
      <vt:lpstr>Zigbee Background</vt:lpstr>
      <vt:lpstr>Zigbee Device Nomenclature</vt:lpstr>
      <vt:lpstr>Zigbee Architecture - Diagram</vt:lpstr>
      <vt:lpstr>Zigbee Architecture – High Level</vt:lpstr>
      <vt:lpstr>Zigbee Architecture – What Makes Zigbee Unique?</vt:lpstr>
      <vt:lpstr>Zigbee Routing</vt:lpstr>
      <vt:lpstr>Zigbee Usage – Home Mesh Network</vt:lpstr>
      <vt:lpstr>Zigbee Security</vt:lpstr>
      <vt:lpstr>Zigbee Performance</vt:lpstr>
      <vt:lpstr>Zigbee Membership</vt:lpstr>
      <vt:lpstr>Zigbee Summary</vt:lpstr>
      <vt:lpstr>Z-Wave</vt:lpstr>
      <vt:lpstr>Z-Wave Background</vt:lpstr>
      <vt:lpstr>Z-Wave Device Nomenclature</vt:lpstr>
      <vt:lpstr>Z-Wave Architecture - Diagram</vt:lpstr>
      <vt:lpstr>Z-Wave Architecture – High Level</vt:lpstr>
      <vt:lpstr>Z-Wave Architecture – What Makes Z-Wave Unique?</vt:lpstr>
      <vt:lpstr>Z-Wave Routing</vt:lpstr>
      <vt:lpstr>Z-Wave Usage – Home Mesh Network</vt:lpstr>
      <vt:lpstr>Z-Wave Security</vt:lpstr>
      <vt:lpstr>Z-Wave Performance</vt:lpstr>
      <vt:lpstr>Z-Wave Summary</vt:lpstr>
      <vt:lpstr>Comparison</vt:lpstr>
      <vt:lpstr>High Level Comparison – Decision Matrix </vt:lpstr>
      <vt:lpstr>My Takeaways</vt:lpstr>
      <vt:lpstr>Future Work</vt:lpstr>
      <vt:lpstr>Smart Home Automation</vt:lpstr>
      <vt:lpstr>Smart Home Automation Goals</vt:lpstr>
      <vt:lpstr>Future Work Roadmap</vt:lpstr>
      <vt:lpstr>Example Plan</vt:lpstr>
      <vt:lpstr>Example Topology</vt:lpstr>
      <vt:lpstr>Example Implementation (Morning Routine)</vt:lpstr>
      <vt:lpstr>Morning Automation</vt:lpstr>
      <vt:lpstr>Example Implementation (Nighttime Routine)</vt:lpstr>
      <vt:lpstr>Nighttime Automation</vt:lpstr>
      <vt:lpstr>Conclusion</vt:lpstr>
      <vt:lpstr>Project Retrospective</vt:lpstr>
      <vt:lpstr>Thank you, Professor Zhang!</vt:lpstr>
      <vt:lpstr>Closing Slide Header</vt:lpstr>
      <vt:lpstr>Primary Sources</vt:lpstr>
      <vt:lpstr>Secondary Sources</vt:lpstr>
      <vt:lpstr>Assets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ryan-potter@uiowa.edu</dc:creator>
  <cp:lastModifiedBy>Matt Krueger</cp:lastModifiedBy>
  <cp:revision>287</cp:revision>
  <cp:lastPrinted>2025-12-16T19:26:34Z</cp:lastPrinted>
  <dcterms:created xsi:type="dcterms:W3CDTF">2020-01-21T18:13:39Z</dcterms:created>
  <dcterms:modified xsi:type="dcterms:W3CDTF">2025-12-19T04:47:35Z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0x010100579CCDD9754E9B40B13882595ECD5F7A</vt:lpwstr>
  </property>
</Properties>
</file>