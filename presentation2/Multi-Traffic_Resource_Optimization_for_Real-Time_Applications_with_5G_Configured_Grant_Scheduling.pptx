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3"/>
  </p:notesMasterIdLst>
  <p:handoutMasterIdLst>
    <p:handoutMasterId r:id="rId64"/>
  </p:handoutMasterIdLst>
  <p:sldIdLst>
    <p:sldId id="258" r:id="rId5"/>
    <p:sldId id="368" r:id="rId6"/>
    <p:sldId id="339" r:id="rId7"/>
    <p:sldId id="397" r:id="rId8"/>
    <p:sldId id="381" r:id="rId9"/>
    <p:sldId id="384" r:id="rId10"/>
    <p:sldId id="386" r:id="rId11"/>
    <p:sldId id="387" r:id="rId12"/>
    <p:sldId id="388" r:id="rId13"/>
    <p:sldId id="390" r:id="rId14"/>
    <p:sldId id="391" r:id="rId15"/>
    <p:sldId id="389" r:id="rId16"/>
    <p:sldId id="393" r:id="rId17"/>
    <p:sldId id="382" r:id="rId18"/>
    <p:sldId id="394" r:id="rId19"/>
    <p:sldId id="395" r:id="rId20"/>
    <p:sldId id="396" r:id="rId21"/>
    <p:sldId id="398" r:id="rId22"/>
    <p:sldId id="399" r:id="rId23"/>
    <p:sldId id="400" r:id="rId24"/>
    <p:sldId id="401" r:id="rId25"/>
    <p:sldId id="402" r:id="rId26"/>
    <p:sldId id="383" r:id="rId27"/>
    <p:sldId id="379" r:id="rId28"/>
    <p:sldId id="403" r:id="rId29"/>
    <p:sldId id="406" r:id="rId30"/>
    <p:sldId id="405" r:id="rId31"/>
    <p:sldId id="408" r:id="rId32"/>
    <p:sldId id="409" r:id="rId33"/>
    <p:sldId id="410" r:id="rId34"/>
    <p:sldId id="412" r:id="rId35"/>
    <p:sldId id="413" r:id="rId36"/>
    <p:sldId id="414" r:id="rId37"/>
    <p:sldId id="340" r:id="rId38"/>
    <p:sldId id="345" r:id="rId39"/>
    <p:sldId id="363" r:id="rId40"/>
    <p:sldId id="377" r:id="rId41"/>
    <p:sldId id="378" r:id="rId42"/>
    <p:sldId id="360" r:id="rId43"/>
    <p:sldId id="362" r:id="rId44"/>
    <p:sldId id="364" r:id="rId45"/>
    <p:sldId id="369" r:id="rId46"/>
    <p:sldId id="372" r:id="rId47"/>
    <p:sldId id="348" r:id="rId48"/>
    <p:sldId id="373" r:id="rId49"/>
    <p:sldId id="349" r:id="rId50"/>
    <p:sldId id="355" r:id="rId51"/>
    <p:sldId id="374" r:id="rId52"/>
    <p:sldId id="356" r:id="rId53"/>
    <p:sldId id="358" r:id="rId54"/>
    <p:sldId id="375" r:id="rId55"/>
    <p:sldId id="350" r:id="rId56"/>
    <p:sldId id="353" r:id="rId57"/>
    <p:sldId id="376" r:id="rId58"/>
    <p:sldId id="354" r:id="rId59"/>
    <p:sldId id="370" r:id="rId60"/>
    <p:sldId id="367" r:id="rId61"/>
    <p:sldId id="330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41" autoAdjust="0"/>
    <p:restoredTop sz="85171" autoAdjust="0"/>
  </p:normalViewPr>
  <p:slideViewPr>
    <p:cSldViewPr snapToGrid="0" snapToObjects="1">
      <p:cViewPr>
        <p:scale>
          <a:sx n="105" d="100"/>
          <a:sy n="105" d="100"/>
        </p:scale>
        <p:origin x="80" y="-264"/>
      </p:cViewPr>
      <p:guideLst/>
    </p:cSldViewPr>
  </p:slideViewPr>
  <p:outlineViewPr>
    <p:cViewPr>
      <p:scale>
        <a:sx n="33" d="100"/>
        <a:sy n="33" d="100"/>
      </p:scale>
      <p:origin x="0" y="-3129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2" d="100"/>
          <a:sy n="102" d="100"/>
        </p:scale>
        <p:origin x="151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77051E-B811-D949-830F-55D35BA79C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EC375-152E-3F4A-8C1A-308E3DFABC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30E4C-56B7-2443-B370-610F8D1BCD9C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D90D4-C48B-C647-BA8A-B43CFA99A4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0E78B-91EF-F148-8F7B-2AEC53251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D0152-5968-C24B-9EC0-2DFF74304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4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8:23:42.0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133 182 24575,'-3'4'0,"2"3"0,-2-2 0,3 3 0,-4-4 0,3 3 0,-2 1 0,3 1 0,0 2 0,-4-6 0,3 2 0,-2-3 0,-4 8 0,1-4 0,-5 7 0,6-6 0,2 3 0,3-4 0,0 0 0,7 14 0,-5-11 0,9 15 0,-10-18 0,2-3 0,-3-6 0,4-4 0,-3-2 0,6 3 0,-3-12 0,1 7 0,2-14 0,-3 13 0,4-5 0,-3 7 0,6-7 0,-6 8 0,3-14 0,-4 15 0,-1-17 0,-2 13 0,3-5 0,-1 11 0,-2-3 0,3 2 0,-4-3 0,0 0 0,3 3 0,-2-2 0,3 3 0,-4-4 0,0 0 0,0 0 0,4-8 0,-4 6 0,1-8 0,-2 9 0,-6 1 0,2 4 0,-3 4 0,0 0 0,4-4 0,-3 4 0,6-8 0,-10 0 0,6-1 0,-13-10 0,11 10 0,-7-3 0,10 8 0,-1 8 0,2 0 0,3 4 0,-4-3 0,4 2 0,-15 8 0,9-5 0,-12 23 0,9-25 0,1 20 0,4-22 0,4 23 0,0-17 0,0 27 0,0-26 0,0 27 0,0-29 0,-3 15 0,2-18 0,-6 4 0,3-8 0,-1 3 0,2-2 0,3 3 0,0 0 0,-4 3 0,3-2 0,-2 2 0,3-3 0,0 0 0,0 0 0,0 0 0,0 0 0,0 4 0,3-7 0,-2-2 0,6-4 0,-6-6 0,14-4 0,-9 1 0,20-20 0,-19 18 0,15-21 0,-17 23 0,3-20 0,-1 19 0,-6-15 0,3 16 0,-4-16 0,0 16 0,0-16 0,0 16 0,0-6 0,0 8 0,0 0 0,0 0 0,0 0 0,0 0 0,0 0 0,0 0 0,0 7 0,0 5 0,0 5 0,0 3 0,-4-4 0,3-1 0,-9 23 0,8-17 0,-9 12 0,7 0 0,-1-6 0,2 10 0,3-11 0,0-10 0,0 0 0,0 0 0,0 0 0,0 0 0,0 0 0,0 0 0,0 0 0,4-4 0,0 0 0,4-4 0,0 0 0,0 0 0,-3-4 0,2 0 0,-3-1 0,1-2 0,6-5 0,-10 2 0,10-16 0,-6 16 0,6-24 0,-5 23 0,4-22 0,-9 22 0,7-8 0,-8 11 0,8 0 0,-8 0 0,8 3 0,-7 5 0,2 5 0,-3 3 0,-3-4 0,2 14 0,-6-11 0,-1 43 0,2-31 0,-8 43 0,13-45 0,-10 19 0,7-30 0,-1 8 0,-2-13 0,6-1 0,-2-4 0,3-4 0,-4 3 0,0-13 0,-1 11 0,-5-30 0,8 25 0,-12-32 0,12 31 0,-8-27 0,9 28 0,-3-10 0,4 21 0,0 2 0,0 7 0,-3 0 0,2 0 0,-3-1 0,1-2 0,2 2 0,-6 1 0,2 1 0,-6 6 0,6-7 0,1 0 0,9-4 0,3-4 0,10-4 0,-7 3 0,30-9 0,-28 8 0,49-16 0,-46 15 0,24-11 0,-10 2 0,-13-1 0,6 0 0,-20 6 0,-11 11 0,0-3 0,-7 13 0,6-8 0,-17 19 0,15-14 0,-7 7 0,14-17 0,-4 2 0,8-10 0,-7-1 0,6-1 0,-10-10 0,9 9 0,-8-2 0,9 5 0,-3-4 0,4 1 0,-3-20 0,2 18 0,-10-21 0,10 23 0,-7-9 0,8 11 0,-3 3 0,2 5 0,-6 1 0,3 6 0,-1-3 0,-5 8 0,4-7 0,-12 13 0,12-12 0,-8 5 0,13-3 0,-3-1 0,4 2 0,0 6 0,0-6 0,0 3 0,0-8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8:23:43.6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72 391 24575,'0'-8'0,"0"0"0,0 0 0,0 0 0,-3 3 0,2-2 0,-3 3 0,1-8 0,2 3 0,-6-10 0,6 9 0,-3-5 0,4 7 0,-7-11 0,5 8 0,-8-22 0,9 22 0,-6-15 0,6 17 0,-3-3 0,1 7 0,2-2 0,-2 3 0,3-4 0,0 0 0,0 0 0,0 0 0,0-1 0,0 1 0,0 0 0,-4 4 0,3-3 0,-2 2 0,3-3 0,3 4 0,2 0 0,-1 0 0,3 4 0,-2-4 0,-1 0 0,7-4 0,-6 3 0,4-6 0,1 10 0,-8-6 0,5 10 0,-10-6 0,2 10 0,-3-3 0,1 1 0,2 9 0,-6-8 0,2 27 0,1-21 0,0 24 0,1-29 0,2 15 0,-2-17 0,3 6 0,0-3 0,0 4 0,0-3 0,0 2 0,0-3 0,3-4 0,-2 3 0,3-2 0,-4 3 0,0 0 0,0 0 0,0-4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8:23:52.2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199 121 24575,'-8'0'0,"0"0"0,0 0 0,3-3 0,-2 2 0,3-3 0,-4 4 0,0 0 0,0 0 0,4-4 0,-3 4 0,2-4 0,1 0 0,-3 4 0,6-8 0,-3 4 0,1-1 0,2-2 0,-3 3 0,1-8 0,-2 3 0,1-3 0,1 4 0,3 0 0,-4 4 0,3-3 0,-6 6 0,3-6 0,-4 6 0,7-3 0,-2 8 0,10-3 0,-2 2 0,3 4 0,0-5 0,-3 8 0,-2-5 0,-3 3 0,-3-4 0,2 3 0,-6-6 0,2 3 0,1-1 0,-7-2 0,10 6 0,-7-2 0,5-1 0,2 3 0,-6-6 0,3 2 0,-4-3 0,0 0 0,0 0 0,3-3 0,2-2 0,6 1 0,-2-3 0,3 2 0,-1-3 0,2-7 0,-1 5 0,-3-2 0,-6 9 0,1 3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8:27:43.2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211 181 24575,'-4'3'0,"-3"-2"0,6 6 0,-6-6 0,2 3 0,1-1 0,-3-2 0,6 6 0,-6-6 0,2 3 0,1-1 0,-3-2 0,2 3 0,-2-4 0,-1 0 0,0 0 0,0 0 0,0 0 0,0 0 0,0 0 0,3-4 0,2-1 0,3-3 0,0 0 0,0 0 0,0 0 0,-4 0 0,4 0 0,-4 0 0,4 0 0,0 0 0,4 0 0,0 3 0,1-2 0,2 6 0,-3-2 0,4 3 0,0 0 0,-3-4 0,2 3 0,-2-2 0,3 3 0,7-8 0,-12 7 0,6-3 0,-16 8 0,3 1 0,0 2 0,-11 1 0,9 1 0,-12 9 0,9-8 0,-6 8 0,6-9 0,-2 6 0,3-10 0,3-1 0,2-9 0,3-3 0,0 0 0,3-3 0,-2 2 0,10-14 0,-9 12 0,5-11 0,-3 13 0,0-3 0,1 4 0,-2 0 0,15-3 0,-10 5 0,15-1 0,-15 7 0,0 0 0,-4 4 0,0 0 0,-4 4 0,0 0 0,0 3 0,0-2 0,-4 13 0,3-11 0,-9 18 0,8-19 0,-9 16 0,7-16 0,0 5 0,-7-4 0,9-2 0,-8-1 0,5-5 0,1 1 0,-3-3 0,2 2 0,-6 4 0,2-5 0,-2 5 0,3-7 0,0 0 0,-7 0 0,5 0 0,-1-3 0,7-2 0,4-3 0,0 0 0,0 0 0,0 0 0,0 0 0,0 0 0,4 3 0,0-9 0,1 8 0,2-13 0,-6 10 0,2-6 0,-3 6 0,0-3 0,0 4 0,0 0 0,0 0 0,0 0 0,0-4 0,0 3 0,4-3 0,-3 4 0,6 4 0,-3-3 0,5 2 0,-1 1 0,-4-3 0,7 2 0,-9-3 0,8 4 0,-5 0 0,-1 0 0,4 4 0,-8-1 0,4 6 0,0-1 0,-4 3 0,8 1 0,-4-2 0,4 11 0,0-14 0,-3 11 0,-2-10 0,-3 4 0,4-3 0,-3 9 0,2-8 0,5 13 0,-7-11 0,7 4 0,-8-4 0,3-4 0,-2 3 0,3-2 0,-4 3 0,0-1 0,3-2 0,-2 2 0,3-3 0,-4 4 0,3 0 0,-2 0 0,14 11 0,-13-9 0,23 23 0,-18-25 0,16 20 0,-18-22 0,6 6 0,-10-5 0,3-3 0,-1 1 0,-2 2 0,3-6 0,-4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D2FD1-B169-9B41-A890-0ECD81C3476C}" type="datetimeFigureOut">
              <a:rPr lang="en-US" smtClean="0"/>
              <a:t>11/21/25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943EA-69D9-7E49-97CD-A49926F617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2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Adds configurations for each traffic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05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602E-7483-C2F0-D7EF-FF3A02D4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EB295-321D-4653-BD9B-F3F07018A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89DFD-BD48-3697-19AA-BC9B2362A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 1 is valid for the first three data transmissions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 2 is valid for the last three data transmissions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Transmissions can have different resource configurations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21352-6E12-321A-BE45-4877AF690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448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2615-FAFA-59CC-B14E-87334578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DD48A-4459-D6EF-AF9E-ABABCD3A0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44051-9E31-EEB2-3B8A-CD064962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7AD51-99DE-276F-DB3A-3332EE236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158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8177-3056-FD35-8ECC-014265DC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AB6BD-A61F-5178-3EA7-BABA382EB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DB6EE-C710-145B-0ED3-7E613214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EB9DA-9D43-54A6-7F36-B2EC61CC9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59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C5D7-3F78-9CF2-BFBF-D53AD208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3A956-DC20-3F9B-EC2C-18778997C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03C22-BAF2-D5C4-FBFF-714819580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7D537-48A0-E4EB-D42F-8D67F7447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89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784BE-96F9-27C8-DDFD-C6F5422A5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B9E2C-C79E-DB69-1280-E18DB28D7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CA4CE-A3AE-259B-0496-E2F48A8D2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59918-46B3-4820-31AF-9831A3D52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50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5DAB-8BB0-60E4-547A-9CD1D121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94F0A-63EB-C41F-4408-CAE50D59E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4ACED-3FE1-9B2C-3CB2-49DD3CBD5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1FACD-5F69-F4ED-3A4F-91FA2FAA3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65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C474-EB83-0605-4626-EEC762E3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CEDA1-CD9A-583E-3332-843C5142A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A6CD3-8923-7D3C-AB3E-2241E943E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6F2CD-4E5C-6555-1BF8-B338794FB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03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9318-7400-1BCF-C2C6-81871ABD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A280A-BFB2-EAF7-6D11-95BC73DF5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196A4-C186-1351-1D9E-DF3316A18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525C2-9E94-38A9-5723-21552D7E2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45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**professors paper considers consider the scenario of a single configuration and ignores the tradeoff between scheduling flexibility and control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884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spending less time within this section as there are 35 notations, 14 mathematical equations. Do my best to explain the behavior of the optimization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841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03F4C-C0D5-478E-1E65-B0A94C087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79B7A-1AA8-66B8-7504-64102E729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F1F74-B1A3-C274-7163-A45A5A02C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spending less time within this section as there are 35 notations, 14 mathematical equations. Do my best to explain the behavior of the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797D-FB7D-7CB8-BDDE-E892D6D1D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02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84300-7C04-C4C2-C118-0A2704BE5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6599F-672D-5E59-9053-D5AC755D6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36BB8-AED5-42E6-4EA5-76B830268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spending less time within this section as there are 35 notations, 14 mathematical equations. Do my best to explain the behavior of the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0793F-B2D4-762C-3811-C71DC15FF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960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CCDFD-792D-46C5-EA1B-0B6C1149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DA58E-6A32-994F-1733-F819862F4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13AD4-2318-03C4-4E58-57F109805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spending less time within this section as there are 35 notations, 14 mathematical equations. Do my best to explain the behavior of the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3B0A5-49BE-20FE-87DD-5254DCA5F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606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9214-BFEF-19CA-C2DC-181600BDF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E6489-6A32-B975-9129-BAE83F459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C3159-DE47-56AC-76A3-3B53FB3ED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spending less time within this section as there are 35 notations, 14 mathematical equations. Do my best to explain the behavior of the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76B1C-B8D8-DE03-2809-394DB6CEF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267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E16DC-56DE-CCE5-4E38-3DCCA61B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1981E-73A0-9A8D-D759-6D3DF6487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BFC39-A021-1826-AF66-3CC7735F4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allocated RUs have to support the transmission of: (1) data transmission for the payload; and (2) control message.</a:t>
            </a:r>
          </a:p>
          <a:p>
            <a:r>
              <a:rPr lang="en-US" dirty="0"/>
              <a:t>2. The latency requirements must be fulfilled</a:t>
            </a:r>
          </a:p>
          <a:p>
            <a:r>
              <a:rPr lang="en-US" dirty="0"/>
              <a:t>3. The number of valid configurations determines the number of control messages </a:t>
            </a:r>
          </a:p>
          <a:p>
            <a:r>
              <a:rPr lang="en-US" dirty="0"/>
              <a:t>4. Range of </a:t>
            </a:r>
            <a:r>
              <a:rPr lang="en-US" dirty="0" err="1"/>
              <a:t>vairables</a:t>
            </a:r>
            <a:endParaRPr lang="en-US" dirty="0"/>
          </a:p>
          <a:p>
            <a:r>
              <a:rPr lang="en-US" dirty="0"/>
              <a:t>5. Each data packets should only be allocated once</a:t>
            </a:r>
          </a:p>
          <a:p>
            <a:r>
              <a:rPr lang="en-US" dirty="0"/>
              <a:t>6. RU in time slot x, RB y is assigned. Builds the NRBs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4630A-4585-FD68-41E8-D923BBCFA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13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C177-4D3A-289C-2942-2FD675F4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CC3D2-B85C-D8B2-C253-A70415136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E791B-6795-8C99-9FED-C3A405A79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SPP -&gt; CG: </a:t>
            </a:r>
          </a:p>
          <a:p>
            <a:pPr marL="171450" indent="-171450">
              <a:buFontTx/>
              <a:buChar char="-"/>
            </a:pPr>
            <a:r>
              <a:rPr lang="en-US" dirty="0"/>
              <a:t>Rectangles in SPP :: data transmissions in CG ;; Width :: time slots, Height :: NRBs</a:t>
            </a:r>
          </a:p>
          <a:p>
            <a:pPr marL="171450" indent="-171450">
              <a:buFontTx/>
              <a:buChar char="-"/>
            </a:pPr>
            <a:r>
              <a:rPr lang="en-US" dirty="0"/>
              <a:t>Finite width in SPP :: Finite width in </a:t>
            </a:r>
            <a:r>
              <a:rPr lang="en-US" dirty="0" err="1"/>
              <a:t>hyperperiod</a:t>
            </a:r>
            <a:r>
              <a:rPr lang="en-US" dirty="0"/>
              <a:t> of CG</a:t>
            </a:r>
          </a:p>
          <a:p>
            <a:pPr marL="171450" indent="-171450">
              <a:buFontTx/>
              <a:buChar char="-"/>
            </a:pPr>
            <a:r>
              <a:rPr lang="en-US" dirty="0"/>
              <a:t>Goal: minimize the height of the SPP, minimize the NRBs in CG (also height)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Co1 follows the basic idea of CG scheduling that all packets are scheduled by one configuration per TF WITH NO SIGNALING OVERHEAD</a:t>
            </a:r>
          </a:p>
          <a:p>
            <a:r>
              <a:rPr lang="en-US" dirty="0" err="1"/>
              <a:t>CoU</a:t>
            </a:r>
            <a:r>
              <a:rPr lang="en-US" dirty="0"/>
              <a:t>, to explore the trade-off between scheduling flexibility and control overhead.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265C6-1A06-16E0-B305-7D93654F2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4094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62EC-BC4B-7939-3A89-288B9E8C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4922D-FB48-FB13-7347-574E9E92D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C48FE-53D6-1041-FD46-CF5FF8177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Co1 follows the basic idea of CG scheduling that all packets are scheduled by one configuration per TF WITH NO SIGNALING OVERHEAD</a:t>
            </a:r>
          </a:p>
          <a:p>
            <a:r>
              <a:rPr lang="en-US" dirty="0" err="1"/>
              <a:t>CoU</a:t>
            </a:r>
            <a:r>
              <a:rPr lang="en-US" dirty="0"/>
              <a:t>, to explore the trade-off between scheduling flexibility and control overhead.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FBA5E-8F8A-0A67-ED9B-E59180CC0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812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199A-5935-3933-8036-06A05E1A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91260-5412-5F49-4761-70C5AAA7D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CE4A3-E883-D8B0-6015-436BB4335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combinations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31BE7-3840-4559-2A30-188C1F247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310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655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 tuple: &lt;[min offset, max offset]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period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payload B, latency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[0,1],1,20,1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[0,1],2,30,1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[0,2],3,50,1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[0,2],5,80,3</a:t>
            </a:r>
          </a:p>
          <a:p>
            <a:endParaRPr lang="en-US" dirty="0"/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SMT-U best: NRB 4.35, ratio 43 %, but 3 000s IMPRACTICAL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SMT-1: NRB 4.49, ratio 32 % (SMT1 lacks scheduling flexibility)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ratio 39 %, NRB ≈ SMT-1/Co1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Take-away: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closes most of the optimality gap while staying microseconds-fast → scalable to large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1963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1735-7C8C-3127-3849-1D3436D5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63D96-22E6-9ECA-1ADD-40F9B087C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8A00B-2327-1783-563B-944FAAD4C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 tuple: &lt;[min offset, max offset]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period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payload B, latency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[0,1],1,20,1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[0,1],2,30,1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[0,2],3,50,1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[0,2],5,80,3</a:t>
            </a:r>
          </a:p>
          <a:p>
            <a:endParaRPr lang="en-US" dirty="0"/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SMT-U best: NRB 4.35, ratio 43 %, but 3 000s IMPRACTICAL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SMT-1: NRB 4.49, ratio 32 % (SMT1 lacks scheduling flexibility)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ratio 39 %, NRB ≈ SMT-1/Co1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Take-away: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closes most of the optimality gap while staying microseconds-fast → scalable to large systems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F14A1-6304-0153-8002-7019FD055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5002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86413-6FF7-DC5C-0D7A-F4CB6DCA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37EDC-E48D-576E-CC30-F36223C1A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2AADD-7B00-E325-AFD4-498AB7AA1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 tuple: &lt;[min offset, max offset]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period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payload B, latency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DE87C-1376-57E4-56BC-0F6EBB47A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8659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</a:t>
            </a:r>
          </a:p>
          <a:p>
            <a:pPr marL="171450" indent="-171450">
              <a:buFontTx/>
              <a:buChar char="-"/>
            </a:pPr>
            <a:r>
              <a:rPr lang="en-US" dirty="0"/>
              <a:t>SMT-U performs the best among all approaches, however it is orders of magnitude slower than all other algorithms.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Solutions that have single configurations per TF have lower flexibility than its unlimited opponents. This results in lower </a:t>
            </a:r>
            <a:r>
              <a:rPr lang="en-US" dirty="0" err="1"/>
              <a:t>schedulability</a:t>
            </a:r>
            <a:r>
              <a:rPr lang="en-US" dirty="0"/>
              <a:t> ratio compared to unlimited approaches.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2355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IN MIND THIS IS ONLY FOR 3 FLOWS!!!!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not SMT: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Runtime Explosion due to search space growing exponentially.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There is no bound that keeps the model within a reasonable budget for computation time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3×10⁷× faster than SMT-U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3107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testing the </a:t>
            </a:r>
            <a:r>
              <a:rPr lang="en-US" dirty="0" err="1"/>
              <a:t>CoU</a:t>
            </a:r>
            <a:r>
              <a:rPr lang="en-US" dirty="0"/>
              <a:t> and Co1 heuristic algorithms under realistic industrial load.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845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90B4F-4794-D81C-5800-440567148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D0C0A-101F-8F36-9B55-63F2FDC76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C6BD8-88F5-8A4B-8E01-7228E5B63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Experiements</a:t>
            </a:r>
            <a:r>
              <a:rPr lang="en-US" dirty="0"/>
              <a:t>:</a:t>
            </a:r>
          </a:p>
          <a:p>
            <a:r>
              <a:rPr lang="en-US" dirty="0"/>
              <a:t>1. Default Scenario</a:t>
            </a:r>
          </a:p>
          <a:p>
            <a:r>
              <a:rPr lang="en-US" dirty="0"/>
              <a:t>2. Latency Requirements</a:t>
            </a:r>
          </a:p>
          <a:p>
            <a:r>
              <a:rPr lang="en-US" dirty="0"/>
              <a:t>3. Diversity of Transmission Periods</a:t>
            </a:r>
          </a:p>
          <a:p>
            <a:r>
              <a:rPr lang="en-US" dirty="0"/>
              <a:t>4. Payload Sizes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E096A-FBBB-BA10-18BC-B81A4C0FD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8896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consistently outperforms Co1 by reducing the NRB usage, increasing the </a:t>
            </a:r>
            <a:r>
              <a:rPr lang="en-US" dirty="0" err="1"/>
              <a:t>scheduability</a:t>
            </a:r>
            <a:r>
              <a:rPr lang="en-US" dirty="0"/>
              <a:t> ratio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NRB savings 7-14% more than Co1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</a:t>
            </a:r>
            <a:r>
              <a:rPr lang="en-US" dirty="0" err="1"/>
              <a:t>Schedulability</a:t>
            </a:r>
            <a:r>
              <a:rPr lang="en-US" dirty="0"/>
              <a:t> ratio up to 50% more than Co1 at the same amount of resource blocks =&gt; MORE FLEXIBILITY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Co1 is a ~1 order of magnitude faster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1550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</a:t>
            </a:r>
          </a:p>
          <a:p>
            <a:pPr marL="171450" indent="-171450">
              <a:buFontTx/>
              <a:buChar char="-"/>
            </a:pPr>
            <a:r>
              <a:rPr lang="en-US" dirty="0"/>
              <a:t>Performance is equal at both extremes of the latency requirements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CoU’s</a:t>
            </a:r>
            <a:r>
              <a:rPr lang="en-US" dirty="0"/>
              <a:t> advantage over Co1 is greatest when latency requirements are neither too tight nor too loose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NRB &amp; </a:t>
            </a:r>
            <a:r>
              <a:rPr lang="en-US" dirty="0" err="1"/>
              <a:t>schedualability</a:t>
            </a:r>
            <a:r>
              <a:rPr lang="en-US" dirty="0"/>
              <a:t> gaps between </a:t>
            </a:r>
            <a:r>
              <a:rPr lang="en-US" dirty="0" err="1"/>
              <a:t>CoU</a:t>
            </a:r>
            <a:r>
              <a:rPr lang="en-US" dirty="0"/>
              <a:t> and Co1 are only ~7% at stringent and loose requirements (extremes)</a:t>
            </a:r>
          </a:p>
          <a:p>
            <a:pPr marL="171450" indent="-171450">
              <a:buFontTx/>
              <a:buChar char="-"/>
            </a:pPr>
            <a:r>
              <a:rPr lang="en-US" dirty="0"/>
              <a:t>Mid range intervals </a:t>
            </a:r>
            <a:r>
              <a:rPr lang="en-US" dirty="0" err="1"/>
              <a:t>CoU</a:t>
            </a:r>
            <a:r>
              <a:rPr lang="en-US" dirty="0"/>
              <a:t> outperforms Co1 by up to 20%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5899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</a:t>
            </a:r>
          </a:p>
          <a:p>
            <a:pPr marL="171450" indent="-171450">
              <a:buFontTx/>
              <a:buChar char="-"/>
            </a:pPr>
            <a:r>
              <a:rPr lang="en-US" dirty="0"/>
              <a:t>Performance is equal at both extremes of the latency requirements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CoU’s</a:t>
            </a:r>
            <a:r>
              <a:rPr lang="en-US" dirty="0"/>
              <a:t> advantage over Co1 is greatest when latency requirements are neither too tight nor too loose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NRB &amp; </a:t>
            </a:r>
            <a:r>
              <a:rPr lang="en-US" dirty="0" err="1"/>
              <a:t>schedualability</a:t>
            </a:r>
            <a:r>
              <a:rPr lang="en-US" dirty="0"/>
              <a:t> gaps between </a:t>
            </a:r>
            <a:r>
              <a:rPr lang="en-US" dirty="0" err="1"/>
              <a:t>CoU</a:t>
            </a:r>
            <a:r>
              <a:rPr lang="en-US" dirty="0"/>
              <a:t> and Co1 are only ~7% at stringent and loose requirements (extremes)</a:t>
            </a:r>
          </a:p>
          <a:p>
            <a:pPr marL="171450" indent="-171450">
              <a:buFontTx/>
              <a:buChar char="-"/>
            </a:pPr>
            <a:r>
              <a:rPr lang="en-US" dirty="0"/>
              <a:t>Mid range intervals </a:t>
            </a:r>
            <a:r>
              <a:rPr lang="en-US" dirty="0" err="1"/>
              <a:t>CoU</a:t>
            </a:r>
            <a:r>
              <a:rPr lang="en-US" dirty="0"/>
              <a:t> outperforms Co1 by up to 20%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1237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outperforms Co1 as transmission-period diversity rises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Co1 execution time far better than </a:t>
            </a:r>
            <a:r>
              <a:rPr lang="en-US" dirty="0" err="1"/>
              <a:t>CoU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outperforms Co1 as transmission-period diversity rises as there is more potential for TF interleaving. As </a:t>
            </a:r>
            <a:r>
              <a:rPr lang="en-US" dirty="0" err="1"/>
              <a:t>CoU</a:t>
            </a:r>
            <a:r>
              <a:rPr lang="en-US" dirty="0"/>
              <a:t> is more flexible than Co1 it performs better with a higher diversity of transmission periods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Co1 execution time far better than </a:t>
            </a:r>
            <a:r>
              <a:rPr lang="en-US" dirty="0" err="1"/>
              <a:t>CoU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1123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outperforms Co1 as transmission-period diversity rises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Co1 execution time far better than </a:t>
            </a:r>
            <a:r>
              <a:rPr lang="en-US" dirty="0" err="1"/>
              <a:t>CoU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outperforms Co1 as transmission-period diversity rises as there is more potential for TF interleaving. As </a:t>
            </a:r>
            <a:r>
              <a:rPr lang="en-US" dirty="0" err="1"/>
              <a:t>CoU</a:t>
            </a:r>
            <a:r>
              <a:rPr lang="en-US" dirty="0"/>
              <a:t> is more flexible than Co1 it performs better with a higher diversity of transmission periods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Co1 execution time far better than </a:t>
            </a:r>
            <a:r>
              <a:rPr lang="en-US" dirty="0" err="1"/>
              <a:t>CoU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161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TESTS PERFORMED. </a:t>
            </a:r>
          </a:p>
          <a:p>
            <a:endParaRPr lang="en-US" dirty="0"/>
          </a:p>
          <a:p>
            <a:r>
              <a:rPr lang="en-US" dirty="0"/>
              <a:t>First test which looks at the diversity of payloads has ~5% variance when comparing the results of Co1 and </a:t>
            </a:r>
            <a:r>
              <a:rPr lang="en-US" dirty="0" err="1"/>
              <a:t>CoU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5255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CoU’s</a:t>
            </a:r>
            <a:r>
              <a:rPr lang="en-US" dirty="0"/>
              <a:t> scheduling advantage grows as payload size increases as the control overhead to payload ratio shrinks. </a:t>
            </a:r>
            <a:r>
              <a:rPr lang="en-US" dirty="0" err="1"/>
              <a:t>CoU’s</a:t>
            </a:r>
            <a:r>
              <a:rPr lang="en-US" dirty="0"/>
              <a:t> flexibility wins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Co1 execution time far better than </a:t>
            </a:r>
            <a:r>
              <a:rPr lang="en-US" dirty="0" err="1"/>
              <a:t>CoU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Extreme sizes only slightly hurt because both schemes adapt the RB/slot allocations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Larger payloads increase the execution time however the payoff in throughput outweighs the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336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170E6-977D-400B-2E90-008CDEB4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2CA38-3BEC-FCA3-EC20-F857A83B8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82BB2-4B4F-4A38-A056-75ACF67B9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testing the </a:t>
            </a:r>
            <a:r>
              <a:rPr lang="en-US" dirty="0" err="1"/>
              <a:t>CoU</a:t>
            </a:r>
            <a:r>
              <a:rPr lang="en-US" dirty="0"/>
              <a:t> and Co1 heuristic algorithms under realistic industrial load.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B71DE-2853-D442-7CAE-10A48E934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699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2212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</a:t>
            </a:r>
          </a:p>
          <a:p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11% NRB improvement compared to Co1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CoU’s</a:t>
            </a:r>
            <a:r>
              <a:rPr lang="en-US" dirty="0"/>
              <a:t> </a:t>
            </a:r>
            <a:r>
              <a:rPr lang="en-US" dirty="0" err="1"/>
              <a:t>chedualability</a:t>
            </a:r>
            <a:r>
              <a:rPr lang="en-US" dirty="0"/>
              <a:t> ratio up to 54% greater than Co1</a:t>
            </a:r>
          </a:p>
          <a:p>
            <a:r>
              <a:rPr lang="en-US" dirty="0"/>
              <a:t>-  </a:t>
            </a:r>
            <a:r>
              <a:rPr lang="en-US" dirty="0" err="1"/>
              <a:t>CoU’s</a:t>
            </a:r>
            <a:r>
              <a:rPr lang="en-US" dirty="0"/>
              <a:t> execution time 2x slower than Co1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3383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provides SMT and heuristic algorithms that aim to optimize the configured grant scheduling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1035436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</a:t>
            </a:r>
            <a:br>
              <a:rPr lang="en-US" dirty="0"/>
            </a:br>
            <a:r>
              <a:rPr lang="en-US" dirty="0"/>
              <a:t>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1035436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148794"/>
            <a:ext cx="1035436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1037658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A096FDD2-3609-3C49-9ED5-616F9E36D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0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914400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914400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087150"/>
            <a:ext cx="914400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916622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685527-7A8C-3647-9D96-6D076FA7A7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28383" y="0"/>
            <a:ext cx="2687038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8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97" y="2184901"/>
            <a:ext cx="6155725" cy="2431224"/>
          </a:xfrm>
        </p:spPr>
        <p:txBody>
          <a:bodyPr anchor="ctr" anchorCtr="0">
            <a:normAutofit/>
          </a:bodyPr>
          <a:lstStyle>
            <a:lvl1pPr algn="l"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of the Presentation 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14C79AA-0B96-2A43-86A1-A71A1D4C8E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098" y="4676833"/>
            <a:ext cx="6155726" cy="49479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7101AB8-54F7-4A4E-9611-F4F2ECFBD1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0096" y="5139429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DD4F96-5BFE-3049-B4E0-9CDD4F5C3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9599" y="152400"/>
            <a:ext cx="3385601" cy="919069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lvl1pPr algn="l">
              <a:defRPr sz="20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9CB936-90E7-D144-B9DC-7CF3F98E2F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738" y="1599"/>
            <a:ext cx="2687038" cy="1276343"/>
          </a:xfrm>
          <a:prstGeom prst="rect">
            <a:avLst/>
          </a:prstGeom>
        </p:spPr>
      </p:pic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2C35F063-23A9-F244-9022-8BBB7E277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9413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97" y="2184901"/>
            <a:ext cx="6155725" cy="2561760"/>
          </a:xfrm>
        </p:spPr>
        <p:txBody>
          <a:bodyPr anchor="ctr" anchorCtr="0">
            <a:normAutofit/>
          </a:bodyPr>
          <a:lstStyle>
            <a:lvl1pPr algn="l">
              <a:defRPr sz="5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of the Presentation 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3A797-13D4-A243-B1AE-4498B36D47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098" y="4676833"/>
            <a:ext cx="6155726" cy="49479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4DA5E7-4B71-0543-8E46-EC2A81EAE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0096" y="5139429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BCADCB-4DBB-9C43-A696-780C05775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9599" y="152400"/>
            <a:ext cx="3385601" cy="919069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lvl1pPr algn="l">
              <a:defRPr sz="20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2C35F063-23A9-F244-9022-8BBB7E277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3F5E00-2329-6246-A2BB-7BCD46F839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738" y="0"/>
            <a:ext cx="2687038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0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6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tx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2721272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pos="70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7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Section Header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8FB54BE8-0526-614C-A06E-8C6258999B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509282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00">
          <p15:clr>
            <a:srgbClr val="FBAE40"/>
          </p15:clr>
        </p15:guide>
        <p15:guide id="4" pos="70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C17923A-4119-CF48-9F2D-05B0A69EBA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24488-0ADE-1843-91C1-1CA371373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661" y="2215171"/>
            <a:ext cx="4368798" cy="646331"/>
          </a:xfrm>
          <a:solidFill>
            <a:schemeClr val="accent1"/>
          </a:solidFill>
        </p:spPr>
        <p:txBody>
          <a:bodyPr wrap="square" lIns="91440" tIns="91440" bIns="0">
            <a:spAutoFit/>
          </a:bodyPr>
          <a:lstStyle/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38807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070F21D-F194-034E-812B-69D1C6CD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A13FBC-A4AA-9B4F-8E9B-12CD6600150E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22C1D3A-9762-7F4D-AB5C-A3F0114B67B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6" name="Picture 15" descr="The University of Iowa">
            <a:extLst>
              <a:ext uri="{FF2B5EF4-FFF2-40B4-BE49-F238E27FC236}">
                <a16:creationId xmlns:a16="http://schemas.microsoft.com/office/drawing/2014/main" id="{7148CCDA-64E4-6A4E-A6A7-D2AB55159A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FAE079D-23CF-2543-B543-90A5EB0D2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833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  <p15:guide id="2" pos="600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6">
          <p15:clr>
            <a:srgbClr val="FBAE40"/>
          </p15:clr>
        </p15:guide>
        <p15:guide id="7" orient="horz" pos="2400" userDrawn="1">
          <p15:clr>
            <a:srgbClr val="FBAE40"/>
          </p15:clr>
        </p15:guide>
        <p15:guide id="8" orient="horz" pos="374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E68DE55-0579-EC46-BD52-181870AF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200BB2-D6D1-6642-8F66-9B4F37EC8187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35C2BC9-7AF3-6D49-8036-36D81872E84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51527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37044-371D-C149-9F72-3D8FBA4605C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DC5F3A3D-928C-F445-ACB3-2C38F21F6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2F140A7-DF6E-3245-BC22-1F0E9CFEE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91165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 userDrawn="1">
          <p15:clr>
            <a:srgbClr val="FBAE40"/>
          </p15:clr>
        </p15:guide>
        <p15:guide id="2" pos="600" userDrawn="1">
          <p15:clr>
            <a:srgbClr val="FBAE40"/>
          </p15:clr>
        </p15:guide>
        <p15:guide id="3" pos="7080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105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Slide - 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389509"/>
            <a:ext cx="10287000" cy="1331865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 </a:t>
            </a:r>
            <a:br>
              <a:rPr lang="en-US" dirty="0"/>
            </a:br>
            <a:r>
              <a:rPr lang="en-US" dirty="0"/>
              <a:t>that runs to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050741"/>
            <a:ext cx="10287000" cy="3892859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–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5AAAF-3BA6-4445-BF32-091644479611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0AA5F87C-9826-7441-9CF2-6F364BF7D9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678EF36-A6E8-DB4E-8C3A-B3624ECEE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97963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pos="7080" userDrawn="1">
          <p15:clr>
            <a:srgbClr val="FBAE40"/>
          </p15:clr>
        </p15:guide>
        <p15:guide id="8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2D2F673-8F81-4982-AA66-35312BF3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800224" cy="754602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4800219" cy="327925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33724" y="1676706"/>
            <a:ext cx="4800224" cy="754602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3725" y="2664346"/>
            <a:ext cx="4800224" cy="327925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86758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8B99253-B000-1442-A7D2-EB536C15CBCB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8" name="Picture 17" descr="The University of Iowa">
            <a:extLst>
              <a:ext uri="{FF2B5EF4-FFF2-40B4-BE49-F238E27FC236}">
                <a16:creationId xmlns:a16="http://schemas.microsoft.com/office/drawing/2014/main" id="{A96F9427-B9C2-6F44-ADD6-28635EDF4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5D918E3-A228-4F47-B892-288E22CD6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99422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697" userDrawn="1">
          <p15:clr>
            <a:srgbClr val="FBAE40"/>
          </p15:clr>
        </p15:guide>
        <p15:guide id="7" orient="horz" pos="24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316674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1686756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6386" y="2674396"/>
            <a:ext cx="2973372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1686756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63515" y="2674396"/>
            <a:ext cx="316674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7806430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4376691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944143A-0CC6-6041-BD38-4C994DA8E0B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3" name="Picture 22" descr="The University of Iowa">
            <a:extLst>
              <a:ext uri="{FF2B5EF4-FFF2-40B4-BE49-F238E27FC236}">
                <a16:creationId xmlns:a16="http://schemas.microsoft.com/office/drawing/2014/main" id="{529638AC-0ED3-DE46-BC83-28B1D845EE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642FB62D-41EB-7A41-B0D2-60C8BB6A3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51774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 userDrawn="1">
          <p15:clr>
            <a:srgbClr val="FBAE40"/>
          </p15:clr>
        </p15:guide>
        <p15:guide id="3" pos="7080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697" userDrawn="1">
          <p15:clr>
            <a:srgbClr val="FBAE40"/>
          </p15:clr>
        </p15:guide>
        <p15:guide id="9" orient="horz" pos="24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D42FEC1B-FCF8-4508-B227-27323879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2358867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352425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737133" y="1686756"/>
            <a:ext cx="214876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737134" y="2674396"/>
            <a:ext cx="214876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06107" y="1686756"/>
            <a:ext cx="214876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06108" y="2674396"/>
            <a:ext cx="214876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867410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875080" y="1676706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875081" y="2664346"/>
            <a:ext cx="2358867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DF11BA-BD6E-E14D-A115-587308DBF4A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6" name="Picture 25" descr="The University of Iowa">
            <a:extLst>
              <a:ext uri="{FF2B5EF4-FFF2-40B4-BE49-F238E27FC236}">
                <a16:creationId xmlns:a16="http://schemas.microsoft.com/office/drawing/2014/main" id="{178B6A3E-B578-0F40-9695-2E975D126F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9253C989-F49D-8D4D-BFD5-ECCB6E59B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2614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3E476F-E407-4406-BB4F-38E5453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1686758"/>
            <a:ext cx="183508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850484"/>
            <a:ext cx="1835088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>
            <a:cxnSpLocks/>
          </p:cNvCxnSpPr>
          <p:nvPr userDrawn="1"/>
        </p:nvCxnSpPr>
        <p:spPr>
          <a:xfrm>
            <a:off x="3011869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CA73044-ABA5-4A68-81D4-75723F104CF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229003" y="1686758"/>
            <a:ext cx="162430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69FEDBA-37CD-4D7E-A729-6821E598E67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2900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5066192" y="1686759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96DFA0C-E450-4893-8C79-6243F569798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281223" y="1686758"/>
            <a:ext cx="1617953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9D9C274-DDDD-4725-8A7B-113147DD783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28122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>
            <a:cxnSpLocks/>
          </p:cNvCxnSpPr>
          <p:nvPr userDrawn="1"/>
        </p:nvCxnSpPr>
        <p:spPr>
          <a:xfrm>
            <a:off x="7131909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93742B6-D009-4AB4-BBDC-24522E901BB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349043" y="1686758"/>
            <a:ext cx="1617953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0357619-5F6A-4C63-90C3-32B37CE73C9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34904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F5ADDF-F780-4384-87F4-30070C81BB29}"/>
              </a:ext>
            </a:extLst>
          </p:cNvPr>
          <p:cNvCxnSpPr>
            <a:cxnSpLocks/>
          </p:cNvCxnSpPr>
          <p:nvPr userDrawn="1"/>
        </p:nvCxnSpPr>
        <p:spPr>
          <a:xfrm>
            <a:off x="918413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35F8812-D495-478D-828C-D8CF0753EEB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401266" y="1686758"/>
            <a:ext cx="183508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38FA747-D085-4909-A6FE-575A5C65242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401267" y="2850484"/>
            <a:ext cx="183823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4AB6F8-D05F-8E40-A637-083D1274FB35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8" name="Picture 37" descr="The University of Iowa">
            <a:extLst>
              <a:ext uri="{FF2B5EF4-FFF2-40B4-BE49-F238E27FC236}">
                <a16:creationId xmlns:a16="http://schemas.microsoft.com/office/drawing/2014/main" id="{03F28A08-B979-7F4D-A857-AE155CAB0E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48092FCE-E544-874D-A440-7B68904C3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39371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1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83F529D-C880-45A0-81D8-FD2CC04E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10288587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10288586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309830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BC08D86-557A-4EB7-B2A4-0782689B99D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2" y="3291760"/>
            <a:ext cx="10288587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23E50C5-092D-4191-9A0B-F3C51561D56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504" y="3725012"/>
            <a:ext cx="10288586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4520213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E524A13-F71C-45F7-92E6-985C4CB9E3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2504" y="4753992"/>
            <a:ext cx="10288587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CA7FF6D-951D-4682-9C40-A6BB36ABEA8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2506" y="5187244"/>
            <a:ext cx="10288586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E76717-4761-EC4B-BDB1-C130638E59C3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0" name="Picture 19" descr="The University of Iowa">
            <a:extLst>
              <a:ext uri="{FF2B5EF4-FFF2-40B4-BE49-F238E27FC236}">
                <a16:creationId xmlns:a16="http://schemas.microsoft.com/office/drawing/2014/main" id="{40242CE7-09BD-8143-AE27-4BF193790A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F415A2A-5C4A-BE45-8CAF-820EC97BE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40878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3A9A771B-4FFF-4EBF-A07A-0D6292AC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1686758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309830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BC08D86-557A-4EB7-B2A4-0782689B99D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3" y="3291760"/>
            <a:ext cx="4755838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23E50C5-092D-4191-9A0B-F3C51561D56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504" y="3725012"/>
            <a:ext cx="4755838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4520213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E524A13-F71C-45F7-92E6-985C4CB9E3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2505" y="4753992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CA7FF6D-951D-4682-9C40-A6BB36ABEA8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2506" y="5187244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23041F-D604-4688-B75A-90D37AFDDB0E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7B91F83-8428-4E5A-9C88-17829B687B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83696" y="1688512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DB1D581-6D4C-4716-AE96-DBB4F953B95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83697" y="2121764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79BA4B0-A083-4A1F-9D3B-A041B59E7C2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83698" y="3293514"/>
            <a:ext cx="4755838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FDD4A4D-E1FC-4E83-A8AA-A324B6B0E44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83699" y="3726766"/>
            <a:ext cx="4755838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E8E7D5C-ACCB-47E6-A3F5-6F3F51A0F37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83700" y="4755746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59D9DC4-BB53-4441-9B74-84922B36994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83701" y="5188998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74845D-2BF0-2740-9880-8D2B0EBB22B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9" name="Picture 38" descr="The University of Iowa">
            <a:extLst>
              <a:ext uri="{FF2B5EF4-FFF2-40B4-BE49-F238E27FC236}">
                <a16:creationId xmlns:a16="http://schemas.microsoft.com/office/drawing/2014/main" id="{0BB6734F-670C-234F-9B83-4953BF83C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7695749F-B8A1-694A-8E96-E3DE4B0E9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35829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31EE2C71-E6FD-4A5F-BC00-7290049C4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2760956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FC9698A-599E-4227-BA19-18EFBBF3E0D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4094" y="2904080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B470A9-B821-4D01-8FB4-31DF303421A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4096" y="3337333"/>
            <a:ext cx="4772003" cy="30491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3792244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C507C81-6817-4069-BC84-0CE4705AE16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54098" y="3970621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4103820-8C7A-497C-BCBA-2CFEB4549C8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54100" y="4403874"/>
            <a:ext cx="4772003" cy="3109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1CE437-6AD8-4170-8DC8-66894266CE06}"/>
              </a:ext>
            </a:extLst>
          </p:cNvPr>
          <p:cNvCxnSpPr/>
          <p:nvPr userDrawn="1"/>
        </p:nvCxnSpPr>
        <p:spPr>
          <a:xfrm>
            <a:off x="952506" y="488567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C02F409-DCF5-4241-BB5E-6E37CC8D351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4096" y="5089029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AC426E8-7005-475F-BC32-B5F0BA7A8A4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4098" y="5522281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222804C-AFDD-4E8C-BFDC-31326A2127FA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6342B0E-1F8B-4D4C-ABA7-E43BC2B3F4A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67495" y="1688232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CF3285B-83DB-4917-9F24-EC0C964DE403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67497" y="2121484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88D8B1-0044-4EC5-B4CD-DB1095F378A4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69089" y="2905554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F6100E2-DAE8-4111-AF37-8909AA389FC1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69091" y="3338807"/>
            <a:ext cx="4772003" cy="30491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0B1E9EC-56B4-4514-B189-24BD47F549F3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469093" y="3972095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685484E-408B-4771-9259-BAAC2A6E601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469095" y="4405348"/>
            <a:ext cx="4772003" cy="3109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EE05AF1-1486-45F2-B87D-2AE555B8D1C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469091" y="5090503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2C4B0E5-3C7E-4BC2-AA92-4156C26C91F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469093" y="5523755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480C56-313A-5C4D-A02B-5C10621A5061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9" name="Picture 38" descr="The University of Iowa">
            <a:extLst>
              <a:ext uri="{FF2B5EF4-FFF2-40B4-BE49-F238E27FC236}">
                <a16:creationId xmlns:a16="http://schemas.microsoft.com/office/drawing/2014/main" id="{58CA1799-4AEA-D247-8458-F8440E4030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FFD2AE71-6126-9A49-BF5D-602677416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68536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F947D672-DDE7-4F36-B79C-4245C5D1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238480"/>
            <a:ext cx="4800219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B9F7B-CC85-4936-BE2A-DF6B8BF46018}"/>
              </a:ext>
            </a:extLst>
          </p:cNvPr>
          <p:cNvCxnSpPr/>
          <p:nvPr userDrawn="1"/>
        </p:nvCxnSpPr>
        <p:spPr>
          <a:xfrm>
            <a:off x="949325" y="3790765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FA8ABE-0B6C-4930-94A9-A2BB4166E51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58052" y="4209907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7E91DB8-4856-4AED-8362-60627F681EE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58053" y="4761629"/>
            <a:ext cx="4800219" cy="11819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9384"/>
            <a:ext cx="0" cy="42727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33724" y="1676706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3725" y="2228428"/>
            <a:ext cx="4800224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6BD4A33-C7CC-4380-A2BB-ECC6C2FB722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39276" y="4199855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CD0BB64-6643-42CE-AFE7-372305F2123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39277" y="4751577"/>
            <a:ext cx="4800224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D606F0-071A-A842-B316-9BEBD143AC36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8" name="Picture 27" descr="The University of Iowa">
            <a:extLst>
              <a:ext uri="{FF2B5EF4-FFF2-40B4-BE49-F238E27FC236}">
                <a16:creationId xmlns:a16="http://schemas.microsoft.com/office/drawing/2014/main" id="{9AAD4B2F-0082-B749-BE09-2EC20A6C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BD920E71-4E45-E74F-B01A-DC16C3B80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748418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2400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tat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9080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52" name="Picture Placeholder 50">
            <a:extLst>
              <a:ext uri="{FF2B5EF4-FFF2-40B4-BE49-F238E27FC236}">
                <a16:creationId xmlns:a16="http://schemas.microsoft.com/office/drawing/2014/main" id="{8D984633-F962-1848-A009-619CB821163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7173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DE3AB4-3020-8D45-86B7-592F12CB716B}"/>
              </a:ext>
            </a:extLst>
          </p:cNvPr>
          <p:cNvCxnSpPr>
            <a:cxnSpLocks/>
          </p:cNvCxnSpPr>
          <p:nvPr userDrawn="1"/>
        </p:nvCxnSpPr>
        <p:spPr>
          <a:xfrm>
            <a:off x="896513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C4E94AD-16D9-BE4C-8C57-CFA6654E1BD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9080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64293C0-60B2-3341-9C38-86DF7ACA51DC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582471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25" name="Picture Placeholder 50">
            <a:extLst>
              <a:ext uri="{FF2B5EF4-FFF2-40B4-BE49-F238E27FC236}">
                <a16:creationId xmlns:a16="http://schemas.microsoft.com/office/drawing/2014/main" id="{3ED87A8B-0573-474F-94C0-2F7E344853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80564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99B91B-7CDD-284B-99CF-8408146B2C0D}"/>
              </a:ext>
            </a:extLst>
          </p:cNvPr>
          <p:cNvCxnSpPr>
            <a:cxnSpLocks/>
          </p:cNvCxnSpPr>
          <p:nvPr userDrawn="1"/>
        </p:nvCxnSpPr>
        <p:spPr>
          <a:xfrm>
            <a:off x="4539904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B67D17-F456-FC43-9C41-9344D6EEB07B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582471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0F6E28A-AB38-A64F-9481-C9F0437BFEA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225863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29" name="Picture Placeholder 50">
            <a:extLst>
              <a:ext uri="{FF2B5EF4-FFF2-40B4-BE49-F238E27FC236}">
                <a16:creationId xmlns:a16="http://schemas.microsoft.com/office/drawing/2014/main" id="{106DB928-4AE1-4E4B-9A4C-6062FC24770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23956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F7D2B0-E449-FD45-9789-FC204088E97C}"/>
              </a:ext>
            </a:extLst>
          </p:cNvPr>
          <p:cNvCxnSpPr>
            <a:cxnSpLocks/>
          </p:cNvCxnSpPr>
          <p:nvPr userDrawn="1"/>
        </p:nvCxnSpPr>
        <p:spPr>
          <a:xfrm>
            <a:off x="8183296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6FE37F4-1DCF-2D40-845F-6C10AC016C29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25863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1B24E-B6B2-2D4F-8CE9-C10E33FBF4C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9C14D290-718E-D94D-BEC3-A2B3F3F54C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5387E550-EB5F-3F4A-9BFA-44D25611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b="0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1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7A2738-1D29-40DE-AACF-F60CD708E892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D1ADFA24-184F-46B9-B1D0-3FBB044F3673}"/>
              </a:ext>
            </a:extLst>
          </p:cNvPr>
          <p:cNvSpPr/>
          <p:nvPr userDrawn="1"/>
        </p:nvSpPr>
        <p:spPr>
          <a:xfrm>
            <a:off x="1664749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C306F30-B3C1-E74C-B18C-7075DB0761D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953910" y="2337468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4078664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F9D861-0550-4AC8-BB96-094DAF60B7F4}"/>
              </a:ext>
            </a:extLst>
          </p:cNvPr>
          <p:cNvSpPr/>
          <p:nvPr userDrawn="1"/>
        </p:nvSpPr>
        <p:spPr>
          <a:xfrm>
            <a:off x="5231950" y="2050741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4382C3D7-6E45-864C-A5B5-39762336A48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500171" y="2310547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4078664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01DA23-83F7-4662-BC02-2666717C53B4}"/>
              </a:ext>
            </a:extLst>
          </p:cNvPr>
          <p:cNvSpPr/>
          <p:nvPr userDrawn="1"/>
        </p:nvSpPr>
        <p:spPr>
          <a:xfrm>
            <a:off x="8775763" y="2050741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E1CEA20-24A4-8C45-B5A6-CE111F714FE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6432" y="2299135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4078663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1B24E-B6B2-2D4F-8CE9-C10E33FBF4C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9C14D290-718E-D94D-BEC3-A2B3F3F54C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5387E550-EB5F-3F4A-9BFA-44D25611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951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B9DD2E6-4011-470E-85A1-9331B2E2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6361F7-376B-4B6B-90CB-982F8C88D3AB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7215D4C-D1BA-4B83-8034-F6173B4B3FE7}"/>
              </a:ext>
            </a:extLst>
          </p:cNvPr>
          <p:cNvSpPr/>
          <p:nvPr userDrawn="1"/>
        </p:nvSpPr>
        <p:spPr>
          <a:xfrm>
            <a:off x="1260812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0A1A4191-73C5-A24C-B85A-D6F8FC57252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40727" y="2311683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C06C296-F787-402D-AC65-1E55B4D25C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52500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934B1-C1CC-42D5-A8D8-639ED39E9A45}"/>
              </a:ext>
            </a:extLst>
          </p:cNvPr>
          <p:cNvSpPr/>
          <p:nvPr userDrawn="1"/>
        </p:nvSpPr>
        <p:spPr>
          <a:xfrm>
            <a:off x="3935830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D7A0C8CB-AE00-AE4E-8B06-C3CDA2E8A6B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1796" y="2280863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7F2CE8-9E91-4C86-99AB-686A9C81041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627518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542B3E-45A5-4E88-A2C5-758AC86BE4D0}"/>
              </a:ext>
            </a:extLst>
          </p:cNvPr>
          <p:cNvSpPr/>
          <p:nvPr userDrawn="1"/>
        </p:nvSpPr>
        <p:spPr>
          <a:xfrm>
            <a:off x="6513929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ED777B6-C788-B840-ACC3-FD8949E42A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793844" y="2309972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C06D7C8-7D2D-4A80-B5B8-174F5056AA0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205617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4B0597-6276-471F-96FD-FDE08D64C524}"/>
              </a:ext>
            </a:extLst>
          </p:cNvPr>
          <p:cNvSpPr/>
          <p:nvPr userDrawn="1"/>
        </p:nvSpPr>
        <p:spPr>
          <a:xfrm>
            <a:off x="9188946" y="2045132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04C4E3A7-AB8A-6243-BBFD-8A433C7847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73607" y="2311684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FC2F9F8-450A-4433-BAFC-DCD0001FAF1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880634" y="4073057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78BB7-B3A6-0D4A-A743-C8950F9817AE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0" name="Picture 19" descr="The University of Iowa">
            <a:extLst>
              <a:ext uri="{FF2B5EF4-FFF2-40B4-BE49-F238E27FC236}">
                <a16:creationId xmlns:a16="http://schemas.microsoft.com/office/drawing/2014/main" id="{6D319038-0896-5540-A405-0F93F52CC9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CF5779A1-5C1A-D949-93A6-EFB401BFC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389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7E2EA4D-EFA8-4B7C-9585-ADB07DA2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6361F7-376B-4B6B-90CB-982F8C88D3AB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7215D4C-D1BA-4B83-8034-F6173B4B3FE7}"/>
              </a:ext>
            </a:extLst>
          </p:cNvPr>
          <p:cNvSpPr/>
          <p:nvPr userDrawn="1"/>
        </p:nvSpPr>
        <p:spPr>
          <a:xfrm>
            <a:off x="1175438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E2F4087-739F-1B43-B022-92BCEDD29A2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48972" y="2403497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C06C296-F787-402D-AC65-1E55B4D25C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175438" y="4078664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934B1-C1CC-42D5-A8D8-639ED39E9A45}"/>
              </a:ext>
            </a:extLst>
          </p:cNvPr>
          <p:cNvSpPr/>
          <p:nvPr userDrawn="1"/>
        </p:nvSpPr>
        <p:spPr>
          <a:xfrm>
            <a:off x="3222122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090A73C4-9F43-6142-BBC5-1C887BE310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2864" y="2384080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B9DF875-9EAF-4928-8E91-6599CCEAADEE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225991" y="4080927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542B3E-45A5-4E88-A2C5-758AC86BE4D0}"/>
              </a:ext>
            </a:extLst>
          </p:cNvPr>
          <p:cNvSpPr/>
          <p:nvPr userDrawn="1"/>
        </p:nvSpPr>
        <p:spPr>
          <a:xfrm>
            <a:off x="5305996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121B32AC-29FE-5347-BC89-E1D12CFE917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88241" y="2367425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CAF8AD6-3AD0-422C-B775-D4163897266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285614" y="4095574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4B0597-6276-471F-96FD-FDE08D64C524}"/>
              </a:ext>
            </a:extLst>
          </p:cNvPr>
          <p:cNvSpPr/>
          <p:nvPr userDrawn="1"/>
        </p:nvSpPr>
        <p:spPr>
          <a:xfrm>
            <a:off x="7346820" y="2120050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035F86CE-4040-2C49-984A-EDA41DCC41D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83252" y="2382067"/>
            <a:ext cx="1121725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7322EF39-6BE8-4D2B-B814-5743037B71F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325607" y="4098102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4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182B05-A7F1-450F-AE61-51425BEF3AA6}"/>
              </a:ext>
            </a:extLst>
          </p:cNvPr>
          <p:cNvSpPr/>
          <p:nvPr userDrawn="1"/>
        </p:nvSpPr>
        <p:spPr>
          <a:xfrm>
            <a:off x="9434872" y="2133924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0B4205C-10C8-FE4A-8B1C-0B1A629E22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82000" y="2389427"/>
            <a:ext cx="1100333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0D14923E-7CAE-49B7-9668-7B538ECFDC5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419080" y="4107460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866093-3200-6440-8AB2-9242D398F84E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D664CA64-A0A9-F34D-BDC5-9ABCDE7A54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EB50283A-D398-E048-BDA3-92DD544A4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b="0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07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C29AABA-668F-408C-81ED-9A30ED0A4B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9325" y="1684461"/>
            <a:ext cx="3170238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3548916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4383805"/>
            <a:ext cx="3166740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4376691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C3EF38F-8A6A-4B49-A1A2-467E7797A5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02447" y="1677611"/>
            <a:ext cx="2987311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3537679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6386" y="4372568"/>
            <a:ext cx="2973372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7806430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DDD8951C-5A36-4D07-AB7C-0F597B3D797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72642" y="1684461"/>
            <a:ext cx="3166858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3537679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63515" y="4372568"/>
            <a:ext cx="3166740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DAB539-1500-4641-B587-77CADD883496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6" name="Picture 25" descr="The University of Iowa">
            <a:extLst>
              <a:ext uri="{FF2B5EF4-FFF2-40B4-BE49-F238E27FC236}">
                <a16:creationId xmlns:a16="http://schemas.microsoft.com/office/drawing/2014/main" id="{425DB221-2568-9A44-ABC3-1ED0E0B41E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6E30D721-4805-D344-A3E0-90A8F1D56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64682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697">
          <p15:clr>
            <a:srgbClr val="FBAE40"/>
          </p15:clr>
        </p15:guide>
        <p15:guide id="9" orient="horz" pos="240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D42FEC1B-FCF8-4508-B227-27323879AC5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E21D4365-BAA8-4F76-87AD-1A328301E29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9325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1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344118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EB10E167-B94B-AD40-958C-D9E0F8F9DF4A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3593362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03DF098-BB37-5848-9388-750D29EFC657}"/>
              </a:ext>
            </a:extLst>
          </p:cNvPr>
          <p:cNvSpPr>
            <a:spLocks noGrp="1"/>
          </p:cNvSpPr>
          <p:nvPr userDrawn="1">
            <p:ph idx="24" hasCustomPrompt="1"/>
          </p:nvPr>
        </p:nvSpPr>
        <p:spPr>
          <a:xfrm>
            <a:off x="3630386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FE4DEF0-41BC-4548-B7BA-1E5B0231AFFD}"/>
              </a:ext>
            </a:extLst>
          </p:cNvPr>
          <p:cNvSpPr>
            <a:spLocks noGrp="1"/>
          </p:cNvSpPr>
          <p:nvPr userDrawn="1">
            <p:ph idx="25" hasCustomPrompt="1"/>
          </p:nvPr>
        </p:nvSpPr>
        <p:spPr>
          <a:xfrm>
            <a:off x="3630387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/>
          <p:nvPr userDrawn="1"/>
        </p:nvCxnSpPr>
        <p:spPr>
          <a:xfrm>
            <a:off x="609574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864CDDAA-23B4-C842-845C-7640D95F2B65}"/>
              </a:ext>
            </a:extLst>
          </p:cNvPr>
          <p:cNvSpPr>
            <a:spLocks noGrp="1"/>
          </p:cNvSpPr>
          <p:nvPr userDrawn="1">
            <p:ph type="pic" sz="quarter" idx="26"/>
          </p:nvPr>
        </p:nvSpPr>
        <p:spPr>
          <a:xfrm>
            <a:off x="6237399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EB8CCE3-3756-5947-84B2-DFCA00A013F6}"/>
              </a:ext>
            </a:extLst>
          </p:cNvPr>
          <p:cNvSpPr>
            <a:spLocks noGrp="1"/>
          </p:cNvSpPr>
          <p:nvPr userDrawn="1">
            <p:ph idx="27" hasCustomPrompt="1"/>
          </p:nvPr>
        </p:nvSpPr>
        <p:spPr>
          <a:xfrm>
            <a:off x="6242957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9C56F7D-4836-1E4F-BD4C-CB150E12E098}"/>
              </a:ext>
            </a:extLst>
          </p:cNvPr>
          <p:cNvSpPr>
            <a:spLocks noGrp="1"/>
          </p:cNvSpPr>
          <p:nvPr userDrawn="1">
            <p:ph idx="28" hasCustomPrompt="1"/>
          </p:nvPr>
        </p:nvSpPr>
        <p:spPr>
          <a:xfrm>
            <a:off x="6242958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875030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6A5C640-1D0E-4428-AC28-148AE98A7B34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8881435" y="1680693"/>
            <a:ext cx="2349365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 userDrawn="1">
            <p:ph idx="15" hasCustomPrompt="1"/>
          </p:nvPr>
        </p:nvSpPr>
        <p:spPr>
          <a:xfrm>
            <a:off x="8875080" y="3548916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 userDrawn="1">
            <p:ph idx="16" hasCustomPrompt="1"/>
          </p:nvPr>
        </p:nvSpPr>
        <p:spPr>
          <a:xfrm>
            <a:off x="8875081" y="4362520"/>
            <a:ext cx="2358867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720753-9BFD-2840-9C93-FF72942ED6E3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2" name="Picture 31" descr="The University of Iowa">
            <a:extLst>
              <a:ext uri="{FF2B5EF4-FFF2-40B4-BE49-F238E27FC236}">
                <a16:creationId xmlns:a16="http://schemas.microsoft.com/office/drawing/2014/main" id="{710BB67D-293B-374F-89FC-5F2EBF9F2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EE9B966-22C9-0D4A-8DF7-FFA7CF9C9DD8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7002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3E476F-E407-4406-BB4F-38E5453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14F11A61-EE32-4596-8BBC-0626131F1E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52499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>
            <a:cxnSpLocks/>
          </p:cNvCxnSpPr>
          <p:nvPr userDrawn="1"/>
        </p:nvCxnSpPr>
        <p:spPr>
          <a:xfrm>
            <a:off x="292478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10B80E7E-3ECA-A84C-BBC2-DF9FD6DED4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053442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AB9C78E2-4679-F844-BB37-D2E07B542CA3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3053444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F3EA205-7109-BC44-BA2C-7704780449E8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053445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5036631" y="1686759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4EF24A51-2D82-AA40-8405-8CFEC6F5CB5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87042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90D707E7-5635-444F-BB41-10E2268CC09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87044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340EF3F-9B6C-B54B-94AD-7275543213B0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5187045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>
            <a:cxnSpLocks/>
          </p:cNvCxnSpPr>
          <p:nvPr userDrawn="1"/>
        </p:nvCxnSpPr>
        <p:spPr>
          <a:xfrm>
            <a:off x="714848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4D703A3B-87F3-AE45-90D2-795F9DA8857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66213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5C95157B-C7FC-864F-A9C2-08E02E26EE07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7266215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71E05108-E0DC-6947-A186-EA5436079AA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7266216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F5ADDF-F780-4384-87F4-30070C81BB29}"/>
              </a:ext>
            </a:extLst>
          </p:cNvPr>
          <p:cNvCxnSpPr>
            <a:cxnSpLocks/>
          </p:cNvCxnSpPr>
          <p:nvPr userDrawn="1"/>
        </p:nvCxnSpPr>
        <p:spPr>
          <a:xfrm>
            <a:off x="926033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90B3032-DDF8-0446-8BB7-81565519E03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410699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724287DA-FEAD-6E4A-83EC-B59516E2386C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9410701" y="3545060"/>
            <a:ext cx="1826629" cy="67511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4FC143B3-231A-2B46-ABBF-7F6B6BBF4596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9410702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4E17D8-CAFF-0E47-97EF-4D4BC59FFC70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43" name="Picture 42" descr="The University of Iowa">
            <a:extLst>
              <a:ext uri="{FF2B5EF4-FFF2-40B4-BE49-F238E27FC236}">
                <a16:creationId xmlns:a16="http://schemas.microsoft.com/office/drawing/2014/main" id="{924E35CA-EA2E-084A-B4D2-736FEA8C0D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D752B61A-80FF-1049-8A33-5614EE9DC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35456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0">
            <a:extLst>
              <a:ext uri="{FF2B5EF4-FFF2-40B4-BE49-F238E27FC236}">
                <a16:creationId xmlns:a16="http://schemas.microsoft.com/office/drawing/2014/main" id="{2BA8F287-92C7-4FFD-A7E9-45864F8E9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9325" y="498296"/>
            <a:ext cx="5260975" cy="89611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31F03A-71CF-475D-8A3C-99FC106D73E8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7404DB8-B6AC-4389-8E6E-A115840D1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5257801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2EEDE3-0B18-E049-BE23-974E50C7297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71534" y="0"/>
            <a:ext cx="5029200" cy="638951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20F7CB-393D-BF45-B52D-542FDDEFCAF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9CE5618D-3613-E04D-A815-ED9A2C5AA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35C85E8-314E-3E45-BB26-1A95C606F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25500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3912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orient="horz" pos="1056" userDrawn="1">
          <p15:clr>
            <a:srgbClr val="FBAE40"/>
          </p15:clr>
        </p15:guide>
        <p15:guide id="6" orient="horz" pos="697" userDrawn="1">
          <p15:clr>
            <a:srgbClr val="FBAE40"/>
          </p15:clr>
        </p15:guide>
        <p15:guide id="7" orient="horz" pos="240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- 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524483D-CFE3-E34D-BB74-CEDD5417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365125"/>
            <a:ext cx="5254505" cy="1331865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28F420-DDD1-5E4A-9513-EAE252D759FE}"/>
              </a:ext>
            </a:extLst>
          </p:cNvPr>
          <p:cNvCxnSpPr>
            <a:cxnSpLocks/>
          </p:cNvCxnSpPr>
          <p:nvPr userDrawn="1"/>
        </p:nvCxnSpPr>
        <p:spPr>
          <a:xfrm>
            <a:off x="952500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5D1D7B4-E242-C142-8F5F-F3301CC0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962386"/>
            <a:ext cx="5266450" cy="3981214"/>
          </a:xfrm>
        </p:spPr>
        <p:txBody>
          <a:bodyPr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Font typeface="Roboto" panose="02000000000000000000" pitchFamily="2" charset="0"/>
              <a:buChar char="–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buClr>
                <a:schemeClr val="tx2"/>
              </a:buCl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4FCC643-718F-7645-8F8D-0BFC94D050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59502" y="0"/>
            <a:ext cx="2483404" cy="31914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1C31617-CC11-4C42-B6D0-164DF6AFBF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13630" y="0"/>
            <a:ext cx="2483404" cy="31914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5CE386-BEFE-FE49-A675-D93BEDF680B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9502" y="3260862"/>
            <a:ext cx="5032499" cy="312864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icon to add picture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24DFA0-3257-B044-87EF-16154359E2FC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9" name="Picture 18" descr="The University of Iowa">
            <a:extLst>
              <a:ext uri="{FF2B5EF4-FFF2-40B4-BE49-F238E27FC236}">
                <a16:creationId xmlns:a16="http://schemas.microsoft.com/office/drawing/2014/main" id="{87382191-DF4D-7341-915C-9C10445352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21405B1-B61E-0943-909C-EFA16B5EE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338072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3926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orient="horz" pos="240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4273"/>
            <a:ext cx="10290175" cy="869089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 userDrawn="1"/>
        </p:nvCxnSpPr>
        <p:spPr>
          <a:xfrm>
            <a:off x="949325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DF1F65E7-1CB7-3D42-91A9-88DA4E58EB0E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49325" y="1570038"/>
            <a:ext cx="10290175" cy="4114800"/>
          </a:xfrm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56D074-0631-F846-A2A3-4A39FEAEFDD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F53BBB5F-6629-C742-91EE-40B5B8BC1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3AC09A7-82B4-6B47-A4FB-CA6800EAF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42765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 userDrawn="1">
          <p15:clr>
            <a:srgbClr val="FBAE40"/>
          </p15:clr>
        </p15:guide>
        <p15:guide id="3" pos="708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C533B8E-DBF3-664D-901D-8735DE775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081" y="3367173"/>
            <a:ext cx="7163317" cy="1160369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 userDrawn="1"/>
        </p:nvCxnSpPr>
        <p:spPr>
          <a:xfrm>
            <a:off x="974126" y="3029213"/>
            <a:ext cx="768531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3873935-43A0-4C23-AC45-B3EF69B18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28383" y="3029213"/>
            <a:ext cx="2687038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Contact Person Title </a:t>
            </a:r>
          </a:p>
          <a:p>
            <a:pPr lvl="0"/>
            <a:r>
              <a:rPr lang="en-US" dirty="0"/>
              <a:t>Contact Person Unit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Phone: </a:t>
            </a:r>
          </a:p>
          <a:p>
            <a:pPr lvl="0"/>
            <a:r>
              <a:rPr lang="en-US" dirty="0"/>
              <a:t>Fax: 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CD65-4DC5-40D8-89A9-EBA0997790E8}"/>
              </a:ext>
            </a:extLst>
          </p:cNvPr>
          <p:cNvSpPr/>
          <p:nvPr userDrawn="1"/>
        </p:nvSpPr>
        <p:spPr>
          <a:xfrm>
            <a:off x="949325" y="5019085"/>
            <a:ext cx="31890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8018-43AE-4329-BACA-C859C7CFF4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8233" y="5019085"/>
            <a:ext cx="2231701" cy="369332"/>
          </a:xfrm>
          <a:solidFill>
            <a:schemeClr val="tx1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 dirty="0"/>
              <a:t>Insert Web Address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262A30-5EEC-5549-B428-7E5B11A5D7A7}"/>
              </a:ext>
            </a:extLst>
          </p:cNvPr>
          <p:cNvGrpSpPr/>
          <p:nvPr userDrawn="1"/>
        </p:nvGrpSpPr>
        <p:grpSpPr>
          <a:xfrm>
            <a:off x="1071271" y="5122118"/>
            <a:ext cx="142379" cy="150373"/>
            <a:chOff x="3057746" y="812006"/>
            <a:chExt cx="173610" cy="183357"/>
          </a:xfrm>
          <a:noFill/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699B573-1E8F-3547-9D64-50A2EC630F1F}"/>
                </a:ext>
              </a:extLst>
            </p:cNvPr>
            <p:cNvCxnSpPr/>
            <p:nvPr userDrawn="1"/>
          </p:nvCxnSpPr>
          <p:spPr>
            <a:xfrm>
              <a:off x="3057746" y="904875"/>
              <a:ext cx="173610" cy="0"/>
            </a:xfrm>
            <a:prstGeom prst="line">
              <a:avLst/>
            </a:prstGeom>
            <a:grp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68F32139-4BAE-F54C-8358-EF5839C5813E}"/>
                </a:ext>
              </a:extLst>
            </p:cNvPr>
            <p:cNvSpPr/>
            <p:nvPr userDrawn="1"/>
          </p:nvSpPr>
          <p:spPr>
            <a:xfrm>
              <a:off x="3143250" y="812006"/>
              <a:ext cx="85725" cy="183357"/>
            </a:xfrm>
            <a:custGeom>
              <a:avLst/>
              <a:gdLst>
                <a:gd name="connsiteX0" fmla="*/ 4763 w 85725"/>
                <a:gd name="connsiteY0" fmla="*/ 0 h 183357"/>
                <a:gd name="connsiteX1" fmla="*/ 85725 w 85725"/>
                <a:gd name="connsiteY1" fmla="*/ 92869 h 183357"/>
                <a:gd name="connsiteX2" fmla="*/ 0 w 85725"/>
                <a:gd name="connsiteY2" fmla="*/ 183357 h 18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" h="183357">
                  <a:moveTo>
                    <a:pt x="4763" y="0"/>
                  </a:moveTo>
                  <a:lnTo>
                    <a:pt x="85725" y="92869"/>
                  </a:lnTo>
                  <a:lnTo>
                    <a:pt x="0" y="183357"/>
                  </a:lnTo>
                </a:path>
              </a:pathLst>
            </a:custGeom>
            <a:grp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B1807D8-E6B4-C743-A4EC-22D5E04798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28383" y="0"/>
            <a:ext cx="2687038" cy="1279542"/>
          </a:xfrm>
          <a:prstGeom prst="rect">
            <a:avLst/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D36833F-B2C7-1C49-9947-A60C1ACB0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6096" y="2463764"/>
            <a:ext cx="7157006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638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-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47420D0-6FF1-9C4A-B953-EA4EEABBA3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081" y="3367173"/>
            <a:ext cx="7163317" cy="1160369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 userDrawn="1"/>
        </p:nvCxnSpPr>
        <p:spPr>
          <a:xfrm>
            <a:off x="974126" y="3029213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3873935-43A0-4C23-AC45-B3EF69B18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25016" y="3029213"/>
            <a:ext cx="2693773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Contact Person Title </a:t>
            </a:r>
          </a:p>
          <a:p>
            <a:pPr lvl="0"/>
            <a:r>
              <a:rPr lang="en-US" dirty="0"/>
              <a:t>Contact Person Unit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Phone: </a:t>
            </a:r>
          </a:p>
          <a:p>
            <a:pPr lvl="0"/>
            <a:r>
              <a:rPr lang="en-US" dirty="0"/>
              <a:t>Fax: 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CD65-4DC5-40D8-89A9-EBA0997790E8}"/>
              </a:ext>
            </a:extLst>
          </p:cNvPr>
          <p:cNvSpPr/>
          <p:nvPr userDrawn="1"/>
        </p:nvSpPr>
        <p:spPr>
          <a:xfrm>
            <a:off x="949325" y="5019085"/>
            <a:ext cx="318908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8018-43AE-4329-BACA-C859C7CFF4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8233" y="5019085"/>
            <a:ext cx="2231701" cy="369332"/>
          </a:xfrm>
          <a:solidFill>
            <a:schemeClr val="accent1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 dirty="0"/>
              <a:t>Insert Web Address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25728D-FF50-4FF2-AC2E-B13A3D44D5B9}"/>
              </a:ext>
            </a:extLst>
          </p:cNvPr>
          <p:cNvGrpSpPr/>
          <p:nvPr/>
        </p:nvGrpSpPr>
        <p:grpSpPr>
          <a:xfrm>
            <a:off x="1071271" y="5122118"/>
            <a:ext cx="142379" cy="150373"/>
            <a:chOff x="3057746" y="812006"/>
            <a:chExt cx="173610" cy="183357"/>
          </a:xfrm>
          <a:noFill/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8A6E0DE-15E0-485B-8083-6D1BB965B9B6}"/>
                </a:ext>
              </a:extLst>
            </p:cNvPr>
            <p:cNvCxnSpPr/>
            <p:nvPr userDrawn="1"/>
          </p:nvCxnSpPr>
          <p:spPr>
            <a:xfrm>
              <a:off x="3057746" y="904875"/>
              <a:ext cx="17361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4EFEE4-DF1C-4FDF-ABC6-804BF8FA2941}"/>
                </a:ext>
              </a:extLst>
            </p:cNvPr>
            <p:cNvSpPr/>
            <p:nvPr userDrawn="1"/>
          </p:nvSpPr>
          <p:spPr>
            <a:xfrm>
              <a:off x="3143250" y="812006"/>
              <a:ext cx="85725" cy="183357"/>
            </a:xfrm>
            <a:custGeom>
              <a:avLst/>
              <a:gdLst>
                <a:gd name="connsiteX0" fmla="*/ 4763 w 85725"/>
                <a:gd name="connsiteY0" fmla="*/ 0 h 183357"/>
                <a:gd name="connsiteX1" fmla="*/ 85725 w 85725"/>
                <a:gd name="connsiteY1" fmla="*/ 92869 h 183357"/>
                <a:gd name="connsiteX2" fmla="*/ 0 w 85725"/>
                <a:gd name="connsiteY2" fmla="*/ 183357 h 18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" h="183357">
                  <a:moveTo>
                    <a:pt x="4763" y="0"/>
                  </a:moveTo>
                  <a:lnTo>
                    <a:pt x="85725" y="92869"/>
                  </a:lnTo>
                  <a:lnTo>
                    <a:pt x="0" y="183357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 descr="The University of Iowa">
            <a:extLst>
              <a:ext uri="{FF2B5EF4-FFF2-40B4-BE49-F238E27FC236}">
                <a16:creationId xmlns:a16="http://schemas.microsoft.com/office/drawing/2014/main" id="{6179B039-C5FC-F04C-AB21-BEF980B032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0E4C36A-C453-EE4B-A1E5-D1232C361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6096" y="2463764"/>
            <a:ext cx="7157006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4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WA Logo wit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B993FB4-4336-2048-A6A4-FA306EBBE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485842"/>
            <a:ext cx="10515600" cy="89611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Closing Slide Header</a:t>
            </a:r>
          </a:p>
        </p:txBody>
      </p:sp>
      <p:pic>
        <p:nvPicPr>
          <p:cNvPr id="4" name="Picture 3" descr="The University of Iowa">
            <a:extLst>
              <a:ext uri="{FF2B5EF4-FFF2-40B4-BE49-F238E27FC236}">
                <a16:creationId xmlns:a16="http://schemas.microsoft.com/office/drawing/2014/main" id="{D94B893B-3A5E-A84C-9A26-CCC1CC0A2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0" y="675842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532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WA Log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University of Iowa">
            <a:extLst>
              <a:ext uri="{FF2B5EF4-FFF2-40B4-BE49-F238E27FC236}">
                <a16:creationId xmlns:a16="http://schemas.microsoft.com/office/drawing/2014/main" id="{D94B893B-3A5E-A84C-9A26-CCC1CC0A2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0" y="15240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3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47C82-65E8-6F4A-93F5-B60D5D90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1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0A12C-E82E-3F40-8F2F-F914F24F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006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87" r:id="rId2"/>
    <p:sldLayoutId id="2147483688" r:id="rId3"/>
    <p:sldLayoutId id="2147483684" r:id="rId4"/>
    <p:sldLayoutId id="2147483663" r:id="rId5"/>
    <p:sldLayoutId id="2147483686" r:id="rId6"/>
    <p:sldLayoutId id="2147483690" r:id="rId7"/>
    <p:sldLayoutId id="2147483682" r:id="rId8"/>
    <p:sldLayoutId id="2147483650" r:id="rId9"/>
    <p:sldLayoutId id="2147483662" r:id="rId10"/>
    <p:sldLayoutId id="2147483670" r:id="rId11"/>
    <p:sldLayoutId id="2147483667" r:id="rId12"/>
    <p:sldLayoutId id="2147483668" r:id="rId13"/>
    <p:sldLayoutId id="2147483674" r:id="rId14"/>
    <p:sldLayoutId id="2147483675" r:id="rId15"/>
    <p:sldLayoutId id="2147483677" r:id="rId16"/>
    <p:sldLayoutId id="2147483676" r:id="rId17"/>
    <p:sldLayoutId id="2147483672" r:id="rId18"/>
    <p:sldLayoutId id="2147483692" r:id="rId19"/>
    <p:sldLayoutId id="2147483669" r:id="rId20"/>
    <p:sldLayoutId id="2147483671" r:id="rId21"/>
    <p:sldLayoutId id="2147483673" r:id="rId22"/>
    <p:sldLayoutId id="2147483679" r:id="rId23"/>
    <p:sldLayoutId id="2147483680" r:id="rId24"/>
    <p:sldLayoutId id="2147483681" r:id="rId25"/>
    <p:sldLayoutId id="2147483654" r:id="rId26"/>
    <p:sldLayoutId id="2147483655" r:id="rId27"/>
    <p:sldLayoutId id="2147483665" r:id="rId28"/>
    <p:sldLayoutId id="2147483664" r:id="rId29"/>
    <p:sldLayoutId id="2147483689" r:id="rId30"/>
    <p:sldLayoutId id="2147483693" r:id="rId31"/>
    <p:sldLayoutId id="214748369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Roboto" panose="02000000000000000000" pitchFamily="2" charset="0"/>
        <a:buChar char="–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38.png"/><Relationship Id="rId18" Type="http://schemas.openxmlformats.org/officeDocument/2006/relationships/image" Target="../media/image42.png"/><Relationship Id="rId3" Type="http://schemas.openxmlformats.org/officeDocument/2006/relationships/image" Target="../media/image31.png"/><Relationship Id="rId21" Type="http://schemas.openxmlformats.org/officeDocument/2006/relationships/image" Target="../media/image45.png"/><Relationship Id="rId7" Type="http://schemas.openxmlformats.org/officeDocument/2006/relationships/image" Target="../media/image35.png"/><Relationship Id="rId12" Type="http://schemas.openxmlformats.org/officeDocument/2006/relationships/image" Target="../media/image34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9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1.xml"/><Relationship Id="rId11" Type="http://schemas.openxmlformats.org/officeDocument/2006/relationships/image" Target="../media/image37.png"/><Relationship Id="rId24" Type="http://schemas.openxmlformats.org/officeDocument/2006/relationships/image" Target="../media/image48.png"/><Relationship Id="rId5" Type="http://schemas.openxmlformats.org/officeDocument/2006/relationships/image" Target="../media/image33.png"/><Relationship Id="rId15" Type="http://schemas.openxmlformats.org/officeDocument/2006/relationships/image" Target="../media/image40.png"/><Relationship Id="rId23" Type="http://schemas.openxmlformats.org/officeDocument/2006/relationships/image" Target="../media/image47.png"/><Relationship Id="rId10" Type="http://schemas.openxmlformats.org/officeDocument/2006/relationships/customXml" Target="../ink/ink3.xml"/><Relationship Id="rId19" Type="http://schemas.openxmlformats.org/officeDocument/2006/relationships/image" Target="../media/image43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14" Type="http://schemas.openxmlformats.org/officeDocument/2006/relationships/customXml" Target="../ink/ink4.xml"/><Relationship Id="rId22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7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0B23-7308-1745-A1A9-A5522BA49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725" y="2677626"/>
            <a:ext cx="10354360" cy="1843238"/>
          </a:xfrm>
        </p:spPr>
        <p:txBody>
          <a:bodyPr>
            <a:noAutofit/>
          </a:bodyPr>
          <a:lstStyle/>
          <a:p>
            <a:r>
              <a:rPr lang="en-US" sz="4400" dirty="0"/>
              <a:t>Multi-Traffic Resource Optimization for Real-Time Applications with 5G Configured Grant Scheduling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DA0161C-D166-6E4C-8069-E1FBFE0BE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725" y="4709626"/>
            <a:ext cx="10354360" cy="407460"/>
          </a:xfrm>
        </p:spPr>
        <p:txBody>
          <a:bodyPr>
            <a:normAutofit/>
          </a:bodyPr>
          <a:lstStyle/>
          <a:p>
            <a:r>
              <a:rPr lang="en-US" dirty="0"/>
              <a:t>Matt Krueger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C5EE2B8-026E-D04B-8925-60FA6F76C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4725" y="5148794"/>
            <a:ext cx="10354360" cy="463108"/>
          </a:xfrm>
        </p:spPr>
        <p:txBody>
          <a:bodyPr/>
          <a:lstStyle/>
          <a:p>
            <a:r>
              <a:rPr lang="en-US" dirty="0"/>
              <a:t>Nov. 21, 2025</a:t>
            </a:r>
          </a:p>
        </p:txBody>
      </p:sp>
    </p:spTree>
    <p:extLst>
      <p:ext uri="{BB962C8B-B14F-4D97-AF65-F5344CB8AC3E}">
        <p14:creationId xmlns:p14="http://schemas.microsoft.com/office/powerpoint/2010/main" val="389251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9834-8548-FC53-C7B6-AD7A24B43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AA972-1AC0-0BF0-C30B-0CE3D29F4ED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Background</a:t>
            </a:r>
          </a:p>
          <a:p>
            <a:pPr marL="514350" indent="-514350">
              <a:buAutoNum type="arabicPeriod"/>
            </a:pPr>
            <a:r>
              <a:rPr lang="en-US" dirty="0"/>
              <a:t>System Model</a:t>
            </a:r>
          </a:p>
          <a:p>
            <a:pPr marL="514350" indent="-514350">
              <a:buAutoNum type="arabicPeriod"/>
            </a:pPr>
            <a:r>
              <a:rPr lang="en-US" dirty="0"/>
              <a:t>Experiments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ED8582-6153-4B18-0B24-0C9596994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31401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46E4-16F3-FF77-3CF3-63A92B4D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F293B40-A20E-06B3-2B7F-A717C5DB21C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77952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666989-3623-EB47-DF56-7AEB805B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98694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CC6DC-D23B-BB6D-A45A-70A8C3E4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F200-95A5-A662-4CCA-ABA2678F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CE78E5-1BDD-ADF9-324C-49DA824970D9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952498" y="1676400"/>
            <a:ext cx="9557005" cy="41579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016CE-F079-908A-B0CA-9BB144E2A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62C19-8C54-7A32-9B04-9B4610699B3F}"/>
              </a:ext>
            </a:extLst>
          </p:cNvPr>
          <p:cNvSpPr txBox="1"/>
          <p:nvPr/>
        </p:nvSpPr>
        <p:spPr>
          <a:xfrm>
            <a:off x="10450586" y="5583756"/>
            <a:ext cx="78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50664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A5AE8-3392-3309-A913-DDEABC355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5ACD-DEAB-387C-1078-875672A1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5G and Configuration Grant (CG) Background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A5A93A-1A5B-160C-D1CE-2646018E3BB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Fifth generation of cellular networks: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Faster speeds (Gbps &gt;&gt; Mbps)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lower latency (as low as 1ms)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 cases in industrial settings where traffic is deterministic and periodic</a:t>
            </a:r>
          </a:p>
          <a:p>
            <a:endParaRPr lang="en-US" sz="2800" dirty="0"/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B43D5-C539-A3A3-5696-61F3A8404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05F67D-D67F-0B21-ECE4-EDF8C2DE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25" y="3429000"/>
            <a:ext cx="9895930" cy="2010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814030-2E41-CD45-BF58-66964726C907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0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6C4AA-28E4-ECD3-54A3-FCD8135E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D899-FF2E-571B-D06A-B5536F17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CG? Dynamic Scheduling Issues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150B87-E4E4-3914-9CDE-74F7CB4B9BE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Handshaking process: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 equipment (UE) &lt;--&gt; base station (bs)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Base station grants resources for </a:t>
            </a:r>
            <a:r>
              <a:rPr lang="en-US" sz="2000" u="sng" dirty="0"/>
              <a:t>single</a:t>
            </a:r>
            <a:r>
              <a:rPr lang="en-US" sz="2000" dirty="0"/>
              <a:t> data transmission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Two control signals for one uplink data transmission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31E64-4D89-9017-CDDB-E5D7744E1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3CD5D-429A-1C8F-2A2D-0333A4BB38ED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1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D0413-A454-CFCB-4C8E-66ED39E0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5F4F5-C096-39B3-B1B4-E7D655A7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8D86F8-B34E-D7C3-596F-DDFDB5F00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7C38F-ED35-2F2C-9247-DCAC7E55DBE8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725DCD-04F5-D237-9BF2-887983A18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8834302" cy="42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0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5D123-8F34-93BE-B1B2-6A5718993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5113-2C74-21AB-14FD-7C881390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05189-BD96-DEE6-C7AF-C8316E238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B6272F-D4E9-91F9-9E12-46EF575B1B13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7C02A0-85E3-0F23-F558-79587FA3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8009" y="-3683677"/>
            <a:ext cx="8834302" cy="42738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59DE8E-95A7-3F0F-98D8-190A8ACA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0784" y="3206071"/>
            <a:ext cx="8356772" cy="42738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CABFA-CBBA-6396-0628-52234576F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1733" y="7527429"/>
            <a:ext cx="8356772" cy="42738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F9F4A1-D408-CC6C-26D0-DBCA5A8C0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5974" y="9274374"/>
            <a:ext cx="8762672" cy="4273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F05234-03D0-A601-9096-7A4F3F064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0105" y="8897100"/>
            <a:ext cx="8762672" cy="4273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2E7FE6-0574-E1B4-2557-FCD662C6A1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1554480"/>
            <a:ext cx="8356772" cy="42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27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EA851-5B74-1350-282E-11D2B514C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CDFB-2F0D-8276-04E2-BBCB0A9DE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4A2CB-5E93-9733-06C7-A90A91953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DB907-8652-6066-BDDC-536524A018F3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049929-043F-6EC9-52F9-A7DC2C31F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8762672" cy="42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45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1C80F-BE16-2FA1-F34D-C75F32DD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881D-97B5-0F18-FF9D-01E08FC4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8CCAB-DD3C-CB94-3B45-0E71103C2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54E8D-FF99-4E39-AE2F-8D1E14386A23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5709A8-7A7D-8027-324B-17F09B70E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8834302" cy="4273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123D68-1C87-53E0-33A5-3060A42E59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34" b="20824"/>
          <a:stretch>
            <a:fillRect/>
          </a:stretch>
        </p:blipFill>
        <p:spPr>
          <a:xfrm>
            <a:off x="1243584" y="2234708"/>
            <a:ext cx="3711893" cy="60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86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95863-C6C9-B140-EED6-33A736A5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1F7B-7171-331E-47E9-C5831CA9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AE3B-256A-F7D7-7604-7F19A3512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8C828-B075-4B0A-57D1-1FB324CBBF6F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3FC9E2-D96F-87F5-AB1E-8FC59E57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8356772" cy="42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61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AFE8-E315-A1F0-A120-0A7F7B82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3282-0CF5-E8F7-3EDB-FB50B5FA2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F64EA-2FAD-E3B0-CCC4-9349B4112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2EFAF-2C93-FEE0-5EE6-61D422D544BB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25B28D-CCDC-8336-096F-C3912503C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784" y="3206071"/>
            <a:ext cx="8356772" cy="4273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79CB52-1716-B89F-717E-5ACC6D662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54480"/>
            <a:ext cx="8762672" cy="42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0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6E798-8715-0838-DC3C-3B8D5B4C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F4003-D219-8C80-84FD-BE3D3B29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9627A-1399-9E35-2C71-38C9C43C6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D4256-BBE2-DC37-88DC-720E592B3A77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CF2AA8-9F89-5934-92F9-E03F5BDE4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614" y="1669708"/>
            <a:ext cx="8356772" cy="427389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3BE1FFD-2078-D753-00DF-DEA2CE5688E7}"/>
              </a:ext>
            </a:extLst>
          </p:cNvPr>
          <p:cNvSpPr txBox="1">
            <a:spLocks/>
          </p:cNvSpPr>
          <p:nvPr/>
        </p:nvSpPr>
        <p:spPr>
          <a:xfrm>
            <a:off x="952498" y="1673225"/>
            <a:ext cx="9118094" cy="32792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95000"/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One</a:t>
            </a:r>
            <a:r>
              <a:rPr lang="en-US" dirty="0"/>
              <a:t> Uplink / Two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562FC-2376-105A-2B4F-FC31361BB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C705-126B-1E20-37FC-B1EA6175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Configured Grant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B44E3-FA66-E21A-6E27-37223477DCE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5G Standard: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Ultra-Reliable Low Latency Communication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Mitigates handshaking overhead and latency between base station and user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Enables 5G for use in industrial applications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Grants Resources per Packet: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Frequency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Time Slots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u="sng" dirty="0"/>
              <a:t>Transmission period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F0878-FA59-2BB1-CFF4-B2FBB4E03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693DE-5169-B2BC-382B-57271FF60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3" y="3550343"/>
            <a:ext cx="5279136" cy="25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4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4CF14-3DBB-2E8C-F60F-1D792FD2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7A24F-6BC0-1CD5-2796-29EF37F3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Configured Grant Scheduling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90F03-2666-4308-A0FC-097E10F67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82E7B1-A63B-AC4B-FBC6-37BA3D05B063}"/>
              </a:ext>
            </a:extLst>
          </p:cNvPr>
          <p:cNvSpPr txBox="1"/>
          <p:nvPr/>
        </p:nvSpPr>
        <p:spPr>
          <a:xfrm>
            <a:off x="952500" y="1694688"/>
            <a:ext cx="3523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Many</a:t>
            </a:r>
            <a:r>
              <a:rPr lang="en-US" dirty="0"/>
              <a:t> Uplink / One Configuration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3FD687-A361-85B6-4A93-8D2A94B5E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747" y="2317753"/>
            <a:ext cx="9082504" cy="386970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D60761-F62F-E1FC-24D9-5B2F50466703}"/>
              </a:ext>
            </a:extLst>
          </p:cNvPr>
          <p:cNvCxnSpPr>
            <a:cxnSpLocks/>
          </p:cNvCxnSpPr>
          <p:nvPr/>
        </p:nvCxnSpPr>
        <p:spPr>
          <a:xfrm flipV="1">
            <a:off x="2340864" y="2317753"/>
            <a:ext cx="0" cy="21079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96BA56-54EF-D5DF-5A48-97293B2C0AA2}"/>
              </a:ext>
            </a:extLst>
          </p:cNvPr>
          <p:cNvSpPr txBox="1"/>
          <p:nvPr/>
        </p:nvSpPr>
        <p:spPr>
          <a:xfrm rot="16200000">
            <a:off x="1804339" y="3260822"/>
            <a:ext cx="8114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4159561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DDF94-890F-9CDD-B51D-3714C71CF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D753-2178-0ABF-CA22-BB672A5A9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Why CG Scheduling Fails at URLLC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B62B4-1634-872A-C685-1E2B4BEF12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Historically Optimized for Statistical Metrics: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Throughput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Transmission delay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Spectral Efficiency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Average Queue Length</a:t>
            </a:r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However, RTCPS requires a different type of optimization: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/>
              <a:t>Schedulability</a:t>
            </a:r>
            <a:r>
              <a:rPr lang="en-US" sz="2000" dirty="0"/>
              <a:t> of each traffic 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663CB-0438-03B3-8F0D-ECDF90292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291451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6CF4-E0A5-8D3D-594E-A4B7466A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CAF9-7A81-142A-AC68-779D5921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Connection to Previous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982AF-D8A5-F2C7-6E10-98BAFF66943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Contention-Free Configured Grant Scheduling for 5G URLLC Traffic: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CG Scheduling algorithms for multiple periodic traffics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Looks only at single configurations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Ignores trade-off between scheduling flexibility and control overhead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1E03E-0850-3B5D-FAFD-E89C041F0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061947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1B84B-F966-E7D4-4D00-0B1B7294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FED5-32C1-A8A1-CD6F-E2005BE2D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Importance of Schedule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A58D-8CF6-1E97-6FD7-ED72C209D13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Flow A:</a:t>
            </a:r>
            <a:r>
              <a:rPr lang="en-US" sz="2400" dirty="0"/>
              <a:t> Transmission Period: 4 </a:t>
            </a:r>
            <a:r>
              <a:rPr lang="en-US" sz="2400" dirty="0" err="1"/>
              <a:t>ts</a:t>
            </a:r>
            <a:r>
              <a:rPr lang="en-US" sz="2400" dirty="0"/>
              <a:t>, Payload: 2 RUs, Latency Req: 1 </a:t>
            </a:r>
            <a:r>
              <a:rPr lang="en-US" sz="2400" dirty="0" err="1"/>
              <a:t>ts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b="1" dirty="0"/>
              <a:t>Flow B: </a:t>
            </a:r>
            <a:r>
              <a:rPr lang="en-US" sz="2400" dirty="0"/>
              <a:t>Transmission Period: 5 </a:t>
            </a:r>
            <a:r>
              <a:rPr lang="en-US" sz="2400" dirty="0" err="1"/>
              <a:t>ts</a:t>
            </a:r>
            <a:r>
              <a:rPr lang="en-US" sz="2400" dirty="0"/>
              <a:t>, Payload: 3 RUs, Latency Req: 2 </a:t>
            </a:r>
            <a:r>
              <a:rPr lang="en-US" sz="2400" dirty="0" err="1"/>
              <a:t>ts</a:t>
            </a:r>
            <a:endParaRPr lang="en-US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0B314-3EB3-8CD2-9D41-B048777ED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920342-D62D-24F7-DB71-0805C5339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2" b="2569"/>
          <a:stretch>
            <a:fillRect/>
          </a:stretch>
        </p:blipFill>
        <p:spPr>
          <a:xfrm>
            <a:off x="1588009" y="2596895"/>
            <a:ext cx="8684172" cy="349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19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6F38-5332-1FA1-FE99-F153EA82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05432-494B-486D-2C4D-C02EDFF8E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Importance of Schedule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517A9-2421-9A60-0984-6C82DB5B593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Configuration a) </a:t>
            </a:r>
            <a:r>
              <a:rPr lang="en-US" sz="2400" dirty="0"/>
              <a:t>5RBs, Flow A: 1 configuration, Flow B: 1 configuration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FD3FA-3037-1887-C4E0-548397CD0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DA1AA-681D-3B1F-2412-58616401D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89" y="2251843"/>
            <a:ext cx="8684172" cy="36917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A60076-EDAA-825A-6B5C-8EA546B5FCCD}"/>
              </a:ext>
            </a:extLst>
          </p:cNvPr>
          <p:cNvSpPr/>
          <p:nvPr/>
        </p:nvSpPr>
        <p:spPr>
          <a:xfrm>
            <a:off x="2145791" y="3429000"/>
            <a:ext cx="8004470" cy="1791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38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1935A-B381-F848-9572-A3D06F123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2651-541F-1238-5B78-0F844A4F1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Importance of Schedule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EBE2-CAE5-4B80-2280-E10F0A6FD8D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Configuration b) </a:t>
            </a:r>
            <a:r>
              <a:rPr lang="en-US" sz="2400" dirty="0">
                <a:highlight>
                  <a:srgbClr val="FFFF00"/>
                </a:highlight>
              </a:rPr>
              <a:t>4</a:t>
            </a:r>
            <a:r>
              <a:rPr lang="en-US" sz="2400" dirty="0"/>
              <a:t> RBs, Flow A: 1 configuration, Flow B: 1 configuration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056BC-5DD6-BCBD-BE11-C1371DA2A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19352-27DC-4D4E-BF60-8750B4D11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89" y="2251843"/>
            <a:ext cx="8684172" cy="36917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311DA1-FDFB-73FC-7F9C-F44C60029FD1}"/>
              </a:ext>
            </a:extLst>
          </p:cNvPr>
          <p:cNvSpPr/>
          <p:nvPr/>
        </p:nvSpPr>
        <p:spPr>
          <a:xfrm>
            <a:off x="2145792" y="2292096"/>
            <a:ext cx="8004470" cy="113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87A886-219E-A47A-2F5D-7574B33EF630}"/>
              </a:ext>
            </a:extLst>
          </p:cNvPr>
          <p:cNvSpPr/>
          <p:nvPr/>
        </p:nvSpPr>
        <p:spPr>
          <a:xfrm>
            <a:off x="2145792" y="4425696"/>
            <a:ext cx="8004470" cy="829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04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3CF48-3B20-18C6-743B-05BE5FD4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E5E6-17A1-E91A-3EAE-58CF12EBB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Importance of Schedule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550D9-544D-763C-7D01-EB11E49D29F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Configuration C) </a:t>
            </a:r>
            <a:r>
              <a:rPr lang="en-US" sz="2400" dirty="0">
                <a:highlight>
                  <a:srgbClr val="00FF00"/>
                </a:highlight>
              </a:rPr>
              <a:t>3</a:t>
            </a:r>
            <a:r>
              <a:rPr lang="en-US" sz="2400" dirty="0"/>
              <a:t> RBs, Flow A: 1 configuration, Flow B: </a:t>
            </a:r>
            <a:r>
              <a:rPr lang="en-US" sz="2400" dirty="0">
                <a:highlight>
                  <a:srgbClr val="00FF00"/>
                </a:highlight>
              </a:rPr>
              <a:t>2</a:t>
            </a:r>
            <a:r>
              <a:rPr lang="en-US" sz="2400" dirty="0"/>
              <a:t> configurations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147CE-F4F4-0885-58FA-68DC0FB89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850726-B323-D582-A069-9B4395114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89" y="2251843"/>
            <a:ext cx="8684172" cy="36917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979D9A9-FD4A-62B5-2E4D-09BA8EAB2D33}"/>
              </a:ext>
            </a:extLst>
          </p:cNvPr>
          <p:cNvSpPr/>
          <p:nvPr/>
        </p:nvSpPr>
        <p:spPr>
          <a:xfrm>
            <a:off x="2145792" y="2251843"/>
            <a:ext cx="8004470" cy="22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54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985EA-245C-5489-24B0-37E5E90F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3AA10-4D3F-004F-69D3-CCEEE2AA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Importance of Schedule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1385-B8E4-9392-F002-B1B0983C4A0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Configuration C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minimizes RBs </a:t>
            </a:r>
            <a:r>
              <a:rPr lang="en-US" sz="2400" b="1" dirty="0"/>
              <a:t>at the cost of </a:t>
            </a:r>
            <a:r>
              <a:rPr lang="en-US" sz="2400" b="1" dirty="0">
                <a:solidFill>
                  <a:srgbClr val="C00000"/>
                </a:solidFill>
              </a:rPr>
              <a:t>control overhead 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D5ADF-1F62-F06C-6341-7A82CE99D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71457-8266-6579-444E-34996B6CC4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2" b="2569"/>
          <a:stretch>
            <a:fillRect/>
          </a:stretch>
        </p:blipFill>
        <p:spPr>
          <a:xfrm>
            <a:off x="1575817" y="2353055"/>
            <a:ext cx="8684172" cy="34991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8CC818-80C2-8A43-6E6F-0D86E0A1A3E5}"/>
              </a:ext>
            </a:extLst>
          </p:cNvPr>
          <p:cNvSpPr txBox="1"/>
          <p:nvPr/>
        </p:nvSpPr>
        <p:spPr>
          <a:xfrm>
            <a:off x="10457293" y="265176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RB, 1 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30368-1FE2-E99E-D675-4345AAE44581}"/>
              </a:ext>
            </a:extLst>
          </p:cNvPr>
          <p:cNvSpPr txBox="1"/>
          <p:nvPr/>
        </p:nvSpPr>
        <p:spPr>
          <a:xfrm>
            <a:off x="10443577" y="373149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RB, 1 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B3E8E-8088-93FB-3670-F079D7007F36}"/>
              </a:ext>
            </a:extLst>
          </p:cNvPr>
          <p:cNvSpPr txBox="1"/>
          <p:nvPr/>
        </p:nvSpPr>
        <p:spPr>
          <a:xfrm>
            <a:off x="10457293" y="4598414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RB, 2 C</a:t>
            </a:r>
          </a:p>
        </p:txBody>
      </p:sp>
    </p:spTree>
    <p:extLst>
      <p:ext uri="{BB962C8B-B14F-4D97-AF65-F5344CB8AC3E}">
        <p14:creationId xmlns:p14="http://schemas.microsoft.com/office/powerpoint/2010/main" val="1488207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6CEF5-02ED-657C-BF7A-6BA269A78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C3D42-9FCF-5961-9461-099D8352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EF46A-7637-08D4-F3C8-0CCCE505542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581134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Goals: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Optimize CG resource usage for flexibility multiple periodic traffic flows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Explore trade-off between transmission flexibility vs control overhead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Contributions: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SMT solvers for optimal multi-traffic resource optimization problem (SMT-1, SMT-U)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Heuristic algorithms for practical use (Co1, </a:t>
            </a:r>
            <a:r>
              <a:rPr lang="en-US" dirty="0" err="1"/>
              <a:t>CoU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44544-FC1F-8F1C-0DCF-642B09696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12546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11FA-0A74-FE65-BA4F-088856422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F052342-757B-D12F-8CFB-BB1E09E822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512EE3-CEF9-DA5F-A6D6-082FBEC5B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</p:spTree>
    <p:extLst>
      <p:ext uri="{BB962C8B-B14F-4D97-AF65-F5344CB8AC3E}">
        <p14:creationId xmlns:p14="http://schemas.microsoft.com/office/powerpoint/2010/main" val="202311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1314-FA8E-95F8-8F2E-A41005F0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before continuing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5384-877F-5E9A-5B0C-0FCF44ADF5B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9" y="1686757"/>
            <a:ext cx="5740910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Opting for a high-level approach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33C6D-B7DF-6587-958C-2839707F9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ABDF2-127D-D11A-40C8-61B95760E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520" y="1395866"/>
            <a:ext cx="4151446" cy="4704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B43BE8-C75D-D355-6732-8DC7E2905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68" y="2851729"/>
            <a:ext cx="2628900" cy="71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856E90-8874-16FE-A7B0-EE4078B8A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954" y="2976807"/>
            <a:ext cx="1485900" cy="355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720ABB-6878-4BB0-E30E-02429CA53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209" y="3540834"/>
            <a:ext cx="1854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C47EC3-981D-D328-D09A-D16592D7CC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620" y="4212244"/>
            <a:ext cx="2120900" cy="33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519CAD-9CE9-515A-8C7A-54875DC7FC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609" y="4856284"/>
            <a:ext cx="2463800" cy="33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695AA9-A9ED-864C-B850-C6089500EA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620" y="5369306"/>
            <a:ext cx="1866900" cy="215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6DCA95-A25F-55C5-A24F-1B6E20AF1B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5368" y="3872527"/>
            <a:ext cx="1282700" cy="20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950051-2C2B-7732-3E2D-468D797CAA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4649" y="2492084"/>
            <a:ext cx="1282700" cy="20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B864A7-3F46-C6DC-B759-5090AD7E04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2954" y="5610638"/>
            <a:ext cx="18542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2A2734-C2E4-1DD5-E901-65F9310956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0070" y="4733867"/>
            <a:ext cx="2038604" cy="4654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6F9ECB-F3C8-079F-52A3-DDB79F887B0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37499" y="2255775"/>
            <a:ext cx="2266218" cy="43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27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A4109-512B-7603-02E4-FC7D40C4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D2B7-B48D-CEC7-6F0D-47783432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CA1BA-4755-36EC-0EDB-011DA3745BE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Ideas: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Traffic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Network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Schedule/Configurations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Constraints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Optimization Techniques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F8C64-B1E3-36FE-0375-97FEE5D44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193563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1E39-2396-A1F5-585A-67236BFE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A1A0-40FB-29F8-12B2-2B4D15AA9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C19E3-0691-825B-0FBF-C4C904F3723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42568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Assume </a:t>
            </a:r>
            <a:r>
              <a:rPr lang="en-US" b="1" u="sng" dirty="0"/>
              <a:t>multiple periodic traffic flows </a:t>
            </a:r>
            <a:r>
              <a:rPr lang="en-US" b="1" dirty="0"/>
              <a:t>(TF) exist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TF Structure: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Initial Offset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Transmission Period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Payload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Latency Requirement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Time periods are normalized to the time duration of a single time slot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5ED66-4850-63C7-A223-9E6430132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58495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042E-04D3-9E26-D36E-44E5805B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3714-4905-A01A-0009-AB762CFED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1CEE-80CF-0DCE-E648-6F8DCFCF3F0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42568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Two-Dimensional Resource Grid depicting a hyper period: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X-axis: Time Slots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Y-axis: Frequency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Signal to Noise Ratio (SNR)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Quantifies signal quality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Used to select appropriate MCS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Modulation and Encoding Scheme: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Higher MCS == More Effective RU == Fewer Resources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359FD-5FBD-B9C5-EE51-E98227C1F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CB966-8BAC-5E08-159A-6623B135E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882" y="2340863"/>
            <a:ext cx="4694461" cy="249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034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2975C-05D5-5EBE-27A3-84DE954F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35B2-FD7E-06AE-7DBB-8BEA6DD8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Schedules/Configurations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6D68-349A-1F78-79A6-C0E6906F726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2824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Each TF      Schedule is its own sequence of candidates: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control message        is a 6 tuple:</a:t>
            </a:r>
          </a:p>
          <a:p>
            <a:pPr marL="0" indent="0">
              <a:buNone/>
            </a:pPr>
            <a:r>
              <a:rPr lang="en-US" dirty="0"/>
              <a:t>Each configuration         is a 3 tuple: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E7718-6DBF-00BA-C5AE-0C1DBF208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10D647-F418-9D68-394C-0F591DA7F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535" y="2255520"/>
            <a:ext cx="6913577" cy="551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2CA00E-808A-FD2D-894C-CC74F0913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384" y="3328650"/>
            <a:ext cx="521462" cy="481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B90B65-1139-0EB4-EF6B-FBE0DBE8A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397" y="1690883"/>
            <a:ext cx="438912" cy="40515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B140445-DA1B-E32A-BA0C-1DDBBB69F997}"/>
              </a:ext>
            </a:extLst>
          </p:cNvPr>
          <p:cNvGrpSpPr/>
          <p:nvPr/>
        </p:nvGrpSpPr>
        <p:grpSpPr>
          <a:xfrm>
            <a:off x="2599752" y="1894536"/>
            <a:ext cx="117720" cy="159120"/>
            <a:chOff x="2599752" y="1894536"/>
            <a:chExt cx="11772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830487-DD00-9308-5708-9DDE3F710D31}"/>
                    </a:ext>
                  </a:extLst>
                </p14:cNvPr>
                <p14:cNvContentPartPr/>
                <p14:nvPr/>
              </p14:nvContentPartPr>
              <p14:xfrm>
                <a:off x="2599752" y="1894536"/>
                <a:ext cx="117720" cy="159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830487-DD00-9308-5708-9DDE3F710D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93632" y="1888416"/>
                  <a:ext cx="129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5CBEBCE-17B3-9769-2670-73232F987377}"/>
                    </a:ext>
                  </a:extLst>
                </p14:cNvPr>
                <p14:cNvContentPartPr/>
                <p14:nvPr/>
              </p14:nvContentPartPr>
              <p14:xfrm>
                <a:off x="2635392" y="1912536"/>
                <a:ext cx="26640" cy="141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5CBEBCE-17B3-9769-2670-73232F9873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29272" y="1906416"/>
                  <a:ext cx="38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BA04F33-FECF-6E97-17D6-75F4F4EF06CF}"/>
                    </a:ext>
                  </a:extLst>
                </p14:cNvPr>
                <p14:cNvContentPartPr/>
                <p14:nvPr/>
              </p14:nvContentPartPr>
              <p14:xfrm>
                <a:off x="2613072" y="1955016"/>
                <a:ext cx="71640" cy="4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BA04F33-FECF-6E97-17D6-75F4F4EF06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06952" y="1948896"/>
                  <a:ext cx="83880" cy="561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2DC2E6E-245C-5F57-35FA-C03AC0EDEB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1265" y="3317986"/>
            <a:ext cx="4393693" cy="4624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273C6F-F6A8-E283-FEB2-5A77952052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91237" y="3823752"/>
            <a:ext cx="594047" cy="5516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A2C597D-8C48-EAF7-E379-6D6D52DBF00E}"/>
                  </a:ext>
                </a:extLst>
              </p14:cNvPr>
              <p14:cNvContentPartPr/>
              <p14:nvPr/>
            </p14:nvContentPartPr>
            <p14:xfrm>
              <a:off x="4601352" y="4149576"/>
              <a:ext cx="105120" cy="13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A2C597D-8C48-EAF7-E379-6D6D52DBF00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92352" y="4140576"/>
                <a:ext cx="122760" cy="14832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97B1B01F-A272-DC8B-699B-9D3FAFA89C8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b="9853"/>
          <a:stretch>
            <a:fillRect/>
          </a:stretch>
        </p:blipFill>
        <p:spPr>
          <a:xfrm>
            <a:off x="6628497" y="3810000"/>
            <a:ext cx="2391052" cy="5653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42E1D1-C72A-D7EE-64FF-DBA54A4B214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0265326">
            <a:off x="7385119" y="3092749"/>
            <a:ext cx="1082145" cy="1099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F393DE-2EBB-0317-04A3-3CC1BC47F7D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0265326">
            <a:off x="8041385" y="3044785"/>
            <a:ext cx="1440694" cy="10178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92C0C6-E5EA-AC01-52F2-18A3D209DBE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0265326">
            <a:off x="8882067" y="2740804"/>
            <a:ext cx="2583853" cy="1017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85357C8-0EE4-195E-D169-AC78F41EB40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0265326">
            <a:off x="9522340" y="2995323"/>
            <a:ext cx="1941805" cy="1017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BEA9AF-C18B-1626-6AC2-6B3A4F15AD4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0265326">
            <a:off x="10357549" y="3011667"/>
            <a:ext cx="1558142" cy="1017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04E5B10-2948-47FC-7FC7-35BD3DDD8DD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0265326">
            <a:off x="11049015" y="3142217"/>
            <a:ext cx="782986" cy="10178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3CCA442-6280-BB33-42F9-6CEF7A0B02D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062635">
            <a:off x="6814228" y="4759377"/>
            <a:ext cx="1276476" cy="14183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E2B5AD-ACA2-ED61-032D-1FC7751614B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062635">
            <a:off x="7784449" y="5004455"/>
            <a:ext cx="1864059" cy="14183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AE4DC2F-06F3-A446-3EF2-2A2A5C997CA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062635">
            <a:off x="8688092" y="4759375"/>
            <a:ext cx="1002945" cy="14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39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B8599-5648-D968-345A-155D2336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DC52-656C-AF59-D8EF-062EFA2D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77F15-EA9F-4648-EDDF-003DB02E755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42568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Number of RUs required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Deadlines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 Overhead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Range Constraint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Transmission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 Unit Collision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D6CC4-4101-F5E9-5F9A-5EE99BBF3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107198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8B49-8C89-B005-2F9B-CC67D0C0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4D6E-519F-48C4-BF34-EFB0C4E1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99F89-6CB8-2C7E-E979-375074C7ACE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42568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Optimal: </a:t>
            </a:r>
            <a:r>
              <a:rPr lang="en-US" dirty="0"/>
              <a:t>satisfied all TF deadlines in smallest number of RBs</a:t>
            </a:r>
          </a:p>
          <a:p>
            <a:pPr marL="0" indent="0">
              <a:buNone/>
            </a:pPr>
            <a:r>
              <a:rPr lang="en-US" b="1" dirty="0"/>
              <a:t>NP-HARD:</a:t>
            </a:r>
            <a:r>
              <a:rPr lang="en-US" sz="2400" b="1" dirty="0"/>
              <a:t> </a:t>
            </a:r>
            <a:r>
              <a:rPr lang="en-US" sz="2000" dirty="0"/>
              <a:t>Reduces to Strip Packing Problem (finite width, infinite height packing)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600" b="1" dirty="0"/>
              <a:t>Satisfiability Modulo Theories (SMT):</a:t>
            </a:r>
          </a:p>
          <a:p>
            <a:pPr marL="914400" lvl="1" indent="-457200">
              <a:buAutoNum type="arabicPeriod"/>
            </a:pPr>
            <a:r>
              <a:rPr lang="en-US" dirty="0"/>
              <a:t>Single Configuration: SMT-12. </a:t>
            </a:r>
          </a:p>
          <a:p>
            <a:pPr marL="914400" lvl="1" indent="-457200">
              <a:buAutoNum type="arabicPeriod"/>
            </a:pPr>
            <a:r>
              <a:rPr lang="en-US" dirty="0"/>
              <a:t>Unlimited Configuration: SMT-U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b="1" dirty="0"/>
              <a:t>Heuristic Techniques:</a:t>
            </a:r>
          </a:p>
          <a:p>
            <a:pPr marL="457200" lvl="1" indent="0">
              <a:buNone/>
            </a:pPr>
            <a:r>
              <a:rPr lang="en-US" dirty="0"/>
              <a:t>1. Single Configuration: Co1</a:t>
            </a:r>
          </a:p>
          <a:p>
            <a:pPr marL="457200" lvl="1" indent="0">
              <a:buNone/>
            </a:pPr>
            <a:r>
              <a:rPr lang="en-US" dirty="0"/>
              <a:t>2. Unlimited Configuration: </a:t>
            </a:r>
            <a:r>
              <a:rPr lang="en-US" dirty="0" err="1"/>
              <a:t>CoU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47D6CD-BF4D-DE48-D0A1-7B3B64CF0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3766666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3E12-6D06-F791-3DDA-B0ACA85A3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E350-4717-D29F-BF06-58A4B9EA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5D2D-D52E-E8D6-C82C-9466C8621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Configuration: Co1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60EF3-5381-C643-8036-D66B4A457B1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Runtime: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8D3FCA-BBFD-CAD9-D4C7-F289A7C14D5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Unlimited Configurations: </a:t>
            </a:r>
            <a:r>
              <a:rPr lang="en-US" dirty="0" err="1"/>
              <a:t>CoU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12B64-F025-88B8-C171-B7567C562D32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/>
              <a:t>Runtime: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15178-A30F-F48A-E9F4-94D648959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695CF8-5CD4-B4C8-13BB-038805B35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060" y="2550559"/>
            <a:ext cx="3098800" cy="41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B64C85-C2A1-3D87-F595-2EA8D808C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496" y="2592102"/>
            <a:ext cx="3556000" cy="419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E7C009-9BB8-F325-D4EA-AB4465913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660" y="3429000"/>
            <a:ext cx="431800" cy="406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468F0D-2E6C-C91C-4CA3-BB77B7C2A0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6142" b="750"/>
          <a:stretch>
            <a:fillRect/>
          </a:stretch>
        </p:blipFill>
        <p:spPr>
          <a:xfrm>
            <a:off x="975171" y="3950111"/>
            <a:ext cx="298196" cy="4033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E2218D-31D4-468F-A8EA-A06F2DD7D3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267" y="4480366"/>
            <a:ext cx="292100" cy="355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458A78-33F7-F997-2DDD-89466C8525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171" y="5477608"/>
            <a:ext cx="419100" cy="355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C6E578-91CB-D27E-F093-DE74D55536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325" y="4975757"/>
            <a:ext cx="825500" cy="355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9BB111-A447-697F-C1DE-9396011FD8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3724" y="3444651"/>
            <a:ext cx="254000" cy="431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7C0811D-EB24-235D-F0AF-184910009456}"/>
              </a:ext>
            </a:extLst>
          </p:cNvPr>
          <p:cNvSpPr txBox="1"/>
          <p:nvPr/>
        </p:nvSpPr>
        <p:spPr>
          <a:xfrm>
            <a:off x="1362075" y="3440173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Number of TFs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BC1310-CE63-1B35-1AC1-04D81C332586}"/>
              </a:ext>
            </a:extLst>
          </p:cNvPr>
          <p:cNvSpPr txBox="1"/>
          <p:nvPr/>
        </p:nvSpPr>
        <p:spPr>
          <a:xfrm>
            <a:off x="1296037" y="3980050"/>
            <a:ext cx="437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Average Latency Requirement of all TFs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5427FD-8815-1CE2-9606-F9DB90AB0EA2}"/>
              </a:ext>
            </a:extLst>
          </p:cNvPr>
          <p:cNvSpPr txBox="1"/>
          <p:nvPr/>
        </p:nvSpPr>
        <p:spPr>
          <a:xfrm>
            <a:off x="1273367" y="4460174"/>
            <a:ext cx="4323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Average Transmission Period of all TFs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46B444-FD5F-2721-6FE9-C582276575A8}"/>
              </a:ext>
            </a:extLst>
          </p:cNvPr>
          <p:cNvSpPr txBox="1"/>
          <p:nvPr/>
        </p:nvSpPr>
        <p:spPr>
          <a:xfrm>
            <a:off x="1764304" y="4974156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Maximum number of RBs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929806-CC4D-E253-82C0-66F998B09A54}"/>
              </a:ext>
            </a:extLst>
          </p:cNvPr>
          <p:cNvSpPr txBox="1"/>
          <p:nvPr/>
        </p:nvSpPr>
        <p:spPr>
          <a:xfrm>
            <a:off x="1416941" y="5459617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</a:t>
            </a:r>
            <a:r>
              <a:rPr lang="en-US" dirty="0" err="1"/>
              <a:t>Hyperperiod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F8C67F-6028-A245-CBEE-D5CC8B1EB13F}"/>
              </a:ext>
            </a:extLst>
          </p:cNvPr>
          <p:cNvSpPr txBox="1"/>
          <p:nvPr/>
        </p:nvSpPr>
        <p:spPr>
          <a:xfrm>
            <a:off x="6687724" y="3457199"/>
            <a:ext cx="4440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Average number of packets for given HP</a:t>
            </a:r>
          </a:p>
        </p:txBody>
      </p:sp>
    </p:spTree>
    <p:extLst>
      <p:ext uri="{BB962C8B-B14F-4D97-AF65-F5344CB8AC3E}">
        <p14:creationId xmlns:p14="http://schemas.microsoft.com/office/powerpoint/2010/main" val="1541918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81DBE-CC42-4770-C94A-D22BF073D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B65D-CD61-3F59-0AEC-628B587F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Approaches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14CA90-94FB-039A-8203-AA8AAF866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Configuration: Co1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0F4F9FD-5B26-ED7B-1790-C8FE036DD82B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Unlimited Configurations: </a:t>
            </a:r>
            <a:r>
              <a:rPr lang="en-US" dirty="0" err="1"/>
              <a:t>CoU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88105-C39D-A966-3A48-E9B5F8798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87C0B9-CE13-DCD8-586D-5A772BAA0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70" y="2615684"/>
            <a:ext cx="4137532" cy="33340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0D20D0-3A3B-61E4-C150-A2D5B786C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86" y="2973780"/>
            <a:ext cx="5768377" cy="217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68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CD11A-1EFA-2EFD-0EAE-09D21A3E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96F8887-7D3E-5FE5-FE94-37C05CD0A8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6AD9E2-A492-9215-4C55-284720204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</p:spTree>
    <p:extLst>
      <p:ext uri="{BB962C8B-B14F-4D97-AF65-F5344CB8AC3E}">
        <p14:creationId xmlns:p14="http://schemas.microsoft.com/office/powerpoint/2010/main" val="3518500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BE8A-AEFC-52AF-1515-B7416BCF8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576326-7358-C70E-59C0-9687913E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024" y="479855"/>
            <a:ext cx="10287001" cy="869089"/>
          </a:xfrm>
        </p:spPr>
        <p:txBody>
          <a:bodyPr/>
          <a:lstStyle/>
          <a:p>
            <a:r>
              <a:rPr lang="en-US" dirty="0"/>
              <a:t>Experiments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C745A-34D2-838D-5172-369F09ED394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6545581" cy="42568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Application Size: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Small Scale Systems (SSS)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Large Scale Systems (LSS)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Realistic Case Study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Goals:</a:t>
            </a:r>
          </a:p>
          <a:p>
            <a:pPr lvl="1"/>
            <a:r>
              <a:rPr lang="en-US" dirty="0"/>
              <a:t>Compare heuristic solutions to SMT solutions </a:t>
            </a:r>
            <a:r>
              <a:rPr lang="en-US" sz="1700" dirty="0"/>
              <a:t>(experiment 1)</a:t>
            </a:r>
          </a:p>
          <a:p>
            <a:pPr lvl="1"/>
            <a:r>
              <a:rPr lang="en-US" dirty="0"/>
              <a:t>Comparison between Co1 and </a:t>
            </a:r>
            <a:r>
              <a:rPr lang="en-US" dirty="0" err="1"/>
              <a:t>CoU</a:t>
            </a:r>
            <a:r>
              <a:rPr lang="en-US" dirty="0"/>
              <a:t> </a:t>
            </a:r>
            <a:r>
              <a:rPr lang="en-US" sz="1700" dirty="0"/>
              <a:t>(experiments 2,3)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pPr lvl="1"/>
            <a:r>
              <a:rPr lang="en-US" dirty="0"/>
              <a:t>Number of Resource Blocks (NRB) </a:t>
            </a:r>
          </a:p>
          <a:p>
            <a:pPr lvl="1"/>
            <a:r>
              <a:rPr lang="en-US" dirty="0" err="1"/>
              <a:t>Schedulability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Scalability &amp; Time Efficiency</a:t>
            </a:r>
          </a:p>
          <a:p>
            <a:pPr lvl="1"/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1F6A716-E2DB-8892-AF22-E3CCA8A9F393}"/>
              </a:ext>
            </a:extLst>
          </p:cNvPr>
          <p:cNvSpPr txBox="1">
            <a:spLocks/>
          </p:cNvSpPr>
          <p:nvPr/>
        </p:nvSpPr>
        <p:spPr>
          <a:xfrm>
            <a:off x="7412735" y="1686757"/>
            <a:ext cx="3826765" cy="42568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000" b="1" dirty="0"/>
              <a:t>Simulation Setup:</a:t>
            </a:r>
          </a:p>
          <a:p>
            <a:pPr lvl="1">
              <a:buFontTx/>
              <a:buChar char="-"/>
            </a:pPr>
            <a:r>
              <a:rPr lang="en-US" sz="2000" dirty="0"/>
              <a:t>Intel Xeon W-1250 CPU</a:t>
            </a:r>
          </a:p>
          <a:p>
            <a:pPr lvl="1">
              <a:buFontTx/>
              <a:buChar char="-"/>
            </a:pPr>
            <a:r>
              <a:rPr lang="en-US" sz="2000" dirty="0"/>
              <a:t>32 GB main memory</a:t>
            </a:r>
          </a:p>
          <a:p>
            <a:pPr lvl="1">
              <a:buFontTx/>
              <a:buChar char="-"/>
            </a:pPr>
            <a:r>
              <a:rPr lang="en-US" sz="2000" dirty="0"/>
              <a:t>C++, run on Windows</a:t>
            </a:r>
          </a:p>
        </p:txBody>
      </p:sp>
    </p:spTree>
    <p:extLst>
      <p:ext uri="{BB962C8B-B14F-4D97-AF65-F5344CB8AC3E}">
        <p14:creationId xmlns:p14="http://schemas.microsoft.com/office/powerpoint/2010/main" val="18404818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0B37-E27A-03F7-DF5C-3CF8E173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Scale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E2FF-D0C2-2045-FC50-56CE096E4A1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Number of Traffic Flows: </a:t>
            </a: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b="1" dirty="0"/>
              <a:t>Algorithms: </a:t>
            </a:r>
            <a:r>
              <a:rPr lang="en-US" dirty="0"/>
              <a:t>Co1, </a:t>
            </a:r>
            <a:r>
              <a:rPr lang="en-US" dirty="0" err="1"/>
              <a:t>CoU</a:t>
            </a:r>
            <a:r>
              <a:rPr lang="en-US" dirty="0"/>
              <a:t>, SMT-1, SMT-U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</a:t>
            </a:r>
          </a:p>
          <a:p>
            <a:pPr marL="514350" indent="-514350">
              <a:buAutoNum type="arabicPeriod"/>
            </a:pPr>
            <a:r>
              <a:rPr lang="en-US" dirty="0"/>
              <a:t>Co1 competitive to SMT-1</a:t>
            </a:r>
          </a:p>
          <a:p>
            <a:pPr marL="514350" indent="-514350">
              <a:buAutoNum type="arabicPeriod"/>
            </a:pPr>
            <a:r>
              <a:rPr lang="en-US" dirty="0" err="1"/>
              <a:t>CoU</a:t>
            </a:r>
            <a:r>
              <a:rPr lang="en-US" dirty="0"/>
              <a:t> competitive to SMT-U</a:t>
            </a:r>
          </a:p>
          <a:p>
            <a:pPr marL="514350" indent="-514350">
              <a:buAutoNum type="arabicPeriod"/>
            </a:pPr>
            <a:r>
              <a:rPr lang="en-US" dirty="0"/>
              <a:t>SMT solutions are impractical</a:t>
            </a:r>
          </a:p>
          <a:p>
            <a:pPr marL="514350" indent="-514350">
              <a:buAutoNum type="arabicPeriod"/>
            </a:pPr>
            <a:r>
              <a:rPr lang="en-US" dirty="0"/>
              <a:t>Unlimited configuration solutions more flexible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A0E15-7F72-FFFF-034A-3BC62E962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36EBD30-2451-297A-99DF-1DBE75EB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445" y="1676400"/>
            <a:ext cx="1454055" cy="220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20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90FDA-BCC1-3A7C-3381-352B3AC8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F316-AD13-CD59-1F70-A783EB5B2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Scale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F5B4E-3FCA-7D1B-03EE-E9FA1FCC1D6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Number of Traffic Flows: </a:t>
            </a: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b="1" dirty="0"/>
              <a:t>Algorithms: </a:t>
            </a:r>
            <a:r>
              <a:rPr lang="en-US" dirty="0"/>
              <a:t>Co1, </a:t>
            </a:r>
            <a:r>
              <a:rPr lang="en-US" dirty="0" err="1"/>
              <a:t>CoU</a:t>
            </a:r>
            <a:r>
              <a:rPr lang="en-US" dirty="0"/>
              <a:t>, SMT-1, SMT-U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</a:t>
            </a:r>
          </a:p>
          <a:p>
            <a:pPr marL="514350" indent="-514350">
              <a:buAutoNum type="arabicPeriod"/>
            </a:pPr>
            <a:r>
              <a:rPr lang="en-US" dirty="0"/>
              <a:t>Co1 competitive to SMT-1</a:t>
            </a:r>
          </a:p>
          <a:p>
            <a:pPr marL="514350" indent="-514350">
              <a:buAutoNum type="arabicPeriod"/>
            </a:pPr>
            <a:r>
              <a:rPr lang="en-US" dirty="0" err="1"/>
              <a:t>CoU</a:t>
            </a:r>
            <a:r>
              <a:rPr lang="en-US" dirty="0"/>
              <a:t> competitive to SMT-U</a:t>
            </a:r>
          </a:p>
          <a:p>
            <a:pPr marL="514350" indent="-514350">
              <a:buAutoNum type="arabicPeriod"/>
            </a:pPr>
            <a:r>
              <a:rPr lang="en-US" dirty="0"/>
              <a:t>SMT solutions are impractical</a:t>
            </a:r>
          </a:p>
          <a:p>
            <a:pPr marL="514350" indent="-514350">
              <a:buAutoNum type="arabicPeriod"/>
            </a:pPr>
            <a:r>
              <a:rPr lang="en-US" dirty="0"/>
              <a:t>Unlimited configuration solutions more flexible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077BE-6F86-0A2B-4FAC-431666EF6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11BF80-D6D0-8FE4-7D4E-48CAD1056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445" y="1676400"/>
            <a:ext cx="1454055" cy="220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04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6DDF2-4460-13E9-0E9D-A8ADC6F5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ACFF8-381E-F5C1-0151-D5A6E776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Scale Systems: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6D063-E626-8464-E49A-5B6E3D010C7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Traffic Flow 4 tuple: </a:t>
            </a:r>
          </a:p>
          <a:p>
            <a:pPr marL="0" indent="0">
              <a:buNone/>
            </a:pPr>
            <a:r>
              <a:rPr lang="en-US" sz="1400" dirty="0"/>
              <a:t>&lt;[minimum initial offset (</a:t>
            </a:r>
            <a:r>
              <a:rPr lang="en-US" sz="1400" dirty="0" err="1"/>
              <a:t>ms</a:t>
            </a:r>
            <a:r>
              <a:rPr lang="en-US" sz="1400" dirty="0"/>
              <a:t>), maximum initial offset (</a:t>
            </a:r>
            <a:r>
              <a:rPr lang="en-US" sz="1400" dirty="0" err="1"/>
              <a:t>ms</a:t>
            </a:r>
            <a:r>
              <a:rPr lang="en-US" sz="1400" dirty="0"/>
              <a:t>)], transmission period (</a:t>
            </a:r>
            <a:r>
              <a:rPr lang="en-US" sz="1400" dirty="0" err="1"/>
              <a:t>ms</a:t>
            </a:r>
            <a:r>
              <a:rPr lang="en-US" sz="1400" dirty="0"/>
              <a:t>), payload (bytes), latency requirement (</a:t>
            </a:r>
            <a:r>
              <a:rPr lang="en-US" sz="1400" dirty="0" err="1"/>
              <a:t>ms</a:t>
            </a:r>
            <a:r>
              <a:rPr lang="en-US" sz="1400" dirty="0"/>
              <a:t>)&gt;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b="1" dirty="0"/>
              <a:t>Three random selections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&lt;[0, 1], 1, 20, 1&gt;</a:t>
            </a:r>
          </a:p>
          <a:p>
            <a:pPr lvl="1"/>
            <a:r>
              <a:rPr lang="en-US" dirty="0"/>
              <a:t>&lt;[0, 1], 2, 30, 1&gt;</a:t>
            </a:r>
          </a:p>
          <a:p>
            <a:pPr lvl="1"/>
            <a:r>
              <a:rPr lang="en-US" dirty="0"/>
              <a:t>&lt;[0, 2], 3, 50, 1&gt;</a:t>
            </a:r>
          </a:p>
          <a:p>
            <a:pPr lvl="1"/>
            <a:r>
              <a:rPr lang="en-US" dirty="0"/>
              <a:t>&lt;[0, 2], 5, 80, 1&gt;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MARB: </a:t>
            </a:r>
            <a:r>
              <a:rPr lang="en-US" dirty="0"/>
              <a:t>200</a:t>
            </a:r>
          </a:p>
          <a:p>
            <a:pPr marL="0" indent="0">
              <a:buNone/>
            </a:pPr>
            <a:r>
              <a:rPr lang="en-US" b="1" dirty="0"/>
              <a:t>SNR: </a:t>
            </a:r>
            <a:r>
              <a:rPr lang="en-US" dirty="0"/>
              <a:t>[2,20] dB applied to each TF</a:t>
            </a:r>
          </a:p>
          <a:p>
            <a:pPr marL="0" indent="0">
              <a:buNone/>
            </a:pPr>
            <a:r>
              <a:rPr lang="en-US" dirty="0"/>
              <a:t>200 test cases for each algo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A6B84-AFED-1409-A918-B1CD202A4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734827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507D-1FA7-4834-B095-46C2FA54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893F-FF4E-5A18-5292-DC9DCAC0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Scale Systems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7E1CE-2CB2-543B-71F7-23BC7F5BAF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AD64D5-06E2-1AEC-EFC2-8F37BB1C6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57" y="1548134"/>
            <a:ext cx="11448685" cy="452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009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B4F72-0C12-2794-BE01-CEB1E15E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A3B7-1020-7B74-CCBD-3136FC49D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SMT?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75BD7-E1A5-45D6-63E1-1D559193F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816BEA-EA94-2877-F8E8-8B10E9A783B2}"/>
              </a:ext>
            </a:extLst>
          </p:cNvPr>
          <p:cNvGrpSpPr/>
          <p:nvPr/>
        </p:nvGrpSpPr>
        <p:grpSpPr>
          <a:xfrm>
            <a:off x="3146040" y="1532467"/>
            <a:ext cx="5899920" cy="4411133"/>
            <a:chOff x="952500" y="1676400"/>
            <a:chExt cx="5030433" cy="397920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E9CD70B-DC72-C82F-356E-EEBC4A926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610" b="12037"/>
            <a:stretch>
              <a:fillRect/>
            </a:stretch>
          </p:blipFill>
          <p:spPr>
            <a:xfrm>
              <a:off x="952500" y="1676400"/>
              <a:ext cx="3822754" cy="397920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8AE19A8-3142-8CD1-3581-26B8958D8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33333" y="1676400"/>
              <a:ext cx="3149600" cy="3302000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AA6F666-8C19-16BE-737B-C65C7EDAEB77}"/>
              </a:ext>
            </a:extLst>
          </p:cNvPr>
          <p:cNvSpPr/>
          <p:nvPr/>
        </p:nvSpPr>
        <p:spPr>
          <a:xfrm>
            <a:off x="9546336" y="5060589"/>
            <a:ext cx="2267712" cy="883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only for 3 TFs!!!</a:t>
            </a:r>
          </a:p>
          <a:p>
            <a:pPr algn="ctr"/>
            <a:r>
              <a:rPr lang="en-US" dirty="0"/>
              <a:t> Imagine 50 TFs </a:t>
            </a:r>
          </a:p>
        </p:txBody>
      </p:sp>
    </p:spTree>
    <p:extLst>
      <p:ext uri="{BB962C8B-B14F-4D97-AF65-F5344CB8AC3E}">
        <p14:creationId xmlns:p14="http://schemas.microsoft.com/office/powerpoint/2010/main" val="3370721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588A8-0D97-1A20-96E1-2331F290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C1B54-E78E-2D9B-81E8-CFE3E78E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Large Scale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DDE62-3E07-F06D-C73D-67F68905789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Number of Traffic Flows: </a:t>
            </a:r>
            <a:r>
              <a:rPr lang="en-US" dirty="0"/>
              <a:t>10+</a:t>
            </a:r>
          </a:p>
          <a:p>
            <a:pPr marL="0" indent="0">
              <a:buNone/>
            </a:pPr>
            <a:r>
              <a:rPr lang="en-US" b="1" dirty="0"/>
              <a:t>Algorithms: </a:t>
            </a:r>
            <a:r>
              <a:rPr lang="en-US" dirty="0"/>
              <a:t>Co1, </a:t>
            </a:r>
            <a:r>
              <a:rPr lang="en-US" dirty="0" err="1"/>
              <a:t>CoU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Varying Parameters: </a:t>
            </a:r>
          </a:p>
          <a:p>
            <a:pPr lvl="1"/>
            <a:r>
              <a:rPr lang="en-US" dirty="0"/>
              <a:t>Number of TF, Latency Requirements, Transmission Period, Payload Size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CoU</a:t>
            </a:r>
            <a:r>
              <a:rPr lang="en-US" dirty="0"/>
              <a:t> outperforms Co1 as it is more flexible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Speed vs Spectral Efficiency Tradeoff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93E1D-EC36-2BF6-5FCE-A4DBBB4EE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3F3AA-198B-FC0F-443D-B7C93F873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332" y="1686757"/>
            <a:ext cx="1372168" cy="102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050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E32E-D26A-08F1-20C2-BC9DE68F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5530-D41C-5E2D-4354-DB08AD7C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LSS: Default Parameters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16C75F-B6F5-352B-F1CD-60464ECB65B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4668013" cy="425684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2AE4F-BAC5-48B6-5145-9E1EA4303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44015-C5B4-C888-FE89-7F037F0B0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5" y="1584959"/>
            <a:ext cx="8684173" cy="41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63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3AF4-998F-61E7-CCBC-9068CE50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LSS Relationship: Number of TFs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51BE4-80F5-9197-6E2B-22F14839EBD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** Parameter Changes/Test Cases:</a:t>
            </a:r>
          </a:p>
          <a:p>
            <a:pPr lvl="1"/>
            <a:r>
              <a:rPr lang="en-US" dirty="0"/>
              <a:t>Traffic Flows {10, 20, 30, 40, 50, 60, 70, 80}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pPr lvl="1"/>
            <a:r>
              <a:rPr lang="en-US" dirty="0"/>
              <a:t>NBR Improvement</a:t>
            </a:r>
          </a:p>
          <a:p>
            <a:pPr lvl="1"/>
            <a:r>
              <a:rPr lang="en-US" dirty="0" err="1"/>
              <a:t>Schedulability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Execution Time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C1277-EFDC-C39C-F85D-6B72E51B9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479988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D13D-3716-8305-CEF3-419FAE53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B6157-9FA3-7621-717C-B4252898E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10254701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Number of TFs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7FDEE-C826-1F62-741D-39ED74CD2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36AA0-05B1-4B26-181F-70ED288AD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69" y="1442728"/>
            <a:ext cx="10893462" cy="47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02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B1D0D-83CB-9CD2-D077-B3DE2507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287D-7440-00C4-C42E-58B13718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LSS Relationship: Latency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AB9AD-6B30-E87A-9673-3D3C33962AD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** Parameter Changes/Test Cases:</a:t>
            </a:r>
          </a:p>
          <a:p>
            <a:pPr lvl="1"/>
            <a:r>
              <a:rPr lang="en-US" dirty="0"/>
              <a:t>Latency Intervals [0.1, 0.2], [0.2, 0.4], [0.4, 0.6], [0.6, 0.8], [0.8, 1.0]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pPr lvl="1"/>
            <a:r>
              <a:rPr lang="en-US" dirty="0"/>
              <a:t>NBR Improvement</a:t>
            </a:r>
          </a:p>
          <a:p>
            <a:pPr lvl="1"/>
            <a:r>
              <a:rPr lang="en-US" dirty="0" err="1"/>
              <a:t>Schedulability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Execution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B7AA2-D1E7-9483-0568-64EBAD668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761F7-35A7-7A65-F0B3-6BE5F90B3DFE}"/>
              </a:ext>
            </a:extLst>
          </p:cNvPr>
          <p:cNvSpPr txBox="1"/>
          <p:nvPr/>
        </p:nvSpPr>
        <p:spPr>
          <a:xfrm>
            <a:off x="3962400" y="259689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chemeClr val="tx2"/>
                  </a:solidFill>
                </a:ln>
              </a:rPr>
              <a:t>stringent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81AD3A8-3CBC-48E1-EA0F-D46EE84179DA}"/>
              </a:ext>
            </a:extLst>
          </p:cNvPr>
          <p:cNvCxnSpPr>
            <a:stCxn id="5" idx="3"/>
          </p:cNvCxnSpPr>
          <p:nvPr/>
        </p:nvCxnSpPr>
        <p:spPr>
          <a:xfrm>
            <a:off x="5084823" y="2781562"/>
            <a:ext cx="4034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926943-2C0E-2959-B660-996961C8316B}"/>
              </a:ext>
            </a:extLst>
          </p:cNvPr>
          <p:cNvSpPr txBox="1"/>
          <p:nvPr/>
        </p:nvSpPr>
        <p:spPr>
          <a:xfrm>
            <a:off x="9119616" y="2596896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chemeClr val="tx2"/>
                  </a:solidFill>
                </a:ln>
              </a:rPr>
              <a:t>relaxed</a:t>
            </a:r>
          </a:p>
        </p:txBody>
      </p:sp>
    </p:spTree>
    <p:extLst>
      <p:ext uri="{BB962C8B-B14F-4D97-AF65-F5344CB8AC3E}">
        <p14:creationId xmlns:p14="http://schemas.microsoft.com/office/powerpoint/2010/main" val="7424439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5EF7-37B0-8C25-50AB-B1C4FD8A9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8E732-BE34-C94D-5717-FC2FB60F2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2017167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Latency Requirements </a:t>
            </a:r>
            <a:r>
              <a:rPr lang="en-US" sz="2000" dirty="0"/>
              <a:t>(pt1)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40966-53CF-2D3C-F3DC-8B09F9B87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F1DCD7-68AE-62C2-11B8-360D0B1E0DCC}"/>
              </a:ext>
            </a:extLst>
          </p:cNvPr>
          <p:cNvGrpSpPr/>
          <p:nvPr/>
        </p:nvGrpSpPr>
        <p:grpSpPr>
          <a:xfrm>
            <a:off x="1371091" y="1546812"/>
            <a:ext cx="9449818" cy="4396788"/>
            <a:chOff x="949323" y="1394412"/>
            <a:chExt cx="7462832" cy="347228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7DC91B0-6228-7284-47A8-E33F524BA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9323" y="1394412"/>
              <a:ext cx="7462831" cy="312678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CA8700E-EC22-2C40-9078-1DCCCD4BC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9323" y="4521199"/>
              <a:ext cx="7462832" cy="345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44313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01822-65EF-9DC2-0A15-0AE35A4A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8F6A-AEA7-3482-39BD-7C64C153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2017167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Latency Requirements</a:t>
            </a:r>
            <a:r>
              <a:rPr lang="en-US" sz="2000" dirty="0"/>
              <a:t>  (pt2)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61281-9B42-214F-54EE-BC1C6E1E0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2A10C-C334-25EF-68BF-EED3CAE35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049" y="1394412"/>
            <a:ext cx="8472502" cy="466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585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B6931-AD65-A2A3-DB26-A44C4D2F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9BAA1-CCCD-63B9-D315-A0690E002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LSS Relationship: Transmission Period 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C6ECC-D510-9CF1-94E5-7C7D2E93DA3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** Parameter Changes/Test Cases:</a:t>
            </a:r>
          </a:p>
          <a:p>
            <a:pPr lvl="1"/>
            <a:r>
              <a:rPr lang="en-US" dirty="0"/>
              <a:t>Transmission period groups {2}, {2,3}, {2,3,4}, {2,3,4,5}, {2,3,4,5,6}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pPr lvl="1"/>
            <a:r>
              <a:rPr lang="en-US" dirty="0"/>
              <a:t>NBR Improvement</a:t>
            </a:r>
          </a:p>
          <a:p>
            <a:pPr lvl="1"/>
            <a:r>
              <a:rPr lang="en-US" dirty="0" err="1"/>
              <a:t>Schedulability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Execution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39008-18D0-1A74-1B21-B7D2434FE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664925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3E929-226B-B197-0DFC-C2613930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2157-2DD2-CC28-B350-099DE6C8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11027816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Transmission Period Diversity </a:t>
            </a:r>
            <a:r>
              <a:rPr lang="en-US" sz="2000" dirty="0"/>
              <a:t>(pt1)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5877E-B7E5-8D45-E40E-E3B93F065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39A787-E179-D0A2-7242-97EE09793600}"/>
              </a:ext>
            </a:extLst>
          </p:cNvPr>
          <p:cNvGrpSpPr/>
          <p:nvPr/>
        </p:nvGrpSpPr>
        <p:grpSpPr>
          <a:xfrm>
            <a:off x="1668326" y="1394412"/>
            <a:ext cx="9535700" cy="4706137"/>
            <a:chOff x="3698524" y="1899567"/>
            <a:chExt cx="5270500" cy="263556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21F8A8F-6FE5-D3CA-6290-46760FD94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98524" y="1899567"/>
              <a:ext cx="5270500" cy="229266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E9C1C9F-B839-D572-32CA-FB1F55369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98524" y="4192235"/>
              <a:ext cx="5270500" cy="34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69035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847E-ABA5-3DE1-1122-96B1D9F53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4461-8B33-02C5-FBDC-B4FDCC6F5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11027816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Transmission Period Diversity </a:t>
            </a:r>
            <a:r>
              <a:rPr lang="en-US" sz="2000" dirty="0"/>
              <a:t>(pt2)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10C84-E71E-7266-C12E-42E5B799E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9A8B0-5307-53AE-3016-48E79339D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35" y="1394412"/>
            <a:ext cx="9773639" cy="472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57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BC6B-514F-6C57-4EDA-5E631192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0414-A3B8-6A66-FA3F-A7E745BB7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LSS Relationship: Payload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9335F-E583-7CE6-8AB9-9E31F62CC9B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** Parameter Changes/Test Cases:</a:t>
            </a:r>
          </a:p>
          <a:p>
            <a:pPr lvl="1"/>
            <a:r>
              <a:rPr lang="en-US" dirty="0"/>
              <a:t>Average payload sizes [150, 150], [120, 180], [90, 210], [60, 240], and [30, 270] (NO CHART)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no significant variance between Co1 and </a:t>
            </a:r>
            <a:r>
              <a:rPr lang="en-US" dirty="0" err="1"/>
              <a:t>CoU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Increasing size of payloads {40, 80, 120, 160, 200}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pPr lvl="1"/>
            <a:r>
              <a:rPr lang="en-US" dirty="0"/>
              <a:t>NBR Improvement</a:t>
            </a:r>
          </a:p>
          <a:p>
            <a:pPr lvl="1"/>
            <a:r>
              <a:rPr lang="en-US" dirty="0" err="1"/>
              <a:t>Schedulability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Execution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6C28-8817-FAD6-9DE5-1966C4A39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2751274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55D1D-E7B0-D402-1474-8449B1F8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EC92F-705C-08E2-4B97-EB179681A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8939742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Payload Size </a:t>
            </a:r>
            <a:r>
              <a:rPr lang="en-US" sz="2000" dirty="0"/>
              <a:t>(pt1)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1B311-72C9-FA73-BFBD-1394E3581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0548C1C-E2EF-A7B9-594D-E463249E7B09}"/>
              </a:ext>
            </a:extLst>
          </p:cNvPr>
          <p:cNvGrpSpPr/>
          <p:nvPr/>
        </p:nvGrpSpPr>
        <p:grpSpPr>
          <a:xfrm>
            <a:off x="1595422" y="1394412"/>
            <a:ext cx="9302427" cy="4723082"/>
            <a:chOff x="949325" y="1371600"/>
            <a:chExt cx="5486401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E281A6E-F3A5-B7B1-35F1-20B355913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9325" y="1371600"/>
              <a:ext cx="5486400" cy="24384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75FA863-2EEB-FB95-80DF-ADA213F5A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9326" y="3810000"/>
              <a:ext cx="5486400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34846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C526-5F09-568A-1272-61A424B6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C505-1072-DA8E-6057-6F2B43C91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9333927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Payload Size </a:t>
            </a:r>
            <a:r>
              <a:rPr lang="en-US" sz="2000" dirty="0"/>
              <a:t>(pt2)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5D784-D902-CB0D-3555-E52CA9122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31E0F-9841-F389-636F-F709DC244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833" y="1496405"/>
            <a:ext cx="8398934" cy="462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38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E54C-2BF3-5AF6-D62A-8E6F3C7F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4E6B7-F979-19C4-C01C-E24C9E553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Large Scale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C75EB-AF9C-B937-E2A5-BC094AB7328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Number of Traffic Flows: </a:t>
            </a:r>
            <a:r>
              <a:rPr lang="en-US" dirty="0"/>
              <a:t>10+</a:t>
            </a:r>
          </a:p>
          <a:p>
            <a:pPr marL="0" indent="0">
              <a:buNone/>
            </a:pPr>
            <a:r>
              <a:rPr lang="en-US" b="1" dirty="0"/>
              <a:t>Algorithms: </a:t>
            </a:r>
            <a:r>
              <a:rPr lang="en-US" dirty="0"/>
              <a:t>Co1, </a:t>
            </a:r>
            <a:r>
              <a:rPr lang="en-US" dirty="0" err="1"/>
              <a:t>CoU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Varying Parameters: </a:t>
            </a:r>
          </a:p>
          <a:p>
            <a:pPr lvl="1"/>
            <a:r>
              <a:rPr lang="en-US" dirty="0"/>
              <a:t>Number of TF, Latency Requirements, Transmission Period, Payload Size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CoU</a:t>
            </a:r>
            <a:r>
              <a:rPr lang="en-US" dirty="0"/>
              <a:t> outperforms Co1 as it is more flexible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Speed vs Spectral Efficiency Tradeoff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28F6E-B58C-920C-8F1B-18D5E5F37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BF31C8-7851-952E-34FB-077E98D3E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332" y="1686757"/>
            <a:ext cx="1372168" cy="102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789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D867D-2D2A-9277-8474-0137CA81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340EC-F3CA-EA93-5C61-9C0B870C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3: Realistic Case Study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94E223A-C630-40A1-903C-34CA098E061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Number of Traffic Flows: </a:t>
            </a:r>
            <a:r>
              <a:rPr lang="en-US" dirty="0"/>
              <a:t>100</a:t>
            </a:r>
          </a:p>
          <a:p>
            <a:pPr marL="0" indent="0">
              <a:buNone/>
            </a:pPr>
            <a:r>
              <a:rPr lang="en-US" b="1" dirty="0"/>
              <a:t>Algorithms: </a:t>
            </a:r>
            <a:r>
              <a:rPr lang="en-US" dirty="0"/>
              <a:t>Co1, </a:t>
            </a:r>
            <a:r>
              <a:rPr lang="en-US" dirty="0" err="1"/>
              <a:t>CoU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Parameters: </a:t>
            </a:r>
          </a:p>
          <a:p>
            <a:pPr lvl="1"/>
            <a:r>
              <a:rPr lang="en-US" dirty="0"/>
              <a:t>Table 5 (industrial applications)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</a:t>
            </a:r>
            <a:endParaRPr lang="en-US" dirty="0"/>
          </a:p>
          <a:p>
            <a:pPr lvl="1"/>
            <a:r>
              <a:rPr lang="en-US" dirty="0" err="1"/>
              <a:t>CoU</a:t>
            </a:r>
            <a:r>
              <a:rPr lang="en-US" dirty="0"/>
              <a:t> slower, but more performant than Co1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75CDE-3A54-F6B7-D3A4-E76B829CB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491C5BA-1AAD-7C60-5A5C-4800B6FA9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34256"/>
            <a:ext cx="5920021" cy="10153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D5253-1B1E-FABD-D187-8EB94FD29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121" y="1676400"/>
            <a:ext cx="5827777" cy="1181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D166B1-B09A-D744-1D78-61C7290D20B1}"/>
              </a:ext>
            </a:extLst>
          </p:cNvPr>
          <p:cNvCxnSpPr>
            <a:cxnSpLocks/>
          </p:cNvCxnSpPr>
          <p:nvPr/>
        </p:nvCxnSpPr>
        <p:spPr>
          <a:xfrm flipH="1">
            <a:off x="9056009" y="3011424"/>
            <a:ext cx="1" cy="11582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8229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22C8-CE14-C8B7-F9C3-BCFE4804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3CFF0-BD2B-FA12-5211-D0E66E750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8109331" cy="896116"/>
          </a:xfrm>
        </p:spPr>
        <p:txBody>
          <a:bodyPr>
            <a:normAutofit/>
          </a:bodyPr>
          <a:lstStyle/>
          <a:p>
            <a:r>
              <a:rPr lang="en-US" dirty="0"/>
              <a:t>Results: Realistic Case Study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D0E33-6F03-F3DF-0676-FCEFFB280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3" name="Picture 2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80EE2563-CAF2-2CAF-9718-E26DA8B50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48" y="1394412"/>
            <a:ext cx="10457903" cy="45491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32683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FC66-23E7-33B2-5B8C-18D81C6B7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0EEC-2C95-C5BF-29AA-FD66C70A78D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Configured Grant scheduling problem optimization is NP-Hard:</a:t>
            </a:r>
          </a:p>
          <a:p>
            <a:pPr lvl="1"/>
            <a:r>
              <a:rPr lang="en-US" dirty="0"/>
              <a:t>SMT Solutions do not meet requirements of 5G</a:t>
            </a:r>
          </a:p>
          <a:p>
            <a:pPr lvl="1"/>
            <a:r>
              <a:rPr lang="en-US" dirty="0"/>
              <a:t>heuristic algos Co1 and </a:t>
            </a:r>
            <a:r>
              <a:rPr lang="en-US" dirty="0" err="1"/>
              <a:t>CoU</a:t>
            </a:r>
            <a:r>
              <a:rPr lang="en-US" dirty="0"/>
              <a:t> do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Unlimited Configurations (</a:t>
            </a:r>
            <a:r>
              <a:rPr lang="en-US" b="1" dirty="0" err="1"/>
              <a:t>CoU</a:t>
            </a:r>
            <a:r>
              <a:rPr lang="en-US" b="1" dirty="0"/>
              <a:t>) &gt;&gt; Single Configuration (Co1):</a:t>
            </a:r>
          </a:p>
          <a:p>
            <a:pPr lvl="1"/>
            <a:r>
              <a:rPr lang="en-US" dirty="0"/>
              <a:t>Greater Resource Efficiency </a:t>
            </a:r>
          </a:p>
          <a:p>
            <a:pPr lvl="1"/>
            <a:r>
              <a:rPr lang="en-US" dirty="0"/>
              <a:t>Greater </a:t>
            </a:r>
            <a:r>
              <a:rPr lang="en-US" dirty="0" err="1"/>
              <a:t>Schedulability</a:t>
            </a:r>
            <a:endParaRPr lang="en-US" dirty="0"/>
          </a:p>
          <a:p>
            <a:pPr lvl="1"/>
            <a:r>
              <a:rPr lang="en-US" dirty="0"/>
              <a:t>Greater Flexibility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Trade-offs:</a:t>
            </a:r>
          </a:p>
          <a:p>
            <a:pPr lvl="1"/>
            <a:r>
              <a:rPr lang="en-US" dirty="0"/>
              <a:t>Control Signaling vs Flexibility </a:t>
            </a:r>
          </a:p>
          <a:p>
            <a:pPr lvl="1"/>
            <a:r>
              <a:rPr lang="en-US" dirty="0"/>
              <a:t>Speed vs Flexibility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7C973-1FC5-DA8C-9980-D26AD86A9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942653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BC1C-912A-BF40-96FC-B9FF38E497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4485842"/>
            <a:ext cx="10515600" cy="896116"/>
          </a:xfrm>
        </p:spPr>
        <p:txBody>
          <a:bodyPr/>
          <a:lstStyle/>
          <a:p>
            <a:r>
              <a:rPr lang="en-US" dirty="0"/>
              <a:t>Closing Slide Header</a:t>
            </a:r>
          </a:p>
        </p:txBody>
      </p:sp>
    </p:spTree>
    <p:extLst>
      <p:ext uri="{BB962C8B-B14F-4D97-AF65-F5344CB8AC3E}">
        <p14:creationId xmlns:p14="http://schemas.microsoft.com/office/powerpoint/2010/main" val="1458488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OWA BRAND COLORS">
      <a:dk1>
        <a:srgbClr val="000000"/>
      </a:dk1>
      <a:lt1>
        <a:srgbClr val="FFFFFF"/>
      </a:lt1>
      <a:dk2>
        <a:srgbClr val="62666A"/>
      </a:dk2>
      <a:lt2>
        <a:srgbClr val="BBBCBC"/>
      </a:lt2>
      <a:accent1>
        <a:srgbClr val="FFCD00"/>
      </a:accent1>
      <a:accent2>
        <a:srgbClr val="616669"/>
      </a:accent2>
      <a:accent3>
        <a:srgbClr val="BBBCBC"/>
      </a:accent3>
      <a:accent4>
        <a:srgbClr val="00A9E0"/>
      </a:accent4>
      <a:accent5>
        <a:srgbClr val="00AF66"/>
      </a:accent5>
      <a:accent6>
        <a:srgbClr val="FF8200"/>
      </a:accent6>
      <a:hlink>
        <a:srgbClr val="00558C"/>
      </a:hlink>
      <a:folHlink>
        <a:srgbClr val="636669"/>
      </a:folHlink>
    </a:clrScheme>
    <a:fontScheme name="University of Iowa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9CCDD9754E9B40B13882595ECD5F7A" ma:contentTypeVersion="0" ma:contentTypeDescription="Create a new document." ma:contentTypeScope="" ma:versionID="48ffdc5cb6ca8bf97cbe1bd0206e10b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4B8143-C3D6-460D-830C-A8DBEE8551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21B56A-5C82-479A-80D0-662CC28B93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97FFD54-27B0-415C-8654-D843242BD071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15465</TotalTime>
  <Words>3701</Words>
  <Application>Microsoft Macintosh PowerPoint</Application>
  <PresentationFormat>Widescreen</PresentationFormat>
  <Paragraphs>520</Paragraphs>
  <Slides>58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Roboto</vt:lpstr>
      <vt:lpstr>Roboto Black</vt:lpstr>
      <vt:lpstr>Wingdings</vt:lpstr>
      <vt:lpstr>Office Theme</vt:lpstr>
      <vt:lpstr>Multi-Traffic Resource Optimization for Real-Time Applications with 5G Configured Grant Scheduling</vt:lpstr>
      <vt:lpstr>Agenda</vt:lpstr>
      <vt:lpstr>BACKGROUND</vt:lpstr>
      <vt:lpstr>Paper</vt:lpstr>
      <vt:lpstr>5G and Configuration Grant (CG) Background</vt:lpstr>
      <vt:lpstr>Why CG? Dynamic Scheduling Issues</vt:lpstr>
      <vt:lpstr>Dynamic Scheduling for Uplink Traffic</vt:lpstr>
      <vt:lpstr>Dynamic Scheduling for Uplink Traffic</vt:lpstr>
      <vt:lpstr>Dynamic Scheduling for Uplink Traffic</vt:lpstr>
      <vt:lpstr>Dynamic Scheduling for Uplink Traffic</vt:lpstr>
      <vt:lpstr>Dynamic Scheduling for Uplink Traffic</vt:lpstr>
      <vt:lpstr>Dynamic Scheduling for Uplink Traffic</vt:lpstr>
      <vt:lpstr>Dynamic Scheduling for Uplink Traffic</vt:lpstr>
      <vt:lpstr>Configured Grant Scheduling</vt:lpstr>
      <vt:lpstr>Configured Grant Scheduling</vt:lpstr>
      <vt:lpstr>Why CG Scheduling Fails at URLLC Applications</vt:lpstr>
      <vt:lpstr>Connection to Previous Paper</vt:lpstr>
      <vt:lpstr>Importance of Schedule Flexibility</vt:lpstr>
      <vt:lpstr>Importance of Schedule Flexibility</vt:lpstr>
      <vt:lpstr>Importance of Schedule Flexibility</vt:lpstr>
      <vt:lpstr>Importance of Schedule Flexibility</vt:lpstr>
      <vt:lpstr>Importance of Schedule Flexibility</vt:lpstr>
      <vt:lpstr>Motivation</vt:lpstr>
      <vt:lpstr>SYSTEM MODEL</vt:lpstr>
      <vt:lpstr>Note before continuing</vt:lpstr>
      <vt:lpstr>System Overview</vt:lpstr>
      <vt:lpstr>Traffic Model</vt:lpstr>
      <vt:lpstr>Network Model</vt:lpstr>
      <vt:lpstr>Schedules/Configurations</vt:lpstr>
      <vt:lpstr>Constraints</vt:lpstr>
      <vt:lpstr>Optimization Techniques</vt:lpstr>
      <vt:lpstr>Heuristic Approaches</vt:lpstr>
      <vt:lpstr>Heuristic Approaches</vt:lpstr>
      <vt:lpstr>EXPERIMENTS</vt:lpstr>
      <vt:lpstr>Experiments</vt:lpstr>
      <vt:lpstr>Small Scale Systems</vt:lpstr>
      <vt:lpstr>Small Scale Systems</vt:lpstr>
      <vt:lpstr>Small Scale Systems: Procedure</vt:lpstr>
      <vt:lpstr>Small Scale Systems</vt:lpstr>
      <vt:lpstr>Why not SMT?</vt:lpstr>
      <vt:lpstr>Experiment 2: Large Scale Systems</vt:lpstr>
      <vt:lpstr>LSS: Default Parameters</vt:lpstr>
      <vt:lpstr>LSS Relationship: Number of TFs</vt:lpstr>
      <vt:lpstr>LSS Results: Number of TFs</vt:lpstr>
      <vt:lpstr>LSS Relationship: Latency Requirements</vt:lpstr>
      <vt:lpstr>LSS Results: Latency Requirements (pt1)</vt:lpstr>
      <vt:lpstr>LSS Results: Latency Requirements  (pt2)</vt:lpstr>
      <vt:lpstr>LSS Relationship: Transmission Period Diversity</vt:lpstr>
      <vt:lpstr>LSS Results: Transmission Period Diversity (pt1)</vt:lpstr>
      <vt:lpstr>LSS Results: Transmission Period Diversity (pt2)</vt:lpstr>
      <vt:lpstr>LSS Relationship: Payload Size</vt:lpstr>
      <vt:lpstr>LSS Results: Payload Size (pt1)</vt:lpstr>
      <vt:lpstr>LSS Results: Payload Size (pt2)</vt:lpstr>
      <vt:lpstr>Experiment 2: Large Scale Systems</vt:lpstr>
      <vt:lpstr>Experiment 3: Realistic Case Study</vt:lpstr>
      <vt:lpstr>Results: Realistic Case Study</vt:lpstr>
      <vt:lpstr>Conclusion</vt:lpstr>
      <vt:lpstr>Closing Slide Header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ryan-potter@uiowa.edu</dc:creator>
  <cp:lastModifiedBy>Matt Krueger</cp:lastModifiedBy>
  <cp:revision>277</cp:revision>
  <dcterms:created xsi:type="dcterms:W3CDTF">2020-01-21T18:13:39Z</dcterms:created>
  <dcterms:modified xsi:type="dcterms:W3CDTF">2025-11-21T18:18:59Z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0x010100579CCDD9754E9B40B13882595ECD5F7A</vt:lpwstr>
  </property>
</Properties>
</file>