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8"/>
  </p:notesMasterIdLst>
  <p:handoutMasterIdLst>
    <p:handoutMasterId r:id="rId59"/>
  </p:handoutMasterIdLst>
  <p:sldIdLst>
    <p:sldId id="258" r:id="rId5"/>
    <p:sldId id="378" r:id="rId6"/>
    <p:sldId id="289" r:id="rId7"/>
    <p:sldId id="346" r:id="rId8"/>
    <p:sldId id="376" r:id="rId9"/>
    <p:sldId id="347" r:id="rId10"/>
    <p:sldId id="377" r:id="rId11"/>
    <p:sldId id="348" r:id="rId12"/>
    <p:sldId id="299" r:id="rId13"/>
    <p:sldId id="286" r:id="rId14"/>
    <p:sldId id="349" r:id="rId15"/>
    <p:sldId id="381" r:id="rId16"/>
    <p:sldId id="350" r:id="rId17"/>
    <p:sldId id="352" r:id="rId18"/>
    <p:sldId id="385" r:id="rId19"/>
    <p:sldId id="387" r:id="rId20"/>
    <p:sldId id="388" r:id="rId21"/>
    <p:sldId id="383" r:id="rId22"/>
    <p:sldId id="384" r:id="rId23"/>
    <p:sldId id="351" r:id="rId24"/>
    <p:sldId id="389" r:id="rId25"/>
    <p:sldId id="393" r:id="rId26"/>
    <p:sldId id="344" r:id="rId27"/>
    <p:sldId id="337" r:id="rId28"/>
    <p:sldId id="354" r:id="rId29"/>
    <p:sldId id="355" r:id="rId30"/>
    <p:sldId id="356" r:id="rId31"/>
    <p:sldId id="357" r:id="rId32"/>
    <p:sldId id="353" r:id="rId33"/>
    <p:sldId id="338" r:id="rId34"/>
    <p:sldId id="359" r:id="rId35"/>
    <p:sldId id="360" r:id="rId36"/>
    <p:sldId id="361" r:id="rId37"/>
    <p:sldId id="362" r:id="rId38"/>
    <p:sldId id="358" r:id="rId39"/>
    <p:sldId id="364" r:id="rId40"/>
    <p:sldId id="365" r:id="rId41"/>
    <p:sldId id="366" r:id="rId42"/>
    <p:sldId id="363" r:id="rId43"/>
    <p:sldId id="369" r:id="rId44"/>
    <p:sldId id="370" r:id="rId45"/>
    <p:sldId id="371" r:id="rId46"/>
    <p:sldId id="379" r:id="rId47"/>
    <p:sldId id="380" r:id="rId48"/>
    <p:sldId id="372" r:id="rId49"/>
    <p:sldId id="373" r:id="rId50"/>
    <p:sldId id="375" r:id="rId51"/>
    <p:sldId id="391" r:id="rId52"/>
    <p:sldId id="390" r:id="rId53"/>
    <p:sldId id="330" r:id="rId54"/>
    <p:sldId id="345" r:id="rId55"/>
    <p:sldId id="374" r:id="rId56"/>
    <p:sldId id="368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110" autoAdjust="0"/>
    <p:restoredTop sz="85070" autoAdjust="0"/>
  </p:normalViewPr>
  <p:slideViewPr>
    <p:cSldViewPr snapToGrid="0" snapToObjects="1">
      <p:cViewPr varScale="1">
        <p:scale>
          <a:sx n="104" d="100"/>
          <a:sy n="104" d="100"/>
        </p:scale>
        <p:origin x="-248" y="200"/>
      </p:cViewPr>
      <p:guideLst/>
    </p:cSldViewPr>
  </p:slideViewPr>
  <p:outlineViewPr>
    <p:cViewPr>
      <p:scale>
        <a:sx n="33" d="100"/>
        <a:sy n="33" d="100"/>
      </p:scale>
      <p:origin x="0" y="-31296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2" d="100"/>
          <a:sy n="102" d="100"/>
        </p:scale>
        <p:origin x="1512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F77051E-B811-D949-830F-55D35BA79CE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2EC375-152E-3F4A-8C1A-308E3DFABC4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830E4C-56B7-2443-B370-610F8D1BCD9C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AD90D4-C48B-C647-BA8A-B43CFA99A4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0E78B-91EF-F148-8F7B-2AEC532510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D0152-5968-C24B-9EC0-2DFF74304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2488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3T04:23:08.31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1191 166 24446,'-12'12'0,"2"-2"0,6-7 0,1-2 0,-5 2 0,3-1 64,-9 2-64,10-2 22,-4 0-22,2 0 10,2 0-10,-8 5 0,7-4 33,-4 4-33,-2-5 0,5 0 0,-22 3 0,-4 3 0,4-3-492,-12 3 0,2-2-492,14-4 0,-35 5 0,-2 0 0,33-5 492,-23 1 0,1 0-492,28-3 698,-23 1 0,3 0 1269,27 0 0,-41 3 0,48-3 0,-15 1 0,17-2 0,-1-2-138,18-6-1125,-7 5 280,9-6 0,8 3 0,-15 4 0,27-9 0,-26 10 0,21-8 0,-19 8 0,6-2 0,4 1 0,-12 1 0,19-2 0,-22 1 0,13-1 0,-15 0 0,5 3 0,-1-4 0,-2 4 0,8-4 0,-5 4 983,1-2-969,3-1-14,-5 2 0,9-5 0,-10 6 0,7-5 0,-8 4 0,2-3 0,0 1 0,-1 2 0,0-4 0,-18 3 0,9 0-884,-15 0 884,15 2 0,-5 0 0,3 0 0,20-4 0,-5 2 0,18-2 0,18-6-984,-26 6 0,25-4 0,7-4 0,-29 9 492,22-5 0,4 1-492,-16 1 492,31-7 0,1-2-492,-27 7 656,8-3 0,10-1 0,-14 3-656,-17 3 492,32-3 0,-1 0-492,-32 2 492,13 2 0,1 1-187,-14 0 1662,2 3 0,-17 1 0,-11 1-898,-15 5-85,14-1 983,-14 2 0,11-1 0,2-3 0,-18 6-378,16-7-605,-27 14 0,24-13 0,-30 10 0,27-7 0,-19 1 0,-3 1 0,17-2 0,-24 1 0,-17 0 0,12-2-984,11 0 793,-13-3 0,-20 2 0,0-1 0,15 0 191,-2 4 0,1-5 0,-19-2 0,0 1 0,18 1 0,-1 5 0,9-7 0,-13 0 0,1 0 0,12 0 0,-3 3 0,5-2 0,-8-2 0,12 1 0,15 0 0,-24 0 0,46 0 0,1 0 0,25-7 0,-12 6 0,19-8 0,-12 5 0,-6 0 0,37-2 0,-32 2 0,18 2 0,1 0 0,-19 0-984,42-3 0,-44 4 0,35-8 0,-37 8 0,32-8 0,-35 7 181,32-5 803,-31 4 0,31-4 0,-31 6 983,47-9 0,-43 9-516,32-6-467,-39 6 0,3-1 0,-28 4 0,10 0 0,-15 1 0,7 0 0,11-3 983,-7 2 0,4-2-817,2 0-166,-3 0 983,-12 2 0,-11 0 0,5 0-201,-2 0-1766,13-1 278,11 0-278,-21 1 0,20-2 0,-23 0 0,23 0 1967,-20 0 0,11 0-597,-1 0 597,4 0-252,11-2 252,-3 1 0,-4-4 0,4 2 0,-4-1 0,5 1 0,0 2 0,-4-2 0,4 1-344,-2-1-639,-1 3 0,1 1 0,-1 2 0,1 0 0,-2-1 0,1 1 0,-13 1 0,11-1 0,-24 3 0,23-4 0,-11 1 0,0 0 0,-2 2 0,1-1 0,4 1 0,11-3 0,2 2 0,-8 0 0,8-2 0,-6 2 0,6-4 0,23 0 0,-14 0 0,17-2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CD2FD1-B169-9B41-A890-0ECD81C3476C}" type="datetimeFigureOut">
              <a:rPr lang="en-US" smtClean="0"/>
              <a:t>12/16/25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9943EA-69D9-7E49-97CD-A49926F617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127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brand.uiowa.edu/graphic-elements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5502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069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0A612-736C-DF79-3D16-8F2303978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69B62A-89E1-E3EB-9D10-F563362DD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A55C97-2B52-E7C2-35BF-6C01D0797A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Download the full brand icon set at </a:t>
            </a:r>
            <a:r>
              <a:rPr lang="en-US" sz="1200" dirty="0">
                <a:hlinkClick r:id="rId3"/>
              </a:rPr>
              <a:t>brand.uiowa.edu/graphic-elements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505780-3235-5870-A931-E83245E63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80104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74725" y="2677626"/>
            <a:ext cx="10354360" cy="1843238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 Goes </a:t>
            </a:r>
            <a:br>
              <a:rPr lang="en-US" dirty="0"/>
            </a:br>
            <a:r>
              <a:rPr lang="en-US" dirty="0"/>
              <a:t>Right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339665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74725" y="4709626"/>
            <a:ext cx="10354360" cy="40746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PRESENTATION SUBTITLE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BC7A98-1B1E-8545-AABD-0F79723A23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74725" y="5148794"/>
            <a:ext cx="10354360" cy="46310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Month XX, 2020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A810B86-CAB7-EA43-BC2F-6E66762DC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10376585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2200" b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pic>
        <p:nvPicPr>
          <p:cNvPr id="12" name="Picture 11" descr="The University of Iowa">
            <a:extLst>
              <a:ext uri="{FF2B5EF4-FFF2-40B4-BE49-F238E27FC236}">
                <a16:creationId xmlns:a16="http://schemas.microsoft.com/office/drawing/2014/main" id="{A096FDD2-3609-3C49-9ED5-616F9E36DB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5016" y="0"/>
            <a:ext cx="2693773" cy="127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901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60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74725" y="2677626"/>
            <a:ext cx="9144000" cy="1843238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 Goes Right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339665"/>
            <a:ext cx="768531" cy="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74725" y="4709626"/>
            <a:ext cx="9144000" cy="40746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PRESENTATION SUBTITLE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BC7A98-1B1E-8545-AABD-0F79723A23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74725" y="5087150"/>
            <a:ext cx="9144000" cy="46310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Month XX, 2020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A810B86-CAB7-EA43-BC2F-6E66762DC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9166225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22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685527-7A8C-3647-9D96-6D076FA7A7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628383" y="0"/>
            <a:ext cx="2687038" cy="127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889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0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0097" y="2184901"/>
            <a:ext cx="6155725" cy="2431224"/>
          </a:xfrm>
        </p:spPr>
        <p:txBody>
          <a:bodyPr anchor="ctr" anchorCtr="0">
            <a:normAutofit/>
          </a:bodyPr>
          <a:lstStyle>
            <a:lvl1pPr algn="l">
              <a:defRPr sz="55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Example of the Presentation </a:t>
            </a:r>
            <a:br>
              <a:rPr lang="en-US" dirty="0"/>
            </a:br>
            <a:r>
              <a:rPr lang="en-US" dirty="0"/>
              <a:t>Title Slide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114C79AA-0B96-2A43-86A1-A71A1D4C8E7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60098" y="4676833"/>
            <a:ext cx="6155726" cy="494797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PRESENTATION SUBTITLE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A7101AB8-54F7-4A4E-9611-F4F2ECFBD1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0096" y="5139429"/>
            <a:ext cx="6155726" cy="4953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Month XX, 2020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BDD4F96-5BFE-3049-B4E0-9CDD4F5C36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29599" y="152400"/>
            <a:ext cx="3385601" cy="919069"/>
          </a:xfrm>
          <a:prstGeom prst="rect">
            <a:avLst/>
          </a:prstGeom>
          <a:noFill/>
        </p:spPr>
        <p:txBody>
          <a:bodyPr vert="horz" lIns="0" tIns="0" rIns="0" bIns="0" rtlCol="0" anchor="b" anchorCtr="0"/>
          <a:lstStyle>
            <a:lvl1pPr algn="l">
              <a:defRPr sz="2000" b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9CB936-90E7-D144-B9DC-7CF3F98E2F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738" y="1599"/>
            <a:ext cx="2687038" cy="1276343"/>
          </a:xfrm>
          <a:prstGeom prst="rect">
            <a:avLst/>
          </a:prstGeom>
        </p:spPr>
      </p:pic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2C35F063-23A9-F244-9022-8BBB7E277A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24118" y="0"/>
            <a:ext cx="4567882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09413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0097" y="2184901"/>
            <a:ext cx="6155725" cy="2561760"/>
          </a:xfrm>
        </p:spPr>
        <p:txBody>
          <a:bodyPr anchor="ctr" anchorCtr="0">
            <a:normAutofit/>
          </a:bodyPr>
          <a:lstStyle>
            <a:lvl1pPr algn="l">
              <a:defRPr sz="55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Example of the Presentation </a:t>
            </a:r>
            <a:br>
              <a:rPr lang="en-US" dirty="0"/>
            </a:br>
            <a:r>
              <a:rPr lang="en-US" dirty="0"/>
              <a:t>Title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3A797-13D4-A243-B1AE-4498B36D475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60098" y="4676833"/>
            <a:ext cx="6155726" cy="494797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PRESENTATION SUBTITLE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884DA5E7-4B71-0543-8E46-EC2A81EAE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0096" y="5139429"/>
            <a:ext cx="6155726" cy="4953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Month XX, 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EBCADCB-4DBB-9C43-A696-780C057757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29599" y="152400"/>
            <a:ext cx="3385601" cy="919069"/>
          </a:xfrm>
          <a:prstGeom prst="rect">
            <a:avLst/>
          </a:prstGeom>
          <a:noFill/>
        </p:spPr>
        <p:txBody>
          <a:bodyPr vert="horz" lIns="0" tIns="0" rIns="0" bIns="0" rtlCol="0" anchor="b" anchorCtr="0"/>
          <a:lstStyle>
            <a:lvl1pPr algn="l">
              <a:defRPr sz="20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2C35F063-23A9-F244-9022-8BBB7E277A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24118" y="0"/>
            <a:ext cx="4567882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73F5E00-2329-6246-A2BB-7BCD46F839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738" y="0"/>
            <a:ext cx="2687038" cy="127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209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805221"/>
            <a:ext cx="10286999" cy="759906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tx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Header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578471"/>
            <a:ext cx="768531" cy="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2500" y="3791876"/>
            <a:ext cx="10286999" cy="407460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Subtitle</a:t>
            </a:r>
          </a:p>
        </p:txBody>
      </p:sp>
    </p:spTree>
    <p:extLst>
      <p:ext uri="{BB962C8B-B14F-4D97-AF65-F5344CB8AC3E}">
        <p14:creationId xmlns:p14="http://schemas.microsoft.com/office/powerpoint/2010/main" val="2721272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pos="70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805221"/>
            <a:ext cx="10286999" cy="759907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noProof="0" dirty="0"/>
              <a:t>Section Header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578471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ubtitle 2">
            <a:extLst>
              <a:ext uri="{FF2B5EF4-FFF2-40B4-BE49-F238E27FC236}">
                <a16:creationId xmlns:a16="http://schemas.microsoft.com/office/drawing/2014/main" id="{8FB54BE8-0526-614C-A06E-8C6258999B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2500" y="3791876"/>
            <a:ext cx="10286999" cy="407460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Subtitle</a:t>
            </a:r>
          </a:p>
        </p:txBody>
      </p:sp>
    </p:spTree>
    <p:extLst>
      <p:ext uri="{BB962C8B-B14F-4D97-AF65-F5344CB8AC3E}">
        <p14:creationId xmlns:p14="http://schemas.microsoft.com/office/powerpoint/2010/main" val="5092828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600">
          <p15:clr>
            <a:srgbClr val="FBAE40"/>
          </p15:clr>
        </p15:guide>
        <p15:guide id="4" pos="70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2C17923A-4119-CF48-9F2D-05B0A69EBAD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24488-0ADE-1843-91C1-1CA371373F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661" y="2215171"/>
            <a:ext cx="4368798" cy="646331"/>
          </a:xfrm>
          <a:solidFill>
            <a:schemeClr val="accent1"/>
          </a:solidFill>
        </p:spPr>
        <p:txBody>
          <a:bodyPr wrap="square" lIns="91440" tIns="91440" bIns="0">
            <a:spAutoFit/>
          </a:bodyPr>
          <a:lstStyle/>
          <a:p>
            <a:r>
              <a:rPr lang="en-US" dirty="0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2388073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C070F21D-F194-034E-812B-69D1C6CDD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BA13FBC-A4AA-9B4F-8E9B-12CD6600150E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22C1D3A-9762-7F4D-AB5C-A3F0114B67B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16" name="Picture 15" descr="The University of Iowa">
            <a:extLst>
              <a:ext uri="{FF2B5EF4-FFF2-40B4-BE49-F238E27FC236}">
                <a16:creationId xmlns:a16="http://schemas.microsoft.com/office/drawing/2014/main" id="{7148CCDA-64E4-6A4E-A6A7-D2AB55159A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FAE079D-23CF-2543-B543-90A5EB0D2C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77833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  <p15:guide id="2" pos="600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6">
          <p15:clr>
            <a:srgbClr val="FBAE40"/>
          </p15:clr>
        </p15:guide>
        <p15:guide id="7" orient="horz" pos="2400" userDrawn="1">
          <p15:clr>
            <a:srgbClr val="FBAE40"/>
          </p15:clr>
        </p15:guide>
        <p15:guide id="8" orient="horz" pos="374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BE68DE55-0579-EC46-BD52-181870AFB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8200BB2-D6D1-6642-8F66-9B4F37EC8187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F35C2BC9-7AF3-6D49-8036-36D81872E84B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10251527" cy="4256843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937044-371D-C149-9F72-3D8FBA4605CF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DC5F3A3D-928C-F445-ACB3-2C38F21F6D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2F140A7-DF6E-3245-BC22-1F0E9CFEE8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691165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 userDrawn="1">
          <p15:clr>
            <a:srgbClr val="FBAE40"/>
          </p15:clr>
        </p15:guide>
        <p15:guide id="2" pos="600" userDrawn="1">
          <p15:clr>
            <a:srgbClr val="FBAE40"/>
          </p15:clr>
        </p15:guide>
        <p15:guide id="3" pos="7080" userDrawn="1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1056" userDrawn="1">
          <p15:clr>
            <a:srgbClr val="FBAE40"/>
          </p15:clr>
        </p15:guide>
        <p15:guide id="7" orient="horz" pos="3744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 Slide - 2 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AEF4-B950-814D-A811-CD17BDDF04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500" y="389509"/>
            <a:ext cx="10287000" cy="1331865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 </a:t>
            </a:r>
            <a:br>
              <a:rPr lang="en-US" dirty="0"/>
            </a:br>
            <a:r>
              <a:rPr lang="en-US" dirty="0"/>
              <a:t>that runs to two lines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B5BDD8-8221-F040-8AE0-3F33C4E24CA0}"/>
              </a:ext>
            </a:extLst>
          </p:cNvPr>
          <p:cNvCxnSpPr>
            <a:cxnSpLocks/>
          </p:cNvCxnSpPr>
          <p:nvPr userDrawn="1"/>
        </p:nvCxnSpPr>
        <p:spPr>
          <a:xfrm>
            <a:off x="952500" y="17340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2525-98F9-924C-B8E5-083B38E28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050741"/>
            <a:ext cx="10287000" cy="3892859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95AAAF-3BA6-4445-BF32-091644479611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0AA5F87C-9826-7441-9CF2-6F364BF7D9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678EF36-A6E8-DB4E-8C3A-B3624ECEE4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2897963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pos="7080" userDrawn="1">
          <p15:clr>
            <a:srgbClr val="FBAE40"/>
          </p15:clr>
        </p15:guide>
        <p15:guide id="8" orient="horz" pos="374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62D2F673-8F81-4982-AA66-35312BF38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800224" cy="754602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4800219" cy="327925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33724" y="1676706"/>
            <a:ext cx="4800224" cy="754602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33725" y="2664346"/>
            <a:ext cx="4800224" cy="327925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86758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8B99253-B000-1442-A7D2-EB536C15CBCB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18" name="Picture 17" descr="The University of Iowa">
            <a:extLst>
              <a:ext uri="{FF2B5EF4-FFF2-40B4-BE49-F238E27FC236}">
                <a16:creationId xmlns:a16="http://schemas.microsoft.com/office/drawing/2014/main" id="{A96F9427-B9C2-6F44-ADD6-28635EDF4B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5D918E3-A228-4F47-B892-288E22CD6C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2899422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697" userDrawn="1">
          <p15:clr>
            <a:srgbClr val="FBAE40"/>
          </p15:clr>
        </p15:guide>
        <p15:guide id="7" orient="horz" pos="240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103BAF8-AE0C-4C2A-AFFE-5EFC7400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316674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1686756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6386" y="2674396"/>
            <a:ext cx="2973372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1686756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063515" y="2674396"/>
            <a:ext cx="316674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7806430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4376691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944143A-0CC6-6041-BD38-4C994DA8E0B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23" name="Picture 22" descr="The University of Iowa">
            <a:extLst>
              <a:ext uri="{FF2B5EF4-FFF2-40B4-BE49-F238E27FC236}">
                <a16:creationId xmlns:a16="http://schemas.microsoft.com/office/drawing/2014/main" id="{529638AC-0ED3-DE46-BC83-28B1D845EE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642FB62D-41EB-7A41-B0D2-60C8BB6A31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2851774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 userDrawn="1">
          <p15:clr>
            <a:srgbClr val="FBAE40"/>
          </p15:clr>
        </p15:guide>
        <p15:guide id="3" pos="7080" userDrawn="1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7" orient="horz" pos="3744" userDrawn="1">
          <p15:clr>
            <a:srgbClr val="FBAE40"/>
          </p15:clr>
        </p15:guide>
        <p15:guide id="8" orient="horz" pos="697" userDrawn="1">
          <p15:clr>
            <a:srgbClr val="FBAE40"/>
          </p15:clr>
        </p15:guide>
        <p15:guide id="9" orient="horz" pos="240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D42FEC1B-FCF8-4508-B227-27323879A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2358867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352425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37133" y="1686756"/>
            <a:ext cx="214876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737134" y="2674396"/>
            <a:ext cx="214876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306107" y="1686756"/>
            <a:ext cx="214876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306108" y="2674396"/>
            <a:ext cx="214876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867410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8875080" y="1676706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875081" y="2664346"/>
            <a:ext cx="2358867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DF11BA-BD6E-E14D-A115-587308DBF4A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26" name="Picture 25" descr="The University of Iowa">
            <a:extLst>
              <a:ext uri="{FF2B5EF4-FFF2-40B4-BE49-F238E27FC236}">
                <a16:creationId xmlns:a16="http://schemas.microsoft.com/office/drawing/2014/main" id="{178B6A3E-B578-0F40-9695-2E975D126F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9253C989-F49D-8D4D-BFD5-ECCB6E59B7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772614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8F3E476F-E407-4406-BB4F-38E545331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1686758"/>
            <a:ext cx="183508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850484"/>
            <a:ext cx="1835088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>
            <a:cxnSpLocks/>
          </p:cNvCxnSpPr>
          <p:nvPr userDrawn="1"/>
        </p:nvCxnSpPr>
        <p:spPr>
          <a:xfrm>
            <a:off x="3011869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CA73044-ABA5-4A68-81D4-75723F104CF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229003" y="1686758"/>
            <a:ext cx="162430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D69FEDBA-37CD-4D7E-A729-6821E598E67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22900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5066192" y="1686759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B96DFA0C-E450-4893-8C79-6243F569798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281223" y="1686758"/>
            <a:ext cx="1617953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E9D9C274-DDDD-4725-8A7B-113147DD783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28122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>
            <a:cxnSpLocks/>
          </p:cNvCxnSpPr>
          <p:nvPr userDrawn="1"/>
        </p:nvCxnSpPr>
        <p:spPr>
          <a:xfrm>
            <a:off x="7131909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93742B6-D009-4AB4-BBDC-24522E901BB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7349043" y="1686758"/>
            <a:ext cx="1617953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90357619-5F6A-4C63-90C3-32B37CE73C91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34904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F5ADDF-F780-4384-87F4-30070C81BB29}"/>
              </a:ext>
            </a:extLst>
          </p:cNvPr>
          <p:cNvCxnSpPr>
            <a:cxnSpLocks/>
          </p:cNvCxnSpPr>
          <p:nvPr userDrawn="1"/>
        </p:nvCxnSpPr>
        <p:spPr>
          <a:xfrm>
            <a:off x="918413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035F8812-D495-478D-828C-D8CF0753EEB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401266" y="1686758"/>
            <a:ext cx="183508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338FA747-D085-4909-A6FE-575A5C65242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401267" y="2850484"/>
            <a:ext cx="183823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4AB6F8-D05F-8E40-A637-083D1274FB35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38" name="Picture 37" descr="The University of Iowa">
            <a:extLst>
              <a:ext uri="{FF2B5EF4-FFF2-40B4-BE49-F238E27FC236}">
                <a16:creationId xmlns:a16="http://schemas.microsoft.com/office/drawing/2014/main" id="{03F28A08-B979-7F4D-A857-AE155CAB0E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6" name="Footer Placeholder 4">
            <a:extLst>
              <a:ext uri="{FF2B5EF4-FFF2-40B4-BE49-F238E27FC236}">
                <a16:creationId xmlns:a16="http://schemas.microsoft.com/office/drawing/2014/main" id="{48092FCE-E544-874D-A440-7B68904C3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439371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1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F83F529D-C880-45A0-81D8-FD2CC04E0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10288587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10288586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309830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BC08D86-557A-4EB7-B2A4-0782689B99D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2502" y="3291760"/>
            <a:ext cx="10288587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23E50C5-092D-4191-9A0B-F3C51561D56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504" y="3725012"/>
            <a:ext cx="10288586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4520213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3E524A13-F71C-45F7-92E6-985C4CB9E331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2504" y="4753992"/>
            <a:ext cx="10288587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7CA7FF6D-951D-4682-9C40-A6BB36ABEA8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2506" y="5187244"/>
            <a:ext cx="10288586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E76717-4761-EC4B-BDB1-C130638E59C3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20" name="Picture 19" descr="The University of Iowa">
            <a:extLst>
              <a:ext uri="{FF2B5EF4-FFF2-40B4-BE49-F238E27FC236}">
                <a16:creationId xmlns:a16="http://schemas.microsoft.com/office/drawing/2014/main" id="{40242CE7-09BD-8143-AE27-4BF193790A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F415A2A-5C4A-BE45-8CAF-820EC97BED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8408788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3A9A771B-4FFF-4EBF-A07A-0D6292AC2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1686758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309830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BC08D86-557A-4EB7-B2A4-0782689B99D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2503" y="3291760"/>
            <a:ext cx="4755838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23E50C5-092D-4191-9A0B-F3C51561D56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504" y="3725012"/>
            <a:ext cx="4755838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4520213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3E524A13-F71C-45F7-92E6-985C4CB9E331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2505" y="4753992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7CA7FF6D-951D-4682-9C40-A6BB36ABEA8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2506" y="5187244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23041F-D604-4688-B75A-90D37AFDDB0E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7B91F83-8428-4E5A-9C88-17829B687B77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83696" y="1688512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DB1D581-6D4C-4716-AE96-DBB4F953B95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83697" y="2121764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79BA4B0-A083-4A1F-9D3B-A041B59E7C22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483698" y="3293514"/>
            <a:ext cx="4755838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FDD4A4D-E1FC-4E83-A8AA-A324B6B0E441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483699" y="3726766"/>
            <a:ext cx="4755838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E8E7D5C-ACCB-47E6-A3F5-6F3F51A0F37F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83700" y="4755746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659D9DC4-BB53-4441-9B74-84922B369948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83701" y="5188998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774845D-2BF0-2740-9880-8D2B0EBB22B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39" name="Picture 38" descr="The University of Iowa">
            <a:extLst>
              <a:ext uri="{FF2B5EF4-FFF2-40B4-BE49-F238E27FC236}">
                <a16:creationId xmlns:a16="http://schemas.microsoft.com/office/drawing/2014/main" id="{0BB6734F-670C-234F-9B83-4953BF83C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7695749F-B8A1-694A-8E96-E3DE4B0E9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4358299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31EE2C71-E6FD-4A5F-BC00-7290049C4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2760956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FC9698A-599E-4227-BA19-18EFBBF3E0D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4094" y="2904080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4B470A9-B821-4D01-8FB4-31DF303421A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4096" y="3337333"/>
            <a:ext cx="4772003" cy="30491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3792244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0C507C81-6817-4069-BC84-0CE4705AE16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954098" y="3970621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4103820-8C7A-497C-BCBA-2CFEB4549C83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954100" y="4403874"/>
            <a:ext cx="4772003" cy="3109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1CE437-6AD8-4170-8DC8-66894266CE06}"/>
              </a:ext>
            </a:extLst>
          </p:cNvPr>
          <p:cNvCxnSpPr/>
          <p:nvPr userDrawn="1"/>
        </p:nvCxnSpPr>
        <p:spPr>
          <a:xfrm>
            <a:off x="952506" y="488567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C02F409-DCF5-4241-BB5E-6E37CC8D351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4096" y="5089029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C426E8-7005-475F-BC32-B5F0BA7A8A4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4098" y="5522281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222804C-AFDD-4E8C-BFDC-31326A2127FA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66342B0E-1F8B-4D4C-ABA7-E43BC2B3F4A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467495" y="1688232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FCF3285B-83DB-4917-9F24-EC0C964DE403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467497" y="2121484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C88D8B1-0044-4EC5-B4CD-DB1095F378A4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69089" y="2905554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9F6100E2-DAE8-4111-AF37-8909AA389FC1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69091" y="3338807"/>
            <a:ext cx="4772003" cy="30491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C0B1E9EC-56B4-4514-B189-24BD47F549F3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6469093" y="3972095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F685484E-408B-4771-9259-BAAC2A6E6017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6469095" y="4405348"/>
            <a:ext cx="4772003" cy="3109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0EE05AF1-1486-45F2-B87D-2AE555B8D1CB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469091" y="5090503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52C4B0E5-3C7E-4BC2-AA92-4156C26C91FF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6469093" y="5523755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row text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480C56-313A-5C4D-A02B-5C10621A5061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39" name="Picture 38" descr="The University of Iowa">
            <a:extLst>
              <a:ext uri="{FF2B5EF4-FFF2-40B4-BE49-F238E27FC236}">
                <a16:creationId xmlns:a16="http://schemas.microsoft.com/office/drawing/2014/main" id="{58CA1799-4AEA-D247-8458-F8440E4030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7" name="Footer Placeholder 4">
            <a:extLst>
              <a:ext uri="{FF2B5EF4-FFF2-40B4-BE49-F238E27FC236}">
                <a16:creationId xmlns:a16="http://schemas.microsoft.com/office/drawing/2014/main" id="{FFD2AE71-6126-9A49-BF5D-6026774165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8685362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1">
            <a:extLst>
              <a:ext uri="{FF2B5EF4-FFF2-40B4-BE49-F238E27FC236}">
                <a16:creationId xmlns:a16="http://schemas.microsoft.com/office/drawing/2014/main" id="{F947D672-DDE7-4F36-B79C-4245C5D1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238480"/>
            <a:ext cx="4800219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FB9F7B-CC85-4936-BE2A-DF6B8BF46018}"/>
              </a:ext>
            </a:extLst>
          </p:cNvPr>
          <p:cNvCxnSpPr/>
          <p:nvPr userDrawn="1"/>
        </p:nvCxnSpPr>
        <p:spPr>
          <a:xfrm>
            <a:off x="949325" y="3790765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DFA8ABE-0B6C-4930-94A9-A2BB4166E51F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58052" y="4209907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47E91DB8-4856-4AED-8362-60627F681EE8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58053" y="4761629"/>
            <a:ext cx="4800219" cy="11819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79384"/>
            <a:ext cx="0" cy="427276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33724" y="1676706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33725" y="2228428"/>
            <a:ext cx="4800224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6BD4A33-C7CC-4380-A2BB-ECC6C2FB7225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39276" y="4199855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4CD0BB64-6643-42CE-AFE7-372305F2123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39277" y="4751577"/>
            <a:ext cx="4800224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D606F0-071A-A842-B316-9BEBD143AC36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28" name="Picture 27" descr="The University of Iowa">
            <a:extLst>
              <a:ext uri="{FF2B5EF4-FFF2-40B4-BE49-F238E27FC236}">
                <a16:creationId xmlns:a16="http://schemas.microsoft.com/office/drawing/2014/main" id="{9AAD4B2F-0082-B749-BE09-2EC20A6C43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D920E71-4E45-E74F-B01A-DC16C3B80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7484183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2400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tat Layou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7C3D46F0-0006-469D-9C96-A2B5BF708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9080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Stat</a:t>
            </a:r>
          </a:p>
        </p:txBody>
      </p:sp>
      <p:sp>
        <p:nvSpPr>
          <p:cNvPr id="52" name="Picture Placeholder 50">
            <a:extLst>
              <a:ext uri="{FF2B5EF4-FFF2-40B4-BE49-F238E27FC236}">
                <a16:creationId xmlns:a16="http://schemas.microsoft.com/office/drawing/2014/main" id="{8D984633-F962-1848-A009-619CB821163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7173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4DE3AB4-3020-8D45-86B7-592F12CB716B}"/>
              </a:ext>
            </a:extLst>
          </p:cNvPr>
          <p:cNvCxnSpPr>
            <a:cxnSpLocks/>
          </p:cNvCxnSpPr>
          <p:nvPr userDrawn="1"/>
        </p:nvCxnSpPr>
        <p:spPr>
          <a:xfrm>
            <a:off x="896513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C4E94AD-16D9-BE4C-8C57-CFA6654E1BD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39080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1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64293C0-60B2-3341-9C38-86DF7ACA51DC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582471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Stat</a:t>
            </a:r>
          </a:p>
        </p:txBody>
      </p:sp>
      <p:sp>
        <p:nvSpPr>
          <p:cNvPr id="25" name="Picture Placeholder 50">
            <a:extLst>
              <a:ext uri="{FF2B5EF4-FFF2-40B4-BE49-F238E27FC236}">
                <a16:creationId xmlns:a16="http://schemas.microsoft.com/office/drawing/2014/main" id="{3ED87A8B-0573-474F-94C0-2F7E344853F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80564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799B91B-7CDD-284B-99CF-8408146B2C0D}"/>
              </a:ext>
            </a:extLst>
          </p:cNvPr>
          <p:cNvCxnSpPr>
            <a:cxnSpLocks/>
          </p:cNvCxnSpPr>
          <p:nvPr userDrawn="1"/>
        </p:nvCxnSpPr>
        <p:spPr>
          <a:xfrm>
            <a:off x="4539904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BB67D17-F456-FC43-9C41-9344D6EEB07B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4582471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1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0F6E28A-AB38-A64F-9481-C9F0437BFEA5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8225863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Stat</a:t>
            </a:r>
          </a:p>
        </p:txBody>
      </p:sp>
      <p:sp>
        <p:nvSpPr>
          <p:cNvPr id="29" name="Picture Placeholder 50">
            <a:extLst>
              <a:ext uri="{FF2B5EF4-FFF2-40B4-BE49-F238E27FC236}">
                <a16:creationId xmlns:a16="http://schemas.microsoft.com/office/drawing/2014/main" id="{106DB928-4AE1-4E4B-9A4C-6062FC24770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23956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F7D2B0-E449-FD45-9789-FC204088E97C}"/>
              </a:ext>
            </a:extLst>
          </p:cNvPr>
          <p:cNvCxnSpPr>
            <a:cxnSpLocks/>
          </p:cNvCxnSpPr>
          <p:nvPr userDrawn="1"/>
        </p:nvCxnSpPr>
        <p:spPr>
          <a:xfrm>
            <a:off x="8183296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6FE37F4-1DCF-2D40-845F-6C10AC016C29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225863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F1B24E-B6B2-2D4F-8CE9-C10E33FBF4C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9C14D290-718E-D94D-BEC3-A2B3F3F54C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5387E550-EB5F-3F4A-9BFA-44D25611C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b="0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7126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7C3D46F0-0006-469D-9C96-A2B5BF708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7A2738-1D29-40DE-AACF-F60CD708E892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D1ADFA24-184F-46B9-B1D0-3FBB044F3673}"/>
              </a:ext>
            </a:extLst>
          </p:cNvPr>
          <p:cNvSpPr/>
          <p:nvPr userDrawn="1"/>
        </p:nvSpPr>
        <p:spPr>
          <a:xfrm>
            <a:off x="1664749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Picture Placeholder 3">
            <a:extLst>
              <a:ext uri="{FF2B5EF4-FFF2-40B4-BE49-F238E27FC236}">
                <a16:creationId xmlns:a16="http://schemas.microsoft.com/office/drawing/2014/main" id="{DC306F30-B3C1-E74C-B18C-7075DB0761D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953910" y="2337468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4078664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FF9D861-0550-4AC8-BB96-094DAF60B7F4}"/>
              </a:ext>
            </a:extLst>
          </p:cNvPr>
          <p:cNvSpPr/>
          <p:nvPr userDrawn="1"/>
        </p:nvSpPr>
        <p:spPr>
          <a:xfrm>
            <a:off x="5231950" y="2050741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4382C3D7-6E45-864C-A5B5-39762336A48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500171" y="2310547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4078664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101DA23-83F7-4662-BC02-2666717C53B4}"/>
              </a:ext>
            </a:extLst>
          </p:cNvPr>
          <p:cNvSpPr/>
          <p:nvPr userDrawn="1"/>
        </p:nvSpPr>
        <p:spPr>
          <a:xfrm>
            <a:off x="8775763" y="2050741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6E1CEA20-24A4-8C45-B5A6-CE111F714FE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46432" y="2299135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4078663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F1B24E-B6B2-2D4F-8CE9-C10E33FBF4C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9C14D290-718E-D94D-BEC3-A2B3F3F54C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5387E550-EB5F-3F4A-9BFA-44D25611C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3951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1B9DD2E6-4011-470E-85A1-9331B2E25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6361F7-376B-4B6B-90CB-982F8C88D3AB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7215D4C-D1BA-4B83-8034-F6173B4B3FE7}"/>
              </a:ext>
            </a:extLst>
          </p:cNvPr>
          <p:cNvSpPr/>
          <p:nvPr userDrawn="1"/>
        </p:nvSpPr>
        <p:spPr>
          <a:xfrm>
            <a:off x="1260812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Picture Placeholder 3">
            <a:extLst>
              <a:ext uri="{FF2B5EF4-FFF2-40B4-BE49-F238E27FC236}">
                <a16:creationId xmlns:a16="http://schemas.microsoft.com/office/drawing/2014/main" id="{0A1A4191-73C5-A24C-B85A-D6F8FC57252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540727" y="2311683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C06C296-F787-402D-AC65-1E55B4D25C69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52500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1934B1-C1CC-42D5-A8D8-639ED39E9A45}"/>
              </a:ext>
            </a:extLst>
          </p:cNvPr>
          <p:cNvSpPr/>
          <p:nvPr userDrawn="1"/>
        </p:nvSpPr>
        <p:spPr>
          <a:xfrm>
            <a:off x="3935830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D7A0C8CB-AE00-AE4E-8B06-C3CDA2E8A6B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21796" y="2280863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C7F2CE8-9E91-4C86-99AB-686A9C810419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627518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7542B3E-45A5-4E88-A2C5-758AC86BE4D0}"/>
              </a:ext>
            </a:extLst>
          </p:cNvPr>
          <p:cNvSpPr/>
          <p:nvPr userDrawn="1"/>
        </p:nvSpPr>
        <p:spPr>
          <a:xfrm>
            <a:off x="6513929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EED777B6-C788-B840-ACC3-FD8949E42A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793844" y="2309972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BC06D7C8-7D2D-4A80-B5B8-174F5056AA0B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205617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1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24B0597-6276-471F-96FD-FDE08D64C524}"/>
              </a:ext>
            </a:extLst>
          </p:cNvPr>
          <p:cNvSpPr/>
          <p:nvPr userDrawn="1"/>
        </p:nvSpPr>
        <p:spPr>
          <a:xfrm>
            <a:off x="9188946" y="2045132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04C4E3A7-AB8A-6243-BBFD-8A433C78470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73607" y="2311684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8FC2F9F8-450A-4433-BAFC-DCD0001FAF1D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880634" y="4073057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578BB7-B3A6-0D4A-A743-C8950F9817AE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20" name="Picture 19" descr="The University of Iowa">
            <a:extLst>
              <a:ext uri="{FF2B5EF4-FFF2-40B4-BE49-F238E27FC236}">
                <a16:creationId xmlns:a16="http://schemas.microsoft.com/office/drawing/2014/main" id="{6D319038-0896-5540-A405-0F93F52CC9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CF5779A1-5C1A-D949-93A6-EFB401BFC6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389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C7E2EA4D-EFA8-4B7C-9585-ADB07DA2D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6361F7-376B-4B6B-90CB-982F8C88D3AB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7215D4C-D1BA-4B83-8034-F6173B4B3FE7}"/>
              </a:ext>
            </a:extLst>
          </p:cNvPr>
          <p:cNvSpPr/>
          <p:nvPr userDrawn="1"/>
        </p:nvSpPr>
        <p:spPr>
          <a:xfrm>
            <a:off x="1175438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0E2F4087-739F-1B43-B022-92BCEDD29A2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8972" y="2403497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C06C296-F787-402D-AC65-1E55B4D25C69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175438" y="4078664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1934B1-C1CC-42D5-A8D8-639ED39E9A45}"/>
              </a:ext>
            </a:extLst>
          </p:cNvPr>
          <p:cNvSpPr/>
          <p:nvPr userDrawn="1"/>
        </p:nvSpPr>
        <p:spPr>
          <a:xfrm>
            <a:off x="3222122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090A73C4-9F43-6142-BBC5-1C887BE310E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502864" y="2384080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9B9DF875-9EAF-4928-8E91-6599CCEAADEE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225991" y="4080927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7542B3E-45A5-4E88-A2C5-758AC86BE4D0}"/>
              </a:ext>
            </a:extLst>
          </p:cNvPr>
          <p:cNvSpPr/>
          <p:nvPr userDrawn="1"/>
        </p:nvSpPr>
        <p:spPr>
          <a:xfrm>
            <a:off x="5305996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121B32AC-29FE-5347-BC89-E1D12CFE917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588241" y="2367425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CAF8AD6-3AD0-422C-B775-D4163897266E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5285614" y="4095574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3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24B0597-6276-471F-96FD-FDE08D64C524}"/>
              </a:ext>
            </a:extLst>
          </p:cNvPr>
          <p:cNvSpPr/>
          <p:nvPr userDrawn="1"/>
        </p:nvSpPr>
        <p:spPr>
          <a:xfrm>
            <a:off x="7346820" y="2120050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Picture Placeholder 3">
            <a:extLst>
              <a:ext uri="{FF2B5EF4-FFF2-40B4-BE49-F238E27FC236}">
                <a16:creationId xmlns:a16="http://schemas.microsoft.com/office/drawing/2014/main" id="{035F86CE-4040-2C49-984A-EDA41DCC41D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583252" y="2382067"/>
            <a:ext cx="1121725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7322EF39-6BE8-4D2B-B814-5743037B71F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7325607" y="4098102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4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3182B05-A7F1-450F-AE61-51425BEF3AA6}"/>
              </a:ext>
            </a:extLst>
          </p:cNvPr>
          <p:cNvSpPr/>
          <p:nvPr userDrawn="1"/>
        </p:nvSpPr>
        <p:spPr>
          <a:xfrm>
            <a:off x="9434872" y="2133924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0B4205C-10C8-FE4A-8B1C-0B1A629E22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82000" y="2389427"/>
            <a:ext cx="1100333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0D14923E-7CAE-49B7-9668-7B538ECFDC5F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9419080" y="4107460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item or step 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866093-3200-6440-8AB2-9242D398F84E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D664CA64-A0A9-F34D-BDC5-9ABCDE7A54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EB50283A-D398-E048-BDA3-92DD544A4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b="0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2075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103BAF8-AE0C-4C2A-AFFE-5EFC7400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C29AABA-668F-408C-81ED-9A30ED0A4B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49325" y="1684461"/>
            <a:ext cx="3170238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3548916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4383805"/>
            <a:ext cx="3166740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4376691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C3EF38F-8A6A-4B49-A1A2-467E7797A51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02447" y="1677611"/>
            <a:ext cx="2987311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3537679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6386" y="4372568"/>
            <a:ext cx="2973372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7806430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DDD8951C-5A36-4D07-AB7C-0F597B3D797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072642" y="1684461"/>
            <a:ext cx="3166858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3537679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063515" y="4372568"/>
            <a:ext cx="3166740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DAB539-1500-4641-B587-77CADD883496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26" name="Picture 25" descr="The University of Iowa">
            <a:extLst>
              <a:ext uri="{FF2B5EF4-FFF2-40B4-BE49-F238E27FC236}">
                <a16:creationId xmlns:a16="http://schemas.microsoft.com/office/drawing/2014/main" id="{425DB221-2568-9A44-ABC3-1ED0E0B41E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6E30D721-4805-D344-A3E0-90A8F1D568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2664682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7" orient="horz" pos="3744">
          <p15:clr>
            <a:srgbClr val="FBAE40"/>
          </p15:clr>
        </p15:guide>
        <p15:guide id="8" orient="horz" pos="697">
          <p15:clr>
            <a:srgbClr val="FBAE40"/>
          </p15:clr>
        </p15:guide>
        <p15:guide id="9" orient="horz" pos="240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D42FEC1B-FCF8-4508-B227-27323879AC5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E21D4365-BAA8-4F76-87AD-1A328301E29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49325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1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344118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id="{EB10E167-B94B-AD40-958C-D9E0F8F9DF4A}"/>
              </a:ext>
            </a:extLst>
          </p:cNvPr>
          <p:cNvSpPr>
            <a:spLocks noGrp="1"/>
          </p:cNvSpPr>
          <p:nvPr userDrawn="1">
            <p:ph type="pic" sz="quarter" idx="23"/>
          </p:nvPr>
        </p:nvSpPr>
        <p:spPr>
          <a:xfrm>
            <a:off x="3593362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C03DF098-BB37-5848-9388-750D29EFC657}"/>
              </a:ext>
            </a:extLst>
          </p:cNvPr>
          <p:cNvSpPr>
            <a:spLocks noGrp="1"/>
          </p:cNvSpPr>
          <p:nvPr userDrawn="1">
            <p:ph idx="24" hasCustomPrompt="1"/>
          </p:nvPr>
        </p:nvSpPr>
        <p:spPr>
          <a:xfrm>
            <a:off x="3630386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FE4DEF0-41BC-4548-B7BA-1E5B0231AFFD}"/>
              </a:ext>
            </a:extLst>
          </p:cNvPr>
          <p:cNvSpPr>
            <a:spLocks noGrp="1"/>
          </p:cNvSpPr>
          <p:nvPr userDrawn="1">
            <p:ph idx="25" hasCustomPrompt="1"/>
          </p:nvPr>
        </p:nvSpPr>
        <p:spPr>
          <a:xfrm>
            <a:off x="3630387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/>
          <p:nvPr userDrawn="1"/>
        </p:nvCxnSpPr>
        <p:spPr>
          <a:xfrm>
            <a:off x="609574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icture Placeholder 3">
            <a:extLst>
              <a:ext uri="{FF2B5EF4-FFF2-40B4-BE49-F238E27FC236}">
                <a16:creationId xmlns:a16="http://schemas.microsoft.com/office/drawing/2014/main" id="{864CDDAA-23B4-C842-845C-7640D95F2B65}"/>
              </a:ext>
            </a:extLst>
          </p:cNvPr>
          <p:cNvSpPr>
            <a:spLocks noGrp="1"/>
          </p:cNvSpPr>
          <p:nvPr userDrawn="1">
            <p:ph type="pic" sz="quarter" idx="26"/>
          </p:nvPr>
        </p:nvSpPr>
        <p:spPr>
          <a:xfrm>
            <a:off x="6237399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DEB8CCE3-3756-5947-84B2-DFCA00A013F6}"/>
              </a:ext>
            </a:extLst>
          </p:cNvPr>
          <p:cNvSpPr>
            <a:spLocks noGrp="1"/>
          </p:cNvSpPr>
          <p:nvPr userDrawn="1">
            <p:ph idx="27" hasCustomPrompt="1"/>
          </p:nvPr>
        </p:nvSpPr>
        <p:spPr>
          <a:xfrm>
            <a:off x="6242957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09C56F7D-4836-1E4F-BD4C-CB150E12E098}"/>
              </a:ext>
            </a:extLst>
          </p:cNvPr>
          <p:cNvSpPr>
            <a:spLocks noGrp="1"/>
          </p:cNvSpPr>
          <p:nvPr userDrawn="1">
            <p:ph idx="28" hasCustomPrompt="1"/>
          </p:nvPr>
        </p:nvSpPr>
        <p:spPr>
          <a:xfrm>
            <a:off x="6242958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875030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06A5C640-1D0E-4428-AC28-148AE98A7B34}"/>
              </a:ext>
            </a:extLst>
          </p:cNvPr>
          <p:cNvSpPr>
            <a:spLocks noGrp="1"/>
          </p:cNvSpPr>
          <p:nvPr userDrawn="1">
            <p:ph type="pic" sz="quarter" idx="22"/>
          </p:nvPr>
        </p:nvSpPr>
        <p:spPr>
          <a:xfrm>
            <a:off x="8881435" y="1680693"/>
            <a:ext cx="2349365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 userDrawn="1">
            <p:ph idx="15" hasCustomPrompt="1"/>
          </p:nvPr>
        </p:nvSpPr>
        <p:spPr>
          <a:xfrm>
            <a:off x="8875080" y="3548916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 userDrawn="1">
            <p:ph idx="16" hasCustomPrompt="1"/>
          </p:nvPr>
        </p:nvSpPr>
        <p:spPr>
          <a:xfrm>
            <a:off x="8875081" y="4362520"/>
            <a:ext cx="2358867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720753-9BFD-2840-9C93-FF72942ED6E3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32" name="Picture 31" descr="The University of Iowa">
            <a:extLst>
              <a:ext uri="{FF2B5EF4-FFF2-40B4-BE49-F238E27FC236}">
                <a16:creationId xmlns:a16="http://schemas.microsoft.com/office/drawing/2014/main" id="{710BB67D-293B-374F-89FC-5F2EBF9F29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9EE9B966-22C9-0D4A-8DF7-FFA7CF9C9DD8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170021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8F3E476F-E407-4406-BB4F-38E545331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14F11A61-EE32-4596-8BBC-0626131F1E6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52499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>
            <a:cxnSpLocks/>
          </p:cNvCxnSpPr>
          <p:nvPr userDrawn="1"/>
        </p:nvCxnSpPr>
        <p:spPr>
          <a:xfrm>
            <a:off x="292478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icture Placeholder 3">
            <a:extLst>
              <a:ext uri="{FF2B5EF4-FFF2-40B4-BE49-F238E27FC236}">
                <a16:creationId xmlns:a16="http://schemas.microsoft.com/office/drawing/2014/main" id="{10B80E7E-3ECA-A84C-BBC2-DF9FD6DED4F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053442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AB9C78E2-4679-F844-BB37-D2E07B542CA3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3053444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0F3EA205-7109-BC44-BA2C-7704780449E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3053445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5036631" y="1686759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Picture Placeholder 3">
            <a:extLst>
              <a:ext uri="{FF2B5EF4-FFF2-40B4-BE49-F238E27FC236}">
                <a16:creationId xmlns:a16="http://schemas.microsoft.com/office/drawing/2014/main" id="{4EF24A51-2D82-AA40-8405-8CFEC6F5CB5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5187042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90D707E7-5635-444F-BB41-10E2268CC099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87044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4340EF3F-9B6C-B54B-94AD-7275543213B0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5187045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>
            <a:cxnSpLocks/>
          </p:cNvCxnSpPr>
          <p:nvPr userDrawn="1"/>
        </p:nvCxnSpPr>
        <p:spPr>
          <a:xfrm>
            <a:off x="714848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4D703A3B-87F3-AE45-90D2-795F9DA8857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7266213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5C95157B-C7FC-864F-A9C2-08E02E26EE07}"/>
              </a:ext>
            </a:extLst>
          </p:cNvPr>
          <p:cNvSpPr>
            <a:spLocks noGrp="1"/>
          </p:cNvSpPr>
          <p:nvPr>
            <p:ph idx="33" hasCustomPrompt="1"/>
          </p:nvPr>
        </p:nvSpPr>
        <p:spPr>
          <a:xfrm>
            <a:off x="7266215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71E05108-E0DC-6947-A186-EA5436079AAF}"/>
              </a:ext>
            </a:extLst>
          </p:cNvPr>
          <p:cNvSpPr>
            <a:spLocks noGrp="1"/>
          </p:cNvSpPr>
          <p:nvPr>
            <p:ph idx="32" hasCustomPrompt="1"/>
          </p:nvPr>
        </p:nvSpPr>
        <p:spPr>
          <a:xfrm>
            <a:off x="7266216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F5ADDF-F780-4384-87F4-30070C81BB29}"/>
              </a:ext>
            </a:extLst>
          </p:cNvPr>
          <p:cNvCxnSpPr>
            <a:cxnSpLocks/>
          </p:cNvCxnSpPr>
          <p:nvPr userDrawn="1"/>
        </p:nvCxnSpPr>
        <p:spPr>
          <a:xfrm>
            <a:off x="926033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E90B3032-DDF8-0446-8BB7-81565519E03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9410699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724287DA-FEAD-6E4A-83EC-B59516E2386C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9410701" y="3545060"/>
            <a:ext cx="1826629" cy="67511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header</a:t>
            </a: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4FC143B3-231A-2B46-ABBF-7F6B6BBF4596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9410702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column text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A4E17D8-CAFF-0E47-97EF-4D4BC59FFC70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43" name="Picture 42" descr="The University of Iowa">
            <a:extLst>
              <a:ext uri="{FF2B5EF4-FFF2-40B4-BE49-F238E27FC236}">
                <a16:creationId xmlns:a16="http://schemas.microsoft.com/office/drawing/2014/main" id="{924E35CA-EA2E-084A-B4D2-736FEA8C0D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8" name="Footer Placeholder 4">
            <a:extLst>
              <a:ext uri="{FF2B5EF4-FFF2-40B4-BE49-F238E27FC236}">
                <a16:creationId xmlns:a16="http://schemas.microsoft.com/office/drawing/2014/main" id="{D752B61A-80FF-1049-8A33-5614EE9DC8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835456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-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20">
            <a:extLst>
              <a:ext uri="{FF2B5EF4-FFF2-40B4-BE49-F238E27FC236}">
                <a16:creationId xmlns:a16="http://schemas.microsoft.com/office/drawing/2014/main" id="{2BA8F287-92C7-4FFD-A7E9-45864F8E91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9325" y="498296"/>
            <a:ext cx="5260975" cy="89611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Title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F31F03A-71CF-475D-8A3C-99FC106D73E8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47404DB8-B6AC-4389-8E6E-A115840D1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2EEDE3-0B18-E049-BE23-974E50C7297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71534" y="0"/>
            <a:ext cx="5029200" cy="6389511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20F7CB-393D-BF45-B52D-542FDDEFCAFF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12" name="Picture 11" descr="The University of Iowa">
            <a:extLst>
              <a:ext uri="{FF2B5EF4-FFF2-40B4-BE49-F238E27FC236}">
                <a16:creationId xmlns:a16="http://schemas.microsoft.com/office/drawing/2014/main" id="{9CE5618D-3613-E04D-A815-ED9A2C5AA3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C35C85E8-314E-3E45-BB26-1A95C606F0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2625500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3912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orient="horz" pos="1056" userDrawn="1">
          <p15:clr>
            <a:srgbClr val="FBAE40"/>
          </p15:clr>
        </p15:guide>
        <p15:guide id="6" orient="horz" pos="697" userDrawn="1">
          <p15:clr>
            <a:srgbClr val="FBAE40"/>
          </p15:clr>
        </p15:guide>
        <p15:guide id="7" orient="horz" pos="2400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- 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7524483D-CFE3-E34D-BB74-CEDD54176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365125"/>
            <a:ext cx="5254505" cy="1331865"/>
          </a:xfrm>
        </p:spPr>
        <p:txBody>
          <a:bodyPr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B28F420-DDD1-5E4A-9513-EAE252D759FE}"/>
              </a:ext>
            </a:extLst>
          </p:cNvPr>
          <p:cNvCxnSpPr>
            <a:cxnSpLocks/>
          </p:cNvCxnSpPr>
          <p:nvPr userDrawn="1"/>
        </p:nvCxnSpPr>
        <p:spPr>
          <a:xfrm>
            <a:off x="952500" y="17340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5D1D7B4-E242-C142-8F5F-F3301CC024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962386"/>
            <a:ext cx="5266450" cy="3981214"/>
          </a:xfrm>
        </p:spPr>
        <p:txBody>
          <a:bodyPr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Font typeface="Roboto" panose="02000000000000000000" pitchFamily="2" charset="0"/>
              <a:buChar char="–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buClr>
                <a:schemeClr val="tx2"/>
              </a:buClr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04FCC643-718F-7645-8F8D-0BFC94D0506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59502" y="0"/>
            <a:ext cx="2483404" cy="319142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41C31617-CC11-4C42-B6D0-164DF6AFBF4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13630" y="0"/>
            <a:ext cx="2483404" cy="319142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3E5CE386-BEFE-FE49-A675-D93BEDF680BC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159502" y="3260862"/>
            <a:ext cx="5032499" cy="3128649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 Click icon to add picture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24DFA0-3257-B044-87EF-16154359E2FC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19" name="Picture 18" descr="The University of Iowa">
            <a:extLst>
              <a:ext uri="{FF2B5EF4-FFF2-40B4-BE49-F238E27FC236}">
                <a16:creationId xmlns:a16="http://schemas.microsoft.com/office/drawing/2014/main" id="{87382191-DF4D-7341-915C-9C10445352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21405B1-B61E-0943-909C-EFA16B5EE4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338072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3926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orient="horz" pos="240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AEF4-B950-814D-A811-CD17BDDF0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4273"/>
            <a:ext cx="10290175" cy="869089"/>
          </a:xfrm>
        </p:spPr>
        <p:txBody>
          <a:bodyPr lIns="0" tIns="0" rIns="0" bIns="0"/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B5BDD8-8221-F040-8AE0-3F33C4E24CA0}"/>
              </a:ext>
            </a:extLst>
          </p:cNvPr>
          <p:cNvCxnSpPr>
            <a:cxnSpLocks/>
          </p:cNvCxnSpPr>
          <p:nvPr userDrawn="1"/>
        </p:nvCxnSpPr>
        <p:spPr>
          <a:xfrm>
            <a:off x="949325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DF1F65E7-1CB7-3D42-91A9-88DA4E58EB0E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949325" y="1570038"/>
            <a:ext cx="10290175" cy="4114800"/>
          </a:xfrm>
        </p:spPr>
        <p:txBody>
          <a:bodyPr lIns="0" tIns="0" rIns="0" bIns="0"/>
          <a:lstStyle/>
          <a:p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56D074-0631-F846-A2A3-4A39FEAEFDD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F53BBB5F-6629-C742-91EE-40B5B8BC1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B3AC09A7-82B4-6B47-A4FB-CA6800EAFB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1427652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AC533B8E-DBF3-664D-901D-8735DE7752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89081" y="3367173"/>
            <a:ext cx="7163317" cy="1160369"/>
          </a:xfrm>
        </p:spPr>
        <p:txBody>
          <a:bodyPr lIns="0" tIns="0" rIns="0" bIns="0" anchor="t" anchorCtr="0">
            <a:noAutofit/>
          </a:bodyPr>
          <a:lstStyle>
            <a:lvl1pPr algn="l">
              <a:defRPr sz="6000" b="1">
                <a:solidFill>
                  <a:schemeClr val="tx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7216A4-2452-1B4B-AE0D-122E7F5A5965}"/>
              </a:ext>
            </a:extLst>
          </p:cNvPr>
          <p:cNvCxnSpPr>
            <a:cxnSpLocks/>
          </p:cNvCxnSpPr>
          <p:nvPr userDrawn="1"/>
        </p:nvCxnSpPr>
        <p:spPr>
          <a:xfrm>
            <a:off x="974126" y="3029213"/>
            <a:ext cx="768531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3873935-43A0-4C23-AC45-B3EF69B18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28383" y="3029213"/>
            <a:ext cx="2687038" cy="1498329"/>
          </a:xfrm>
        </p:spPr>
        <p:txBody>
          <a:bodyPr vert="horz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Presenter Name</a:t>
            </a:r>
          </a:p>
          <a:p>
            <a:pPr lvl="0"/>
            <a:r>
              <a:rPr lang="en-US" dirty="0"/>
              <a:t>Contact Person Title </a:t>
            </a:r>
          </a:p>
          <a:p>
            <a:pPr lvl="0"/>
            <a:r>
              <a:rPr lang="en-US" dirty="0"/>
              <a:t>Contact Person Unit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Phone: </a:t>
            </a:r>
          </a:p>
          <a:p>
            <a:pPr lvl="0"/>
            <a:r>
              <a:rPr lang="en-US" dirty="0"/>
              <a:t>Fax: </a:t>
            </a:r>
          </a:p>
          <a:p>
            <a:pPr lvl="0"/>
            <a:r>
              <a:rPr lang="en-US" dirty="0"/>
              <a:t>Email: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ACD65-4DC5-40D8-89A9-EBA0997790E8}"/>
              </a:ext>
            </a:extLst>
          </p:cNvPr>
          <p:cNvSpPr/>
          <p:nvPr userDrawn="1"/>
        </p:nvSpPr>
        <p:spPr>
          <a:xfrm>
            <a:off x="949325" y="5019085"/>
            <a:ext cx="318908" cy="36933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8018-43AE-4329-BACA-C859C7CFF4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68233" y="5019085"/>
            <a:ext cx="2231701" cy="369332"/>
          </a:xfrm>
          <a:solidFill>
            <a:schemeClr val="tx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en-US" dirty="0"/>
              <a:t>Insert Web Address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B262A30-5EEC-5549-B428-7E5B11A5D7A7}"/>
              </a:ext>
            </a:extLst>
          </p:cNvPr>
          <p:cNvGrpSpPr/>
          <p:nvPr userDrawn="1"/>
        </p:nvGrpSpPr>
        <p:grpSpPr>
          <a:xfrm>
            <a:off x="1071271" y="5122118"/>
            <a:ext cx="142379" cy="150373"/>
            <a:chOff x="3057746" y="812006"/>
            <a:chExt cx="173610" cy="183357"/>
          </a:xfrm>
          <a:noFill/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699B573-1E8F-3547-9D64-50A2EC630F1F}"/>
                </a:ext>
              </a:extLst>
            </p:cNvPr>
            <p:cNvCxnSpPr/>
            <p:nvPr userDrawn="1"/>
          </p:nvCxnSpPr>
          <p:spPr>
            <a:xfrm>
              <a:off x="3057746" y="904875"/>
              <a:ext cx="173610" cy="0"/>
            </a:xfrm>
            <a:prstGeom prst="line">
              <a:avLst/>
            </a:prstGeom>
            <a:grpFill/>
            <a:ln w="381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2">
              <a:extLst>
                <a:ext uri="{FF2B5EF4-FFF2-40B4-BE49-F238E27FC236}">
                  <a16:creationId xmlns:a16="http://schemas.microsoft.com/office/drawing/2014/main" id="{68F32139-4BAE-F54C-8358-EF5839C5813E}"/>
                </a:ext>
              </a:extLst>
            </p:cNvPr>
            <p:cNvSpPr/>
            <p:nvPr userDrawn="1"/>
          </p:nvSpPr>
          <p:spPr>
            <a:xfrm>
              <a:off x="3143250" y="812006"/>
              <a:ext cx="85725" cy="183357"/>
            </a:xfrm>
            <a:custGeom>
              <a:avLst/>
              <a:gdLst>
                <a:gd name="connsiteX0" fmla="*/ 4763 w 85725"/>
                <a:gd name="connsiteY0" fmla="*/ 0 h 183357"/>
                <a:gd name="connsiteX1" fmla="*/ 85725 w 85725"/>
                <a:gd name="connsiteY1" fmla="*/ 92869 h 183357"/>
                <a:gd name="connsiteX2" fmla="*/ 0 w 85725"/>
                <a:gd name="connsiteY2" fmla="*/ 183357 h 18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" h="183357">
                  <a:moveTo>
                    <a:pt x="4763" y="0"/>
                  </a:moveTo>
                  <a:lnTo>
                    <a:pt x="85725" y="92869"/>
                  </a:lnTo>
                  <a:lnTo>
                    <a:pt x="0" y="183357"/>
                  </a:lnTo>
                </a:path>
              </a:pathLst>
            </a:custGeom>
            <a:grp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4B1807D8-E6B4-C743-A4EC-22D5E04798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628383" y="0"/>
            <a:ext cx="2687038" cy="1279542"/>
          </a:xfrm>
          <a:prstGeom prst="rect">
            <a:avLst/>
          </a:prstGeom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4D36833F-B2C7-1C49-9947-A60C1ACB02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6096" y="2463764"/>
            <a:ext cx="7157006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6383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8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-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A47420D0-6FF1-9C4A-B953-EA4EEABBA30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89081" y="3367173"/>
            <a:ext cx="7163317" cy="1160369"/>
          </a:xfrm>
        </p:spPr>
        <p:txBody>
          <a:bodyPr lIns="0" tIns="0" rIns="0" bIns="0" anchor="t" anchorCtr="0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7216A4-2452-1B4B-AE0D-122E7F5A5965}"/>
              </a:ext>
            </a:extLst>
          </p:cNvPr>
          <p:cNvCxnSpPr>
            <a:cxnSpLocks/>
          </p:cNvCxnSpPr>
          <p:nvPr userDrawn="1"/>
        </p:nvCxnSpPr>
        <p:spPr>
          <a:xfrm>
            <a:off x="974126" y="3029213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3873935-43A0-4C23-AC45-B3EF69B18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25016" y="3029213"/>
            <a:ext cx="2693773" cy="1498329"/>
          </a:xfrm>
        </p:spPr>
        <p:txBody>
          <a:bodyPr vert="horz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Presenter Name</a:t>
            </a:r>
          </a:p>
          <a:p>
            <a:pPr lvl="0"/>
            <a:r>
              <a:rPr lang="en-US" dirty="0"/>
              <a:t>Contact Person Title </a:t>
            </a:r>
          </a:p>
          <a:p>
            <a:pPr lvl="0"/>
            <a:r>
              <a:rPr lang="en-US" dirty="0"/>
              <a:t>Contact Person Unit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Phone: </a:t>
            </a:r>
          </a:p>
          <a:p>
            <a:pPr lvl="0"/>
            <a:r>
              <a:rPr lang="en-US" dirty="0"/>
              <a:t>Fax: </a:t>
            </a:r>
          </a:p>
          <a:p>
            <a:pPr lvl="0"/>
            <a:r>
              <a:rPr lang="en-US" dirty="0"/>
              <a:t>Email: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ACD65-4DC5-40D8-89A9-EBA0997790E8}"/>
              </a:ext>
            </a:extLst>
          </p:cNvPr>
          <p:cNvSpPr/>
          <p:nvPr userDrawn="1"/>
        </p:nvSpPr>
        <p:spPr>
          <a:xfrm>
            <a:off x="949325" y="5019085"/>
            <a:ext cx="318908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8018-43AE-4329-BACA-C859C7CFF4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68233" y="5019085"/>
            <a:ext cx="2231701" cy="369332"/>
          </a:xfrm>
          <a:solidFill>
            <a:schemeClr val="accent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en-US" dirty="0"/>
              <a:t>Insert Web Address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625728D-FF50-4FF2-AC2E-B13A3D44D5B9}"/>
              </a:ext>
            </a:extLst>
          </p:cNvPr>
          <p:cNvGrpSpPr/>
          <p:nvPr/>
        </p:nvGrpSpPr>
        <p:grpSpPr>
          <a:xfrm>
            <a:off x="1071271" y="5122118"/>
            <a:ext cx="142379" cy="150373"/>
            <a:chOff x="3057746" y="812006"/>
            <a:chExt cx="173610" cy="183357"/>
          </a:xfrm>
          <a:noFill/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8A6E0DE-15E0-485B-8083-6D1BB965B9B6}"/>
                </a:ext>
              </a:extLst>
            </p:cNvPr>
            <p:cNvCxnSpPr/>
            <p:nvPr userDrawn="1"/>
          </p:nvCxnSpPr>
          <p:spPr>
            <a:xfrm>
              <a:off x="3057746" y="904875"/>
              <a:ext cx="173610" cy="0"/>
            </a:xfrm>
            <a:prstGeom prst="line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84EFEE4-DF1C-4FDF-ABC6-804BF8FA2941}"/>
                </a:ext>
              </a:extLst>
            </p:cNvPr>
            <p:cNvSpPr/>
            <p:nvPr userDrawn="1"/>
          </p:nvSpPr>
          <p:spPr>
            <a:xfrm>
              <a:off x="3143250" y="812006"/>
              <a:ext cx="85725" cy="183357"/>
            </a:xfrm>
            <a:custGeom>
              <a:avLst/>
              <a:gdLst>
                <a:gd name="connsiteX0" fmla="*/ 4763 w 85725"/>
                <a:gd name="connsiteY0" fmla="*/ 0 h 183357"/>
                <a:gd name="connsiteX1" fmla="*/ 85725 w 85725"/>
                <a:gd name="connsiteY1" fmla="*/ 92869 h 183357"/>
                <a:gd name="connsiteX2" fmla="*/ 0 w 85725"/>
                <a:gd name="connsiteY2" fmla="*/ 183357 h 18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" h="183357">
                  <a:moveTo>
                    <a:pt x="4763" y="0"/>
                  </a:moveTo>
                  <a:lnTo>
                    <a:pt x="85725" y="92869"/>
                  </a:lnTo>
                  <a:lnTo>
                    <a:pt x="0" y="183357"/>
                  </a:lnTo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5" name="Picture 14" descr="The University of Iowa">
            <a:extLst>
              <a:ext uri="{FF2B5EF4-FFF2-40B4-BE49-F238E27FC236}">
                <a16:creationId xmlns:a16="http://schemas.microsoft.com/office/drawing/2014/main" id="{6179B039-C5FC-F04C-AB21-BEF980B032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5016" y="0"/>
            <a:ext cx="2693773" cy="1279542"/>
          </a:xfrm>
          <a:prstGeom prst="rect">
            <a:avLst/>
          </a:prstGeom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0E4C36A-C453-EE4B-A1E5-D1232C361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6096" y="2463764"/>
            <a:ext cx="7157006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864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8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WA Logo with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B993FB4-4336-2048-A6A4-FA306EBBE7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4485842"/>
            <a:ext cx="10515600" cy="896116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Closing Slide Header</a:t>
            </a:r>
          </a:p>
        </p:txBody>
      </p:sp>
      <p:pic>
        <p:nvPicPr>
          <p:cNvPr id="4" name="Picture 3" descr="The University of Iowa">
            <a:extLst>
              <a:ext uri="{FF2B5EF4-FFF2-40B4-BE49-F238E27FC236}">
                <a16:creationId xmlns:a16="http://schemas.microsoft.com/office/drawing/2014/main" id="{D94B893B-3A5E-A84C-9A26-CCC1CC0A2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86000" y="675842"/>
            <a:ext cx="7620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75325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WA Logo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University of Iowa">
            <a:extLst>
              <a:ext uri="{FF2B5EF4-FFF2-40B4-BE49-F238E27FC236}">
                <a16:creationId xmlns:a16="http://schemas.microsoft.com/office/drawing/2014/main" id="{D94B893B-3A5E-A84C-9A26-CCC1CC0A2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86000" y="1524000"/>
            <a:ext cx="7620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530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D47C82-65E8-6F4A-93F5-B60D5D90F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D0A12C-E82E-3F40-8F2F-F914F24F0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7006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87" r:id="rId2"/>
    <p:sldLayoutId id="2147483688" r:id="rId3"/>
    <p:sldLayoutId id="2147483684" r:id="rId4"/>
    <p:sldLayoutId id="2147483663" r:id="rId5"/>
    <p:sldLayoutId id="2147483686" r:id="rId6"/>
    <p:sldLayoutId id="2147483690" r:id="rId7"/>
    <p:sldLayoutId id="2147483682" r:id="rId8"/>
    <p:sldLayoutId id="2147483650" r:id="rId9"/>
    <p:sldLayoutId id="2147483662" r:id="rId10"/>
    <p:sldLayoutId id="2147483670" r:id="rId11"/>
    <p:sldLayoutId id="2147483667" r:id="rId12"/>
    <p:sldLayoutId id="2147483668" r:id="rId13"/>
    <p:sldLayoutId id="2147483674" r:id="rId14"/>
    <p:sldLayoutId id="2147483675" r:id="rId15"/>
    <p:sldLayoutId id="2147483677" r:id="rId16"/>
    <p:sldLayoutId id="2147483676" r:id="rId17"/>
    <p:sldLayoutId id="2147483672" r:id="rId18"/>
    <p:sldLayoutId id="2147483692" r:id="rId19"/>
    <p:sldLayoutId id="2147483669" r:id="rId20"/>
    <p:sldLayoutId id="2147483671" r:id="rId21"/>
    <p:sldLayoutId id="2147483673" r:id="rId22"/>
    <p:sldLayoutId id="2147483679" r:id="rId23"/>
    <p:sldLayoutId id="2147483680" r:id="rId24"/>
    <p:sldLayoutId id="2147483681" r:id="rId25"/>
    <p:sldLayoutId id="2147483654" r:id="rId26"/>
    <p:sldLayoutId id="2147483655" r:id="rId27"/>
    <p:sldLayoutId id="2147483665" r:id="rId28"/>
    <p:sldLayoutId id="2147483664" r:id="rId29"/>
    <p:sldLayoutId id="2147483689" r:id="rId30"/>
    <p:sldLayoutId id="2147483693" r:id="rId31"/>
    <p:sldLayoutId id="2147483691" r:id="rId3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Roboto" panose="02000000000000000000" pitchFamily="2" charset="0"/>
        <a:buChar char="–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image" Target="../media/image10.png"/><Relationship Id="rId7" Type="http://schemas.openxmlformats.org/officeDocument/2006/relationships/customXml" Target="../ink/ink1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5.png"/><Relationship Id="rId4" Type="http://schemas.openxmlformats.org/officeDocument/2006/relationships/image" Target="../media/image11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store.google.com/category/connected_home?hl=en-US&amp;pli=1" TargetMode="External"/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ilabs.com/documents/login/application-notes/an1141-thread-mesh-network-performance.pdf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spressif/esp-zigbee-sdk" TargetMode="External"/><Relationship Id="rId2" Type="http://schemas.openxmlformats.org/officeDocument/2006/relationships/hyperlink" Target="https://openthread.io/" TargetMode="External"/><Relationship Id="rId1" Type="http://schemas.openxmlformats.org/officeDocument/2006/relationships/slideLayout" Target="../slideLayouts/slideLayout26.xml"/><Relationship Id="rId4" Type="http://schemas.openxmlformats.org/officeDocument/2006/relationships/hyperlink" Target="https://github.com/OpenZWave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ilabs.com/documents/login/application-notes/an1141-thread-mesh-network-performance.pdf" TargetMode="External"/><Relationship Id="rId2" Type="http://schemas.openxmlformats.org/officeDocument/2006/relationships/hyperlink" Target="https://www.silabs.com/documents/public/user-guides/ug103-11-fundamentals-thread.pdf" TargetMode="External"/><Relationship Id="rId1" Type="http://schemas.openxmlformats.org/officeDocument/2006/relationships/slideLayout" Target="../slideLayouts/slideLayout26.xml"/><Relationship Id="rId4" Type="http://schemas.openxmlformats.org/officeDocument/2006/relationships/hyperlink" Target="https://www.silabs.com/documents/login/application-notes/an1138-zigbee-mesh-network-performance.pdf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hyperlink" Target="https://lembergsolutions.com/blog/smart-home-protocols-explained" TargetMode="External"/><Relationship Id="rId3" Type="http://schemas.openxmlformats.org/officeDocument/2006/relationships/hyperlink" Target="https://en.wikipedia.org/wiki/Z-Wave" TargetMode="External"/><Relationship Id="rId7" Type="http://schemas.openxmlformats.org/officeDocument/2006/relationships/hyperlink" Target="https://www.threadgroup.org/Certified-Products" TargetMode="External"/><Relationship Id="rId2" Type="http://schemas.openxmlformats.org/officeDocument/2006/relationships/hyperlink" Target="https://en.wikipedia.org/wiki/Zigbee" TargetMode="External"/><Relationship Id="rId1" Type="http://schemas.openxmlformats.org/officeDocument/2006/relationships/slideLayout" Target="../slideLayouts/slideLayout26.xml"/><Relationship Id="rId6" Type="http://schemas.openxmlformats.org/officeDocument/2006/relationships/hyperlink" Target="https://www.sdmmag.com/articles/103889-z-wave-releases-list-of-latest-certified-smart-home-devices" TargetMode="External"/><Relationship Id="rId5" Type="http://schemas.openxmlformats.org/officeDocument/2006/relationships/hyperlink" Target="https://www.zigbee2mqtt.io/supported-devices/" TargetMode="External"/><Relationship Id="rId4" Type="http://schemas.openxmlformats.org/officeDocument/2006/relationships/hyperlink" Target="https://en.wikipedia.org/wiki/Thread_(network_protocol)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inopetech.com/en/blogs/all-blogs/zigbee-101-everything-you-need-to-know-1?srsltid=AfmBOorZHeBtIMkXXutpxPxt1samq7NTBrG_GodtxsFzbwKaUPSUt-z_" TargetMode="External"/><Relationship Id="rId2" Type="http://schemas.openxmlformats.org/officeDocument/2006/relationships/hyperlink" Target="https://www.symmetryelectronics.com/blog/an-introduction-to-thread/?srsltid=AfmBOopEh1TMTnOiQlt2wvZQzxmmL36RVOgHed7YmqPB_tDUQc6xXnS_" TargetMode="External"/><Relationship Id="rId1" Type="http://schemas.openxmlformats.org/officeDocument/2006/relationships/slideLayout" Target="../slideLayouts/slideLayout26.xml"/><Relationship Id="rId6" Type="http://schemas.openxmlformats.org/officeDocument/2006/relationships/hyperlink" Target="https://white-noise-sounds.bandcamp.com/" TargetMode="External"/><Relationship Id="rId5" Type="http://schemas.openxmlformats.org/officeDocument/2006/relationships/hyperlink" Target="https://www.youtube.com/watch?v=6CHs4x2uqcQ" TargetMode="External"/><Relationship Id="rId4" Type="http://schemas.openxmlformats.org/officeDocument/2006/relationships/hyperlink" Target="https://en.wikipedia.org/wiki/Z-Wav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0B23-7308-1745-A1A9-A5522BA49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4725" y="2677626"/>
            <a:ext cx="10354360" cy="1843238"/>
          </a:xfrm>
        </p:spPr>
        <p:txBody>
          <a:bodyPr>
            <a:normAutofit/>
          </a:bodyPr>
          <a:lstStyle/>
          <a:p>
            <a:r>
              <a:rPr lang="en-US" sz="5300" dirty="0"/>
              <a:t>Comparison of Thread, Zigbee and Z-Wave for Home Automation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ADA0161C-D166-6E4C-8069-E1FBFE0BE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4725" y="4709626"/>
            <a:ext cx="10354360" cy="407460"/>
          </a:xfrm>
        </p:spPr>
        <p:txBody>
          <a:bodyPr>
            <a:normAutofit/>
          </a:bodyPr>
          <a:lstStyle/>
          <a:p>
            <a:r>
              <a:rPr lang="en-US" dirty="0"/>
              <a:t>Matt Krueger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C5EE2B8-026E-D04B-8925-60FA6F76C3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74725" y="5148794"/>
            <a:ext cx="10354360" cy="463108"/>
          </a:xfrm>
        </p:spPr>
        <p:txBody>
          <a:bodyPr/>
          <a:lstStyle/>
          <a:p>
            <a:r>
              <a:rPr lang="en-US" dirty="0"/>
              <a:t>May 24, 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FEB04-6AB2-DD4F-B560-E3674C11A5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10376585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2510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D64B6-F3A9-9B4A-E424-3AB1F07EA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BCC3E-6B1D-0E7C-0EDF-32C45A711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/>
          <a:lstStyle/>
          <a:p>
            <a:r>
              <a:rPr lang="en-US" dirty="0"/>
              <a:t>Quick 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82EB8-49CB-AA6B-7384-39E291F61473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10251527" cy="42568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“presentation” contains many short form paragraphs in contrast to a typical bulleted format to more clearly explain ideas and thinking.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 felt this to be sufficient as I did not verbally present this material. 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41C1E17-F239-38DC-1FD3-8B5C141427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140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CBB2-F610-40B4-A124-363EF63EB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3FCDE-F6D7-41FF-9845-D3893750EB0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10251527" cy="4256843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Background &amp; Motivation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Project Goals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Research Conducted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Protocol Design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Thread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Zigbee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Z-Wave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High Level Comparison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Future Work (an automation I will build)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Class and Project Retrospective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8BCB527-2259-FA40-8DB3-056BA3C1B2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7875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CF54-A628-A4B4-C4B4-C86816EEB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310C9-ABEA-D0E0-9640-B45AA8BE8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45D2E-709F-2900-1366-DB23BA107E2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10251527" cy="42568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Smart Homes is a growing industry with many benefits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F285792-19DB-EBC6-51CE-401B9E6E8C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8EB0C2-0B85-A0E9-EA03-55C8681F9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301" y="2229821"/>
            <a:ext cx="5379587" cy="312692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253F00-B358-A9C5-8EDC-3CD2E4E71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7416" y="5720050"/>
            <a:ext cx="7772400" cy="35169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2F699AF-79B3-59A6-4968-9BBE3BF7B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700" y="2353533"/>
            <a:ext cx="5952516" cy="291293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22004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12E64-AC50-3247-784A-6E671667D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F0A39-C4AC-7E83-676F-E253E47D0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/>
          <a:lstStyle/>
          <a:p>
            <a:r>
              <a:rPr lang="en-US" dirty="0"/>
              <a:t>Motivation pt1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A3F05-626A-205D-E748-680C3995512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4486931" cy="42568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After taking </a:t>
            </a:r>
            <a:r>
              <a:rPr lang="en-US" sz="1800" i="1" dirty="0"/>
              <a:t>Embedded Systems </a:t>
            </a:r>
            <a:r>
              <a:rPr lang="en-US" sz="1800" dirty="0"/>
              <a:t>course at the University of Iowa, I was opened to the possibilities of using microcontrollers to </a:t>
            </a:r>
            <a:r>
              <a:rPr lang="en-US" sz="1800" b="1" dirty="0"/>
              <a:t>develop smart home automations for my future apartment.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Last summer, I collected an assortment of different devices with the intention of experimenting with wireless area networks and simple automations. Unfortunately, work was busy and</a:t>
            </a:r>
            <a:r>
              <a:rPr lang="en-US" sz="1800" b="1" dirty="0"/>
              <a:t> I never got around to accomplish anything meaningful with these devices.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0223CD4-7C98-5D58-6415-4C79863553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DF703D-761D-D9B8-A38C-D1EA5A611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9429" y="2370389"/>
            <a:ext cx="1516900" cy="12992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D72A1F-5285-D615-AF48-7FC19734E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6459" y="1493471"/>
            <a:ext cx="1369271" cy="11490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71FA20A-61C2-B3D1-F487-B60C05538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1259" y="4312073"/>
            <a:ext cx="1197505" cy="9147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09DBEA-C1A3-FCC4-6B1C-82A16DFC03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4614" y="4747299"/>
            <a:ext cx="1445097" cy="1445097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5701C627-1B5C-F92C-F63A-F46BFD4BBE5B}"/>
              </a:ext>
            </a:extLst>
          </p:cNvPr>
          <p:cNvGrpSpPr/>
          <p:nvPr/>
        </p:nvGrpSpPr>
        <p:grpSpPr>
          <a:xfrm>
            <a:off x="9396390" y="2529881"/>
            <a:ext cx="1511234" cy="1280119"/>
            <a:chOff x="6898961" y="1975017"/>
            <a:chExt cx="2236675" cy="197535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4F3858B-8DE3-4943-6168-B29353A5D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98961" y="1975017"/>
              <a:ext cx="1975355" cy="1975355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4295E50-5BDE-834F-44A2-22C7A4EE050F}"/>
                    </a:ext>
                  </a:extLst>
                </p14:cNvPr>
                <p14:cNvContentPartPr/>
                <p14:nvPr/>
              </p14:nvContentPartPr>
              <p14:xfrm>
                <a:off x="8261916" y="3757794"/>
                <a:ext cx="873720" cy="1641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8C5CD22-667C-812D-72C0-D9A53856E36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200853" y="3694460"/>
                  <a:ext cx="995496" cy="291193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6899A2C8-912B-0ACE-840B-7AB368C66C5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48591" y="4076807"/>
            <a:ext cx="1075202" cy="109443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7ECB1E6-01C2-070F-D75C-29D7C635D2D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66459" y="3020018"/>
            <a:ext cx="1334670" cy="1330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807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BE23D-F0F5-1D09-75EE-68F0FCA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AAF76-016C-793B-2033-795717282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/>
          <a:lstStyle/>
          <a:p>
            <a:r>
              <a:rPr lang="en-US" dirty="0"/>
              <a:t>Motivation pt2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C29C2-E681-67B9-BB60-2756651CAA47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10251527" cy="425684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Fortunately,</a:t>
            </a:r>
            <a:r>
              <a:rPr lang="en-US" i="1" dirty="0"/>
              <a:t> Topics in Computer Science II: Real-Time Cyber Physical Systems </a:t>
            </a:r>
            <a:r>
              <a:rPr lang="en-US" dirty="0"/>
              <a:t>was offered during the fall semester, which immediately caught my eye. 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dirty="0"/>
              <a:t>After </a:t>
            </a:r>
            <a:r>
              <a:rPr lang="en-US" b="1" dirty="0"/>
              <a:t>learning the theory behind wireless network systems </a:t>
            </a:r>
            <a:r>
              <a:rPr lang="en-US" dirty="0"/>
              <a:t>from 802.11, 802.15.4, and 5G, participating in literary analysis through presentations, and reading multiple academic papers we were assigned a final project. The project goals are either a study or an implementation.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Having already purchased many of the necessary devices, I thought that there was </a:t>
            </a:r>
            <a:r>
              <a:rPr lang="en-US" b="1" dirty="0"/>
              <a:t>no better time study smart home protocols </a:t>
            </a:r>
            <a:r>
              <a:rPr lang="en-US" dirty="0"/>
              <a:t>to serve as </a:t>
            </a:r>
            <a:r>
              <a:rPr lang="en-US" b="1" dirty="0"/>
              <a:t>preliminary research </a:t>
            </a:r>
            <a:r>
              <a:rPr lang="en-US" dirty="0"/>
              <a:t>for my future personal smart home. 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5A4672F-642C-8020-809F-E983B8E658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8613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4659F-974D-986B-61E8-038936988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60B5A-DD62-F866-5B75-4ADA8E8C3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/>
          <a:lstStyle/>
          <a:p>
            <a:r>
              <a:rPr lang="en-US" dirty="0"/>
              <a:t>Project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668E9-847E-312D-F4F9-F819867A911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10718802" cy="42568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My goals of this study were simple: </a:t>
            </a:r>
          </a:p>
          <a:p>
            <a:pPr>
              <a:buFontTx/>
              <a:buChar char="-"/>
            </a:pPr>
            <a:r>
              <a:rPr lang="en-US" i="1" dirty="0"/>
              <a:t>Compare OSI models of protocols</a:t>
            </a:r>
          </a:p>
          <a:p>
            <a:pPr>
              <a:buFontTx/>
              <a:buChar char="-"/>
            </a:pPr>
            <a:r>
              <a:rPr lang="en-US" i="1" dirty="0"/>
              <a:t>Compare protocol capabilities</a:t>
            </a:r>
          </a:p>
          <a:p>
            <a:pPr>
              <a:buFontTx/>
              <a:buChar char="-"/>
            </a:pPr>
            <a:r>
              <a:rPr lang="en-US" i="1" dirty="0"/>
              <a:t>Highlight major considerations for each protocol</a:t>
            </a:r>
          </a:p>
          <a:p>
            <a:pPr>
              <a:buFontTx/>
              <a:buChar char="-"/>
            </a:pPr>
            <a:r>
              <a:rPr lang="en-US" i="1" dirty="0"/>
              <a:t>Devise a simple automation that uses a suitable of choice </a:t>
            </a:r>
          </a:p>
          <a:p>
            <a:pPr>
              <a:buFontTx/>
              <a:buChar char="-"/>
            </a:pPr>
            <a:r>
              <a:rPr lang="en-US" i="1" dirty="0"/>
              <a:t>Create a slideshow to aid in my future smart home development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This project was intended to be a high-level comparison</a:t>
            </a:r>
            <a:r>
              <a:rPr lang="en-US" dirty="0"/>
              <a:t>, drawing from many different sources – both academic and non-academic – to get a holistic view of chosen protocols. 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601ECFA-22A3-A2BA-90E2-4B8BC6E4EF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2383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1032-5E5C-F07B-C3EE-AD35AB97F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489C9-0A86-3370-8764-38AD55DCA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/>
          <a:lstStyle/>
          <a:p>
            <a:r>
              <a:rPr lang="en-US" dirty="0"/>
              <a:t>Protocols Chosen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8F4B5-9E83-4AC0-733B-A725A4E63C4B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10251527" cy="42568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This project looks at the </a:t>
            </a:r>
            <a:r>
              <a:rPr lang="en-US" b="1" i="1" dirty="0"/>
              <a:t>architecture, usage, and personal </a:t>
            </a:r>
            <a:r>
              <a:rPr lang="en-US" dirty="0"/>
              <a:t>considerations of the following WLAN protocols:</a:t>
            </a:r>
          </a:p>
          <a:p>
            <a:pPr>
              <a:buFontTx/>
              <a:buChar char="-"/>
            </a:pPr>
            <a:r>
              <a:rPr lang="en-US" b="1" dirty="0"/>
              <a:t>Thread </a:t>
            </a:r>
          </a:p>
          <a:p>
            <a:pPr>
              <a:buFontTx/>
              <a:buChar char="-"/>
            </a:pPr>
            <a:r>
              <a:rPr lang="en-US" b="1" dirty="0"/>
              <a:t>Zigbee</a:t>
            </a:r>
          </a:p>
          <a:p>
            <a:pPr>
              <a:buFontTx/>
              <a:buChar char="-"/>
            </a:pPr>
            <a:r>
              <a:rPr lang="en-US" b="1" dirty="0"/>
              <a:t>Z-Wave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Protocols that were not selected:</a:t>
            </a:r>
          </a:p>
          <a:p>
            <a:pPr marL="0" indent="0">
              <a:buNone/>
            </a:pPr>
            <a:r>
              <a:rPr lang="en-US" sz="2600" dirty="0"/>
              <a:t>- </a:t>
            </a:r>
            <a:r>
              <a:rPr lang="en-US" sz="2600" dirty="0" err="1"/>
              <a:t>WiFi</a:t>
            </a:r>
            <a:r>
              <a:rPr lang="en-US" sz="2600" dirty="0"/>
              <a:t>: I require a dedicated, local network</a:t>
            </a:r>
          </a:p>
          <a:p>
            <a:pPr marL="0" indent="0">
              <a:buNone/>
            </a:pPr>
            <a:r>
              <a:rPr lang="en-US" sz="2600" dirty="0"/>
              <a:t>- Bluetooth: limited by coverage range</a:t>
            </a:r>
          </a:p>
          <a:p>
            <a:pPr marL="0" indent="0">
              <a:buNone/>
            </a:pPr>
            <a:r>
              <a:rPr lang="en-US" sz="2600" dirty="0"/>
              <a:t>- Wired: far too cumbersome and obtrusive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19AF503-1F5A-DB55-E689-EDE0FCE63E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4011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1FD1423-EF69-4C43-9403-3B2C2334D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/>
          <a:lstStyle/>
          <a:p>
            <a:r>
              <a:rPr lang="en-US" dirty="0"/>
              <a:t>Summary of Protocols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1B75814-CA78-4990-B92F-D58A9492E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3548916"/>
            <a:ext cx="3166740" cy="754602"/>
          </a:xfrm>
        </p:spPr>
        <p:txBody>
          <a:bodyPr/>
          <a:lstStyle/>
          <a:p>
            <a:r>
              <a:rPr lang="en-US" dirty="0"/>
              <a:t>Thread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3F6F3-D3DF-4279-86A3-7F8CB799918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61745" y="3996182"/>
            <a:ext cx="3321116" cy="1947418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Thread Alliance formed 2014</a:t>
            </a:r>
          </a:p>
          <a:p>
            <a:pPr marL="285750" indent="-285750">
              <a:buFontTx/>
              <a:buChar char="-"/>
            </a:pPr>
            <a:r>
              <a:rPr lang="en-US" dirty="0"/>
              <a:t>Mesh network</a:t>
            </a:r>
          </a:p>
          <a:p>
            <a:pPr marL="285750" indent="-285750">
              <a:buFontTx/>
              <a:buChar char="-"/>
            </a:pPr>
            <a:r>
              <a:rPr lang="en-US" dirty="0"/>
              <a:t>Supports ~16000 devices</a:t>
            </a:r>
          </a:p>
          <a:p>
            <a:pPr marL="285750" indent="-285750">
              <a:buFontTx/>
              <a:buChar char="-"/>
            </a:pPr>
            <a:r>
              <a:rPr lang="en-US" dirty="0"/>
              <a:t>Open standard</a:t>
            </a:r>
          </a:p>
          <a:p>
            <a:pPr marL="285750" indent="-285750">
              <a:buFontTx/>
              <a:buChar char="-"/>
            </a:pPr>
            <a:r>
              <a:rPr lang="en-US" dirty="0"/>
              <a:t>Low power smart home devices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4D859F-8AAA-4CD2-B46F-EC628FBC80F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616385" y="3537679"/>
            <a:ext cx="2973372" cy="754602"/>
          </a:xfrm>
        </p:spPr>
        <p:txBody>
          <a:bodyPr/>
          <a:lstStyle/>
          <a:p>
            <a:r>
              <a:rPr lang="en-US" dirty="0"/>
              <a:t>Zigbee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3307FC-8F50-4F47-A294-FED5621237B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609313" y="3996182"/>
            <a:ext cx="2973372" cy="195865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Introduced 2005</a:t>
            </a:r>
          </a:p>
          <a:p>
            <a:pPr marL="285750" indent="-285750">
              <a:buFontTx/>
              <a:buChar char="-"/>
            </a:pPr>
            <a:r>
              <a:rPr lang="en-US" dirty="0"/>
              <a:t>Mesh network</a:t>
            </a:r>
          </a:p>
          <a:p>
            <a:pPr marL="285750" indent="-285750">
              <a:buFontTx/>
              <a:buChar char="-"/>
            </a:pPr>
            <a:r>
              <a:rPr lang="en-US" dirty="0"/>
              <a:t>Supports ~65000 devices</a:t>
            </a:r>
          </a:p>
          <a:p>
            <a:pPr marL="285750" indent="-285750">
              <a:buFontTx/>
              <a:buChar char="-"/>
            </a:pPr>
            <a:r>
              <a:rPr lang="en-US" dirty="0"/>
              <a:t>Open standard</a:t>
            </a:r>
          </a:p>
          <a:p>
            <a:pPr marL="285750" indent="-285750">
              <a:buFontTx/>
              <a:buChar char="-"/>
            </a:pPr>
            <a:r>
              <a:rPr lang="en-US" dirty="0"/>
              <a:t>Home automation, medical device data collection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39EB02-FDF3-4647-81D9-E19EDEFB2BA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063514" y="3537679"/>
            <a:ext cx="3166740" cy="754602"/>
          </a:xfrm>
        </p:spPr>
        <p:txBody>
          <a:bodyPr/>
          <a:lstStyle/>
          <a:p>
            <a:r>
              <a:rPr lang="en-US" dirty="0"/>
              <a:t>Z-Wave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5330018-79E4-41FB-A265-8C0D9891AAA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086902" y="3996182"/>
            <a:ext cx="3166740" cy="1958655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Introduced 1999</a:t>
            </a:r>
          </a:p>
          <a:p>
            <a:pPr marL="285750" indent="-285750">
              <a:buFontTx/>
              <a:buChar char="-"/>
            </a:pPr>
            <a:r>
              <a:rPr lang="en-US" dirty="0"/>
              <a:t>Mesh network</a:t>
            </a:r>
          </a:p>
          <a:p>
            <a:pPr marL="285750" indent="-285750">
              <a:buFontTx/>
              <a:buChar char="-"/>
            </a:pPr>
            <a:r>
              <a:rPr lang="en-US" dirty="0"/>
              <a:t>Supports 232 devices</a:t>
            </a:r>
          </a:p>
          <a:p>
            <a:pPr marL="285750" indent="-285750">
              <a:buFontTx/>
              <a:buChar char="-"/>
            </a:pPr>
            <a:r>
              <a:rPr lang="en-US" dirty="0"/>
              <a:t>Proprietary (Silicon Labs)</a:t>
            </a:r>
          </a:p>
          <a:p>
            <a:pPr marL="285750" indent="-285750">
              <a:buFontTx/>
              <a:buChar char="-"/>
            </a:pPr>
            <a:r>
              <a:rPr lang="en-US" dirty="0"/>
              <a:t>Residential and commercial</a:t>
            </a:r>
          </a:p>
          <a:p>
            <a:r>
              <a:rPr lang="en-US" dirty="0"/>
              <a:t>      building automation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8365D369-335C-1B42-80D2-229BD756D3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pic>
        <p:nvPicPr>
          <p:cNvPr id="1028" name="Picture 4" descr="An Introduction to Thread | Symmetry Electronics">
            <a:extLst>
              <a:ext uri="{FF2B5EF4-FFF2-40B4-BE49-F238E27FC236}">
                <a16:creationId xmlns:a16="http://schemas.microsoft.com/office/drawing/2014/main" id="{47D1BEAD-F2C6-1D19-6C39-8DEC7A19E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325" y="1724010"/>
            <a:ext cx="3064928" cy="1532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Zigbee 101 - Tout ce que vous devez savoir – Sinopé Technologies">
            <a:extLst>
              <a:ext uri="{FF2B5EF4-FFF2-40B4-BE49-F238E27FC236}">
                <a16:creationId xmlns:a16="http://schemas.microsoft.com/office/drawing/2014/main" id="{7EA8E433-2A92-2613-D590-32B4A0F052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91" t="21490" r="6818" b="27263"/>
          <a:stretch>
            <a:fillRect/>
          </a:stretch>
        </p:blipFill>
        <p:spPr bwMode="auto">
          <a:xfrm>
            <a:off x="4491787" y="1807200"/>
            <a:ext cx="3208426" cy="1324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Z-Wave - Wikipedia">
            <a:extLst>
              <a:ext uri="{FF2B5EF4-FFF2-40B4-BE49-F238E27FC236}">
                <a16:creationId xmlns:a16="http://schemas.microsoft.com/office/drawing/2014/main" id="{48AE2CAF-CE4D-CC3F-B165-4ADAEAE085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0099" y="1948005"/>
            <a:ext cx="2084909" cy="9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3666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5589BD6-5E46-4036-A049-8F11582D49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2805221"/>
            <a:ext cx="10286999" cy="759906"/>
          </a:xfrm>
        </p:spPr>
        <p:txBody>
          <a:bodyPr>
            <a:normAutofit fontScale="90000"/>
          </a:bodyPr>
          <a:lstStyle/>
          <a:p>
            <a:r>
              <a:rPr lang="en-US" dirty="0"/>
              <a:t>Thread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DE47C94-F342-4CEB-9D1D-CA267093F7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500" y="3791876"/>
            <a:ext cx="10286999" cy="407460"/>
          </a:xfrm>
        </p:spPr>
        <p:txBody>
          <a:bodyPr/>
          <a:lstStyle/>
          <a:p>
            <a:r>
              <a:rPr lang="en-US" dirty="0"/>
              <a:t>Protocol 1/3</a:t>
            </a:r>
          </a:p>
        </p:txBody>
      </p:sp>
    </p:spTree>
    <p:extLst>
      <p:ext uri="{BB962C8B-B14F-4D97-AF65-F5344CB8AC3E}">
        <p14:creationId xmlns:p14="http://schemas.microsoft.com/office/powerpoint/2010/main" val="2326767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BE32C-28BD-4497-24FD-8A528536E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AF4A4-79F4-998E-BF40-647876E4A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/>
          <a:lstStyle/>
          <a:p>
            <a:r>
              <a:rPr lang="en-US" dirty="0"/>
              <a:t>Thread Background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5AD805-1BAD-57ED-D6B2-D48BFD98A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10655301" cy="4256843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Thread Group: </a:t>
            </a:r>
            <a:r>
              <a:rPr lang="en-US" dirty="0"/>
              <a:t>July 15, 2014 </a:t>
            </a:r>
            <a:r>
              <a:rPr lang="en-US" sz="2000" dirty="0"/>
              <a:t>(Founded by Silicon Labs + six others)</a:t>
            </a:r>
          </a:p>
          <a:p>
            <a:r>
              <a:rPr lang="en-US" b="1" dirty="0" err="1"/>
              <a:t>OpenThread</a:t>
            </a:r>
            <a:r>
              <a:rPr lang="en-US" b="1" dirty="0"/>
              <a:t>: </a:t>
            </a:r>
            <a:r>
              <a:rPr lang="en-US" dirty="0"/>
              <a:t>open source implementation </a:t>
            </a:r>
            <a:r>
              <a:rPr lang="en-US" sz="2000" dirty="0"/>
              <a:t>(Founded by Google)</a:t>
            </a:r>
          </a:p>
          <a:p>
            <a:pPr lvl="1"/>
            <a:r>
              <a:rPr lang="en-US" dirty="0"/>
              <a:t>Protocol used for </a:t>
            </a:r>
            <a:r>
              <a:rPr lang="en-US" dirty="0">
                <a:hlinkClick r:id="rId2"/>
              </a:rPr>
              <a:t>Google Nest</a:t>
            </a:r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Features:</a:t>
            </a:r>
          </a:p>
          <a:p>
            <a:r>
              <a:rPr lang="en-US" dirty="0"/>
              <a:t>IPv6 Over Low Power Wireless Personal Networks (6LoWPAN)</a:t>
            </a:r>
          </a:p>
          <a:p>
            <a:r>
              <a:rPr lang="en-US" dirty="0"/>
              <a:t>Several to 100s of devices, scalable to 10,000s of devices</a:t>
            </a:r>
          </a:p>
          <a:p>
            <a:r>
              <a:rPr lang="en-US" dirty="0"/>
              <a:t>Life Expectancy: years under typical conditions(powered by AA batteries or main power)</a:t>
            </a:r>
          </a:p>
          <a:p>
            <a:r>
              <a:rPr lang="en-US" dirty="0"/>
              <a:t>Network can additionally function using </a:t>
            </a:r>
            <a:r>
              <a:rPr lang="en-US" dirty="0" err="1"/>
              <a:t>WiFi</a:t>
            </a:r>
            <a:r>
              <a:rPr lang="en-US" dirty="0"/>
              <a:t> or Ethernet 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1C72807D-928C-5C3E-FB4F-56EE9ADE64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83184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EFA4-ACFE-9F99-2938-EFC7515E6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5994C-3465-C2A2-6BA5-84F8F48DD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7559675" cy="896116"/>
          </a:xfrm>
        </p:spPr>
        <p:txBody>
          <a:bodyPr>
            <a:normAutofit/>
          </a:bodyPr>
          <a:lstStyle/>
          <a:p>
            <a:r>
              <a:rPr lang="en-US" dirty="0"/>
              <a:t>Thread Architecture – Diagram 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8625A81-B038-646B-A431-BA6168A2D7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CB20C9-9192-B614-9BAC-014EFD2A1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264" y="1333500"/>
            <a:ext cx="5849471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149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86EC-B837-D17F-8C5F-F2CD9AA8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E9AE-EF25-6BD1-DC8B-C0E9ABB27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10254701" cy="896116"/>
          </a:xfrm>
        </p:spPr>
        <p:txBody>
          <a:bodyPr/>
          <a:lstStyle/>
          <a:p>
            <a:r>
              <a:rPr lang="en-US" dirty="0"/>
              <a:t>Thread Device Nomenclature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CA4252-FC2D-84D4-558C-B601C4971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10655301" cy="4256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000" b="1" dirty="0"/>
              <a:t>Border Routers: </a:t>
            </a:r>
            <a:r>
              <a:rPr lang="en-US" sz="2000" dirty="0"/>
              <a:t>connect 802.15.4 to external </a:t>
            </a:r>
            <a:r>
              <a:rPr lang="en-US" sz="2000" dirty="0" err="1"/>
              <a:t>WiFi</a:t>
            </a:r>
            <a:r>
              <a:rPr lang="en-US" sz="2000" dirty="0"/>
              <a:t>/Ethernet  networks</a:t>
            </a:r>
            <a:endParaRPr lang="en-US" sz="2000" b="1" dirty="0"/>
          </a:p>
          <a:p>
            <a:pPr marL="514350" indent="-514350">
              <a:buFont typeface="+mj-lt"/>
              <a:buAutoNum type="arabicPeriod"/>
            </a:pPr>
            <a:r>
              <a:rPr lang="en-US" sz="2000" b="1" dirty="0"/>
              <a:t>Leader: </a:t>
            </a:r>
            <a:r>
              <a:rPr lang="en-US" sz="2000" dirty="0"/>
              <a:t>manages Thread network, assigns  router IDs, and selects routers</a:t>
            </a:r>
            <a:endParaRPr lang="en-US" sz="2000" b="1" dirty="0"/>
          </a:p>
          <a:p>
            <a:pPr marL="514350" indent="-514350">
              <a:buFont typeface="+mj-lt"/>
              <a:buAutoNum type="arabicPeriod"/>
            </a:pPr>
            <a:r>
              <a:rPr lang="en-US" sz="2000" b="1" dirty="0"/>
              <a:t>Thread Routers: </a:t>
            </a:r>
            <a:r>
              <a:rPr lang="en-US" sz="2000" dirty="0"/>
              <a:t>provides routing, joining, and security to network devices; cannot sleep</a:t>
            </a:r>
            <a:endParaRPr lang="en-US" sz="2000" b="1" dirty="0"/>
          </a:p>
          <a:p>
            <a:pPr marL="514350" indent="-514350">
              <a:buFont typeface="+mj-lt"/>
              <a:buAutoNum type="arabicPeriod"/>
            </a:pPr>
            <a:r>
              <a:rPr lang="en-US" sz="2000" b="1" dirty="0"/>
              <a:t>Router-Eligible End Devices (REED): </a:t>
            </a:r>
            <a:r>
              <a:rPr lang="en-US" sz="2000" dirty="0"/>
              <a:t>can become Thread Router or Leader, however they cannot route messages</a:t>
            </a:r>
            <a:endParaRPr lang="en-US" sz="2000" b="1" dirty="0"/>
          </a:p>
          <a:p>
            <a:pPr marL="514350" indent="-514350">
              <a:buFont typeface="+mj-lt"/>
              <a:buAutoNum type="arabicPeriod"/>
            </a:pPr>
            <a:r>
              <a:rPr lang="en-US" sz="2000" b="1" dirty="0"/>
              <a:t>End Devices: </a:t>
            </a:r>
            <a:r>
              <a:rPr lang="en-US" sz="2000" dirty="0"/>
              <a:t>not router-eligible; can be full end or minimal end devices</a:t>
            </a:r>
            <a:endParaRPr lang="en-US" sz="2000" b="1" dirty="0"/>
          </a:p>
          <a:p>
            <a:pPr marL="514350" indent="-514350">
              <a:buFont typeface="+mj-lt"/>
              <a:buAutoNum type="arabicPeriod"/>
            </a:pPr>
            <a:r>
              <a:rPr lang="en-US" sz="2000" b="1" dirty="0"/>
              <a:t>Sleepy End Devices: </a:t>
            </a:r>
            <a:r>
              <a:rPr lang="en-US" sz="2000" dirty="0"/>
              <a:t>can communicate only through their Thread Router parent; cannot relay messages to other devices</a:t>
            </a:r>
            <a:endParaRPr lang="en-US" sz="2000" b="1" dirty="0"/>
          </a:p>
          <a:p>
            <a:pPr marL="514350" indent="-514350">
              <a:buFont typeface="+mj-lt"/>
              <a:buAutoNum type="arabicPeriod"/>
            </a:pPr>
            <a:r>
              <a:rPr lang="en-US" sz="2000" b="1" dirty="0"/>
              <a:t>Synchronized Sleep End Devices: </a:t>
            </a:r>
            <a:r>
              <a:rPr lang="en-US" sz="2000" dirty="0"/>
              <a:t>Sleepy End Devices that use </a:t>
            </a:r>
            <a:r>
              <a:rPr lang="en-US" sz="2000" i="1" dirty="0"/>
              <a:t>CSL</a:t>
            </a:r>
            <a:r>
              <a:rPr lang="en-US" sz="2000" dirty="0"/>
              <a:t> for synchronized, low-power communication</a:t>
            </a:r>
            <a:endParaRPr lang="en-US" sz="2000" b="1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DCDA0CFB-4531-28C7-1393-95D904A690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8174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4C118-291A-CAA1-106D-979EAC8FD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4E63F-0768-BD7C-764A-F94694E69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7699375" cy="896116"/>
          </a:xfrm>
        </p:spPr>
        <p:txBody>
          <a:bodyPr>
            <a:normAutofit/>
          </a:bodyPr>
          <a:lstStyle/>
          <a:p>
            <a:r>
              <a:rPr lang="en-US" dirty="0"/>
              <a:t>Thread Architecture – High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D5BF65-93E8-182F-07A5-C30E017AE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3276600"/>
            <a:ext cx="11036300" cy="279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Thread’s Optimizations:</a:t>
            </a:r>
          </a:p>
          <a:p>
            <a:r>
              <a:rPr lang="en-US" sz="2000" i="1" dirty="0"/>
              <a:t>Enhanced Frame Pending </a:t>
            </a:r>
            <a:r>
              <a:rPr lang="en-US" sz="2000" dirty="0"/>
              <a:t>– Acknowledges data with ‘pending’ status to save sleepy device battery </a:t>
            </a:r>
          </a:p>
          <a:p>
            <a:r>
              <a:rPr lang="en-US" sz="2000" i="1" dirty="0"/>
              <a:t>Enhanced Keepalive </a:t>
            </a:r>
            <a:r>
              <a:rPr lang="en-US" sz="2000" dirty="0"/>
              <a:t>– Data messages function as ‘keepalives’ reducing link maintenance traffic </a:t>
            </a:r>
          </a:p>
          <a:p>
            <a:r>
              <a:rPr lang="en-US" sz="2000" i="1" dirty="0"/>
              <a:t>Coordinated Sampled Listening (CSL) </a:t>
            </a:r>
            <a:r>
              <a:rPr lang="en-US" sz="2000" dirty="0"/>
              <a:t>– Synchronized transmit/receive </a:t>
            </a:r>
            <a:r>
              <a:rPr lang="en-US" sz="2000" dirty="0" err="1"/>
              <a:t>perieds</a:t>
            </a:r>
            <a:r>
              <a:rPr lang="en-US" sz="2000" dirty="0"/>
              <a:t> for improved synchronicity and reduced power</a:t>
            </a:r>
          </a:p>
          <a:p>
            <a:r>
              <a:rPr lang="en-US" sz="2000" i="1" dirty="0"/>
              <a:t>Enhanced ACK Probing </a:t>
            </a:r>
            <a:r>
              <a:rPr lang="en-US" sz="2000" dirty="0"/>
              <a:t>–Reuses data for link metrics to provide granular control and to save energy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27AC5B1-8DE5-75E5-EF44-46D2DBAE08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73AE6EFE-B5B2-4288-C7F8-EFC92B26284F}"/>
              </a:ext>
            </a:extLst>
          </p:cNvPr>
          <p:cNvSpPr txBox="1">
            <a:spLocks/>
          </p:cNvSpPr>
          <p:nvPr/>
        </p:nvSpPr>
        <p:spPr>
          <a:xfrm>
            <a:off x="987975" y="1676400"/>
            <a:ext cx="5260976" cy="217040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IEEE 802.15.4 PHYS:</a:t>
            </a:r>
          </a:p>
          <a:p>
            <a:r>
              <a:rPr lang="en-US" sz="2000" dirty="0"/>
              <a:t>2.4 GHz</a:t>
            </a:r>
          </a:p>
          <a:p>
            <a:r>
              <a:rPr lang="en-US" sz="2000" dirty="0"/>
              <a:t>250 kbps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6BAAF56-A4E9-BB69-CAD3-A4A89EE00AAC}"/>
              </a:ext>
            </a:extLst>
          </p:cNvPr>
          <p:cNvSpPr txBox="1">
            <a:spLocks/>
          </p:cNvSpPr>
          <p:nvPr/>
        </p:nvSpPr>
        <p:spPr>
          <a:xfrm>
            <a:off x="6248950" y="1676400"/>
            <a:ext cx="5739849" cy="217040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IEEE 802.15.4 MAC:</a:t>
            </a:r>
          </a:p>
          <a:p>
            <a:r>
              <a:rPr lang="en-US" sz="2000" dirty="0"/>
              <a:t>Carrier Sense Multiple Access (CSMA)</a:t>
            </a:r>
          </a:p>
          <a:p>
            <a:r>
              <a:rPr lang="en-US" sz="2000" dirty="0"/>
              <a:t>MAC layer encryption enabled by higher layers</a:t>
            </a:r>
          </a:p>
        </p:txBody>
      </p:sp>
    </p:spTree>
    <p:extLst>
      <p:ext uri="{BB962C8B-B14F-4D97-AF65-F5344CB8AC3E}">
        <p14:creationId xmlns:p14="http://schemas.microsoft.com/office/powerpoint/2010/main" val="1376660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B8C4-F72C-7AED-46A7-96DC5A25D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AF882-111C-2BB2-436C-90A4699B3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10810875" cy="896116"/>
          </a:xfrm>
        </p:spPr>
        <p:txBody>
          <a:bodyPr>
            <a:normAutofit fontScale="90000"/>
          </a:bodyPr>
          <a:lstStyle/>
          <a:p>
            <a:r>
              <a:rPr lang="en-US" dirty="0"/>
              <a:t>Thread Architecture – What Makes Thread Unique?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B86BB4-1741-C5F2-3FEC-A1C28137B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10655301" cy="42568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Thread is unique in that it provides IPv6 addressing!</a:t>
            </a:r>
          </a:p>
          <a:p>
            <a:pPr marL="0" indent="0">
              <a:buNone/>
            </a:pPr>
            <a:r>
              <a:rPr lang="en-US" sz="2000" b="1" dirty="0"/>
              <a:t>Native IPv6 Support: </a:t>
            </a:r>
          </a:p>
          <a:p>
            <a:r>
              <a:rPr lang="en-US" sz="2000" dirty="0"/>
              <a:t>End-to-end IPv6 addressing with no application layer translation</a:t>
            </a:r>
          </a:p>
          <a:p>
            <a:r>
              <a:rPr lang="en-US" sz="2000" dirty="0"/>
              <a:t>Devices can communicate directly via IP</a:t>
            </a:r>
          </a:p>
          <a:p>
            <a:r>
              <a:rPr lang="en-US" sz="2000" dirty="0">
                <a:sym typeface="Wingdings" pitchFamily="2" charset="2"/>
              </a:rPr>
              <a:t>Interoperability with IP-based ecosystems like </a:t>
            </a:r>
            <a:r>
              <a:rPr lang="en-US" sz="2000" dirty="0" err="1">
                <a:sym typeface="Wingdings" pitchFamily="2" charset="2"/>
              </a:rPr>
              <a:t>WiFi</a:t>
            </a:r>
            <a:r>
              <a:rPr lang="en-US" sz="2000" dirty="0">
                <a:sym typeface="Wingdings" pitchFamily="2" charset="2"/>
              </a:rPr>
              <a:t> and Ethernet</a:t>
            </a:r>
          </a:p>
          <a:p>
            <a:pPr marL="0" indent="0">
              <a:buNone/>
            </a:pPr>
            <a:r>
              <a:rPr lang="en-US" sz="2000" b="1" dirty="0"/>
              <a:t>6LoWPAN  Link Layer Forwarding: </a:t>
            </a:r>
          </a:p>
          <a:p>
            <a:r>
              <a:rPr lang="en-US" sz="2000" dirty="0"/>
              <a:t>Header compression and fragmentation optimized for </a:t>
            </a:r>
            <a:r>
              <a:rPr lang="en-US" sz="2000" dirty="0" err="1"/>
              <a:t>lowpower</a:t>
            </a:r>
            <a:r>
              <a:rPr lang="en-US" sz="2000" dirty="0"/>
              <a:t>/constrained devices</a:t>
            </a:r>
          </a:p>
          <a:p>
            <a:r>
              <a:rPr lang="en-US" sz="2000" dirty="0"/>
              <a:t>Efficient multi-hop forwarding 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C92C4C9D-3ABE-3443-5C83-4940FA07AF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F2B4EE-4AFC-64C1-D388-9D6BD0A39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939" y="5125596"/>
            <a:ext cx="47371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864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66AFA-2828-8C0B-7F97-3A64FF399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A3352-BCF6-3A02-2984-FC54745D3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10254701" cy="896116"/>
          </a:xfrm>
        </p:spPr>
        <p:txBody>
          <a:bodyPr/>
          <a:lstStyle/>
          <a:p>
            <a:r>
              <a:rPr lang="en-US" dirty="0"/>
              <a:t>Thread Routing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C87EEF-9F74-CC5A-2F9F-A60C3A9B16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458542"/>
            <a:ext cx="10655301" cy="47390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/>
              <a:t>1. Distance-Vector Routing:</a:t>
            </a:r>
          </a:p>
          <a:p>
            <a:r>
              <a:rPr lang="en-US" sz="1600" b="1" dirty="0"/>
              <a:t>Next-Hop Selection: </a:t>
            </a:r>
            <a:r>
              <a:rPr lang="en-US" sz="1600" dirty="0"/>
              <a:t>each router maintains a table containing the best “next-hop” to another router</a:t>
            </a:r>
          </a:p>
          <a:p>
            <a:r>
              <a:rPr lang="en-US" sz="1600" b="1" dirty="0"/>
              <a:t>Hop Count Metric: </a:t>
            </a:r>
            <a:r>
              <a:rPr lang="en-US" sz="1600" dirty="0"/>
              <a:t>”distance” is measured as the number of hops between devices. Maximum is typically set by manager to ensure network efficiency</a:t>
            </a:r>
          </a:p>
          <a:p>
            <a:r>
              <a:rPr lang="en-US" sz="1600" b="1" dirty="0"/>
              <a:t>Periodic Updates: </a:t>
            </a:r>
            <a:r>
              <a:rPr lang="en-US" sz="1600" dirty="0"/>
              <a:t>routers regularly update routing costs for direct neighbors</a:t>
            </a:r>
          </a:p>
          <a:p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2. Mesh Link Establishment (MLE): </a:t>
            </a:r>
          </a:p>
          <a:p>
            <a:r>
              <a:rPr lang="en-US" sz="1600" b="1" dirty="0"/>
              <a:t>Link Quality Sensing: </a:t>
            </a:r>
            <a:r>
              <a:rPr lang="en-US" sz="1600" dirty="0"/>
              <a:t>measures RSSI of incoming messages to assign ”quality” [0-3]; 0 unknown cost</a:t>
            </a:r>
          </a:p>
          <a:p>
            <a:r>
              <a:rPr lang="en-US" sz="1600" b="1" dirty="0"/>
              <a:t>Bidirectional Verification: </a:t>
            </a:r>
            <a:r>
              <a:rPr lang="en-US" sz="1600" dirty="0"/>
              <a:t>ensures link is reliable in BOTH directions before including in routing table</a:t>
            </a:r>
          </a:p>
          <a:p>
            <a:r>
              <a:rPr lang="en-US" sz="1600" b="1" dirty="0"/>
              <a:t>Route Propagation: </a:t>
            </a:r>
            <a:r>
              <a:rPr lang="en-US" sz="1600" dirty="0"/>
              <a:t>Leader sends advertisement messages containing routing costs disseminated every few seconds</a:t>
            </a:r>
          </a:p>
          <a:p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3. Retries (**note Thread uses UDP**)</a:t>
            </a:r>
          </a:p>
          <a:p>
            <a:r>
              <a:rPr lang="en-US" sz="1600" dirty="0"/>
              <a:t>Employs MAC level retries and Application level retries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56164589-7275-3AD8-0683-72B2B89011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BB78DD-3F2C-C13B-259F-F32112BFF60F}"/>
              </a:ext>
            </a:extLst>
          </p:cNvPr>
          <p:cNvSpPr txBox="1"/>
          <p:nvPr/>
        </p:nvSpPr>
        <p:spPr>
          <a:xfrm>
            <a:off x="7962900" y="6007730"/>
            <a:ext cx="4121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Currently, Thread supports &lt;32 routers</a:t>
            </a:r>
          </a:p>
        </p:txBody>
      </p:sp>
    </p:spTree>
    <p:extLst>
      <p:ext uri="{BB962C8B-B14F-4D97-AF65-F5344CB8AC3E}">
        <p14:creationId xmlns:p14="http://schemas.microsoft.com/office/powerpoint/2010/main" val="3524588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4F22-8CD5-8307-1F81-D7531A3E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0669B-7CDF-F378-E2F3-C1CAF07E2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10254701" cy="896116"/>
          </a:xfrm>
        </p:spPr>
        <p:txBody>
          <a:bodyPr/>
          <a:lstStyle/>
          <a:p>
            <a:r>
              <a:rPr lang="en-US" dirty="0"/>
              <a:t>Thread Joining &amp; Network Operation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28B5A6-B1EA-DF83-9CDC-179E9AD44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458542"/>
            <a:ext cx="10655301" cy="47390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ALL JOINING IS USER INITIATED OVER </a:t>
            </a:r>
            <a:r>
              <a:rPr lang="en-US" sz="2000" b="1" dirty="0" err="1"/>
              <a:t>WiFi</a:t>
            </a:r>
            <a:r>
              <a:rPr lang="en-US" sz="2000" b="1" dirty="0"/>
              <a:t> </a:t>
            </a:r>
          </a:p>
          <a:p>
            <a:pPr marL="0" indent="0">
              <a:buNone/>
            </a:pPr>
            <a:r>
              <a:rPr lang="en-US" sz="2000" dirty="0"/>
              <a:t>A device joins a Thread network using credentials via user mobile device. This authenticates securely and ensures device </a:t>
            </a:r>
            <a:r>
              <a:rPr lang="en-US" sz="2000" dirty="0" err="1"/>
              <a:t>recievs</a:t>
            </a:r>
            <a:r>
              <a:rPr lang="en-US" sz="2000" dirty="0"/>
              <a:t> network parameters and security material.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FF0000"/>
                </a:solidFill>
              </a:rPr>
              <a:t>Again, this is not something which I would like in my network as there is security threat for some remote access/authentication of devices which I did not authorize. </a:t>
            </a:r>
          </a:p>
          <a:p>
            <a:pPr marL="0" indent="0">
              <a:buNone/>
            </a:pPr>
            <a:endParaRPr lang="en-US" sz="20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2000" dirty="0"/>
              <a:t>Once a device has joined, it uses MLE exchange to configure or exchange information about neighbors, device capabilities and device type, link costs, and security information.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After the joining and configuration process is complete, the mesh network is built.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F1B2ED21-5691-8FBE-5395-C32421E4B7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7606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E0A10-6B6C-957A-8795-98EA48FFC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9819C-5CBD-ECF0-36B3-A0B09FE84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10254701" cy="896116"/>
          </a:xfrm>
        </p:spPr>
        <p:txBody>
          <a:bodyPr>
            <a:normAutofit/>
          </a:bodyPr>
          <a:lstStyle/>
          <a:p>
            <a:r>
              <a:rPr lang="en-US" dirty="0"/>
              <a:t>Thread Usage – Home Mesh Network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4C3AB7-1FF1-91F1-3CDA-51CD824FA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6343424" cy="45056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/>
              <a:t>External Connectivity: </a:t>
            </a:r>
          </a:p>
          <a:p>
            <a:pPr lvl="1"/>
            <a:r>
              <a:rPr lang="en-US" sz="1600" dirty="0"/>
              <a:t>Border Routers bridge the Thread network to Wi-Fi or Ethernet</a:t>
            </a:r>
          </a:p>
          <a:p>
            <a:pPr marL="0" indent="0">
              <a:buNone/>
            </a:pPr>
            <a:r>
              <a:rPr lang="en-US" sz="2000" b="1" dirty="0"/>
              <a:t>Network Management:</a:t>
            </a:r>
          </a:p>
          <a:p>
            <a:pPr lvl="1"/>
            <a:r>
              <a:rPr lang="en-US" sz="1600" dirty="0"/>
              <a:t>A Leader manages router IDs and assigns network addresses</a:t>
            </a:r>
          </a:p>
          <a:p>
            <a:pPr marL="0" indent="0">
              <a:buNone/>
            </a:pPr>
            <a:r>
              <a:rPr lang="en-US" sz="2000" b="1" dirty="0"/>
              <a:t>Message Routing: </a:t>
            </a:r>
          </a:p>
          <a:p>
            <a:pPr lvl="1"/>
            <a:r>
              <a:rPr lang="en-US" sz="1600" dirty="0"/>
              <a:t>Thread Routers provide security services and relay data packets</a:t>
            </a:r>
          </a:p>
          <a:p>
            <a:pPr marL="0" indent="0">
              <a:buNone/>
            </a:pPr>
            <a:r>
              <a:rPr lang="en-US" sz="2000" b="1" dirty="0"/>
              <a:t>Dynamic Roles: </a:t>
            </a:r>
          </a:p>
          <a:p>
            <a:pPr lvl="1"/>
            <a:r>
              <a:rPr lang="en-US" sz="1600" dirty="0"/>
              <a:t>REEDs can automatically become routers if the network needs expansion</a:t>
            </a:r>
          </a:p>
          <a:p>
            <a:pPr marL="0" indent="0">
              <a:buNone/>
            </a:pPr>
            <a:r>
              <a:rPr lang="en-US" sz="2000" b="1" dirty="0"/>
              <a:t>Device Communication: </a:t>
            </a:r>
          </a:p>
          <a:p>
            <a:pPr lvl="1"/>
            <a:r>
              <a:rPr lang="en-US" sz="1600" dirty="0"/>
              <a:t>End devices communicate through a parent router to save power</a:t>
            </a:r>
          </a:p>
          <a:p>
            <a:pPr marL="0" indent="0">
              <a:buNone/>
            </a:pPr>
            <a:r>
              <a:rPr lang="en-US" sz="2000" b="1" dirty="0"/>
              <a:t>Power Efficiency:</a:t>
            </a:r>
          </a:p>
          <a:p>
            <a:pPr lvl="1"/>
            <a:r>
              <a:rPr lang="en-US" sz="1600" dirty="0"/>
              <a:t>Sleepy devices use synchronized schedules to minimize radio usage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84F59E7-4637-B418-7090-6857D54939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8961B9-9D98-7EE3-2121-E92AD1046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723" y="1304484"/>
            <a:ext cx="3908103" cy="488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3445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935F9-41C8-FA65-71A9-418E28A74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E017D-3487-71D5-6224-13A048813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10254701" cy="896116"/>
          </a:xfrm>
        </p:spPr>
        <p:txBody>
          <a:bodyPr>
            <a:normAutofit/>
          </a:bodyPr>
          <a:lstStyle/>
          <a:p>
            <a:r>
              <a:rPr lang="en-US" dirty="0"/>
              <a:t>Thread Usage – Home Mesh Network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1BEFB4A-0E5D-5BFE-46D8-54A0857C2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6343424" cy="425684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/>
              <a:t>External Connectivity: </a:t>
            </a:r>
          </a:p>
          <a:p>
            <a:pPr lvl="1"/>
            <a:r>
              <a:rPr lang="en-US" sz="1600" dirty="0"/>
              <a:t>Border Routers bridge the Thread network to Wi-Fi or Ethernet</a:t>
            </a:r>
          </a:p>
          <a:p>
            <a:pPr marL="0" indent="0">
              <a:buNone/>
            </a:pPr>
            <a:r>
              <a:rPr lang="en-US" sz="2000" b="1" dirty="0"/>
              <a:t>Network Management:</a:t>
            </a:r>
          </a:p>
          <a:p>
            <a:pPr lvl="1"/>
            <a:r>
              <a:rPr lang="en-US" sz="1600" dirty="0"/>
              <a:t>A Leader manages router IDs and assigns network addresses</a:t>
            </a:r>
          </a:p>
          <a:p>
            <a:pPr marL="0" indent="0">
              <a:buNone/>
            </a:pPr>
            <a:r>
              <a:rPr lang="en-US" sz="2000" b="1" dirty="0"/>
              <a:t>Message Routing: </a:t>
            </a:r>
          </a:p>
          <a:p>
            <a:pPr lvl="1"/>
            <a:r>
              <a:rPr lang="en-US" sz="1600" dirty="0"/>
              <a:t>Thread Routers provide security services and relay data packets</a:t>
            </a:r>
          </a:p>
          <a:p>
            <a:pPr marL="0" indent="0">
              <a:buNone/>
            </a:pPr>
            <a:r>
              <a:rPr lang="en-US" sz="2000" b="1" dirty="0"/>
              <a:t>Dynamic Roles: </a:t>
            </a:r>
          </a:p>
          <a:p>
            <a:pPr lvl="1"/>
            <a:r>
              <a:rPr lang="en-US" sz="1600" dirty="0"/>
              <a:t>REEDs can automatically become routers if the network needs expansion</a:t>
            </a:r>
          </a:p>
          <a:p>
            <a:pPr marL="0" indent="0">
              <a:buNone/>
            </a:pPr>
            <a:r>
              <a:rPr lang="en-US" sz="2000" b="1" dirty="0"/>
              <a:t>Device Communication: </a:t>
            </a:r>
          </a:p>
          <a:p>
            <a:pPr lvl="1"/>
            <a:r>
              <a:rPr lang="en-US" sz="1600" dirty="0"/>
              <a:t>End devices communicate through a parent router to save power</a:t>
            </a:r>
          </a:p>
          <a:p>
            <a:pPr marL="0" indent="0">
              <a:buNone/>
            </a:pPr>
            <a:r>
              <a:rPr lang="en-US" sz="2000" b="1" dirty="0"/>
              <a:t>Power Efficiency:</a:t>
            </a:r>
          </a:p>
          <a:p>
            <a:pPr lvl="1"/>
            <a:r>
              <a:rPr lang="en-US" sz="1600" dirty="0"/>
              <a:t>Sleepy devices use synchronized schedules to minimize radio usage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5CC4B142-9FFA-0C7E-342C-45A2340D09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266123-50B7-2315-A4A9-3B2466911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723" y="1304484"/>
            <a:ext cx="3908103" cy="488791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FA52EF0-A900-E83B-2EB4-2EB319ABA767}"/>
              </a:ext>
            </a:extLst>
          </p:cNvPr>
          <p:cNvSpPr/>
          <p:nvPr/>
        </p:nvSpPr>
        <p:spPr>
          <a:xfrm>
            <a:off x="2781300" y="2628900"/>
            <a:ext cx="3581400" cy="1905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User can control the Thread Network using a mobile device over internet! 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rgbClr val="FF0000"/>
                </a:solidFill>
              </a:rPr>
              <a:t>This is concerning to me!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CEB385E-3774-1943-1C34-2188C778E0EF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6362700" y="3581400"/>
            <a:ext cx="2463800" cy="171450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29207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BA13E-9EF4-1433-1C00-9BDA3283B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87733-0491-525A-0976-5C4C037C4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10254701" cy="896116"/>
          </a:xfrm>
        </p:spPr>
        <p:txBody>
          <a:bodyPr>
            <a:normAutofit fontScale="90000"/>
          </a:bodyPr>
          <a:lstStyle/>
          <a:p>
            <a:r>
              <a:rPr lang="en-US" dirty="0"/>
              <a:t>Thread Architecture – Commercial Mesh Network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C3CE9A-0DD7-F049-A694-B2282C691F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10071101" cy="42568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As previously stated, Thread networks are very scalable and can be used in a commercial setting by connecting multiple smaller Thread networks.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dirty="0"/>
              <a:t>However, commercial networks are outside the scope of this project. 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5EF326EA-E3E1-0E99-928C-DEC4D047DE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99475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1E9AC-BD07-7803-01AD-CDB281FC2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EFC51-8C93-A600-2847-1865CBABD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10254701" cy="896116"/>
          </a:xfrm>
        </p:spPr>
        <p:txBody>
          <a:bodyPr>
            <a:normAutofit fontScale="90000"/>
          </a:bodyPr>
          <a:lstStyle/>
          <a:p>
            <a:r>
              <a:rPr lang="en-US" dirty="0"/>
              <a:t>Thread – My Concerns + Security Guarantee?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C4C6D8-7B78-CF3F-1FBC-D2ECC8ECC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10071101" cy="425684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dirty="0"/>
              <a:t>As the </a:t>
            </a:r>
            <a:r>
              <a:rPr lang="en-US" sz="1800" b="1" dirty="0"/>
              <a:t>Thread Border Router</a:t>
            </a:r>
            <a:r>
              <a:rPr lang="en-US" sz="1800" dirty="0"/>
              <a:t> is accessed over </a:t>
            </a:r>
            <a:r>
              <a:rPr lang="en-US" sz="1800" dirty="0" err="1"/>
              <a:t>WiFi</a:t>
            </a:r>
            <a:r>
              <a:rPr lang="en-US" sz="1800" dirty="0"/>
              <a:t>, there is the inherent ability for an attacker to access my home network and thus all of my smart Thread devices. (not that it would be that catastrophic, but I would like control over my smart devices, </a:t>
            </a:r>
            <a:r>
              <a:rPr lang="en-US" sz="1800" dirty="0" err="1"/>
              <a:t>etc</a:t>
            </a:r>
            <a:r>
              <a:rPr lang="en-US" sz="1800" dirty="0"/>
              <a:t> </a:t>
            </a:r>
            <a:r>
              <a:rPr lang="en-US" sz="1800" dirty="0">
                <a:sym typeface="Wingdings" pitchFamily="2" charset="2"/>
              </a:rPr>
              <a:t></a:t>
            </a:r>
            <a:r>
              <a:rPr lang="en-US" sz="1800" dirty="0"/>
              <a:t>)</a:t>
            </a:r>
          </a:p>
          <a:p>
            <a:pPr marL="0" indent="0">
              <a:buNone/>
            </a:pPr>
            <a:endParaRPr lang="en-US" sz="1800" b="1" i="1" dirty="0"/>
          </a:p>
          <a:p>
            <a:pPr marL="0" indent="0">
              <a:buNone/>
            </a:pPr>
            <a:r>
              <a:rPr lang="en-US" sz="1800" b="1" dirty="0"/>
              <a:t>The Border Router is the main threat, as IPv6 != Open Access. Additionally, Thread protocol provides the following security assurances: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Secure against Over-the-Air (OTA) wireless attacks outside of the network, protected by 802.15.4-2006. Thread enhances this by exchanging frame counters in MLE handshaking.</a:t>
            </a:r>
          </a:p>
          <a:p>
            <a:pPr marL="342900" indent="-342900">
              <a:buAutoNum type="arabicPeriod"/>
            </a:pPr>
            <a:r>
              <a:rPr lang="en-US" sz="1800" dirty="0"/>
              <a:t>Internet-Based Attacks: the network manager is protected by Datagram Transport Layer Security (DTLS) connection to the Border Router. Protected by passphrase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C00000"/>
                </a:solidFill>
              </a:rPr>
              <a:t>Yet, if my home network is compromised, I would hope my entire house isn’t compromised too… This is a dealbreaker for me; I want my devices and automations to be controlled locally by me only.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86CB3EB-3566-8741-4202-9A1B33C338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02835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49225-55DF-CAE5-55FE-5C7072766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A7DE9-B22B-8674-BD70-C9D46C60D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10254701" cy="896116"/>
          </a:xfrm>
        </p:spPr>
        <p:txBody>
          <a:bodyPr>
            <a:normAutofit/>
          </a:bodyPr>
          <a:lstStyle/>
          <a:p>
            <a:r>
              <a:rPr lang="en-US" dirty="0"/>
              <a:t>Thread Performance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C40E25C-485C-ABDE-CDAA-E5D89EBC4D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10071101" cy="42568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Latency (shown in figure): </a:t>
            </a:r>
            <a:r>
              <a:rPr lang="en-US" sz="1800" dirty="0"/>
              <a:t>&lt;200ms (this is super fast, “instant-on” human interaction)</a:t>
            </a:r>
          </a:p>
          <a:p>
            <a:pPr marL="0" indent="0">
              <a:buNone/>
            </a:pPr>
            <a:r>
              <a:rPr lang="en-US" sz="1800" b="1" dirty="0"/>
              <a:t>Reliability: </a:t>
            </a:r>
            <a:r>
              <a:rPr lang="en-US" sz="1800" dirty="0"/>
              <a:t>stable even in high-traffic multicast environments</a:t>
            </a:r>
          </a:p>
          <a:p>
            <a:pPr marL="0" indent="0">
              <a:buNone/>
            </a:pPr>
            <a:r>
              <a:rPr lang="en-US" sz="1800" b="1" dirty="0"/>
              <a:t>Scalability: </a:t>
            </a:r>
            <a:r>
              <a:rPr lang="en-US" sz="1800" dirty="0"/>
              <a:t>performance unwavering even as network grows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99BCAF08-4373-471B-D729-47B991C2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F1ED03-0ADE-F0EE-EF34-677BABAD85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865" y="2966596"/>
            <a:ext cx="4036184" cy="32258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6D137E-9EF8-59A7-1F69-E951000DD11A}"/>
              </a:ext>
            </a:extLst>
          </p:cNvPr>
          <p:cNvSpPr txBox="1"/>
          <p:nvPr/>
        </p:nvSpPr>
        <p:spPr>
          <a:xfrm>
            <a:off x="6782429" y="3445846"/>
            <a:ext cx="52565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is the summary of extensive testing done by</a:t>
            </a:r>
          </a:p>
          <a:p>
            <a:r>
              <a:rPr lang="en-US" dirty="0"/>
              <a:t>Silicon Labs: </a:t>
            </a:r>
            <a:r>
              <a:rPr lang="en-US" dirty="0">
                <a:hlinkClick r:id="rId3"/>
              </a:rPr>
              <a:t>Thread Mesh Network Performance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83959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406F7-35BF-C2E3-89F5-BDAC2F3BC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9B86F-466D-6890-4E89-B59998880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/>
          <a:lstStyle/>
          <a:p>
            <a:r>
              <a:rPr lang="en-US" dirty="0"/>
              <a:t>Thread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4EEC65-EA94-E7ED-E43E-A08092D06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10922001" cy="425684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Architecture:</a:t>
            </a:r>
          </a:p>
          <a:p>
            <a:r>
              <a:rPr lang="en-US" dirty="0"/>
              <a:t>802.15.4 + IPv6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Security:</a:t>
            </a:r>
          </a:p>
          <a:p>
            <a:r>
              <a:rPr lang="en-US" dirty="0"/>
              <a:t>Thread Border Router accessible via internet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Performance:</a:t>
            </a:r>
          </a:p>
          <a:p>
            <a:r>
              <a:rPr lang="en-US" dirty="0"/>
              <a:t>Extremely fast and scalable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Personal Comment: </a:t>
            </a:r>
          </a:p>
          <a:p>
            <a:r>
              <a:rPr lang="en-US" dirty="0"/>
              <a:t>At this point in time, I do not want </a:t>
            </a:r>
            <a:r>
              <a:rPr lang="en-US" dirty="0" err="1"/>
              <a:t>WiFi</a:t>
            </a:r>
            <a:r>
              <a:rPr lang="en-US" dirty="0"/>
              <a:t> enabled smart devices. </a:t>
            </a:r>
            <a:r>
              <a:rPr lang="en-US" b="1" dirty="0">
                <a:solidFill>
                  <a:srgbClr val="C00000"/>
                </a:solidFill>
              </a:rPr>
              <a:t>Thread is not for me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A05C29E-FAC7-554D-256C-F3CE921884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pic>
        <p:nvPicPr>
          <p:cNvPr id="7" name="Picture 4" descr="An Introduction to Thread | Symmetry Electronics">
            <a:extLst>
              <a:ext uri="{FF2B5EF4-FFF2-40B4-BE49-F238E27FC236}">
                <a16:creationId xmlns:a16="http://schemas.microsoft.com/office/drawing/2014/main" id="{C49E6149-D40F-32C3-02B3-E44C2AFD8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0525" y="1896536"/>
            <a:ext cx="3064928" cy="1532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2688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CE7EC-6601-D979-BA31-9FD08ED9F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4438AD-2003-9C51-A507-4AD8430715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2805221"/>
            <a:ext cx="10286999" cy="759906"/>
          </a:xfrm>
        </p:spPr>
        <p:txBody>
          <a:bodyPr>
            <a:normAutofit fontScale="90000"/>
          </a:bodyPr>
          <a:lstStyle/>
          <a:p>
            <a:r>
              <a:rPr lang="en-US" dirty="0"/>
              <a:t>Zigbee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F31C325-CCFF-A561-D1ED-95A846200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500" y="3791876"/>
            <a:ext cx="10286999" cy="407460"/>
          </a:xfrm>
        </p:spPr>
        <p:txBody>
          <a:bodyPr/>
          <a:lstStyle/>
          <a:p>
            <a:r>
              <a:rPr lang="en-US" dirty="0"/>
              <a:t>Protocol 2/3</a:t>
            </a:r>
          </a:p>
        </p:txBody>
      </p:sp>
    </p:spTree>
    <p:extLst>
      <p:ext uri="{BB962C8B-B14F-4D97-AF65-F5344CB8AC3E}">
        <p14:creationId xmlns:p14="http://schemas.microsoft.com/office/powerpoint/2010/main" val="26176823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E2641-0A28-0297-9779-7838C429C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41A99-2937-AA96-6711-B23045207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/>
          <a:lstStyle/>
          <a:p>
            <a:r>
              <a:rPr lang="en-US" dirty="0"/>
              <a:t>Zigbee Architecture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54ECB3C-FB54-29ED-A4B5-7075A391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/>
          <a:lstStyle/>
          <a:p>
            <a:r>
              <a:rPr lang="en-US" dirty="0"/>
              <a:t>Item one</a:t>
            </a:r>
          </a:p>
          <a:p>
            <a:r>
              <a:rPr lang="en-US" dirty="0"/>
              <a:t>Item two</a:t>
            </a:r>
          </a:p>
          <a:p>
            <a:r>
              <a:rPr lang="en-US" dirty="0"/>
              <a:t>Item three</a:t>
            </a:r>
          </a:p>
          <a:p>
            <a:pPr lvl="1"/>
            <a:r>
              <a:rPr lang="en-US" dirty="0"/>
              <a:t>Sub item one</a:t>
            </a:r>
          </a:p>
          <a:p>
            <a:pPr lvl="1"/>
            <a:r>
              <a:rPr lang="en-US" dirty="0"/>
              <a:t>Sub item two</a:t>
            </a:r>
          </a:p>
          <a:p>
            <a:r>
              <a:rPr lang="en-US" dirty="0"/>
              <a:t>Item four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FC7B02B6-1FAF-68D4-C3F9-C9AB94B74C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43791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B90F6-8140-AF2D-69E2-1A470026B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D1150-6ECD-F652-58A5-0E6D39F90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/>
          <a:lstStyle/>
          <a:p>
            <a:r>
              <a:rPr lang="en-US" dirty="0"/>
              <a:t>Zigbee Architecture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CB6711-760A-8B67-335C-6FD78EBF9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/>
          <a:lstStyle/>
          <a:p>
            <a:r>
              <a:rPr lang="en-US" dirty="0"/>
              <a:t>Item one</a:t>
            </a:r>
          </a:p>
          <a:p>
            <a:r>
              <a:rPr lang="en-US" dirty="0"/>
              <a:t>Item two</a:t>
            </a:r>
          </a:p>
          <a:p>
            <a:r>
              <a:rPr lang="en-US" dirty="0"/>
              <a:t>Item three</a:t>
            </a:r>
          </a:p>
          <a:p>
            <a:pPr lvl="1"/>
            <a:r>
              <a:rPr lang="en-US" dirty="0"/>
              <a:t>Sub item one</a:t>
            </a:r>
          </a:p>
          <a:p>
            <a:pPr lvl="1"/>
            <a:r>
              <a:rPr lang="en-US" dirty="0"/>
              <a:t>Sub item two</a:t>
            </a:r>
          </a:p>
          <a:p>
            <a:r>
              <a:rPr lang="en-US" dirty="0"/>
              <a:t>Item four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44F9B46E-F031-25BA-6E4B-CCFFC947C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0260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9BEC5-BC41-EEEF-C6A0-B41B66F9B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B05F9-6769-4768-08E8-F4C949936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/>
          <a:lstStyle/>
          <a:p>
            <a:r>
              <a:rPr lang="en-US" dirty="0"/>
              <a:t>Zigbee Usage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44A363-0262-DF40-3AB1-2B0768827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/>
          <a:lstStyle/>
          <a:p>
            <a:r>
              <a:rPr lang="en-US" dirty="0"/>
              <a:t>Item one</a:t>
            </a:r>
          </a:p>
          <a:p>
            <a:r>
              <a:rPr lang="en-US" dirty="0"/>
              <a:t>Item two</a:t>
            </a:r>
          </a:p>
          <a:p>
            <a:r>
              <a:rPr lang="en-US" dirty="0"/>
              <a:t>Item three</a:t>
            </a:r>
          </a:p>
          <a:p>
            <a:pPr lvl="1"/>
            <a:r>
              <a:rPr lang="en-US" dirty="0"/>
              <a:t>Sub item one</a:t>
            </a:r>
          </a:p>
          <a:p>
            <a:pPr lvl="1"/>
            <a:r>
              <a:rPr lang="en-US" dirty="0"/>
              <a:t>Sub item two</a:t>
            </a:r>
          </a:p>
          <a:p>
            <a:r>
              <a:rPr lang="en-US" dirty="0"/>
              <a:t>Item four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E70DBFC9-BF91-4F96-B15C-64A7BC244F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532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2D148-E3A3-1B07-5C5F-1186BBE1E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52095-38D9-C76F-43C5-0F7C00028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/>
          <a:lstStyle/>
          <a:p>
            <a:r>
              <a:rPr lang="en-US" dirty="0"/>
              <a:t>Zigbee Considerations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040492-1C64-E2FD-2C67-55D07A037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/>
          <a:lstStyle/>
          <a:p>
            <a:r>
              <a:rPr lang="en-US" dirty="0"/>
              <a:t>Item one</a:t>
            </a:r>
          </a:p>
          <a:p>
            <a:r>
              <a:rPr lang="en-US" dirty="0"/>
              <a:t>Item two</a:t>
            </a:r>
          </a:p>
          <a:p>
            <a:r>
              <a:rPr lang="en-US" dirty="0"/>
              <a:t>Item three</a:t>
            </a:r>
          </a:p>
          <a:p>
            <a:pPr lvl="1"/>
            <a:r>
              <a:rPr lang="en-US" dirty="0"/>
              <a:t>Sub item one</a:t>
            </a:r>
          </a:p>
          <a:p>
            <a:pPr lvl="1"/>
            <a:r>
              <a:rPr lang="en-US" dirty="0"/>
              <a:t>Sub item two</a:t>
            </a:r>
          </a:p>
          <a:p>
            <a:r>
              <a:rPr lang="en-US" dirty="0"/>
              <a:t>Item four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311805B9-A750-2C33-87C1-A7BC12275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9003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1B938-F580-779F-8B86-8C2F92607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4B52E-1079-17FF-B338-110920D74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/>
          <a:lstStyle/>
          <a:p>
            <a:r>
              <a:rPr lang="en-US" dirty="0"/>
              <a:t>Zigbee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6BE63-E555-39B7-7AD3-CBB6636F9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/>
          <a:lstStyle/>
          <a:p>
            <a:r>
              <a:rPr lang="en-US" dirty="0"/>
              <a:t>Item one</a:t>
            </a:r>
          </a:p>
          <a:p>
            <a:r>
              <a:rPr lang="en-US" dirty="0"/>
              <a:t>Item two</a:t>
            </a:r>
          </a:p>
          <a:p>
            <a:r>
              <a:rPr lang="en-US" dirty="0"/>
              <a:t>Item three</a:t>
            </a:r>
          </a:p>
          <a:p>
            <a:pPr lvl="1"/>
            <a:r>
              <a:rPr lang="en-US" dirty="0"/>
              <a:t>Sub item one</a:t>
            </a:r>
          </a:p>
          <a:p>
            <a:pPr lvl="1"/>
            <a:r>
              <a:rPr lang="en-US" dirty="0"/>
              <a:t>Sub item two</a:t>
            </a:r>
          </a:p>
          <a:p>
            <a:r>
              <a:rPr lang="en-US" dirty="0"/>
              <a:t>Item four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4541A014-7440-4E2E-5D05-244BAAC00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664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C4C85-84DA-F459-1E71-A8E8A7C99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DD36D0-5522-8F47-A00D-9E66483FE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2805221"/>
            <a:ext cx="10286999" cy="759906"/>
          </a:xfrm>
        </p:spPr>
        <p:txBody>
          <a:bodyPr>
            <a:normAutofit fontScale="90000"/>
          </a:bodyPr>
          <a:lstStyle/>
          <a:p>
            <a:r>
              <a:rPr lang="en-US" dirty="0"/>
              <a:t>Z-Wave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2B3B849-8BE0-BC1E-8496-D6F2A1B43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500" y="3791876"/>
            <a:ext cx="10286999" cy="407460"/>
          </a:xfrm>
        </p:spPr>
        <p:txBody>
          <a:bodyPr/>
          <a:lstStyle/>
          <a:p>
            <a:r>
              <a:rPr lang="en-US" dirty="0"/>
              <a:t>Protocol 3/3</a:t>
            </a:r>
          </a:p>
        </p:txBody>
      </p:sp>
    </p:spTree>
    <p:extLst>
      <p:ext uri="{BB962C8B-B14F-4D97-AF65-F5344CB8AC3E}">
        <p14:creationId xmlns:p14="http://schemas.microsoft.com/office/powerpoint/2010/main" val="17413189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E93B2-140C-1F7E-F82D-4C606F745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568D5-B211-BC42-C7A9-596FE36BF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/>
          <a:lstStyle/>
          <a:p>
            <a:r>
              <a:rPr lang="en-US" dirty="0"/>
              <a:t>Z-Wave Architecture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EF25C-7F3B-B57C-92B2-990B7128E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/>
          <a:lstStyle/>
          <a:p>
            <a:r>
              <a:rPr lang="en-US" dirty="0"/>
              <a:t>Item one</a:t>
            </a:r>
          </a:p>
          <a:p>
            <a:r>
              <a:rPr lang="en-US" dirty="0"/>
              <a:t>Item two</a:t>
            </a:r>
          </a:p>
          <a:p>
            <a:r>
              <a:rPr lang="en-US" dirty="0"/>
              <a:t>Item three</a:t>
            </a:r>
          </a:p>
          <a:p>
            <a:pPr lvl="1"/>
            <a:r>
              <a:rPr lang="en-US" dirty="0"/>
              <a:t>Sub item one</a:t>
            </a:r>
          </a:p>
          <a:p>
            <a:pPr lvl="1"/>
            <a:r>
              <a:rPr lang="en-US" dirty="0"/>
              <a:t>Sub item two</a:t>
            </a:r>
          </a:p>
          <a:p>
            <a:r>
              <a:rPr lang="en-US" dirty="0"/>
              <a:t>Item four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EFFC6F29-B444-B555-6343-59A16BCF16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28086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15BFE-F51A-9A47-3649-95E44179B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D2773-4C46-37D7-1E00-B503CB991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/>
          <a:lstStyle/>
          <a:p>
            <a:r>
              <a:rPr lang="en-US" dirty="0"/>
              <a:t>Z-Wave Architecture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9E0EB9-A353-A7CD-6DE5-65571ABA2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/>
          <a:lstStyle/>
          <a:p>
            <a:r>
              <a:rPr lang="en-US" dirty="0"/>
              <a:t>Item one</a:t>
            </a:r>
          </a:p>
          <a:p>
            <a:r>
              <a:rPr lang="en-US" dirty="0"/>
              <a:t>Item two</a:t>
            </a:r>
          </a:p>
          <a:p>
            <a:r>
              <a:rPr lang="en-US" dirty="0"/>
              <a:t>Item three</a:t>
            </a:r>
          </a:p>
          <a:p>
            <a:pPr lvl="1"/>
            <a:r>
              <a:rPr lang="en-US" dirty="0"/>
              <a:t>Sub item one</a:t>
            </a:r>
          </a:p>
          <a:p>
            <a:pPr lvl="1"/>
            <a:r>
              <a:rPr lang="en-US" dirty="0"/>
              <a:t>Sub item two</a:t>
            </a:r>
          </a:p>
          <a:p>
            <a:r>
              <a:rPr lang="en-US" dirty="0"/>
              <a:t>Item four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AD53938-CE07-BABE-9C23-B6112F454C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37505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2074D-73A7-F129-25CD-3BB783F2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9DC6C-72FF-B76E-BE58-AC515067B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/>
          <a:lstStyle/>
          <a:p>
            <a:r>
              <a:rPr lang="en-US" dirty="0"/>
              <a:t>Z-Wave Usage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BB8858-5D4D-46A9-74CD-1FFCAD5D0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/>
          <a:lstStyle/>
          <a:p>
            <a:r>
              <a:rPr lang="en-US" dirty="0"/>
              <a:t>Item one</a:t>
            </a:r>
          </a:p>
          <a:p>
            <a:r>
              <a:rPr lang="en-US" dirty="0"/>
              <a:t>Item two</a:t>
            </a:r>
          </a:p>
          <a:p>
            <a:r>
              <a:rPr lang="en-US" dirty="0"/>
              <a:t>Item three</a:t>
            </a:r>
          </a:p>
          <a:p>
            <a:pPr lvl="1"/>
            <a:r>
              <a:rPr lang="en-US" dirty="0"/>
              <a:t>Sub item one</a:t>
            </a:r>
          </a:p>
          <a:p>
            <a:pPr lvl="1"/>
            <a:r>
              <a:rPr lang="en-US" dirty="0"/>
              <a:t>Sub item two</a:t>
            </a:r>
          </a:p>
          <a:p>
            <a:r>
              <a:rPr lang="en-US" dirty="0"/>
              <a:t>Item four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947D8B0-0E4C-43FC-17B4-1BB01934A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5685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E9CAE-E676-C396-740B-036A5D735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947A6-A7A3-230F-4725-299E39ED1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>
            <a:normAutofit fontScale="90000"/>
          </a:bodyPr>
          <a:lstStyle/>
          <a:p>
            <a:r>
              <a:rPr lang="en-US" dirty="0"/>
              <a:t>Z-Wave Considerations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B4ACADF-32BF-A35C-91CB-913FA81BBE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/>
          <a:lstStyle/>
          <a:p>
            <a:r>
              <a:rPr lang="en-US" dirty="0"/>
              <a:t>Item one</a:t>
            </a:r>
          </a:p>
          <a:p>
            <a:r>
              <a:rPr lang="en-US" dirty="0"/>
              <a:t>Item two</a:t>
            </a:r>
          </a:p>
          <a:p>
            <a:r>
              <a:rPr lang="en-US" dirty="0"/>
              <a:t>Item three</a:t>
            </a:r>
          </a:p>
          <a:p>
            <a:pPr lvl="1"/>
            <a:r>
              <a:rPr lang="en-US" dirty="0"/>
              <a:t>Sub item one</a:t>
            </a:r>
          </a:p>
          <a:p>
            <a:pPr lvl="1"/>
            <a:r>
              <a:rPr lang="en-US" dirty="0"/>
              <a:t>Sub item two</a:t>
            </a:r>
          </a:p>
          <a:p>
            <a:r>
              <a:rPr lang="en-US" dirty="0"/>
              <a:t>Item four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2984FDF-1E40-3A64-779B-D53D384ADA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670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437B-36D0-3F3B-9021-BA2848022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84E96-31D8-8A59-7196-DF2C8E3B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/>
          <a:lstStyle/>
          <a:p>
            <a:r>
              <a:rPr lang="en-US" dirty="0"/>
              <a:t>Z-Wave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110AAA-0E4D-D466-922B-2AF0FB9742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/>
          <a:lstStyle/>
          <a:p>
            <a:r>
              <a:rPr lang="en-US" dirty="0"/>
              <a:t>Item one</a:t>
            </a:r>
          </a:p>
          <a:p>
            <a:r>
              <a:rPr lang="en-US" dirty="0"/>
              <a:t>Item two</a:t>
            </a:r>
          </a:p>
          <a:p>
            <a:r>
              <a:rPr lang="en-US" dirty="0"/>
              <a:t>Item three</a:t>
            </a:r>
          </a:p>
          <a:p>
            <a:pPr lvl="1"/>
            <a:r>
              <a:rPr lang="en-US" dirty="0"/>
              <a:t>Sub item one</a:t>
            </a:r>
          </a:p>
          <a:p>
            <a:pPr lvl="1"/>
            <a:r>
              <a:rPr lang="en-US" dirty="0"/>
              <a:t>Sub item two</a:t>
            </a:r>
          </a:p>
          <a:p>
            <a:r>
              <a:rPr lang="en-US" dirty="0"/>
              <a:t>Item four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BB48C8B5-EB09-7335-BDF6-80DB68F47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5168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E9FB8-0551-939D-C7AE-12AB698BF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60585F-781E-4E53-2FC4-4DDC25710E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2805221"/>
            <a:ext cx="10286999" cy="759906"/>
          </a:xfrm>
        </p:spPr>
        <p:txBody>
          <a:bodyPr>
            <a:normAutofit fontScale="90000"/>
          </a:bodyPr>
          <a:lstStyle/>
          <a:p>
            <a:r>
              <a:rPr lang="en-US" dirty="0"/>
              <a:t>Future Work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836A655-D747-3F78-0033-CE434A70C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500" y="3791876"/>
            <a:ext cx="10286999" cy="407460"/>
          </a:xfrm>
        </p:spPr>
        <p:txBody>
          <a:bodyPr/>
          <a:lstStyle/>
          <a:p>
            <a:r>
              <a:rPr lang="en-US" dirty="0"/>
              <a:t>How I use my learning from this course </a:t>
            </a:r>
          </a:p>
        </p:txBody>
      </p:sp>
    </p:spTree>
    <p:extLst>
      <p:ext uri="{BB962C8B-B14F-4D97-AF65-F5344CB8AC3E}">
        <p14:creationId xmlns:p14="http://schemas.microsoft.com/office/powerpoint/2010/main" val="33116140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FAC2D-FCC3-C9C2-8F57-62AA68D37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14FCB-7DBA-238B-C90F-73705D1A9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>
            <a:normAutofit fontScale="90000"/>
          </a:bodyPr>
          <a:lstStyle/>
          <a:p>
            <a:r>
              <a:rPr lang="en-US" dirty="0"/>
              <a:t>Smart Home Automation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DF29CA-5133-E149-F6A6-3E6C2AD3B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10251527" cy="42568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This project has given me a theoretical understanding of smart home mesh networks protocols, and now </a:t>
            </a:r>
            <a:r>
              <a:rPr lang="en-US" b="1" dirty="0"/>
              <a:t>I would like to implement what I have learned.  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After graduation this may, I will be moving into a new home/apartment. This is the perfect opportunity for me to experiment with simple automations. 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9AF7AF9C-5549-50D0-4170-5BF0126A25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3031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28AA7-EC71-F2F2-DEEE-A3F4F2E24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AD737-6791-014C-05BB-E6DE7DDBE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4" y="498296"/>
            <a:ext cx="6467476" cy="896116"/>
          </a:xfrm>
        </p:spPr>
        <p:txBody>
          <a:bodyPr>
            <a:normAutofit fontScale="90000"/>
          </a:bodyPr>
          <a:lstStyle/>
          <a:p>
            <a:r>
              <a:rPr lang="en-US" dirty="0"/>
              <a:t>Smart Home Automation Goals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A9240A-1A6A-74A8-C2A8-63C70CDF7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10701619" cy="42568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Ideally, I would like the ability to do the following:</a:t>
            </a:r>
          </a:p>
          <a:p>
            <a:pPr>
              <a:buFontTx/>
              <a:buChar char="-"/>
            </a:pPr>
            <a:r>
              <a:rPr lang="en-US" b="1" dirty="0"/>
              <a:t>Automate my mornings/nights:</a:t>
            </a:r>
            <a:r>
              <a:rPr lang="en-US" dirty="0"/>
              <a:t> lights, music, body heat regulation</a:t>
            </a:r>
          </a:p>
          <a:p>
            <a:pPr>
              <a:buFontTx/>
              <a:buChar char="-"/>
            </a:pPr>
            <a:r>
              <a:rPr lang="en-US" b="1" dirty="0"/>
              <a:t>Enhance home security:  </a:t>
            </a:r>
            <a:r>
              <a:rPr lang="en-US" dirty="0"/>
              <a:t>camera, network anomaly detection </a:t>
            </a:r>
          </a:p>
          <a:p>
            <a:pPr>
              <a:buFontTx/>
              <a:buChar char="-"/>
            </a:pPr>
            <a:r>
              <a:rPr lang="en-US" b="1" dirty="0"/>
              <a:t>Everything runs locally: </a:t>
            </a:r>
            <a:r>
              <a:rPr lang="en-US" dirty="0"/>
              <a:t>limit outside access to the personal data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These are just a few... Too many ideas and not enough time! </a:t>
            </a:r>
            <a:r>
              <a:rPr lang="en-US" dirty="0">
                <a:sym typeface="Wingdings" pitchFamily="2" charset="2"/>
              </a:rPr>
              <a:t></a:t>
            </a:r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CFA90F80-6B99-6987-8CA1-CCF02E41ED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9631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A086A-DD56-D1D9-4D39-DABBA03D6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Oval 19">
            <a:extLst>
              <a:ext uri="{FF2B5EF4-FFF2-40B4-BE49-F238E27FC236}">
                <a16:creationId xmlns:a16="http://schemas.microsoft.com/office/drawing/2014/main" id="{03F55586-6DD2-8A13-2CBF-4FD7A0315CC1}"/>
              </a:ext>
            </a:extLst>
          </p:cNvPr>
          <p:cNvSpPr/>
          <p:nvPr/>
        </p:nvSpPr>
        <p:spPr>
          <a:xfrm>
            <a:off x="8785740" y="2019325"/>
            <a:ext cx="1722288" cy="1722288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D1107DF-91CB-AC5B-0EA3-734A3A1225B2}"/>
              </a:ext>
            </a:extLst>
          </p:cNvPr>
          <p:cNvSpPr/>
          <p:nvPr/>
        </p:nvSpPr>
        <p:spPr>
          <a:xfrm>
            <a:off x="5224272" y="2041736"/>
            <a:ext cx="1722288" cy="172228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5786A4D-19B2-98EB-4065-27D159534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/>
          <a:lstStyle/>
          <a:p>
            <a:r>
              <a:rPr lang="en-US" dirty="0"/>
              <a:t>Future Work Roadmap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1D786F-3F85-6B59-54B6-746DFB643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4078664"/>
            <a:ext cx="3166740" cy="7546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Smart Home         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F1838-7570-1589-6799-C3EF320DDD8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616385" y="4078664"/>
            <a:ext cx="2973372" cy="754602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Smart Home Planning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910362-016E-E41F-A5B4-BAE8E92B60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063514" y="4078663"/>
            <a:ext cx="3166740" cy="754602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Smart Home Implementation</a:t>
            </a: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2AF6BC24-C733-2F24-47F3-2ACA696A9D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 dirty="0"/>
              <a:t>Final Project | Topics in Computer Science II | Fall 2025, University of Iowa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C254A4-5CA7-22D6-941E-064AA660C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5053" y="2299135"/>
            <a:ext cx="1192647" cy="119264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BFA8086-DD4C-60C3-4779-06D5840CB5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6431" y="2269157"/>
            <a:ext cx="1222625" cy="1222625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3ED8BEA9-FCE2-7FB2-A367-D76CFD633AA3}"/>
              </a:ext>
            </a:extLst>
          </p:cNvPr>
          <p:cNvSpPr/>
          <p:nvPr/>
        </p:nvSpPr>
        <p:spPr>
          <a:xfrm>
            <a:off x="1658709" y="2041736"/>
            <a:ext cx="1722288" cy="1722288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E06CBE7-A36B-E122-9685-4F147B322D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2923" y="2364686"/>
            <a:ext cx="1183399" cy="1183399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9B89AF5-089D-9514-AFE6-E4C8F428C7B1}"/>
              </a:ext>
            </a:extLst>
          </p:cNvPr>
          <p:cNvCxnSpPr/>
          <p:nvPr/>
        </p:nvCxnSpPr>
        <p:spPr>
          <a:xfrm flipV="1">
            <a:off x="2544622" y="4833265"/>
            <a:ext cx="0" cy="6992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AE7C44B-3B10-AC2C-AF1D-0E1F1AA9EEB4}"/>
              </a:ext>
            </a:extLst>
          </p:cNvPr>
          <p:cNvSpPr txBox="1"/>
          <p:nvPr/>
        </p:nvSpPr>
        <p:spPr>
          <a:xfrm>
            <a:off x="1847957" y="5617520"/>
            <a:ext cx="1409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Project</a:t>
            </a:r>
          </a:p>
        </p:txBody>
      </p:sp>
    </p:spTree>
    <p:extLst>
      <p:ext uri="{BB962C8B-B14F-4D97-AF65-F5344CB8AC3E}">
        <p14:creationId xmlns:p14="http://schemas.microsoft.com/office/powerpoint/2010/main" val="27722689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F9845-8DF1-C871-1BB9-6CF917BE5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DDB69-A2D9-33E9-B23B-BC598A240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4" y="498296"/>
            <a:ext cx="6186581" cy="896116"/>
          </a:xfrm>
        </p:spPr>
        <p:txBody>
          <a:bodyPr>
            <a:normAutofit/>
          </a:bodyPr>
          <a:lstStyle/>
          <a:p>
            <a:r>
              <a:rPr lang="en-US" dirty="0"/>
              <a:t>Example Plan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006737-B808-FEE5-6A40-9EE2A0839A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10701619" cy="4256843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After conducting thorough research for this project, I will use </a:t>
            </a:r>
            <a:r>
              <a:rPr lang="en-US" b="1" dirty="0">
                <a:solidFill>
                  <a:srgbClr val="00B050"/>
                </a:solidFill>
              </a:rPr>
              <a:t>Zigbee</a:t>
            </a:r>
            <a:r>
              <a:rPr lang="en-US" dirty="0"/>
              <a:t> to implement my smart home due to its ubiquity and interoperability.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nearly </a:t>
            </a:r>
            <a:r>
              <a:rPr lang="en-US" b="1" dirty="0"/>
              <a:t>5000 supported devices from over 500 vendors</a:t>
            </a:r>
            <a:r>
              <a:rPr lang="en-US" dirty="0"/>
              <a:t>. The large number of devices means lots of opportunity to automate my apartment. An ESP32 can also be programmed to support Zigbee.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Raspberry Pi will be used as the central host to coordinate across devices within the network.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C65B0966-A491-3A5D-0D61-72B483DBF4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385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7EA02-11AB-A34B-AD88-A73334929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8E856-ABF2-1F21-32A1-9B8215778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4" y="498296"/>
            <a:ext cx="9096376" cy="896116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Implementation (Morning Routine)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E4A2C2-D949-B33B-AE4D-7EFD51C07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4914" y="1676401"/>
            <a:ext cx="10701619" cy="426720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000" dirty="0"/>
              <a:t>The first automation I would create a </a:t>
            </a:r>
            <a:r>
              <a:rPr lang="en-US" sz="2000" b="1" dirty="0"/>
              <a:t>simple morning automation</a:t>
            </a:r>
            <a:r>
              <a:rPr lang="en-US" sz="2000" dirty="0"/>
              <a:t> to help to not snooze in the morning. </a:t>
            </a:r>
          </a:p>
          <a:p>
            <a:pPr marL="0" indent="0">
              <a:buNone/>
            </a:pPr>
            <a:r>
              <a:rPr lang="en-US" sz="2000" dirty="0"/>
              <a:t> (something I struggle with </a:t>
            </a:r>
            <a:r>
              <a:rPr lang="en-US" sz="2000" dirty="0">
                <a:sym typeface="Wingdings" pitchFamily="2" charset="2"/>
              </a:rPr>
              <a:t>). This uses automated lighting and temperature setting to help me start the day!</a:t>
            </a:r>
            <a:endParaRPr lang="en-US" sz="2000" b="1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Functionality:</a:t>
            </a:r>
          </a:p>
          <a:p>
            <a:pPr marL="0" indent="0">
              <a:buNone/>
            </a:pPr>
            <a:r>
              <a:rPr lang="en-US" sz="2400" dirty="0"/>
              <a:t>1. 30 minutes before wakeup:</a:t>
            </a:r>
          </a:p>
          <a:p>
            <a:pPr lvl="1">
              <a:buFontTx/>
              <a:buChar char="-"/>
            </a:pPr>
            <a:r>
              <a:rPr lang="en-US" sz="1900" dirty="0"/>
              <a:t>raise the temperature to 72 deg (from 63)</a:t>
            </a:r>
          </a:p>
          <a:p>
            <a:pPr marL="0" indent="0">
              <a:buNone/>
            </a:pPr>
            <a:r>
              <a:rPr lang="en-US" sz="2400" dirty="0"/>
              <a:t>2. When wakeup occurs:</a:t>
            </a:r>
          </a:p>
          <a:p>
            <a:pPr lvl="1">
              <a:buFontTx/>
              <a:buChar char="-"/>
            </a:pPr>
            <a:r>
              <a:rPr lang="en-US" sz="2100" dirty="0"/>
              <a:t>Raise alarm</a:t>
            </a:r>
          </a:p>
          <a:p>
            <a:pPr lvl="1">
              <a:buFontTx/>
              <a:buChar char="-"/>
            </a:pPr>
            <a:r>
              <a:rPr lang="en-US" sz="2100" dirty="0"/>
              <a:t>Turn on LED strip to red</a:t>
            </a:r>
          </a:p>
          <a:p>
            <a:pPr lvl="1">
              <a:buFontTx/>
              <a:buChar char="-"/>
            </a:pPr>
            <a:r>
              <a:rPr lang="en-US" sz="2100" dirty="0"/>
              <a:t>Play ”Good Morning” by Kanye West</a:t>
            </a:r>
          </a:p>
          <a:p>
            <a:pPr marL="0" indent="0">
              <a:buNone/>
            </a:pPr>
            <a:r>
              <a:rPr lang="en-US" sz="2400" dirty="0"/>
              <a:t>3. After song end:</a:t>
            </a:r>
          </a:p>
          <a:p>
            <a:pPr lvl="1">
              <a:buFontTx/>
              <a:buChar char="-"/>
            </a:pPr>
            <a:r>
              <a:rPr lang="en-US" sz="2100" dirty="0"/>
              <a:t>Turn off LED strip</a:t>
            </a:r>
          </a:p>
          <a:p>
            <a:pPr lvl="1">
              <a:buFontTx/>
              <a:buChar char="-"/>
            </a:pPr>
            <a:r>
              <a:rPr lang="en-US" sz="2100" dirty="0"/>
              <a:t>Turn on Lightbulbs</a:t>
            </a:r>
          </a:p>
          <a:p>
            <a:pPr lvl="1">
              <a:buFontTx/>
              <a:buChar char="-"/>
            </a:pPr>
            <a:r>
              <a:rPr lang="en-US" sz="2100" dirty="0"/>
              <a:t>Set temperature to 68 deg</a:t>
            </a:r>
            <a:endParaRPr lang="en-US" sz="2000" dirty="0"/>
          </a:p>
          <a:p>
            <a:pPr lvl="1">
              <a:buFontTx/>
              <a:buChar char="-"/>
            </a:pPr>
            <a:endParaRPr lang="en-US" sz="1600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10A6232C-4DA4-B39A-6558-AE00F11521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1C54AB-15E5-AE7F-BA22-C5E63470898F}"/>
              </a:ext>
            </a:extLst>
          </p:cNvPr>
          <p:cNvSpPr txBox="1"/>
          <p:nvPr/>
        </p:nvSpPr>
        <p:spPr>
          <a:xfrm>
            <a:off x="7750333" y="2692513"/>
            <a:ext cx="401377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/>
              <a:t>Components: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Zigbee Lightbulb(s)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Zigbee LED Strip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Zigbee Alarm Clock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Bluetooth Speaker</a:t>
            </a:r>
          </a:p>
        </p:txBody>
      </p:sp>
    </p:spTree>
    <p:extLst>
      <p:ext uri="{BB962C8B-B14F-4D97-AF65-F5344CB8AC3E}">
        <p14:creationId xmlns:p14="http://schemas.microsoft.com/office/powerpoint/2010/main" val="8914176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37430-B577-8961-67C3-7182A1AD4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03AF8-CBC0-E237-3858-8992B1B6D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389509"/>
            <a:ext cx="10287000" cy="1331865"/>
          </a:xfrm>
        </p:spPr>
        <p:txBody>
          <a:bodyPr anchor="ctr">
            <a:normAutofit/>
          </a:bodyPr>
          <a:lstStyle/>
          <a:p>
            <a:r>
              <a:rPr lang="en-US" dirty="0"/>
              <a:t>Morning Automation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57D554BD-14C3-DC87-C514-A7D709024C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Final Project | Topics in Computer Science II | Fall 2025, University of Iowa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275A584-3500-BEF0-5908-E7F55881A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4250" y="1554413"/>
            <a:ext cx="7683500" cy="4389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6075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5C21-B644-FE0E-1AE7-2FE8D8F07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B12B3-646B-F1DF-11B7-FDBB0BBB7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4" y="498296"/>
            <a:ext cx="9617076" cy="896116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Implementation (Nighttime Routine)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3BB3E7-A5D0-2A24-2F47-D5A8AE455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4914" y="1676401"/>
            <a:ext cx="10701619" cy="42672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/>
              <a:t>The second automation I would create a </a:t>
            </a:r>
            <a:r>
              <a:rPr lang="en-US" sz="2000" b="1" dirty="0"/>
              <a:t>simple nighttime automation</a:t>
            </a:r>
            <a:r>
              <a:rPr lang="en-US" sz="2000" dirty="0"/>
              <a:t> to help me fall asleep quicker. </a:t>
            </a:r>
          </a:p>
          <a:p>
            <a:pPr marL="0" indent="0">
              <a:buNone/>
            </a:pPr>
            <a:r>
              <a:rPr lang="en-US" sz="2000" dirty="0"/>
              <a:t> This is very similar to the morning routine, </a:t>
            </a:r>
            <a:r>
              <a:rPr lang="en-US" sz="2000" dirty="0">
                <a:sym typeface="Wingdings" pitchFamily="2" charset="2"/>
              </a:rPr>
              <a:t>using automated lighting and temperature setting to help me start the day!</a:t>
            </a:r>
            <a:endParaRPr lang="en-US" sz="2000" b="1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Functionality:</a:t>
            </a:r>
          </a:p>
          <a:p>
            <a:pPr marL="0" indent="0">
              <a:buNone/>
            </a:pPr>
            <a:r>
              <a:rPr lang="en-US" sz="2400" dirty="0"/>
              <a:t>1. 30 minutes before sleep:</a:t>
            </a:r>
          </a:p>
          <a:p>
            <a:pPr lvl="1">
              <a:buFontTx/>
              <a:buChar char="-"/>
            </a:pPr>
            <a:r>
              <a:rPr lang="en-US" sz="1900" dirty="0"/>
              <a:t>drop the temperature to 63 deg (from 68)</a:t>
            </a:r>
          </a:p>
          <a:p>
            <a:pPr lvl="1">
              <a:buFontTx/>
              <a:buChar char="-"/>
            </a:pPr>
            <a:r>
              <a:rPr lang="en-US" sz="1900" dirty="0"/>
              <a:t>Turn on LED strip to red</a:t>
            </a:r>
          </a:p>
          <a:p>
            <a:pPr marL="0" indent="0">
              <a:buNone/>
            </a:pPr>
            <a:r>
              <a:rPr lang="en-US" sz="2400" dirty="0"/>
              <a:t>2. When bedtime occurs:</a:t>
            </a:r>
          </a:p>
          <a:p>
            <a:pPr lvl="1">
              <a:buFontTx/>
              <a:buChar char="-"/>
            </a:pPr>
            <a:r>
              <a:rPr lang="en-US" sz="2100" dirty="0"/>
              <a:t>Turn on ”White Noise”</a:t>
            </a:r>
          </a:p>
          <a:p>
            <a:pPr lvl="1">
              <a:buFontTx/>
              <a:buChar char="-"/>
            </a:pPr>
            <a:r>
              <a:rPr lang="en-US" sz="2100" dirty="0"/>
              <a:t>Turn off LED strip 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D79AF184-71BA-15CD-EA07-D59E98C278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56FF0B-72DD-93BE-0B27-215CF143F69D}"/>
              </a:ext>
            </a:extLst>
          </p:cNvPr>
          <p:cNvSpPr txBox="1"/>
          <p:nvPr/>
        </p:nvSpPr>
        <p:spPr>
          <a:xfrm>
            <a:off x="7763033" y="3283909"/>
            <a:ext cx="401377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/>
              <a:t>Components: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Zigbee Lightbulb(s)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Zigbee LED Strip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Zigbee Alarm Clock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Bluetooth Speaker</a:t>
            </a:r>
          </a:p>
        </p:txBody>
      </p:sp>
    </p:spTree>
    <p:extLst>
      <p:ext uri="{BB962C8B-B14F-4D97-AF65-F5344CB8AC3E}">
        <p14:creationId xmlns:p14="http://schemas.microsoft.com/office/powerpoint/2010/main" val="42011370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434F7-C1D0-6659-02AD-462AB2498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DB114-FE4B-5EFD-E647-A732AC996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389509"/>
            <a:ext cx="10287000" cy="1331865"/>
          </a:xfrm>
        </p:spPr>
        <p:txBody>
          <a:bodyPr anchor="ctr">
            <a:normAutofit/>
          </a:bodyPr>
          <a:lstStyle/>
          <a:p>
            <a:r>
              <a:rPr lang="en-US" dirty="0"/>
              <a:t>Nighttime Automation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37F8AC55-42B4-E9B1-6E34-A25018A04D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Final Project | Topics in Computer Science II | Fall 2025, University of Iowa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A47F97-4B58-1A6E-5CCE-3900778B9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122" y="2064386"/>
            <a:ext cx="8711755" cy="3491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259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DAED5-AFFE-C558-CD02-638FBD6B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135EE5-4EAC-C232-6EA7-36563D43F5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2805221"/>
            <a:ext cx="10286999" cy="759906"/>
          </a:xfrm>
        </p:spPr>
        <p:txBody>
          <a:bodyPr>
            <a:normAutofit fontScale="90000"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762B8B3-3A12-D6E9-F538-43AC353344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500" y="3791876"/>
            <a:ext cx="10286999" cy="407460"/>
          </a:xfrm>
        </p:spPr>
        <p:txBody>
          <a:bodyPr/>
          <a:lstStyle/>
          <a:p>
            <a:r>
              <a:rPr lang="en-US" dirty="0"/>
              <a:t>High Level Comparison and Takeaways</a:t>
            </a:r>
          </a:p>
        </p:txBody>
      </p:sp>
    </p:spTree>
    <p:extLst>
      <p:ext uri="{BB962C8B-B14F-4D97-AF65-F5344CB8AC3E}">
        <p14:creationId xmlns:p14="http://schemas.microsoft.com/office/powerpoint/2010/main" val="25799006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DEE16-36A0-545B-0F46-CCEF39A05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5887F-8B80-2691-7F81-5C073AB6E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4" y="498296"/>
            <a:ext cx="6186581" cy="896116"/>
          </a:xfrm>
        </p:spPr>
        <p:txBody>
          <a:bodyPr>
            <a:normAutofit/>
          </a:bodyPr>
          <a:lstStyle/>
          <a:p>
            <a:r>
              <a:rPr lang="en-US" dirty="0"/>
              <a:t>High Level Comparison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54C9D24F-6E53-DB11-A53D-33D2BB1515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0CC99D0-F9B0-79E2-ACDA-004309451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082348"/>
              </p:ext>
            </p:extLst>
          </p:nvPr>
        </p:nvGraphicFramePr>
        <p:xfrm>
          <a:off x="952500" y="1511300"/>
          <a:ext cx="10579100" cy="44450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644775">
                  <a:extLst>
                    <a:ext uri="{9D8B030D-6E8A-4147-A177-3AD203B41FA5}">
                      <a16:colId xmlns:a16="http://schemas.microsoft.com/office/drawing/2014/main" val="1890662209"/>
                    </a:ext>
                  </a:extLst>
                </a:gridCol>
                <a:gridCol w="2644775">
                  <a:extLst>
                    <a:ext uri="{9D8B030D-6E8A-4147-A177-3AD203B41FA5}">
                      <a16:colId xmlns:a16="http://schemas.microsoft.com/office/drawing/2014/main" val="3159283533"/>
                    </a:ext>
                  </a:extLst>
                </a:gridCol>
                <a:gridCol w="2644775">
                  <a:extLst>
                    <a:ext uri="{9D8B030D-6E8A-4147-A177-3AD203B41FA5}">
                      <a16:colId xmlns:a16="http://schemas.microsoft.com/office/drawing/2014/main" val="3475492401"/>
                    </a:ext>
                  </a:extLst>
                </a:gridCol>
                <a:gridCol w="2644775">
                  <a:extLst>
                    <a:ext uri="{9D8B030D-6E8A-4147-A177-3AD203B41FA5}">
                      <a16:colId xmlns:a16="http://schemas.microsoft.com/office/drawing/2014/main" val="4076522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Zigbee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Z-Wave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963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Maximum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65535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20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Devices on 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300&gt; (unverified)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4900&gt;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4500&gt;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68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Protocol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 years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19342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Development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hlinkClick r:id="rId2"/>
                        </a:rPr>
                        <a:t>OpenThread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3"/>
                        </a:rPr>
                        <a:t>Expressif Zigbee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hlinkClick r:id="rId4"/>
                        </a:rPr>
                        <a:t>OpenZWave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1465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Build Custom Device?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985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Open 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1608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Protocols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802.15.4 +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802.15.4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Proprietary SoC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795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Data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250 Kbps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250 Kbps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Kbps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0787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10-100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m – 1 mi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35862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2.4 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2.4 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868 MHz – 908 MHz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019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Fully Local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65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23677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D965D-FF43-1A5A-E7D7-483B8076C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D4887-1C0E-3A6F-0BE7-DD74069DF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4" y="498296"/>
            <a:ext cx="6186581" cy="896116"/>
          </a:xfrm>
        </p:spPr>
        <p:txBody>
          <a:bodyPr>
            <a:normAutofit/>
          </a:bodyPr>
          <a:lstStyle/>
          <a:p>
            <a:r>
              <a:rPr lang="en-US" dirty="0"/>
              <a:t>My Takeaways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EEA164C-7CE8-89E0-EB34-3C7567F54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4914" y="1676401"/>
            <a:ext cx="10701619" cy="42672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b="1" dirty="0"/>
              <a:t>The three protocols are all viable and proven options for smart home automation:</a:t>
            </a:r>
          </a:p>
          <a:p>
            <a:pPr>
              <a:buFontTx/>
              <a:buChar char="-"/>
            </a:pPr>
            <a:r>
              <a:rPr lang="en-US" sz="2000" b="1" dirty="0"/>
              <a:t>Zigbee</a:t>
            </a:r>
            <a:r>
              <a:rPr lang="en-US" sz="2000" dirty="0"/>
              <a:t> is the most proven smart home automation protocol, providing strong mesh network capabilities, large number of devices, and easy configuration.</a:t>
            </a:r>
          </a:p>
          <a:p>
            <a:pPr>
              <a:buFontTx/>
              <a:buChar char="-"/>
            </a:pPr>
            <a:r>
              <a:rPr lang="en-US" sz="2000" b="1" dirty="0"/>
              <a:t>Thread</a:t>
            </a:r>
            <a:r>
              <a:rPr lang="en-US" sz="2000" dirty="0"/>
              <a:t> is similar to Zigbee, but provides additional benefits of IP-addressability and multiple hosts. Simple sentiment analysis of YouTube videos is that Thread may overtake Zigbee.</a:t>
            </a:r>
          </a:p>
          <a:p>
            <a:pPr>
              <a:buFontTx/>
              <a:buChar char="-"/>
            </a:pPr>
            <a:r>
              <a:rPr lang="en-US" sz="2000" b="1" dirty="0"/>
              <a:t>Z-Wave </a:t>
            </a:r>
            <a:r>
              <a:rPr lang="en-US" sz="2000" dirty="0"/>
              <a:t>is another viable option that can enable longer ranges, however its closed standard and the Z-Wave Alliance requirement makes custom development more difficult and costly. </a:t>
            </a:r>
          </a:p>
          <a:p>
            <a:pPr>
              <a:buFontTx/>
              <a:buChar char="-"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For my personal needs, </a:t>
            </a:r>
            <a:r>
              <a:rPr lang="en-US" sz="2000" b="1" dirty="0">
                <a:solidFill>
                  <a:srgbClr val="00B050"/>
                </a:solidFill>
              </a:rPr>
              <a:t>Zigbee</a:t>
            </a:r>
            <a:r>
              <a:rPr lang="en-US" sz="2000" b="1" dirty="0"/>
              <a:t> is the clear winner:</a:t>
            </a:r>
          </a:p>
          <a:p>
            <a:pPr lvl="1">
              <a:buFont typeface="Wingdings" pitchFamily="2" charset="2"/>
              <a:buChar char="ü"/>
            </a:pPr>
            <a:r>
              <a:rPr lang="en-US" sz="2100" dirty="0"/>
              <a:t>Ease of development and access to many devices</a:t>
            </a:r>
          </a:p>
          <a:p>
            <a:pPr lvl="1">
              <a:buFont typeface="Wingdings" pitchFamily="2" charset="2"/>
              <a:buChar char="ü"/>
            </a:pPr>
            <a:r>
              <a:rPr lang="en-US" sz="2100" dirty="0"/>
              <a:t>Ability to create custom devices using ESP32 </a:t>
            </a:r>
          </a:p>
          <a:p>
            <a:pPr lvl="1">
              <a:buFont typeface="Wingdings" pitchFamily="2" charset="2"/>
              <a:buChar char="ü"/>
            </a:pPr>
            <a:r>
              <a:rPr lang="en-US" sz="2100" dirty="0"/>
              <a:t>Previous knowledge of 802.15.4 from Topics in Computer Science II</a:t>
            </a:r>
          </a:p>
          <a:p>
            <a:pPr lvl="1">
              <a:buFont typeface="Wingdings" pitchFamily="2" charset="2"/>
              <a:buChar char="ü"/>
            </a:pPr>
            <a:r>
              <a:rPr lang="en-US" sz="2100" dirty="0"/>
              <a:t>Well known and easy to use application layer managers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609C065-BA08-EE2B-0F1E-ED95BD2AE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5213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3A751-5BFA-035D-F20B-45C8FDA4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5B3319-943E-1F94-BCE2-D206F09597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2805221"/>
            <a:ext cx="10286999" cy="759906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and Project Retrospective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E6C5B93-371E-4B81-7D8B-1F0B355EAE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500" y="3791876"/>
            <a:ext cx="10286999" cy="407460"/>
          </a:xfrm>
        </p:spPr>
        <p:txBody>
          <a:bodyPr/>
          <a:lstStyle/>
          <a:p>
            <a:r>
              <a:rPr lang="en-US" dirty="0"/>
              <a:t>Thank you, Professor Zhang!</a:t>
            </a:r>
          </a:p>
        </p:txBody>
      </p:sp>
    </p:spTree>
    <p:extLst>
      <p:ext uri="{BB962C8B-B14F-4D97-AF65-F5344CB8AC3E}">
        <p14:creationId xmlns:p14="http://schemas.microsoft.com/office/powerpoint/2010/main" val="268800949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863E1-D47B-63E8-3D8A-472EDAB03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843B1-9538-2F10-121E-E27244D11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4" y="498296"/>
            <a:ext cx="7356476" cy="896116"/>
          </a:xfrm>
        </p:spPr>
        <p:txBody>
          <a:bodyPr>
            <a:normAutofit/>
          </a:bodyPr>
          <a:lstStyle/>
          <a:p>
            <a:r>
              <a:rPr lang="en-US" dirty="0"/>
              <a:t>Class &amp; Project Retrospective!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A30FA0-988C-1DEB-E341-4AD7611D26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4914" y="1676401"/>
            <a:ext cx="10701619" cy="42672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b="1" dirty="0"/>
              <a:t>The three protocols are all viable and proven options for smart home automation:</a:t>
            </a:r>
          </a:p>
          <a:p>
            <a:pPr>
              <a:buFontTx/>
              <a:buChar char="-"/>
            </a:pPr>
            <a:r>
              <a:rPr lang="en-US" sz="2000" b="1" dirty="0"/>
              <a:t>Zigbee</a:t>
            </a:r>
            <a:r>
              <a:rPr lang="en-US" sz="2000" dirty="0"/>
              <a:t> is the most proven smart home automation protocol, providing strong mesh network capabilities, large number of devices, and easy configuration.</a:t>
            </a:r>
          </a:p>
          <a:p>
            <a:pPr>
              <a:buFontTx/>
              <a:buChar char="-"/>
            </a:pPr>
            <a:r>
              <a:rPr lang="en-US" sz="2000" b="1" dirty="0"/>
              <a:t>Thread</a:t>
            </a:r>
            <a:r>
              <a:rPr lang="en-US" sz="2000" dirty="0"/>
              <a:t> is similar to Zigbee, but provides additional benefits of IP-addressability and multiple hosts. Simple sentiment analysis of YouTube videos is that Thread may overtake Zigbee.</a:t>
            </a:r>
          </a:p>
          <a:p>
            <a:pPr>
              <a:buFontTx/>
              <a:buChar char="-"/>
            </a:pPr>
            <a:r>
              <a:rPr lang="en-US" sz="2000" b="1" dirty="0"/>
              <a:t>Z-Wave </a:t>
            </a:r>
            <a:r>
              <a:rPr lang="en-US" sz="2000" dirty="0"/>
              <a:t>is another viable option that can enable longer ranges, however its closed standard and the Z-Wave Alliance requirement makes custom development more difficult and costly. </a:t>
            </a:r>
          </a:p>
          <a:p>
            <a:pPr>
              <a:buFontTx/>
              <a:buChar char="-"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For my personal needs, </a:t>
            </a:r>
            <a:r>
              <a:rPr lang="en-US" sz="2000" b="1" dirty="0">
                <a:solidFill>
                  <a:srgbClr val="00B050"/>
                </a:solidFill>
              </a:rPr>
              <a:t>Zigbee</a:t>
            </a:r>
            <a:r>
              <a:rPr lang="en-US" sz="2000" b="1" dirty="0"/>
              <a:t> is the clear winner:</a:t>
            </a:r>
          </a:p>
          <a:p>
            <a:pPr lvl="1">
              <a:buFont typeface="Wingdings" pitchFamily="2" charset="2"/>
              <a:buChar char="ü"/>
            </a:pPr>
            <a:r>
              <a:rPr lang="en-US" sz="2100" dirty="0"/>
              <a:t>Ease of development and access to many devices</a:t>
            </a:r>
          </a:p>
          <a:p>
            <a:pPr lvl="1">
              <a:buFont typeface="Wingdings" pitchFamily="2" charset="2"/>
              <a:buChar char="ü"/>
            </a:pPr>
            <a:r>
              <a:rPr lang="en-US" sz="2100" dirty="0"/>
              <a:t>Ability to create custom devices using ESP32 </a:t>
            </a:r>
          </a:p>
          <a:p>
            <a:pPr lvl="1">
              <a:buFont typeface="Wingdings" pitchFamily="2" charset="2"/>
              <a:buChar char="ü"/>
            </a:pPr>
            <a:r>
              <a:rPr lang="en-US" sz="2100" dirty="0"/>
              <a:t>Previous knowledge of 802.15.4 from Topics in Computer Science II</a:t>
            </a:r>
          </a:p>
          <a:p>
            <a:pPr lvl="1">
              <a:buFont typeface="Wingdings" pitchFamily="2" charset="2"/>
              <a:buChar char="ü"/>
            </a:pPr>
            <a:r>
              <a:rPr lang="en-US" sz="2100" dirty="0"/>
              <a:t>Well known and easy to use application layer managers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5E9595C1-8636-122E-4E69-F4933A1D72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91845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DBC1C-912A-BF40-96FC-B9FF38E497C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4485842"/>
            <a:ext cx="10515600" cy="896116"/>
          </a:xfrm>
        </p:spPr>
        <p:txBody>
          <a:bodyPr/>
          <a:lstStyle/>
          <a:p>
            <a:r>
              <a:rPr lang="en-US" dirty="0"/>
              <a:t>Closing Slide Header</a:t>
            </a:r>
          </a:p>
        </p:txBody>
      </p:sp>
    </p:spTree>
    <p:extLst>
      <p:ext uri="{BB962C8B-B14F-4D97-AF65-F5344CB8AC3E}">
        <p14:creationId xmlns:p14="http://schemas.microsoft.com/office/powerpoint/2010/main" val="14584888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AC2E0-3190-A68E-21F3-7BBADA501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DCBD3-E57B-5B61-31FB-E75E7BE2E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>
            <a:normAutofit/>
          </a:bodyPr>
          <a:lstStyle/>
          <a:p>
            <a:r>
              <a:rPr lang="en-US" dirty="0"/>
              <a:t>Primary Sources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8D84FB-C94E-D0E1-CB8B-2BB3325921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10655301" cy="425684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Thread:</a:t>
            </a:r>
          </a:p>
          <a:p>
            <a:r>
              <a:rPr lang="en-US" dirty="0">
                <a:hlinkClick r:id="rId2"/>
              </a:rPr>
              <a:t>Thread Fundamentals</a:t>
            </a:r>
            <a:endParaRPr lang="en-US" dirty="0"/>
          </a:p>
          <a:p>
            <a:r>
              <a:rPr lang="en-US" dirty="0">
                <a:hlinkClick r:id="rId3"/>
              </a:rPr>
              <a:t>Thread Mesh Network Performance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Zigbee:</a:t>
            </a:r>
          </a:p>
          <a:p>
            <a:pPr marL="0" indent="0">
              <a:buNone/>
            </a:pPr>
            <a:r>
              <a:rPr lang="en-US" dirty="0">
                <a:hlinkClick r:id="rId4"/>
              </a:rPr>
              <a:t>Zigbee Mesh Network Performance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Z-Wave: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80991BBF-99F6-1A0B-D859-160A241F7D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13807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C8DF9-29D5-9DAB-ADED-5BCA274C9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D1E1-781D-9D73-CCAE-CBE982702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>
            <a:normAutofit/>
          </a:bodyPr>
          <a:lstStyle/>
          <a:p>
            <a:r>
              <a:rPr lang="en-US" dirty="0"/>
              <a:t>Secondary Sources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3E68F03-50C1-2EAA-AED8-280DFF8C7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Wikipedia:</a:t>
            </a:r>
          </a:p>
          <a:p>
            <a:r>
              <a:rPr lang="en-US" dirty="0">
                <a:hlinkClick r:id="rId2"/>
              </a:rPr>
              <a:t>Zigbee</a:t>
            </a:r>
            <a:endParaRPr lang="en-US" dirty="0"/>
          </a:p>
          <a:p>
            <a:r>
              <a:rPr lang="en-US" dirty="0">
                <a:hlinkClick r:id="rId3"/>
              </a:rPr>
              <a:t>Z-Wave</a:t>
            </a:r>
            <a:endParaRPr lang="en-US" dirty="0"/>
          </a:p>
          <a:p>
            <a:r>
              <a:rPr lang="en-US" dirty="0">
                <a:hlinkClick r:id="rId4"/>
              </a:rPr>
              <a:t>Thread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Device Counts:</a:t>
            </a:r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Zigbee</a:t>
            </a:r>
            <a:endParaRPr lang="en-US" dirty="0"/>
          </a:p>
          <a:p>
            <a:r>
              <a:rPr lang="en-US" dirty="0">
                <a:hlinkClick r:id="rId6"/>
              </a:rPr>
              <a:t>Z-Wave</a:t>
            </a:r>
            <a:endParaRPr lang="en-US" dirty="0"/>
          </a:p>
          <a:p>
            <a:r>
              <a:rPr lang="en-US" dirty="0">
                <a:hlinkClick r:id="rId7"/>
              </a:rPr>
              <a:t>Thread</a:t>
            </a:r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3DB717F3-6158-6227-663F-68EF277A20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E6638330-5CAD-2B4C-6520-63D204166D89}"/>
              </a:ext>
            </a:extLst>
          </p:cNvPr>
          <p:cNvSpPr txBox="1">
            <a:spLocks/>
          </p:cNvSpPr>
          <p:nvPr/>
        </p:nvSpPr>
        <p:spPr>
          <a:xfrm>
            <a:off x="6210300" y="1676400"/>
            <a:ext cx="5257801" cy="425684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Misc:</a:t>
            </a:r>
          </a:p>
          <a:p>
            <a:r>
              <a:rPr lang="en-US" dirty="0">
                <a:hlinkClick r:id="rId8"/>
              </a:rPr>
              <a:t>Smart-home-protocols-explained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50767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1F51D-8ACF-8C1A-95A8-4CC40662B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AC011-8D0C-7F08-93B1-7EFF60104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8296"/>
            <a:ext cx="5260975" cy="896116"/>
          </a:xfrm>
        </p:spPr>
        <p:txBody>
          <a:bodyPr/>
          <a:lstStyle/>
          <a:p>
            <a:r>
              <a:rPr lang="en-US" dirty="0"/>
              <a:t>Assets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C086466-8BE2-48E1-725B-C02A34B0F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Images:</a:t>
            </a:r>
            <a:endParaRPr lang="en-US" dirty="0">
              <a:hlinkClick r:id="rId2"/>
            </a:endParaRPr>
          </a:p>
          <a:p>
            <a:r>
              <a:rPr lang="en-US" dirty="0">
                <a:hlinkClick r:id="rId2"/>
              </a:rPr>
              <a:t>Thread logo</a:t>
            </a:r>
            <a:endParaRPr lang="en-US" dirty="0"/>
          </a:p>
          <a:p>
            <a:r>
              <a:rPr lang="en-US" dirty="0">
                <a:hlinkClick r:id="rId3"/>
              </a:rPr>
              <a:t>Zigbee logo</a:t>
            </a:r>
            <a:endParaRPr lang="en-US" dirty="0"/>
          </a:p>
          <a:p>
            <a:r>
              <a:rPr lang="en-US" dirty="0">
                <a:hlinkClick r:id="rId4"/>
              </a:rPr>
              <a:t>Z-Wave logo</a:t>
            </a:r>
            <a:endParaRPr lang="en-US" dirty="0"/>
          </a:p>
          <a:p>
            <a:r>
              <a:rPr lang="en-US" dirty="0">
                <a:hlinkClick r:id="rId5"/>
              </a:rPr>
              <a:t>Kanye West ”Good morning”</a:t>
            </a:r>
            <a:endParaRPr lang="en-US" dirty="0"/>
          </a:p>
          <a:p>
            <a:r>
              <a:rPr lang="en-US" dirty="0">
                <a:hlinkClick r:id="rId6"/>
              </a:rPr>
              <a:t>White noise</a:t>
            </a:r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3F307F8-B22D-6B8F-3E15-0DFA56E2D6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</p:spPr>
        <p:txBody>
          <a:bodyPr/>
          <a:lstStyle/>
          <a:p>
            <a:r>
              <a:rPr lang="en-US"/>
              <a:t>Final Project | Topics in Computer Science II | Fall 2025, University of Iowa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1721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OWA BRAND COLORS">
      <a:dk1>
        <a:srgbClr val="000000"/>
      </a:dk1>
      <a:lt1>
        <a:srgbClr val="FFFFFF"/>
      </a:lt1>
      <a:dk2>
        <a:srgbClr val="62666A"/>
      </a:dk2>
      <a:lt2>
        <a:srgbClr val="BBBCBC"/>
      </a:lt2>
      <a:accent1>
        <a:srgbClr val="FFCD00"/>
      </a:accent1>
      <a:accent2>
        <a:srgbClr val="616669"/>
      </a:accent2>
      <a:accent3>
        <a:srgbClr val="BBBCBC"/>
      </a:accent3>
      <a:accent4>
        <a:srgbClr val="00A9E0"/>
      </a:accent4>
      <a:accent5>
        <a:srgbClr val="00AF66"/>
      </a:accent5>
      <a:accent6>
        <a:srgbClr val="FF8200"/>
      </a:accent6>
      <a:hlink>
        <a:srgbClr val="00558C"/>
      </a:hlink>
      <a:folHlink>
        <a:srgbClr val="636669"/>
      </a:folHlink>
    </a:clrScheme>
    <a:fontScheme name="University of Iowa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9CCDD9754E9B40B13882595ECD5F7A" ma:contentTypeVersion="0" ma:contentTypeDescription="Create a new document." ma:contentTypeScope="" ma:versionID="48ffdc5cb6ca8bf97cbe1bd0206e10b7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1b05d82d297216baf5b26c55225140df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97FFD54-27B0-415C-8654-D843242BD071}">
  <ds:schemaRefs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purl.org/dc/elements/1.1/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421B56A-5C82-479A-80D0-662CC28B93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A14B8143-C3D6-460D-830C-A8DBEE85511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10819</TotalTime>
  <Words>3354</Words>
  <Application>Microsoft Macintosh PowerPoint</Application>
  <PresentationFormat>Widescreen</PresentationFormat>
  <Paragraphs>482</Paragraphs>
  <Slides>53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9" baseType="lpstr">
      <vt:lpstr>Arial</vt:lpstr>
      <vt:lpstr>Calibri</vt:lpstr>
      <vt:lpstr>Roboto</vt:lpstr>
      <vt:lpstr>Roboto Black</vt:lpstr>
      <vt:lpstr>Wingdings</vt:lpstr>
      <vt:lpstr>Office Theme</vt:lpstr>
      <vt:lpstr>Comparison of Thread, Zigbee and Z-Wave for Home Automation</vt:lpstr>
      <vt:lpstr>Quick Note</vt:lpstr>
      <vt:lpstr>Agenda</vt:lpstr>
      <vt:lpstr>Background</vt:lpstr>
      <vt:lpstr>Motivation pt1</vt:lpstr>
      <vt:lpstr>Motivation pt2</vt:lpstr>
      <vt:lpstr>Project Goals</vt:lpstr>
      <vt:lpstr>Protocols Chosen</vt:lpstr>
      <vt:lpstr>Summary of Protocols</vt:lpstr>
      <vt:lpstr>Thread</vt:lpstr>
      <vt:lpstr>Thread Background</vt:lpstr>
      <vt:lpstr>Thread Architecture – Diagram </vt:lpstr>
      <vt:lpstr>Thread Device Nomenclature</vt:lpstr>
      <vt:lpstr>Thread Architecture – High Level</vt:lpstr>
      <vt:lpstr>Thread Architecture – What Makes Thread Unique?</vt:lpstr>
      <vt:lpstr>Thread Routing</vt:lpstr>
      <vt:lpstr>Thread Joining &amp; Network Operation</vt:lpstr>
      <vt:lpstr>Thread Usage – Home Mesh Network </vt:lpstr>
      <vt:lpstr>Thread Usage – Home Mesh Network </vt:lpstr>
      <vt:lpstr>Thread Architecture – Commercial Mesh Network </vt:lpstr>
      <vt:lpstr>Thread – My Concerns + Security Guarantee?</vt:lpstr>
      <vt:lpstr>Thread Performance</vt:lpstr>
      <vt:lpstr>Thread Summary</vt:lpstr>
      <vt:lpstr>Zigbee</vt:lpstr>
      <vt:lpstr>Zigbee Architecture</vt:lpstr>
      <vt:lpstr>Zigbee Architecture</vt:lpstr>
      <vt:lpstr>Zigbee Usage</vt:lpstr>
      <vt:lpstr>Zigbee Considerations</vt:lpstr>
      <vt:lpstr>Zigbee Summary</vt:lpstr>
      <vt:lpstr>Z-Wave</vt:lpstr>
      <vt:lpstr>Z-Wave Architecture</vt:lpstr>
      <vt:lpstr>Z-Wave Architecture</vt:lpstr>
      <vt:lpstr>Z-Wave Usage</vt:lpstr>
      <vt:lpstr>Z-Wave Considerations</vt:lpstr>
      <vt:lpstr>Z-Wave Summary</vt:lpstr>
      <vt:lpstr>Future Work</vt:lpstr>
      <vt:lpstr>Smart Home Automation</vt:lpstr>
      <vt:lpstr>Smart Home Automation Goals</vt:lpstr>
      <vt:lpstr>Future Work Roadmap</vt:lpstr>
      <vt:lpstr>Example Plan</vt:lpstr>
      <vt:lpstr>Example Implementation (Morning Routine)</vt:lpstr>
      <vt:lpstr>Morning Automation</vt:lpstr>
      <vt:lpstr>Example Implementation (Nighttime Routine)</vt:lpstr>
      <vt:lpstr>Nighttime Automation</vt:lpstr>
      <vt:lpstr>Conclusion</vt:lpstr>
      <vt:lpstr>High Level Comparison</vt:lpstr>
      <vt:lpstr>My Takeaways</vt:lpstr>
      <vt:lpstr>Class and Project Retrospective</vt:lpstr>
      <vt:lpstr>Class &amp; Project Retrospective!</vt:lpstr>
      <vt:lpstr>Closing Slide Header</vt:lpstr>
      <vt:lpstr>Primary Sources</vt:lpstr>
      <vt:lpstr>Secondary Sources</vt:lpstr>
      <vt:lpstr>Assets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ryan-potter@uiowa.edu</dc:creator>
  <cp:lastModifiedBy>Matt Krueger</cp:lastModifiedBy>
  <cp:revision>280</cp:revision>
  <dcterms:created xsi:type="dcterms:W3CDTF">2020-01-21T18:13:39Z</dcterms:created>
  <dcterms:modified xsi:type="dcterms:W3CDTF">2025-12-16T18:32:25Z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0x010100579CCDD9754E9B40B13882595ECD5F7A</vt:lpwstr>
  </property>
</Properties>
</file>